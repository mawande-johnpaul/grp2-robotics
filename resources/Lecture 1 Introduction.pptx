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0"/>
  </p:notesMasterIdLst>
  <p:sldIdLst>
    <p:sldId id="296" r:id="rId2"/>
    <p:sldId id="256" r:id="rId3"/>
    <p:sldId id="259" r:id="rId4"/>
    <p:sldId id="260" r:id="rId5"/>
    <p:sldId id="261" r:id="rId6"/>
    <p:sldId id="262" r:id="rId7"/>
    <p:sldId id="265" r:id="rId8"/>
    <p:sldId id="263" r:id="rId9"/>
    <p:sldId id="264"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95"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58"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7" autoAdjust="0"/>
    <p:restoredTop sz="94660"/>
  </p:normalViewPr>
  <p:slideViewPr>
    <p:cSldViewPr snapToGrid="0">
      <p:cViewPr varScale="1">
        <p:scale>
          <a:sx n="67" d="100"/>
          <a:sy n="67" d="100"/>
        </p:scale>
        <p:origin x="528"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AB8D4AD-2F14-41D2-BDDA-1DD73AA4BBF9}" type="datetimeFigureOut">
              <a:rPr lang="en-US" smtClean="0"/>
              <a:t>2/23/2026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0352F9F-30C2-4973-BF52-997BD8BEF592}" type="slidenum">
              <a:rPr lang="en-US" smtClean="0"/>
              <a:t>‹#›</a:t>
            </a:fld>
            <a:endParaRPr lang="en-US"/>
          </a:p>
        </p:txBody>
      </p:sp>
    </p:spTree>
    <p:extLst>
      <p:ext uri="{BB962C8B-B14F-4D97-AF65-F5344CB8AC3E}">
        <p14:creationId xmlns:p14="http://schemas.microsoft.com/office/powerpoint/2010/main" val="6387135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9FD60-9A0C-4CEE-9E65-CE34877E33C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A172827-126C-4073-B445-A69F69D40CC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7E3B011-18E8-4190-B847-B48BB4BDFDDA}"/>
              </a:ext>
            </a:extLst>
          </p:cNvPr>
          <p:cNvSpPr>
            <a:spLocks noGrp="1"/>
          </p:cNvSpPr>
          <p:nvPr>
            <p:ph type="dt" sz="half" idx="10"/>
          </p:nvPr>
        </p:nvSpPr>
        <p:spPr/>
        <p:txBody>
          <a:bodyPr/>
          <a:lstStyle/>
          <a:p>
            <a:fld id="{2EEAF0EB-BD78-4B17-8845-08B3526DB59A}" type="datetime1">
              <a:rPr lang="en-US" smtClean="0"/>
              <a:t>2/23/2026</a:t>
            </a:fld>
            <a:endParaRPr lang="en-US"/>
          </a:p>
        </p:txBody>
      </p:sp>
      <p:sp>
        <p:nvSpPr>
          <p:cNvPr id="5" name="Footer Placeholder 4">
            <a:extLst>
              <a:ext uri="{FF2B5EF4-FFF2-40B4-BE49-F238E27FC236}">
                <a16:creationId xmlns:a16="http://schemas.microsoft.com/office/drawing/2014/main" id="{DFC9A51D-EE86-4D8E-8BBC-A7056EFAF7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C795B1-67DB-47E0-B8C0-FC3F943262C1}"/>
              </a:ext>
            </a:extLst>
          </p:cNvPr>
          <p:cNvSpPr>
            <a:spLocks noGrp="1"/>
          </p:cNvSpPr>
          <p:nvPr>
            <p:ph type="sldNum" sz="quarter" idx="12"/>
          </p:nvPr>
        </p:nvSpPr>
        <p:spPr/>
        <p:txBody>
          <a:bodyPr/>
          <a:lstStyle/>
          <a:p>
            <a:fld id="{A4DBBB07-2F6F-4E90-8073-ED4B40896F16}" type="slidenum">
              <a:rPr lang="en-US" smtClean="0"/>
              <a:t>‹#›</a:t>
            </a:fld>
            <a:endParaRPr lang="en-US"/>
          </a:p>
        </p:txBody>
      </p:sp>
    </p:spTree>
    <p:extLst>
      <p:ext uri="{BB962C8B-B14F-4D97-AF65-F5344CB8AC3E}">
        <p14:creationId xmlns:p14="http://schemas.microsoft.com/office/powerpoint/2010/main" val="25649770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45E4C-6629-43C2-8711-F3FD397C60B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36DCC65-1B8F-4416-8D2E-E7941C3F26D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3B3508-0DDB-484C-B46F-ED3B8D83B3B9}"/>
              </a:ext>
            </a:extLst>
          </p:cNvPr>
          <p:cNvSpPr>
            <a:spLocks noGrp="1"/>
          </p:cNvSpPr>
          <p:nvPr>
            <p:ph type="dt" sz="half" idx="10"/>
          </p:nvPr>
        </p:nvSpPr>
        <p:spPr/>
        <p:txBody>
          <a:bodyPr/>
          <a:lstStyle/>
          <a:p>
            <a:fld id="{AA1BCC2F-6A86-44B5-8E82-1EF79A23A5AC}" type="datetime1">
              <a:rPr lang="en-US" smtClean="0"/>
              <a:t>2/23/2026</a:t>
            </a:fld>
            <a:endParaRPr lang="en-US"/>
          </a:p>
        </p:txBody>
      </p:sp>
      <p:sp>
        <p:nvSpPr>
          <p:cNvPr id="5" name="Footer Placeholder 4">
            <a:extLst>
              <a:ext uri="{FF2B5EF4-FFF2-40B4-BE49-F238E27FC236}">
                <a16:creationId xmlns:a16="http://schemas.microsoft.com/office/drawing/2014/main" id="{57C14207-C3FF-43E7-849A-A332A3C00C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9B7767-474A-4005-AAC4-176B733D3DDE}"/>
              </a:ext>
            </a:extLst>
          </p:cNvPr>
          <p:cNvSpPr>
            <a:spLocks noGrp="1"/>
          </p:cNvSpPr>
          <p:nvPr>
            <p:ph type="sldNum" sz="quarter" idx="12"/>
          </p:nvPr>
        </p:nvSpPr>
        <p:spPr/>
        <p:txBody>
          <a:bodyPr/>
          <a:lstStyle/>
          <a:p>
            <a:fld id="{A4DBBB07-2F6F-4E90-8073-ED4B40896F16}" type="slidenum">
              <a:rPr lang="en-US" smtClean="0"/>
              <a:t>‹#›</a:t>
            </a:fld>
            <a:endParaRPr lang="en-US"/>
          </a:p>
        </p:txBody>
      </p:sp>
    </p:spTree>
    <p:extLst>
      <p:ext uri="{BB962C8B-B14F-4D97-AF65-F5344CB8AC3E}">
        <p14:creationId xmlns:p14="http://schemas.microsoft.com/office/powerpoint/2010/main" val="7675151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1E411-29DF-4CDF-B3C4-2EDC4A6EEE6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7DC0229-D636-44CF-A252-2AD4EE9E14D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1727E2F-5EC9-47E7-BBAE-F5C5A07A1721}"/>
              </a:ext>
            </a:extLst>
          </p:cNvPr>
          <p:cNvSpPr>
            <a:spLocks noGrp="1"/>
          </p:cNvSpPr>
          <p:nvPr>
            <p:ph type="dt" sz="half" idx="10"/>
          </p:nvPr>
        </p:nvSpPr>
        <p:spPr/>
        <p:txBody>
          <a:bodyPr/>
          <a:lstStyle/>
          <a:p>
            <a:fld id="{24C8C540-FE3A-47D4-AECB-17F0951D2162}" type="datetime1">
              <a:rPr lang="en-US" smtClean="0"/>
              <a:t>2/23/2026</a:t>
            </a:fld>
            <a:endParaRPr lang="en-US"/>
          </a:p>
        </p:txBody>
      </p:sp>
      <p:sp>
        <p:nvSpPr>
          <p:cNvPr id="5" name="Footer Placeholder 4">
            <a:extLst>
              <a:ext uri="{FF2B5EF4-FFF2-40B4-BE49-F238E27FC236}">
                <a16:creationId xmlns:a16="http://schemas.microsoft.com/office/drawing/2014/main" id="{641CC54F-34BA-497B-A893-39743F216F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0EDC7D-2BE0-436D-98BA-88B4B8A14A76}"/>
              </a:ext>
            </a:extLst>
          </p:cNvPr>
          <p:cNvSpPr>
            <a:spLocks noGrp="1"/>
          </p:cNvSpPr>
          <p:nvPr>
            <p:ph type="sldNum" sz="quarter" idx="12"/>
          </p:nvPr>
        </p:nvSpPr>
        <p:spPr/>
        <p:txBody>
          <a:bodyPr/>
          <a:lstStyle/>
          <a:p>
            <a:fld id="{A4DBBB07-2F6F-4E90-8073-ED4B40896F16}" type="slidenum">
              <a:rPr lang="en-US" smtClean="0"/>
              <a:t>‹#›</a:t>
            </a:fld>
            <a:endParaRPr lang="en-US"/>
          </a:p>
        </p:txBody>
      </p:sp>
    </p:spTree>
    <p:extLst>
      <p:ext uri="{BB962C8B-B14F-4D97-AF65-F5344CB8AC3E}">
        <p14:creationId xmlns:p14="http://schemas.microsoft.com/office/powerpoint/2010/main" val="32197683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1B48F5-51F0-4FBE-BC00-60FC01D7636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6F89148-4DF7-48F9-ADCB-23187D08471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0319EAA-1AD9-4401-BB73-04C37F59C14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B801C40-A3C2-484D-885E-2CBE07D14C35}"/>
              </a:ext>
            </a:extLst>
          </p:cNvPr>
          <p:cNvSpPr>
            <a:spLocks noGrp="1"/>
          </p:cNvSpPr>
          <p:nvPr>
            <p:ph type="dt" sz="half" idx="10"/>
          </p:nvPr>
        </p:nvSpPr>
        <p:spPr/>
        <p:txBody>
          <a:bodyPr/>
          <a:lstStyle/>
          <a:p>
            <a:fld id="{23F191B7-9754-45D3-831D-B944EC7A5760}" type="datetime1">
              <a:rPr lang="en-US" smtClean="0"/>
              <a:t>2/23/2026</a:t>
            </a:fld>
            <a:endParaRPr lang="en-US"/>
          </a:p>
        </p:txBody>
      </p:sp>
      <p:sp>
        <p:nvSpPr>
          <p:cNvPr id="6" name="Footer Placeholder 5">
            <a:extLst>
              <a:ext uri="{FF2B5EF4-FFF2-40B4-BE49-F238E27FC236}">
                <a16:creationId xmlns:a16="http://schemas.microsoft.com/office/drawing/2014/main" id="{B133A2F9-C9FB-4FA8-8AC0-01D9915AD1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D7B9383-3AEA-49D0-89C8-081AE9CF7FBA}"/>
              </a:ext>
            </a:extLst>
          </p:cNvPr>
          <p:cNvSpPr>
            <a:spLocks noGrp="1"/>
          </p:cNvSpPr>
          <p:nvPr>
            <p:ph type="sldNum" sz="quarter" idx="12"/>
          </p:nvPr>
        </p:nvSpPr>
        <p:spPr/>
        <p:txBody>
          <a:bodyPr/>
          <a:lstStyle/>
          <a:p>
            <a:fld id="{A4DBBB07-2F6F-4E90-8073-ED4B40896F16}" type="slidenum">
              <a:rPr lang="en-US" smtClean="0"/>
              <a:t>‹#›</a:t>
            </a:fld>
            <a:endParaRPr lang="en-US"/>
          </a:p>
        </p:txBody>
      </p:sp>
    </p:spTree>
    <p:extLst>
      <p:ext uri="{BB962C8B-B14F-4D97-AF65-F5344CB8AC3E}">
        <p14:creationId xmlns:p14="http://schemas.microsoft.com/office/powerpoint/2010/main" val="18680863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650F7-2E76-4393-8C94-C833852A17C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4DBC7EB-BEE0-4501-8170-D5A69681C04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F60F459-6284-4E78-9979-0E5B1BE3679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35A394B-7A57-47C7-B6A4-ACBAD2AE613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EBEFB86-7A25-4BD8-BCE6-9E937DF5C22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91EF065-4432-44BD-BB65-4253E9325CC4}"/>
              </a:ext>
            </a:extLst>
          </p:cNvPr>
          <p:cNvSpPr>
            <a:spLocks noGrp="1"/>
          </p:cNvSpPr>
          <p:nvPr>
            <p:ph type="dt" sz="half" idx="10"/>
          </p:nvPr>
        </p:nvSpPr>
        <p:spPr/>
        <p:txBody>
          <a:bodyPr/>
          <a:lstStyle/>
          <a:p>
            <a:fld id="{980415EC-114F-4001-9139-B476502361D9}" type="datetime1">
              <a:rPr lang="en-US" smtClean="0"/>
              <a:t>2/23/2026</a:t>
            </a:fld>
            <a:endParaRPr lang="en-US"/>
          </a:p>
        </p:txBody>
      </p:sp>
      <p:sp>
        <p:nvSpPr>
          <p:cNvPr id="8" name="Footer Placeholder 7">
            <a:extLst>
              <a:ext uri="{FF2B5EF4-FFF2-40B4-BE49-F238E27FC236}">
                <a16:creationId xmlns:a16="http://schemas.microsoft.com/office/drawing/2014/main" id="{FD5A00E8-2D75-4CAD-B34F-ED976DCE396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54EBFC5-C47C-4789-BC1D-89254057A3FF}"/>
              </a:ext>
            </a:extLst>
          </p:cNvPr>
          <p:cNvSpPr>
            <a:spLocks noGrp="1"/>
          </p:cNvSpPr>
          <p:nvPr>
            <p:ph type="sldNum" sz="quarter" idx="12"/>
          </p:nvPr>
        </p:nvSpPr>
        <p:spPr/>
        <p:txBody>
          <a:bodyPr/>
          <a:lstStyle/>
          <a:p>
            <a:fld id="{A4DBBB07-2F6F-4E90-8073-ED4B40896F16}" type="slidenum">
              <a:rPr lang="en-US" smtClean="0"/>
              <a:t>‹#›</a:t>
            </a:fld>
            <a:endParaRPr lang="en-US"/>
          </a:p>
        </p:txBody>
      </p:sp>
    </p:spTree>
    <p:extLst>
      <p:ext uri="{BB962C8B-B14F-4D97-AF65-F5344CB8AC3E}">
        <p14:creationId xmlns:p14="http://schemas.microsoft.com/office/powerpoint/2010/main" val="10815328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584B5-9A21-42A8-A697-DBFF1E14145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E11DC96-212F-4F20-8495-772808B9D738}"/>
              </a:ext>
            </a:extLst>
          </p:cNvPr>
          <p:cNvSpPr>
            <a:spLocks noGrp="1"/>
          </p:cNvSpPr>
          <p:nvPr>
            <p:ph type="dt" sz="half" idx="10"/>
          </p:nvPr>
        </p:nvSpPr>
        <p:spPr/>
        <p:txBody>
          <a:bodyPr/>
          <a:lstStyle/>
          <a:p>
            <a:fld id="{CC334942-9DE0-4713-BE95-4EA9EDD9B10D}" type="datetime1">
              <a:rPr lang="en-US" smtClean="0"/>
              <a:t>2/23/2026</a:t>
            </a:fld>
            <a:endParaRPr lang="en-US"/>
          </a:p>
        </p:txBody>
      </p:sp>
      <p:sp>
        <p:nvSpPr>
          <p:cNvPr id="4" name="Footer Placeholder 3">
            <a:extLst>
              <a:ext uri="{FF2B5EF4-FFF2-40B4-BE49-F238E27FC236}">
                <a16:creationId xmlns:a16="http://schemas.microsoft.com/office/drawing/2014/main" id="{21D7ECFD-0502-45E3-BBB4-F9BD7AF1D67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39DB643-1ABC-4F3B-A6B6-6F6259CABD50}"/>
              </a:ext>
            </a:extLst>
          </p:cNvPr>
          <p:cNvSpPr>
            <a:spLocks noGrp="1"/>
          </p:cNvSpPr>
          <p:nvPr>
            <p:ph type="sldNum" sz="quarter" idx="12"/>
          </p:nvPr>
        </p:nvSpPr>
        <p:spPr/>
        <p:txBody>
          <a:bodyPr/>
          <a:lstStyle/>
          <a:p>
            <a:fld id="{A4DBBB07-2F6F-4E90-8073-ED4B40896F16}" type="slidenum">
              <a:rPr lang="en-US" smtClean="0"/>
              <a:t>‹#›</a:t>
            </a:fld>
            <a:endParaRPr lang="en-US"/>
          </a:p>
        </p:txBody>
      </p:sp>
    </p:spTree>
    <p:extLst>
      <p:ext uri="{BB962C8B-B14F-4D97-AF65-F5344CB8AC3E}">
        <p14:creationId xmlns:p14="http://schemas.microsoft.com/office/powerpoint/2010/main" val="18833483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5180A7C-D81A-4495-B6AC-F6819583A948}"/>
              </a:ext>
            </a:extLst>
          </p:cNvPr>
          <p:cNvSpPr>
            <a:spLocks noGrp="1"/>
          </p:cNvSpPr>
          <p:nvPr>
            <p:ph type="dt" sz="half" idx="10"/>
          </p:nvPr>
        </p:nvSpPr>
        <p:spPr/>
        <p:txBody>
          <a:bodyPr/>
          <a:lstStyle/>
          <a:p>
            <a:fld id="{96365A1A-D561-40C8-AC28-0EE85419F8FB}" type="datetime1">
              <a:rPr lang="en-US" smtClean="0"/>
              <a:t>2/23/2026</a:t>
            </a:fld>
            <a:endParaRPr lang="en-US"/>
          </a:p>
        </p:txBody>
      </p:sp>
      <p:sp>
        <p:nvSpPr>
          <p:cNvPr id="3" name="Footer Placeholder 2">
            <a:extLst>
              <a:ext uri="{FF2B5EF4-FFF2-40B4-BE49-F238E27FC236}">
                <a16:creationId xmlns:a16="http://schemas.microsoft.com/office/drawing/2014/main" id="{F14EC4E9-A7CE-402F-B9FA-AA64D185645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8A91442-101A-4FCA-8CDD-B844713F0F10}"/>
              </a:ext>
            </a:extLst>
          </p:cNvPr>
          <p:cNvSpPr>
            <a:spLocks noGrp="1"/>
          </p:cNvSpPr>
          <p:nvPr>
            <p:ph type="sldNum" sz="quarter" idx="12"/>
          </p:nvPr>
        </p:nvSpPr>
        <p:spPr/>
        <p:txBody>
          <a:bodyPr/>
          <a:lstStyle/>
          <a:p>
            <a:fld id="{A4DBBB07-2F6F-4E90-8073-ED4B40896F16}" type="slidenum">
              <a:rPr lang="en-US" smtClean="0"/>
              <a:t>‹#›</a:t>
            </a:fld>
            <a:endParaRPr lang="en-US"/>
          </a:p>
        </p:txBody>
      </p:sp>
    </p:spTree>
    <p:extLst>
      <p:ext uri="{BB962C8B-B14F-4D97-AF65-F5344CB8AC3E}">
        <p14:creationId xmlns:p14="http://schemas.microsoft.com/office/powerpoint/2010/main" val="24805484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58880-8360-47B7-9897-7FD85A6A133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E31088F-8BF1-4EB0-AE64-A7891E67E47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1D88446-D6A7-42FB-A791-8A25BE1840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1F2CD44-EF0B-473D-9F5E-21ECE59F0968}"/>
              </a:ext>
            </a:extLst>
          </p:cNvPr>
          <p:cNvSpPr>
            <a:spLocks noGrp="1"/>
          </p:cNvSpPr>
          <p:nvPr>
            <p:ph type="dt" sz="half" idx="10"/>
          </p:nvPr>
        </p:nvSpPr>
        <p:spPr/>
        <p:txBody>
          <a:bodyPr/>
          <a:lstStyle/>
          <a:p>
            <a:fld id="{BA7EFA8E-DC0A-4B5D-97AD-79A4EE984824}" type="datetime1">
              <a:rPr lang="en-US" smtClean="0"/>
              <a:t>2/23/2026</a:t>
            </a:fld>
            <a:endParaRPr lang="en-US"/>
          </a:p>
        </p:txBody>
      </p:sp>
      <p:sp>
        <p:nvSpPr>
          <p:cNvPr id="6" name="Footer Placeholder 5">
            <a:extLst>
              <a:ext uri="{FF2B5EF4-FFF2-40B4-BE49-F238E27FC236}">
                <a16:creationId xmlns:a16="http://schemas.microsoft.com/office/drawing/2014/main" id="{6FD07A3B-0A82-4276-8E69-D62CC7218D1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1C6D48-7F40-4235-BBB7-E85225CB99D1}"/>
              </a:ext>
            </a:extLst>
          </p:cNvPr>
          <p:cNvSpPr>
            <a:spLocks noGrp="1"/>
          </p:cNvSpPr>
          <p:nvPr>
            <p:ph type="sldNum" sz="quarter" idx="12"/>
          </p:nvPr>
        </p:nvSpPr>
        <p:spPr/>
        <p:txBody>
          <a:bodyPr/>
          <a:lstStyle/>
          <a:p>
            <a:fld id="{A4DBBB07-2F6F-4E90-8073-ED4B40896F16}" type="slidenum">
              <a:rPr lang="en-US" smtClean="0"/>
              <a:t>‹#›</a:t>
            </a:fld>
            <a:endParaRPr lang="en-US"/>
          </a:p>
        </p:txBody>
      </p:sp>
    </p:spTree>
    <p:extLst>
      <p:ext uri="{BB962C8B-B14F-4D97-AF65-F5344CB8AC3E}">
        <p14:creationId xmlns:p14="http://schemas.microsoft.com/office/powerpoint/2010/main" val="23712767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C8C36-854A-4971-991B-845D0BD988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4849CD6-D9B3-47E0-A584-5BA2ECF81D6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AF07E2B-8ACE-4F4E-BA40-ACCC28D618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76C7CEB-99EC-4022-A14D-7156D7F0EE53}"/>
              </a:ext>
            </a:extLst>
          </p:cNvPr>
          <p:cNvSpPr>
            <a:spLocks noGrp="1"/>
          </p:cNvSpPr>
          <p:nvPr>
            <p:ph type="dt" sz="half" idx="10"/>
          </p:nvPr>
        </p:nvSpPr>
        <p:spPr/>
        <p:txBody>
          <a:bodyPr/>
          <a:lstStyle/>
          <a:p>
            <a:fld id="{4517F51F-F5AE-4618-9024-5A1FDD563780}" type="datetime1">
              <a:rPr lang="en-US" smtClean="0"/>
              <a:t>2/23/2026</a:t>
            </a:fld>
            <a:endParaRPr lang="en-US"/>
          </a:p>
        </p:txBody>
      </p:sp>
      <p:sp>
        <p:nvSpPr>
          <p:cNvPr id="6" name="Footer Placeholder 5">
            <a:extLst>
              <a:ext uri="{FF2B5EF4-FFF2-40B4-BE49-F238E27FC236}">
                <a16:creationId xmlns:a16="http://schemas.microsoft.com/office/drawing/2014/main" id="{892CC128-0829-4D6F-AEDD-BC34AAEAB8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CEEAAFB-AE2A-40FC-9499-CB57BA55BCEC}"/>
              </a:ext>
            </a:extLst>
          </p:cNvPr>
          <p:cNvSpPr>
            <a:spLocks noGrp="1"/>
          </p:cNvSpPr>
          <p:nvPr>
            <p:ph type="sldNum" sz="quarter" idx="12"/>
          </p:nvPr>
        </p:nvSpPr>
        <p:spPr/>
        <p:txBody>
          <a:bodyPr/>
          <a:lstStyle/>
          <a:p>
            <a:fld id="{A4DBBB07-2F6F-4E90-8073-ED4B40896F16}" type="slidenum">
              <a:rPr lang="en-US" smtClean="0"/>
              <a:t>‹#›</a:t>
            </a:fld>
            <a:endParaRPr lang="en-US"/>
          </a:p>
        </p:txBody>
      </p:sp>
    </p:spTree>
    <p:extLst>
      <p:ext uri="{BB962C8B-B14F-4D97-AF65-F5344CB8AC3E}">
        <p14:creationId xmlns:p14="http://schemas.microsoft.com/office/powerpoint/2010/main" val="25968603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55DE91-87CD-4F16-994B-795347BA6E5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497E61F-5548-4AD3-8597-E8A32B07121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9C381D-BFB3-4FB6-A8AA-E9BF944C7807}"/>
              </a:ext>
            </a:extLst>
          </p:cNvPr>
          <p:cNvSpPr>
            <a:spLocks noGrp="1"/>
          </p:cNvSpPr>
          <p:nvPr>
            <p:ph type="dt" sz="half" idx="10"/>
          </p:nvPr>
        </p:nvSpPr>
        <p:spPr/>
        <p:txBody>
          <a:bodyPr/>
          <a:lstStyle/>
          <a:p>
            <a:fld id="{4A52B604-94A0-4EAE-9A98-97B596F097BA}" type="datetime1">
              <a:rPr lang="en-US" smtClean="0"/>
              <a:t>2/23/2026</a:t>
            </a:fld>
            <a:endParaRPr lang="en-US"/>
          </a:p>
        </p:txBody>
      </p:sp>
      <p:sp>
        <p:nvSpPr>
          <p:cNvPr id="5" name="Footer Placeholder 4">
            <a:extLst>
              <a:ext uri="{FF2B5EF4-FFF2-40B4-BE49-F238E27FC236}">
                <a16:creationId xmlns:a16="http://schemas.microsoft.com/office/drawing/2014/main" id="{8442007B-6B81-4D60-BA0A-EB75BBD3F8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A68C70-16BA-4A90-8261-42C50B169278}"/>
              </a:ext>
            </a:extLst>
          </p:cNvPr>
          <p:cNvSpPr>
            <a:spLocks noGrp="1"/>
          </p:cNvSpPr>
          <p:nvPr>
            <p:ph type="sldNum" sz="quarter" idx="12"/>
          </p:nvPr>
        </p:nvSpPr>
        <p:spPr/>
        <p:txBody>
          <a:bodyPr/>
          <a:lstStyle/>
          <a:p>
            <a:fld id="{A4DBBB07-2F6F-4E90-8073-ED4B40896F16}" type="slidenum">
              <a:rPr lang="en-US" smtClean="0"/>
              <a:t>‹#›</a:t>
            </a:fld>
            <a:endParaRPr lang="en-US"/>
          </a:p>
        </p:txBody>
      </p:sp>
    </p:spTree>
    <p:extLst>
      <p:ext uri="{BB962C8B-B14F-4D97-AF65-F5344CB8AC3E}">
        <p14:creationId xmlns:p14="http://schemas.microsoft.com/office/powerpoint/2010/main" val="18418056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8A3FD14-4E99-4E2E-BE48-5C608FB5AF3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682121D-459C-4B92-BEC1-251F7FECF06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FB63DD-FBBE-4525-BFA3-04C0ACA5CED4}"/>
              </a:ext>
            </a:extLst>
          </p:cNvPr>
          <p:cNvSpPr>
            <a:spLocks noGrp="1"/>
          </p:cNvSpPr>
          <p:nvPr>
            <p:ph type="dt" sz="half" idx="10"/>
          </p:nvPr>
        </p:nvSpPr>
        <p:spPr/>
        <p:txBody>
          <a:bodyPr/>
          <a:lstStyle/>
          <a:p>
            <a:fld id="{47F11B61-B68D-45D0-9649-CD93BC0FBAE8}" type="datetime1">
              <a:rPr lang="en-US" smtClean="0"/>
              <a:t>2/23/2026</a:t>
            </a:fld>
            <a:endParaRPr lang="en-US"/>
          </a:p>
        </p:txBody>
      </p:sp>
      <p:sp>
        <p:nvSpPr>
          <p:cNvPr id="5" name="Footer Placeholder 4">
            <a:extLst>
              <a:ext uri="{FF2B5EF4-FFF2-40B4-BE49-F238E27FC236}">
                <a16:creationId xmlns:a16="http://schemas.microsoft.com/office/drawing/2014/main" id="{5882AAFF-6F00-473B-B050-DA10A8FE17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0B88BD-055D-4564-8D9B-C55048F865D2}"/>
              </a:ext>
            </a:extLst>
          </p:cNvPr>
          <p:cNvSpPr>
            <a:spLocks noGrp="1"/>
          </p:cNvSpPr>
          <p:nvPr>
            <p:ph type="sldNum" sz="quarter" idx="12"/>
          </p:nvPr>
        </p:nvSpPr>
        <p:spPr/>
        <p:txBody>
          <a:bodyPr/>
          <a:lstStyle/>
          <a:p>
            <a:fld id="{A4DBBB07-2F6F-4E90-8073-ED4B40896F16}" type="slidenum">
              <a:rPr lang="en-US" smtClean="0"/>
              <a:t>‹#›</a:t>
            </a:fld>
            <a:endParaRPr lang="en-US"/>
          </a:p>
        </p:txBody>
      </p:sp>
    </p:spTree>
    <p:extLst>
      <p:ext uri="{BB962C8B-B14F-4D97-AF65-F5344CB8AC3E}">
        <p14:creationId xmlns:p14="http://schemas.microsoft.com/office/powerpoint/2010/main" val="3737792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B8D1DD-9BDA-4B47-9017-A6A87C6941E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FBC9016-22DA-40B4-BA6D-F7EA905664D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B19F6E-AB16-43A1-A51B-B35666D522E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87CF487-3AB6-4793-A228-E915E1027B6F}" type="datetime1">
              <a:rPr lang="en-US" smtClean="0"/>
              <a:t>2/23/2026</a:t>
            </a:fld>
            <a:endParaRPr lang="en-US"/>
          </a:p>
        </p:txBody>
      </p:sp>
      <p:sp>
        <p:nvSpPr>
          <p:cNvPr id="5" name="Footer Placeholder 4">
            <a:extLst>
              <a:ext uri="{FF2B5EF4-FFF2-40B4-BE49-F238E27FC236}">
                <a16:creationId xmlns:a16="http://schemas.microsoft.com/office/drawing/2014/main" id="{E6A4828D-FD2C-467B-9041-F032E4FAE57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3511114-9340-4DD5-A256-1A0168C89E1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DBBB07-2F6F-4E90-8073-ED4B40896F16}" type="slidenum">
              <a:rPr lang="en-US" smtClean="0"/>
              <a:t>‹#›</a:t>
            </a:fld>
            <a:endParaRPr lang="en-US"/>
          </a:p>
        </p:txBody>
      </p:sp>
    </p:spTree>
    <p:extLst>
      <p:ext uri="{BB962C8B-B14F-4D97-AF65-F5344CB8AC3E}">
        <p14:creationId xmlns:p14="http://schemas.microsoft.com/office/powerpoint/2010/main" val="40926338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Swaib.dragule@mak.ac.ug"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4.xml"/><Relationship Id="rId5" Type="http://schemas.openxmlformats.org/officeDocument/2006/relationships/image" Target="../media/image18.png"/><Relationship Id="rId4" Type="http://schemas.openxmlformats.org/officeDocument/2006/relationships/image" Target="../media/image1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4.xml"/><Relationship Id="rId5" Type="http://schemas.openxmlformats.org/officeDocument/2006/relationships/image" Target="../media/image22.png"/><Relationship Id="rId4" Type="http://schemas.openxmlformats.org/officeDocument/2006/relationships/image" Target="../media/image21.png"/></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4.xml"/><Relationship Id="rId5" Type="http://schemas.openxmlformats.org/officeDocument/2006/relationships/image" Target="../media/image26.png"/><Relationship Id="rId4" Type="http://schemas.openxmlformats.org/officeDocument/2006/relationships/image" Target="../media/image2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4.xml"/><Relationship Id="rId4" Type="http://schemas.openxmlformats.org/officeDocument/2006/relationships/image" Target="../media/image3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AEBECA0-9739-4EA1-B279-337E5520F392}"/>
              </a:ext>
            </a:extLst>
          </p:cNvPr>
          <p:cNvSpPr>
            <a:spLocks noGrp="1"/>
          </p:cNvSpPr>
          <p:nvPr>
            <p:ph type="ctrTitle"/>
          </p:nvPr>
        </p:nvSpPr>
        <p:spPr/>
        <p:txBody>
          <a:bodyPr/>
          <a:lstStyle/>
          <a:p>
            <a:r>
              <a:rPr lang="en-US" dirty="0"/>
              <a:t>Robotics CSC 2207</a:t>
            </a:r>
          </a:p>
        </p:txBody>
      </p:sp>
      <p:sp>
        <p:nvSpPr>
          <p:cNvPr id="4" name="Subtitle 3">
            <a:extLst>
              <a:ext uri="{FF2B5EF4-FFF2-40B4-BE49-F238E27FC236}">
                <a16:creationId xmlns:a16="http://schemas.microsoft.com/office/drawing/2014/main" id="{8F89F073-C96A-4705-86F8-DBC1AB9CE763}"/>
              </a:ext>
            </a:extLst>
          </p:cNvPr>
          <p:cNvSpPr>
            <a:spLocks noGrp="1"/>
          </p:cNvSpPr>
          <p:nvPr>
            <p:ph type="subTitle" idx="1"/>
          </p:nvPr>
        </p:nvSpPr>
        <p:spPr/>
        <p:txBody>
          <a:bodyPr/>
          <a:lstStyle/>
          <a:p>
            <a:r>
              <a:rPr lang="en-US" dirty="0" err="1"/>
              <a:t>Dragule</a:t>
            </a:r>
            <a:r>
              <a:rPr lang="en-US" dirty="0"/>
              <a:t> </a:t>
            </a:r>
            <a:r>
              <a:rPr lang="en-US" dirty="0" err="1"/>
              <a:t>Swaib</a:t>
            </a:r>
            <a:endParaRPr lang="en-US" dirty="0"/>
          </a:p>
          <a:p>
            <a:r>
              <a:rPr lang="en-US" dirty="0">
                <a:hlinkClick r:id="rId2"/>
              </a:rPr>
              <a:t>Swaib.dragule@mak.ac.ug</a:t>
            </a:r>
            <a:endParaRPr lang="en-US" dirty="0"/>
          </a:p>
          <a:p>
            <a:r>
              <a:rPr lang="en-US" dirty="0"/>
              <a:t>0772285111</a:t>
            </a:r>
          </a:p>
        </p:txBody>
      </p:sp>
      <p:sp>
        <p:nvSpPr>
          <p:cNvPr id="2" name="Slide Number Placeholder 1">
            <a:extLst>
              <a:ext uri="{FF2B5EF4-FFF2-40B4-BE49-F238E27FC236}">
                <a16:creationId xmlns:a16="http://schemas.microsoft.com/office/drawing/2014/main" id="{73F2CD3A-920D-463D-9D98-E26A501E52DF}"/>
              </a:ext>
            </a:extLst>
          </p:cNvPr>
          <p:cNvSpPr>
            <a:spLocks noGrp="1"/>
          </p:cNvSpPr>
          <p:nvPr>
            <p:ph type="sldNum" sz="quarter" idx="12"/>
          </p:nvPr>
        </p:nvSpPr>
        <p:spPr/>
        <p:txBody>
          <a:bodyPr/>
          <a:lstStyle/>
          <a:p>
            <a:fld id="{A4DBBB07-2F6F-4E90-8073-ED4B40896F16}" type="slidenum">
              <a:rPr lang="en-US" smtClean="0"/>
              <a:t>1</a:t>
            </a:fld>
            <a:endParaRPr lang="en-US"/>
          </a:p>
        </p:txBody>
      </p:sp>
    </p:spTree>
    <p:extLst>
      <p:ext uri="{BB962C8B-B14F-4D97-AF65-F5344CB8AC3E}">
        <p14:creationId xmlns:p14="http://schemas.microsoft.com/office/powerpoint/2010/main" val="41681130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D49B0430-CA81-4D8F-8144-DC36C38FC27C}"/>
              </a:ext>
            </a:extLst>
          </p:cNvPr>
          <p:cNvGrpSpPr/>
          <p:nvPr/>
        </p:nvGrpSpPr>
        <p:grpSpPr>
          <a:xfrm>
            <a:off x="214108" y="1299862"/>
            <a:ext cx="11553257" cy="4043663"/>
            <a:chOff x="214108" y="1718613"/>
            <a:chExt cx="11553257" cy="4043663"/>
          </a:xfrm>
        </p:grpSpPr>
        <p:pic>
          <p:nvPicPr>
            <p:cNvPr id="7" name="Graphic 6">
              <a:extLst>
                <a:ext uri="{FF2B5EF4-FFF2-40B4-BE49-F238E27FC236}">
                  <a16:creationId xmlns:a16="http://schemas.microsoft.com/office/drawing/2014/main" id="{377042B8-07DB-42FC-ACD0-7DAE83C8090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4108" y="1718613"/>
              <a:ext cx="6065496" cy="4043663"/>
            </a:xfrm>
            <a:prstGeom prst="rect">
              <a:avLst/>
            </a:prstGeom>
          </p:spPr>
        </p:pic>
        <p:grpSp>
          <p:nvGrpSpPr>
            <p:cNvPr id="12" name="Group 11">
              <a:extLst>
                <a:ext uri="{FF2B5EF4-FFF2-40B4-BE49-F238E27FC236}">
                  <a16:creationId xmlns:a16="http://schemas.microsoft.com/office/drawing/2014/main" id="{8CE6D898-4A37-4634-AECC-51F40233FE08}"/>
                </a:ext>
              </a:extLst>
            </p:cNvPr>
            <p:cNvGrpSpPr/>
            <p:nvPr/>
          </p:nvGrpSpPr>
          <p:grpSpPr>
            <a:xfrm>
              <a:off x="6458649" y="2009566"/>
              <a:ext cx="5308716" cy="3752710"/>
              <a:chOff x="6863147" y="1590815"/>
              <a:chExt cx="5308716" cy="3752710"/>
            </a:xfrm>
          </p:grpSpPr>
          <p:sp>
            <p:nvSpPr>
              <p:cNvPr id="4" name="TextBox 3">
                <a:extLst>
                  <a:ext uri="{FF2B5EF4-FFF2-40B4-BE49-F238E27FC236}">
                    <a16:creationId xmlns:a16="http://schemas.microsoft.com/office/drawing/2014/main" id="{CB3A507F-8A95-4356-A99F-6A5E4A112F2C}"/>
                  </a:ext>
                </a:extLst>
              </p:cNvPr>
              <p:cNvSpPr txBox="1"/>
              <p:nvPr/>
            </p:nvSpPr>
            <p:spPr>
              <a:xfrm>
                <a:off x="7006022" y="1590815"/>
                <a:ext cx="5165841" cy="584775"/>
              </a:xfrm>
              <a:prstGeom prst="rect">
                <a:avLst/>
              </a:prstGeom>
              <a:noFill/>
            </p:spPr>
            <p:txBody>
              <a:bodyPr wrap="square" rtlCol="0">
                <a:spAutoFit/>
              </a:bodyPr>
              <a:lstStyle/>
              <a:p>
                <a:r>
                  <a:rPr lang="en-US" sz="3200" dirty="0">
                    <a:solidFill>
                      <a:schemeClr val="tx1">
                        <a:lumMod val="95000"/>
                        <a:lumOff val="5000"/>
                      </a:schemeClr>
                    </a:solidFill>
                    <a:latin typeface="Georgia" panose="02040502050405020303" pitchFamily="18" charset="0"/>
                    <a:cs typeface="Arial" panose="020B0604020202020204" pitchFamily="34" charset="0"/>
                  </a:rPr>
                  <a:t>Robotics</a:t>
                </a:r>
              </a:p>
            </p:txBody>
          </p:sp>
          <p:sp>
            <p:nvSpPr>
              <p:cNvPr id="5" name="TextBox 4">
                <a:extLst>
                  <a:ext uri="{FF2B5EF4-FFF2-40B4-BE49-F238E27FC236}">
                    <a16:creationId xmlns:a16="http://schemas.microsoft.com/office/drawing/2014/main" id="{5B52A2A3-4431-4B26-85A5-EAD5AF8F9EFF}"/>
                  </a:ext>
                </a:extLst>
              </p:cNvPr>
              <p:cNvSpPr txBox="1"/>
              <p:nvPr/>
            </p:nvSpPr>
            <p:spPr>
              <a:xfrm>
                <a:off x="6863147" y="2327315"/>
                <a:ext cx="5038026" cy="3016210"/>
              </a:xfrm>
              <a:prstGeom prst="rect">
                <a:avLst/>
              </a:prstGeom>
              <a:noFill/>
            </p:spPr>
            <p:txBody>
              <a:bodyPr wrap="square" lIns="0" tIns="0" rIns="0" bIns="0" rtlCol="0" anchor="ctr">
                <a:spAutoFit/>
              </a:bodyPr>
              <a:lstStyle/>
              <a:p>
                <a:pPr marL="234950" indent="-234950">
                  <a:buFont typeface="Arial" panose="020B0604020202020204" pitchFamily="34" charset="0"/>
                  <a:buChar char="•"/>
                </a:pPr>
                <a:r>
                  <a:rPr lang="en-US" sz="2800" b="1" dirty="0"/>
                  <a:t>Robotics</a:t>
                </a:r>
                <a:r>
                  <a:rPr lang="en-US" sz="2800" dirty="0"/>
                  <a:t> is an interdisciplinary field that integrates </a:t>
                </a:r>
                <a:r>
                  <a:rPr lang="en-US" sz="2800" b="1" dirty="0"/>
                  <a:t>engineering, computer science, and social considerations</a:t>
                </a:r>
                <a:r>
                  <a:rPr lang="en-US" sz="2800" dirty="0"/>
                  <a:t> to create machine (robots), capable of performing tasks autonomously or semi-autonomously.</a:t>
                </a:r>
                <a:endParaRPr lang="en-US" sz="2000" dirty="0">
                  <a:solidFill>
                    <a:schemeClr val="tx1">
                      <a:lumMod val="95000"/>
                      <a:lumOff val="5000"/>
                    </a:schemeClr>
                  </a:solidFill>
                  <a:latin typeface="Georgia Pro Light" panose="02040302050405020303" pitchFamily="18" charset="0"/>
                </a:endParaRPr>
              </a:p>
            </p:txBody>
          </p:sp>
        </p:grpSp>
      </p:grpSp>
      <p:sp>
        <p:nvSpPr>
          <p:cNvPr id="2" name="Slide Number Placeholder 1">
            <a:extLst>
              <a:ext uri="{FF2B5EF4-FFF2-40B4-BE49-F238E27FC236}">
                <a16:creationId xmlns:a16="http://schemas.microsoft.com/office/drawing/2014/main" id="{222F9DF4-0F8F-4E83-8F4A-F33D0BDF6B42}"/>
              </a:ext>
            </a:extLst>
          </p:cNvPr>
          <p:cNvSpPr>
            <a:spLocks noGrp="1"/>
          </p:cNvSpPr>
          <p:nvPr>
            <p:ph type="sldNum" sz="quarter" idx="12"/>
          </p:nvPr>
        </p:nvSpPr>
        <p:spPr/>
        <p:txBody>
          <a:bodyPr/>
          <a:lstStyle/>
          <a:p>
            <a:fld id="{A4DBBB07-2F6F-4E90-8073-ED4B40896F16}" type="slidenum">
              <a:rPr lang="en-US" smtClean="0"/>
              <a:t>2</a:t>
            </a:fld>
            <a:endParaRPr lang="en-US"/>
          </a:p>
        </p:txBody>
      </p:sp>
    </p:spTree>
    <p:extLst>
      <p:ext uri="{BB962C8B-B14F-4D97-AF65-F5344CB8AC3E}">
        <p14:creationId xmlns:p14="http://schemas.microsoft.com/office/powerpoint/2010/main" val="21940701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548EF-0B83-4749-80A8-3132A10A2560}"/>
              </a:ext>
            </a:extLst>
          </p:cNvPr>
          <p:cNvSpPr>
            <a:spLocks noGrp="1"/>
          </p:cNvSpPr>
          <p:nvPr>
            <p:ph type="title"/>
          </p:nvPr>
        </p:nvSpPr>
        <p:spPr/>
        <p:txBody>
          <a:bodyPr/>
          <a:lstStyle/>
          <a:p>
            <a:r>
              <a:rPr lang="en-US" dirty="0"/>
              <a:t>Robotics </a:t>
            </a:r>
          </a:p>
        </p:txBody>
      </p:sp>
      <p:sp>
        <p:nvSpPr>
          <p:cNvPr id="3" name="Content Placeholder 2">
            <a:extLst>
              <a:ext uri="{FF2B5EF4-FFF2-40B4-BE49-F238E27FC236}">
                <a16:creationId xmlns:a16="http://schemas.microsoft.com/office/drawing/2014/main" id="{B96E7327-F661-4C0E-926A-2E095FC2722A}"/>
              </a:ext>
            </a:extLst>
          </p:cNvPr>
          <p:cNvSpPr>
            <a:spLocks noGrp="1"/>
          </p:cNvSpPr>
          <p:nvPr>
            <p:ph idx="1"/>
          </p:nvPr>
        </p:nvSpPr>
        <p:spPr>
          <a:xfrm>
            <a:off x="838200" y="1825625"/>
            <a:ext cx="7191375" cy="4351338"/>
          </a:xfrm>
        </p:spPr>
        <p:txBody>
          <a:bodyPr/>
          <a:lstStyle/>
          <a:p>
            <a:r>
              <a:rPr lang="en-US" b="1" dirty="0"/>
              <a:t>Engineering</a:t>
            </a:r>
            <a:r>
              <a:rPr lang="en-US" dirty="0"/>
              <a:t> perspective, it encompasses the design, construction, and actuation of physical systems, enabling robots to interact with the physical world.</a:t>
            </a:r>
          </a:p>
          <a:p>
            <a:r>
              <a:rPr lang="en-US" b="1" dirty="0"/>
              <a:t>Computer science</a:t>
            </a:r>
            <a:r>
              <a:rPr lang="en-US" dirty="0"/>
              <a:t> perspective, it involves the development of software for </a:t>
            </a:r>
            <a:r>
              <a:rPr lang="en-US" b="1" dirty="0"/>
              <a:t>perception</a:t>
            </a:r>
            <a:r>
              <a:rPr lang="en-US" dirty="0"/>
              <a:t> (via sensors), </a:t>
            </a:r>
            <a:r>
              <a:rPr lang="en-US" b="1" dirty="0"/>
              <a:t>cognition</a:t>
            </a:r>
            <a:r>
              <a:rPr lang="en-US" dirty="0"/>
              <a:t> (planning, learning, and decision-making), and action (</a:t>
            </a:r>
            <a:r>
              <a:rPr lang="en-US" b="1" dirty="0"/>
              <a:t>control systems</a:t>
            </a:r>
            <a:r>
              <a:rPr lang="en-US" dirty="0"/>
              <a:t>), which together constitute the robot's intelligence.</a:t>
            </a:r>
          </a:p>
          <a:p>
            <a:endParaRPr lang="en-US" dirty="0"/>
          </a:p>
        </p:txBody>
      </p:sp>
      <p:pic>
        <p:nvPicPr>
          <p:cNvPr id="4" name="Picture 3">
            <a:extLst>
              <a:ext uri="{FF2B5EF4-FFF2-40B4-BE49-F238E27FC236}">
                <a16:creationId xmlns:a16="http://schemas.microsoft.com/office/drawing/2014/main" id="{6B0D0EBF-AA33-4606-AC88-23C520171336}"/>
              </a:ext>
            </a:extLst>
          </p:cNvPr>
          <p:cNvPicPr>
            <a:picLocks noChangeAspect="1"/>
          </p:cNvPicPr>
          <p:nvPr/>
        </p:nvPicPr>
        <p:blipFill>
          <a:blip r:embed="rId2"/>
          <a:stretch>
            <a:fillRect/>
          </a:stretch>
        </p:blipFill>
        <p:spPr>
          <a:xfrm>
            <a:off x="8100936" y="2519363"/>
            <a:ext cx="3972002" cy="2643187"/>
          </a:xfrm>
          <a:prstGeom prst="rect">
            <a:avLst/>
          </a:prstGeom>
        </p:spPr>
      </p:pic>
      <p:sp>
        <p:nvSpPr>
          <p:cNvPr id="5" name="Slide Number Placeholder 4">
            <a:extLst>
              <a:ext uri="{FF2B5EF4-FFF2-40B4-BE49-F238E27FC236}">
                <a16:creationId xmlns:a16="http://schemas.microsoft.com/office/drawing/2014/main" id="{1A9FA1AA-936A-4474-9F42-68F303E8DEEF}"/>
              </a:ext>
            </a:extLst>
          </p:cNvPr>
          <p:cNvSpPr>
            <a:spLocks noGrp="1"/>
          </p:cNvSpPr>
          <p:nvPr>
            <p:ph type="sldNum" sz="quarter" idx="12"/>
          </p:nvPr>
        </p:nvSpPr>
        <p:spPr/>
        <p:txBody>
          <a:bodyPr/>
          <a:lstStyle/>
          <a:p>
            <a:fld id="{A4DBBB07-2F6F-4E90-8073-ED4B40896F16}" type="slidenum">
              <a:rPr lang="en-US" smtClean="0"/>
              <a:t>3</a:t>
            </a:fld>
            <a:endParaRPr lang="en-US"/>
          </a:p>
        </p:txBody>
      </p:sp>
    </p:spTree>
    <p:extLst>
      <p:ext uri="{BB962C8B-B14F-4D97-AF65-F5344CB8AC3E}">
        <p14:creationId xmlns:p14="http://schemas.microsoft.com/office/powerpoint/2010/main" val="38399789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69741-CAEB-4B1D-9A9C-C62E5EA7FB1D}"/>
              </a:ext>
            </a:extLst>
          </p:cNvPr>
          <p:cNvSpPr>
            <a:spLocks noGrp="1"/>
          </p:cNvSpPr>
          <p:nvPr>
            <p:ph type="title"/>
          </p:nvPr>
        </p:nvSpPr>
        <p:spPr/>
        <p:txBody>
          <a:bodyPr/>
          <a:lstStyle/>
          <a:p>
            <a:r>
              <a:rPr lang="en-US" dirty="0"/>
              <a:t>Robotics</a:t>
            </a:r>
          </a:p>
        </p:txBody>
      </p:sp>
      <p:sp>
        <p:nvSpPr>
          <p:cNvPr id="3" name="Content Placeholder 2">
            <a:extLst>
              <a:ext uri="{FF2B5EF4-FFF2-40B4-BE49-F238E27FC236}">
                <a16:creationId xmlns:a16="http://schemas.microsoft.com/office/drawing/2014/main" id="{FAEB1AA3-A250-469C-84AF-71E19A1E67E0}"/>
              </a:ext>
            </a:extLst>
          </p:cNvPr>
          <p:cNvSpPr>
            <a:spLocks noGrp="1"/>
          </p:cNvSpPr>
          <p:nvPr>
            <p:ph idx="1"/>
          </p:nvPr>
        </p:nvSpPr>
        <p:spPr>
          <a:xfrm>
            <a:off x="838200" y="1825625"/>
            <a:ext cx="6810375" cy="4351338"/>
          </a:xfrm>
        </p:spPr>
        <p:txBody>
          <a:bodyPr/>
          <a:lstStyle/>
          <a:p>
            <a:r>
              <a:rPr lang="en-US" b="1" dirty="0"/>
              <a:t>Social and ethical</a:t>
            </a:r>
            <a:r>
              <a:rPr lang="en-US" dirty="0"/>
              <a:t> perspective, robotics examines the design, deployment, and impact of robots within human environments. </a:t>
            </a:r>
          </a:p>
          <a:p>
            <a:r>
              <a:rPr lang="en-US" dirty="0"/>
              <a:t>This includes considerations of safety, collaboration, job displacement, ethical decision-making, privacy, and the broader societal effects of automating tasks in industries, healthcare, domestic life, and public spaces.</a:t>
            </a:r>
          </a:p>
        </p:txBody>
      </p:sp>
      <p:pic>
        <p:nvPicPr>
          <p:cNvPr id="4" name="Picture 3">
            <a:extLst>
              <a:ext uri="{FF2B5EF4-FFF2-40B4-BE49-F238E27FC236}">
                <a16:creationId xmlns:a16="http://schemas.microsoft.com/office/drawing/2014/main" id="{4FEEA7A5-881F-4056-B789-CB5C1FA3D7E5}"/>
              </a:ext>
            </a:extLst>
          </p:cNvPr>
          <p:cNvPicPr>
            <a:picLocks noChangeAspect="1"/>
          </p:cNvPicPr>
          <p:nvPr/>
        </p:nvPicPr>
        <p:blipFill>
          <a:blip r:embed="rId2"/>
          <a:stretch>
            <a:fillRect/>
          </a:stretch>
        </p:blipFill>
        <p:spPr>
          <a:xfrm>
            <a:off x="7562850" y="2163179"/>
            <a:ext cx="4248150" cy="3018422"/>
          </a:xfrm>
          <a:prstGeom prst="rect">
            <a:avLst/>
          </a:prstGeom>
        </p:spPr>
      </p:pic>
      <p:sp>
        <p:nvSpPr>
          <p:cNvPr id="5" name="Slide Number Placeholder 4">
            <a:extLst>
              <a:ext uri="{FF2B5EF4-FFF2-40B4-BE49-F238E27FC236}">
                <a16:creationId xmlns:a16="http://schemas.microsoft.com/office/drawing/2014/main" id="{CCEFC41C-A0E0-4418-B6FD-245789070AA3}"/>
              </a:ext>
            </a:extLst>
          </p:cNvPr>
          <p:cNvSpPr>
            <a:spLocks noGrp="1"/>
          </p:cNvSpPr>
          <p:nvPr>
            <p:ph type="sldNum" sz="quarter" idx="12"/>
          </p:nvPr>
        </p:nvSpPr>
        <p:spPr/>
        <p:txBody>
          <a:bodyPr/>
          <a:lstStyle/>
          <a:p>
            <a:fld id="{A4DBBB07-2F6F-4E90-8073-ED4B40896F16}" type="slidenum">
              <a:rPr lang="en-US" smtClean="0"/>
              <a:t>4</a:t>
            </a:fld>
            <a:endParaRPr lang="en-US"/>
          </a:p>
        </p:txBody>
      </p:sp>
    </p:spTree>
    <p:extLst>
      <p:ext uri="{BB962C8B-B14F-4D97-AF65-F5344CB8AC3E}">
        <p14:creationId xmlns:p14="http://schemas.microsoft.com/office/powerpoint/2010/main" val="16340344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2F257-BE11-455D-AD70-84841B4BE5CD}"/>
              </a:ext>
            </a:extLst>
          </p:cNvPr>
          <p:cNvSpPr>
            <a:spLocks noGrp="1"/>
          </p:cNvSpPr>
          <p:nvPr>
            <p:ph type="title"/>
          </p:nvPr>
        </p:nvSpPr>
        <p:spPr/>
        <p:txBody>
          <a:bodyPr/>
          <a:lstStyle/>
          <a:p>
            <a:r>
              <a:rPr lang="en-US" dirty="0"/>
              <a:t>Robotics </a:t>
            </a:r>
          </a:p>
        </p:txBody>
      </p:sp>
      <p:sp>
        <p:nvSpPr>
          <p:cNvPr id="3" name="Content Placeholder 2">
            <a:extLst>
              <a:ext uri="{FF2B5EF4-FFF2-40B4-BE49-F238E27FC236}">
                <a16:creationId xmlns:a16="http://schemas.microsoft.com/office/drawing/2014/main" id="{0ECD9321-B43C-4A87-AA9A-1FC601FA761F}"/>
              </a:ext>
            </a:extLst>
          </p:cNvPr>
          <p:cNvSpPr>
            <a:spLocks noGrp="1"/>
          </p:cNvSpPr>
          <p:nvPr>
            <p:ph idx="1"/>
          </p:nvPr>
        </p:nvSpPr>
        <p:spPr/>
        <p:txBody>
          <a:bodyPr/>
          <a:lstStyle/>
          <a:p>
            <a:r>
              <a:rPr lang="en-US" dirty="0"/>
              <a:t>Robotics is the practice of building intelligent, embodied agents that extend human capabilities, and the study of their responsible integration into society.</a:t>
            </a:r>
          </a:p>
          <a:p>
            <a:r>
              <a:rPr lang="en-US" dirty="0"/>
              <a:t>Robotics is the science and engineering of designing, building, and using robots.</a:t>
            </a:r>
          </a:p>
          <a:p>
            <a:r>
              <a:rPr lang="en-US" dirty="0"/>
              <a:t>A </a:t>
            </a:r>
            <a:r>
              <a:rPr lang="en-US" b="1" dirty="0"/>
              <a:t>robot</a:t>
            </a:r>
            <a:r>
              <a:rPr lang="en-US" dirty="0"/>
              <a:t> is a reprogrammable, multifunctional machine capable of performing tasks autonomously or semi-autonomously.</a:t>
            </a:r>
          </a:p>
          <a:p>
            <a:r>
              <a:rPr lang="en-US" dirty="0"/>
              <a:t>First coined by </a:t>
            </a:r>
            <a:r>
              <a:rPr lang="en-US" b="1" dirty="0"/>
              <a:t>Karel </a:t>
            </a:r>
            <a:r>
              <a:rPr lang="en-US" b="1" dirty="0" err="1"/>
              <a:t>Čapek</a:t>
            </a:r>
            <a:r>
              <a:rPr lang="en-US" dirty="0"/>
              <a:t> in 1920 in the play </a:t>
            </a:r>
            <a:r>
              <a:rPr lang="en-US" i="1" dirty="0"/>
              <a:t>R.U.R.</a:t>
            </a:r>
            <a:r>
              <a:rPr lang="en-US" dirty="0"/>
              <a:t> (Rossum's Universal Robots).</a:t>
            </a:r>
          </a:p>
          <a:p>
            <a:endParaRPr lang="en-US" dirty="0"/>
          </a:p>
        </p:txBody>
      </p:sp>
      <p:sp>
        <p:nvSpPr>
          <p:cNvPr id="4" name="Slide Number Placeholder 3">
            <a:extLst>
              <a:ext uri="{FF2B5EF4-FFF2-40B4-BE49-F238E27FC236}">
                <a16:creationId xmlns:a16="http://schemas.microsoft.com/office/drawing/2014/main" id="{1875CD42-DA8D-46F4-9D2A-D553C1948C14}"/>
              </a:ext>
            </a:extLst>
          </p:cNvPr>
          <p:cNvSpPr>
            <a:spLocks noGrp="1"/>
          </p:cNvSpPr>
          <p:nvPr>
            <p:ph type="sldNum" sz="quarter" idx="12"/>
          </p:nvPr>
        </p:nvSpPr>
        <p:spPr/>
        <p:txBody>
          <a:bodyPr/>
          <a:lstStyle/>
          <a:p>
            <a:fld id="{A4DBBB07-2F6F-4E90-8073-ED4B40896F16}" type="slidenum">
              <a:rPr lang="en-US" smtClean="0"/>
              <a:t>5</a:t>
            </a:fld>
            <a:endParaRPr lang="en-US"/>
          </a:p>
        </p:txBody>
      </p:sp>
    </p:spTree>
    <p:extLst>
      <p:ext uri="{BB962C8B-B14F-4D97-AF65-F5344CB8AC3E}">
        <p14:creationId xmlns:p14="http://schemas.microsoft.com/office/powerpoint/2010/main" val="12474694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BD9D9-3AE2-49A8-981E-90DC5238438D}"/>
              </a:ext>
            </a:extLst>
          </p:cNvPr>
          <p:cNvSpPr>
            <a:spLocks noGrp="1"/>
          </p:cNvSpPr>
          <p:nvPr>
            <p:ph type="title"/>
          </p:nvPr>
        </p:nvSpPr>
        <p:spPr/>
        <p:txBody>
          <a:bodyPr/>
          <a:lstStyle/>
          <a:p>
            <a:r>
              <a:rPr lang="en-US" b="1" dirty="0"/>
              <a:t>Origin of the Term "Robot"</a:t>
            </a:r>
            <a:endParaRPr lang="en-US" dirty="0"/>
          </a:p>
        </p:txBody>
      </p:sp>
      <p:sp>
        <p:nvSpPr>
          <p:cNvPr id="3" name="Content Placeholder 2">
            <a:extLst>
              <a:ext uri="{FF2B5EF4-FFF2-40B4-BE49-F238E27FC236}">
                <a16:creationId xmlns:a16="http://schemas.microsoft.com/office/drawing/2014/main" id="{8F87846E-D864-4F18-911B-906A31A9CA57}"/>
              </a:ext>
            </a:extLst>
          </p:cNvPr>
          <p:cNvSpPr>
            <a:spLocks noGrp="1"/>
          </p:cNvSpPr>
          <p:nvPr>
            <p:ph idx="1"/>
          </p:nvPr>
        </p:nvSpPr>
        <p:spPr/>
        <p:txBody>
          <a:bodyPr>
            <a:normAutofit/>
          </a:bodyPr>
          <a:lstStyle/>
          <a:p>
            <a:r>
              <a:rPr lang="en-US" dirty="0"/>
              <a:t>Derived from the Czech word </a:t>
            </a:r>
            <a:r>
              <a:rPr lang="en-US" i="1" dirty="0" err="1"/>
              <a:t>robota</a:t>
            </a:r>
            <a:r>
              <a:rPr lang="en-US" dirty="0"/>
              <a:t>, meaning “forced labor” or “worker.”</a:t>
            </a:r>
          </a:p>
          <a:p>
            <a:r>
              <a:rPr lang="en-US" dirty="0"/>
              <a:t>Early industrial robots were used for:</a:t>
            </a:r>
          </a:p>
          <a:p>
            <a:pPr lvl="1"/>
            <a:r>
              <a:rPr lang="en-US" dirty="0"/>
              <a:t>Handling dangerous materials (toxic, radioactive, hot)</a:t>
            </a:r>
          </a:p>
          <a:p>
            <a:pPr lvl="1"/>
            <a:r>
              <a:rPr lang="en-US" dirty="0"/>
              <a:t>Performing dull, dirty, or dangerous tasks (the “3 D’s”)</a:t>
            </a:r>
          </a:p>
          <a:p>
            <a:r>
              <a:rPr lang="en-US" dirty="0"/>
              <a:t>ISO definition: </a:t>
            </a:r>
            <a:r>
              <a:rPr lang="en-US" i="1" dirty="0"/>
              <a:t>A machine with several degrees of freedom, often resembling an arm, capable of holding tools or workpieces.</a:t>
            </a:r>
            <a:endParaRPr lang="en-US" dirty="0"/>
          </a:p>
          <a:p>
            <a:r>
              <a:rPr lang="en-US" dirty="0"/>
              <a:t>A robot is an autonomous system which exists in the physical world, can sense its environment, and can act on it to achieve some goals.</a:t>
            </a:r>
          </a:p>
        </p:txBody>
      </p:sp>
      <p:sp>
        <p:nvSpPr>
          <p:cNvPr id="4" name="Slide Number Placeholder 3">
            <a:extLst>
              <a:ext uri="{FF2B5EF4-FFF2-40B4-BE49-F238E27FC236}">
                <a16:creationId xmlns:a16="http://schemas.microsoft.com/office/drawing/2014/main" id="{22AEE817-12F4-4E49-B542-3DF1F63C4B27}"/>
              </a:ext>
            </a:extLst>
          </p:cNvPr>
          <p:cNvSpPr>
            <a:spLocks noGrp="1"/>
          </p:cNvSpPr>
          <p:nvPr>
            <p:ph type="sldNum" sz="quarter" idx="12"/>
          </p:nvPr>
        </p:nvSpPr>
        <p:spPr/>
        <p:txBody>
          <a:bodyPr/>
          <a:lstStyle/>
          <a:p>
            <a:fld id="{A4DBBB07-2F6F-4E90-8073-ED4B40896F16}" type="slidenum">
              <a:rPr lang="en-US" smtClean="0"/>
              <a:t>6</a:t>
            </a:fld>
            <a:endParaRPr lang="en-US"/>
          </a:p>
        </p:txBody>
      </p:sp>
    </p:spTree>
    <p:extLst>
      <p:ext uri="{BB962C8B-B14F-4D97-AF65-F5344CB8AC3E}">
        <p14:creationId xmlns:p14="http://schemas.microsoft.com/office/powerpoint/2010/main" val="5700338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5F574A-723C-4384-B945-56C268DA3B86}"/>
              </a:ext>
            </a:extLst>
          </p:cNvPr>
          <p:cNvSpPr>
            <a:spLocks noGrp="1"/>
          </p:cNvSpPr>
          <p:nvPr>
            <p:ph type="title"/>
          </p:nvPr>
        </p:nvSpPr>
        <p:spPr/>
        <p:txBody>
          <a:bodyPr/>
          <a:lstStyle/>
          <a:p>
            <a:r>
              <a:rPr lang="en-US" b="1" dirty="0"/>
              <a:t>Origin of the Term "Robot"</a:t>
            </a:r>
            <a:endParaRPr lang="en-US" dirty="0"/>
          </a:p>
        </p:txBody>
      </p:sp>
      <p:sp>
        <p:nvSpPr>
          <p:cNvPr id="3" name="Content Placeholder 2">
            <a:extLst>
              <a:ext uri="{FF2B5EF4-FFF2-40B4-BE49-F238E27FC236}">
                <a16:creationId xmlns:a16="http://schemas.microsoft.com/office/drawing/2014/main" id="{D7C28126-6D11-4908-8905-47A34AA47164}"/>
              </a:ext>
            </a:extLst>
          </p:cNvPr>
          <p:cNvSpPr>
            <a:spLocks noGrp="1"/>
          </p:cNvSpPr>
          <p:nvPr>
            <p:ph idx="1"/>
          </p:nvPr>
        </p:nvSpPr>
        <p:spPr/>
        <p:txBody>
          <a:bodyPr>
            <a:normAutofit fontScale="85000" lnSpcReduction="20000"/>
          </a:bodyPr>
          <a:lstStyle/>
          <a:p>
            <a:r>
              <a:rPr lang="en-US" dirty="0"/>
              <a:t>An </a:t>
            </a:r>
            <a:r>
              <a:rPr lang="en-US" b="1" dirty="0"/>
              <a:t>autonomous</a:t>
            </a:r>
            <a:r>
              <a:rPr lang="en-US" dirty="0"/>
              <a:t> robot acts on the basis of its own decisions, and is not controlled by a human.</a:t>
            </a:r>
          </a:p>
          <a:p>
            <a:r>
              <a:rPr lang="en-US" dirty="0"/>
              <a:t>They are said to be </a:t>
            </a:r>
            <a:r>
              <a:rPr lang="en-US" b="1" dirty="0"/>
              <a:t>teleoperated</a:t>
            </a:r>
            <a:r>
              <a:rPr lang="en-US" dirty="0"/>
              <a:t>; tele means “far” in Greek, so teleoperation means operating a system from afar.</a:t>
            </a:r>
          </a:p>
          <a:p>
            <a:r>
              <a:rPr lang="en-US" dirty="0"/>
              <a:t>A true robot exists in the </a:t>
            </a:r>
            <a:r>
              <a:rPr lang="en-US" b="1" dirty="0"/>
              <a:t>physical world</a:t>
            </a:r>
            <a:r>
              <a:rPr lang="en-US" dirty="0"/>
              <a:t>.</a:t>
            </a:r>
          </a:p>
          <a:p>
            <a:r>
              <a:rPr lang="en-US" b="1" dirty="0"/>
              <a:t>Sensing</a:t>
            </a:r>
            <a:r>
              <a:rPr lang="en-US" dirty="0"/>
              <a:t> the environment means the robot has sensors, for perceiving (e.g., hearing, touching, seeing, smelling, etc.) in order to get information from the world</a:t>
            </a:r>
          </a:p>
          <a:p>
            <a:r>
              <a:rPr lang="en-US" dirty="0"/>
              <a:t>Taking </a:t>
            </a:r>
            <a:r>
              <a:rPr lang="en-US" b="1" dirty="0"/>
              <a:t>actions</a:t>
            </a:r>
            <a:r>
              <a:rPr lang="en-US" dirty="0"/>
              <a:t> to respond to sensory inputs and to achieve what is desired. </a:t>
            </a:r>
          </a:p>
          <a:p>
            <a:r>
              <a:rPr lang="en-US" dirty="0"/>
              <a:t>Robot to have one or more </a:t>
            </a:r>
            <a:r>
              <a:rPr lang="en-US" b="1" dirty="0"/>
              <a:t>goals</a:t>
            </a:r>
            <a:r>
              <a:rPr lang="en-US" dirty="0"/>
              <a:t> and to act so as to achieve those goals.</a:t>
            </a:r>
          </a:p>
          <a:p>
            <a:r>
              <a:rPr lang="en-US" dirty="0"/>
              <a:t>Robotics involves autonomy, sensing, action, and achieving goals, all in the physical world.</a:t>
            </a:r>
          </a:p>
        </p:txBody>
      </p:sp>
      <p:sp>
        <p:nvSpPr>
          <p:cNvPr id="4" name="Slide Number Placeholder 3">
            <a:extLst>
              <a:ext uri="{FF2B5EF4-FFF2-40B4-BE49-F238E27FC236}">
                <a16:creationId xmlns:a16="http://schemas.microsoft.com/office/drawing/2014/main" id="{E55FF24B-CC58-46F9-A93E-8240B7298EBB}"/>
              </a:ext>
            </a:extLst>
          </p:cNvPr>
          <p:cNvSpPr>
            <a:spLocks noGrp="1"/>
          </p:cNvSpPr>
          <p:nvPr>
            <p:ph type="sldNum" sz="quarter" idx="12"/>
          </p:nvPr>
        </p:nvSpPr>
        <p:spPr/>
        <p:txBody>
          <a:bodyPr/>
          <a:lstStyle/>
          <a:p>
            <a:fld id="{A4DBBB07-2F6F-4E90-8073-ED4B40896F16}" type="slidenum">
              <a:rPr lang="en-US" smtClean="0"/>
              <a:t>7</a:t>
            </a:fld>
            <a:endParaRPr lang="en-US"/>
          </a:p>
        </p:txBody>
      </p:sp>
    </p:spTree>
    <p:extLst>
      <p:ext uri="{BB962C8B-B14F-4D97-AF65-F5344CB8AC3E}">
        <p14:creationId xmlns:p14="http://schemas.microsoft.com/office/powerpoint/2010/main" val="22227466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1A9CB-ACBE-48DF-A329-FB0A74773C5D}"/>
              </a:ext>
            </a:extLst>
          </p:cNvPr>
          <p:cNvSpPr>
            <a:spLocks noGrp="1"/>
          </p:cNvSpPr>
          <p:nvPr>
            <p:ph type="title"/>
          </p:nvPr>
        </p:nvSpPr>
        <p:spPr/>
        <p:txBody>
          <a:bodyPr/>
          <a:lstStyle/>
          <a:p>
            <a:r>
              <a:rPr lang="en-US" b="1" dirty="0"/>
              <a:t>General Structure of a Robot Manipulator</a:t>
            </a:r>
            <a:endParaRPr lang="en-US" dirty="0"/>
          </a:p>
        </p:txBody>
      </p:sp>
      <p:sp>
        <p:nvSpPr>
          <p:cNvPr id="3" name="Content Placeholder 2">
            <a:extLst>
              <a:ext uri="{FF2B5EF4-FFF2-40B4-BE49-F238E27FC236}">
                <a16:creationId xmlns:a16="http://schemas.microsoft.com/office/drawing/2014/main" id="{2E065F73-A4ED-4B6E-B99D-3AB92EE68293}"/>
              </a:ext>
            </a:extLst>
          </p:cNvPr>
          <p:cNvSpPr>
            <a:spLocks noGrp="1"/>
          </p:cNvSpPr>
          <p:nvPr>
            <p:ph idx="1"/>
          </p:nvPr>
        </p:nvSpPr>
        <p:spPr/>
        <p:txBody>
          <a:bodyPr/>
          <a:lstStyle/>
          <a:p>
            <a:pPr marL="0" indent="0">
              <a:buNone/>
            </a:pPr>
            <a:r>
              <a:rPr lang="en-US" dirty="0"/>
              <a:t>A robot consists of five main components</a:t>
            </a:r>
          </a:p>
          <a:p>
            <a:r>
              <a:rPr lang="en-US" b="1" dirty="0"/>
              <a:t>Mechanical Structure, </a:t>
            </a:r>
            <a:r>
              <a:rPr lang="en-US" dirty="0"/>
              <a:t> Rigid links connected by joints.</a:t>
            </a:r>
          </a:p>
          <a:p>
            <a:r>
              <a:rPr lang="en-US" b="1" dirty="0"/>
              <a:t>Actuators</a:t>
            </a:r>
            <a:r>
              <a:rPr lang="en-US" dirty="0"/>
              <a:t> , Provide motion (electric, hydraulic, pneumatic).</a:t>
            </a:r>
          </a:p>
          <a:p>
            <a:r>
              <a:rPr lang="en-US" b="1" dirty="0"/>
              <a:t>Transmission Devices</a:t>
            </a:r>
            <a:r>
              <a:rPr lang="en-US" dirty="0"/>
              <a:t> , Gears, linkages that transfer power.</a:t>
            </a:r>
          </a:p>
          <a:p>
            <a:r>
              <a:rPr lang="en-US" b="1" dirty="0"/>
              <a:t>Sensors</a:t>
            </a:r>
            <a:r>
              <a:rPr lang="en-US" dirty="0"/>
              <a:t> , Provide feedback (position, velocity, force).</a:t>
            </a:r>
          </a:p>
          <a:p>
            <a:r>
              <a:rPr lang="en-US" b="1" dirty="0"/>
              <a:t>Control Unit</a:t>
            </a:r>
            <a:r>
              <a:rPr lang="en-US" dirty="0"/>
              <a:t> ,</a:t>
            </a:r>
          </a:p>
          <a:p>
            <a:r>
              <a:rPr lang="en-US" dirty="0"/>
              <a:t> The “brain” that processes information and commands motion.</a:t>
            </a:r>
          </a:p>
          <a:p>
            <a:endParaRPr lang="en-US" dirty="0"/>
          </a:p>
        </p:txBody>
      </p:sp>
      <p:sp>
        <p:nvSpPr>
          <p:cNvPr id="4" name="Slide Number Placeholder 3">
            <a:extLst>
              <a:ext uri="{FF2B5EF4-FFF2-40B4-BE49-F238E27FC236}">
                <a16:creationId xmlns:a16="http://schemas.microsoft.com/office/drawing/2014/main" id="{520BD76B-EAFB-4055-8E2D-E024C931F3E2}"/>
              </a:ext>
            </a:extLst>
          </p:cNvPr>
          <p:cNvSpPr>
            <a:spLocks noGrp="1"/>
          </p:cNvSpPr>
          <p:nvPr>
            <p:ph type="sldNum" sz="quarter" idx="12"/>
          </p:nvPr>
        </p:nvSpPr>
        <p:spPr/>
        <p:txBody>
          <a:bodyPr/>
          <a:lstStyle/>
          <a:p>
            <a:fld id="{A4DBBB07-2F6F-4E90-8073-ED4B40896F16}" type="slidenum">
              <a:rPr lang="en-US" smtClean="0"/>
              <a:t>8</a:t>
            </a:fld>
            <a:endParaRPr lang="en-US"/>
          </a:p>
        </p:txBody>
      </p:sp>
    </p:spTree>
    <p:extLst>
      <p:ext uri="{BB962C8B-B14F-4D97-AF65-F5344CB8AC3E}">
        <p14:creationId xmlns:p14="http://schemas.microsoft.com/office/powerpoint/2010/main" val="12957121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0BEDD-338A-4710-89F1-5817D91580F0}"/>
              </a:ext>
            </a:extLst>
          </p:cNvPr>
          <p:cNvSpPr>
            <a:spLocks noGrp="1"/>
          </p:cNvSpPr>
          <p:nvPr>
            <p:ph type="title"/>
          </p:nvPr>
        </p:nvSpPr>
        <p:spPr/>
        <p:txBody>
          <a:bodyPr/>
          <a:lstStyle/>
          <a:p>
            <a:r>
              <a:rPr lang="en-US" b="1" dirty="0"/>
              <a:t>Multidisciplinary Nature of Robotics</a:t>
            </a:r>
            <a:br>
              <a:rPr lang="en-US" b="1" dirty="0"/>
            </a:br>
            <a:endParaRPr lang="en-US" dirty="0"/>
          </a:p>
        </p:txBody>
      </p:sp>
      <p:sp>
        <p:nvSpPr>
          <p:cNvPr id="3" name="Content Placeholder 2">
            <a:extLst>
              <a:ext uri="{FF2B5EF4-FFF2-40B4-BE49-F238E27FC236}">
                <a16:creationId xmlns:a16="http://schemas.microsoft.com/office/drawing/2014/main" id="{FBADEF6F-F447-444A-B88A-A7C376B8C64D}"/>
              </a:ext>
            </a:extLst>
          </p:cNvPr>
          <p:cNvSpPr>
            <a:spLocks noGrp="1"/>
          </p:cNvSpPr>
          <p:nvPr>
            <p:ph idx="1"/>
          </p:nvPr>
        </p:nvSpPr>
        <p:spPr/>
        <p:txBody>
          <a:bodyPr/>
          <a:lstStyle/>
          <a:p>
            <a:pPr marL="0" indent="0">
              <a:buNone/>
            </a:pPr>
            <a:r>
              <a:rPr lang="en-US" dirty="0"/>
              <a:t>Robotics integrates </a:t>
            </a:r>
            <a:r>
              <a:rPr lang="en-US"/>
              <a:t>knowledge from</a:t>
            </a:r>
            <a:endParaRPr lang="en-US" dirty="0"/>
          </a:p>
          <a:p>
            <a:r>
              <a:rPr lang="en-US" b="1" dirty="0"/>
              <a:t>Mechanical Engineering</a:t>
            </a:r>
            <a:r>
              <a:rPr lang="en-US" dirty="0"/>
              <a:t> – Structure, dynamics, materials</a:t>
            </a:r>
          </a:p>
          <a:p>
            <a:r>
              <a:rPr lang="en-US" b="1" dirty="0"/>
              <a:t>Electrical Engineering</a:t>
            </a:r>
            <a:r>
              <a:rPr lang="en-US" dirty="0"/>
              <a:t> – Actuators, power systems</a:t>
            </a:r>
          </a:p>
          <a:p>
            <a:r>
              <a:rPr lang="en-US" b="1" dirty="0"/>
              <a:t>Computer Science</a:t>
            </a:r>
            <a:r>
              <a:rPr lang="en-US" dirty="0"/>
              <a:t> – Control algorithms, AI, programming</a:t>
            </a:r>
          </a:p>
          <a:p>
            <a:r>
              <a:rPr lang="en-US" b="1" dirty="0"/>
              <a:t>Electronics</a:t>
            </a:r>
            <a:r>
              <a:rPr lang="en-US" dirty="0"/>
              <a:t> – Sensors, embedded systems</a:t>
            </a:r>
          </a:p>
          <a:p>
            <a:r>
              <a:rPr lang="en-US" dirty="0"/>
              <a:t>Collaboration across disciplines is essential for successful robot design.</a:t>
            </a:r>
          </a:p>
          <a:p>
            <a:endParaRPr lang="en-US" dirty="0"/>
          </a:p>
        </p:txBody>
      </p:sp>
      <p:sp>
        <p:nvSpPr>
          <p:cNvPr id="4" name="Slide Number Placeholder 3">
            <a:extLst>
              <a:ext uri="{FF2B5EF4-FFF2-40B4-BE49-F238E27FC236}">
                <a16:creationId xmlns:a16="http://schemas.microsoft.com/office/drawing/2014/main" id="{5D3C3964-EE4B-46E3-B841-E0BB448263A3}"/>
              </a:ext>
            </a:extLst>
          </p:cNvPr>
          <p:cNvSpPr>
            <a:spLocks noGrp="1"/>
          </p:cNvSpPr>
          <p:nvPr>
            <p:ph type="sldNum" sz="quarter" idx="12"/>
          </p:nvPr>
        </p:nvSpPr>
        <p:spPr/>
        <p:txBody>
          <a:bodyPr/>
          <a:lstStyle/>
          <a:p>
            <a:fld id="{A4DBBB07-2F6F-4E90-8073-ED4B40896F16}" type="slidenum">
              <a:rPr lang="en-US" smtClean="0"/>
              <a:t>9</a:t>
            </a:fld>
            <a:endParaRPr lang="en-US"/>
          </a:p>
        </p:txBody>
      </p:sp>
    </p:spTree>
    <p:extLst>
      <p:ext uri="{BB962C8B-B14F-4D97-AF65-F5344CB8AC3E}">
        <p14:creationId xmlns:p14="http://schemas.microsoft.com/office/powerpoint/2010/main" val="6531856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0FFE0-6A1F-45CE-99B0-B797A8F4340F}"/>
              </a:ext>
            </a:extLst>
          </p:cNvPr>
          <p:cNvSpPr>
            <a:spLocks noGrp="1"/>
          </p:cNvSpPr>
          <p:nvPr>
            <p:ph type="title"/>
          </p:nvPr>
        </p:nvSpPr>
        <p:spPr/>
        <p:txBody>
          <a:bodyPr/>
          <a:lstStyle/>
          <a:p>
            <a:r>
              <a:rPr lang="en-US" b="1" dirty="0"/>
              <a:t>Introduction to Robotics Applications</a:t>
            </a:r>
            <a:endParaRPr lang="en-US" dirty="0"/>
          </a:p>
        </p:txBody>
      </p:sp>
      <p:sp>
        <p:nvSpPr>
          <p:cNvPr id="3" name="Content Placeholder 2">
            <a:extLst>
              <a:ext uri="{FF2B5EF4-FFF2-40B4-BE49-F238E27FC236}">
                <a16:creationId xmlns:a16="http://schemas.microsoft.com/office/drawing/2014/main" id="{5020C38A-EFCF-465F-9020-42A70B383416}"/>
              </a:ext>
            </a:extLst>
          </p:cNvPr>
          <p:cNvSpPr>
            <a:spLocks noGrp="1"/>
          </p:cNvSpPr>
          <p:nvPr>
            <p:ph idx="1"/>
          </p:nvPr>
        </p:nvSpPr>
        <p:spPr/>
        <p:txBody>
          <a:bodyPr/>
          <a:lstStyle/>
          <a:p>
            <a:r>
              <a:rPr lang="en-US" dirty="0"/>
              <a:t>Robots are no longer just in factories—they are everywhere:</a:t>
            </a:r>
          </a:p>
          <a:p>
            <a:r>
              <a:rPr lang="en-US" b="1" dirty="0"/>
              <a:t>Industrial</a:t>
            </a:r>
            <a:r>
              <a:rPr lang="en-US" dirty="0"/>
              <a:t> – Manufacturing, assembly, welding</a:t>
            </a:r>
          </a:p>
          <a:p>
            <a:r>
              <a:rPr lang="en-US" b="1" dirty="0"/>
              <a:t>Service &amp; Domestic</a:t>
            </a:r>
            <a:r>
              <a:rPr lang="en-US" dirty="0"/>
              <a:t> – Cleaning, delivery, companionship</a:t>
            </a:r>
          </a:p>
          <a:p>
            <a:r>
              <a:rPr lang="en-US" b="1" dirty="0"/>
              <a:t>Medical</a:t>
            </a:r>
            <a:r>
              <a:rPr lang="en-US" dirty="0"/>
              <a:t> – Surgery, rehabilitation, diagnostics</a:t>
            </a:r>
          </a:p>
          <a:p>
            <a:r>
              <a:rPr lang="en-US" b="1" dirty="0"/>
              <a:t>Exploration</a:t>
            </a:r>
            <a:r>
              <a:rPr lang="en-US" dirty="0"/>
              <a:t> – Space, underwater, hazardous environments</a:t>
            </a:r>
          </a:p>
          <a:p>
            <a:r>
              <a:rPr lang="en-US" b="1" dirty="0"/>
              <a:t>Defense &amp; Security</a:t>
            </a:r>
            <a:r>
              <a:rPr lang="en-US" dirty="0"/>
              <a:t> – Surveillance, bomb disposal</a:t>
            </a:r>
          </a:p>
          <a:p>
            <a:endParaRPr lang="en-US" dirty="0"/>
          </a:p>
        </p:txBody>
      </p:sp>
      <p:sp>
        <p:nvSpPr>
          <p:cNvPr id="4" name="Slide Number Placeholder 3">
            <a:extLst>
              <a:ext uri="{FF2B5EF4-FFF2-40B4-BE49-F238E27FC236}">
                <a16:creationId xmlns:a16="http://schemas.microsoft.com/office/drawing/2014/main" id="{B6F522A2-DD0F-45B6-997E-4503CA8043BB}"/>
              </a:ext>
            </a:extLst>
          </p:cNvPr>
          <p:cNvSpPr>
            <a:spLocks noGrp="1"/>
          </p:cNvSpPr>
          <p:nvPr>
            <p:ph type="sldNum" sz="quarter" idx="12"/>
          </p:nvPr>
        </p:nvSpPr>
        <p:spPr/>
        <p:txBody>
          <a:bodyPr/>
          <a:lstStyle/>
          <a:p>
            <a:fld id="{A4DBBB07-2F6F-4E90-8073-ED4B40896F16}" type="slidenum">
              <a:rPr lang="en-US" smtClean="0"/>
              <a:t>10</a:t>
            </a:fld>
            <a:endParaRPr lang="en-US"/>
          </a:p>
        </p:txBody>
      </p:sp>
    </p:spTree>
    <p:extLst>
      <p:ext uri="{BB962C8B-B14F-4D97-AF65-F5344CB8AC3E}">
        <p14:creationId xmlns:p14="http://schemas.microsoft.com/office/powerpoint/2010/main" val="15967041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559B9-8FC1-4A37-82FA-523B59DF90C9}"/>
              </a:ext>
            </a:extLst>
          </p:cNvPr>
          <p:cNvSpPr>
            <a:spLocks noGrp="1"/>
          </p:cNvSpPr>
          <p:nvPr>
            <p:ph type="title"/>
          </p:nvPr>
        </p:nvSpPr>
        <p:spPr/>
        <p:txBody>
          <a:bodyPr/>
          <a:lstStyle/>
          <a:p>
            <a:r>
              <a:rPr lang="en-US" b="1" dirty="0"/>
              <a:t>Industrial Robotics</a:t>
            </a:r>
            <a:endParaRPr lang="en-US" dirty="0"/>
          </a:p>
        </p:txBody>
      </p:sp>
      <p:sp>
        <p:nvSpPr>
          <p:cNvPr id="3" name="Content Placeholder 2">
            <a:extLst>
              <a:ext uri="{FF2B5EF4-FFF2-40B4-BE49-F238E27FC236}">
                <a16:creationId xmlns:a16="http://schemas.microsoft.com/office/drawing/2014/main" id="{39BF0D75-13EA-4638-B038-3C3ECEDFD833}"/>
              </a:ext>
            </a:extLst>
          </p:cNvPr>
          <p:cNvSpPr>
            <a:spLocks noGrp="1"/>
          </p:cNvSpPr>
          <p:nvPr>
            <p:ph sz="half" idx="1"/>
          </p:nvPr>
        </p:nvSpPr>
        <p:spPr>
          <a:xfrm>
            <a:off x="838199" y="1825625"/>
            <a:ext cx="6256867" cy="4351338"/>
          </a:xfrm>
        </p:spPr>
        <p:txBody>
          <a:bodyPr>
            <a:normAutofit lnSpcReduction="10000"/>
          </a:bodyPr>
          <a:lstStyle/>
          <a:p>
            <a:r>
              <a:rPr lang="en-US" b="1" dirty="0"/>
              <a:t>Automotive Industry</a:t>
            </a:r>
            <a:r>
              <a:rPr lang="en-US" dirty="0"/>
              <a:t> – Welding, painting, assembly</a:t>
            </a:r>
          </a:p>
          <a:p>
            <a:r>
              <a:rPr lang="en-US" b="1" dirty="0"/>
              <a:t>Electronics</a:t>
            </a:r>
            <a:r>
              <a:rPr lang="en-US" dirty="0"/>
              <a:t> – PCB assembly, micro-soldering</a:t>
            </a:r>
          </a:p>
          <a:p>
            <a:r>
              <a:rPr lang="en-US" b="1" dirty="0"/>
              <a:t>Packaging &amp; Palletizing</a:t>
            </a:r>
            <a:r>
              <a:rPr lang="en-US" dirty="0"/>
              <a:t> – Fast, precise handling</a:t>
            </a:r>
          </a:p>
          <a:p>
            <a:r>
              <a:rPr lang="en-US" b="1" dirty="0"/>
              <a:t>Quality Inspection</a:t>
            </a:r>
            <a:r>
              <a:rPr lang="en-US" dirty="0"/>
              <a:t> – Vision systems for defect detection</a:t>
            </a:r>
          </a:p>
          <a:p>
            <a:r>
              <a:rPr lang="en-US" b="1" dirty="0"/>
              <a:t>Advantages</a:t>
            </a:r>
            <a:r>
              <a:rPr lang="en-US" dirty="0"/>
              <a:t>: Speed, precision, consistency, 24/7 operation</a:t>
            </a:r>
          </a:p>
          <a:p>
            <a:endParaRPr lang="en-US" dirty="0"/>
          </a:p>
        </p:txBody>
      </p:sp>
      <p:pic>
        <p:nvPicPr>
          <p:cNvPr id="5" name="Content Placeholder 4">
            <a:extLst>
              <a:ext uri="{FF2B5EF4-FFF2-40B4-BE49-F238E27FC236}">
                <a16:creationId xmlns:a16="http://schemas.microsoft.com/office/drawing/2014/main" id="{DEDB3095-70F1-49B4-90EE-14402DEEB096}"/>
              </a:ext>
            </a:extLst>
          </p:cNvPr>
          <p:cNvPicPr>
            <a:picLocks noGrp="1" noChangeAspect="1"/>
          </p:cNvPicPr>
          <p:nvPr>
            <p:ph sz="half" idx="2"/>
          </p:nvPr>
        </p:nvPicPr>
        <p:blipFill>
          <a:blip r:embed="rId2"/>
          <a:stretch>
            <a:fillRect/>
          </a:stretch>
        </p:blipFill>
        <p:spPr>
          <a:xfrm>
            <a:off x="7234673" y="1027906"/>
            <a:ext cx="4520595" cy="2531533"/>
          </a:xfrm>
          <a:prstGeom prst="rect">
            <a:avLst/>
          </a:prstGeom>
        </p:spPr>
      </p:pic>
      <p:pic>
        <p:nvPicPr>
          <p:cNvPr id="6" name="Picture 5">
            <a:extLst>
              <a:ext uri="{FF2B5EF4-FFF2-40B4-BE49-F238E27FC236}">
                <a16:creationId xmlns:a16="http://schemas.microsoft.com/office/drawing/2014/main" id="{927B525B-39D6-4960-B0B0-3815F81DDCD9}"/>
              </a:ext>
            </a:extLst>
          </p:cNvPr>
          <p:cNvPicPr>
            <a:picLocks noChangeAspect="1"/>
          </p:cNvPicPr>
          <p:nvPr/>
        </p:nvPicPr>
        <p:blipFill>
          <a:blip r:embed="rId3"/>
          <a:stretch>
            <a:fillRect/>
          </a:stretch>
        </p:blipFill>
        <p:spPr>
          <a:xfrm>
            <a:off x="7234673" y="3559439"/>
            <a:ext cx="4520595" cy="3008250"/>
          </a:xfrm>
          <a:prstGeom prst="rect">
            <a:avLst/>
          </a:prstGeom>
        </p:spPr>
      </p:pic>
      <p:sp>
        <p:nvSpPr>
          <p:cNvPr id="7" name="Slide Number Placeholder 6">
            <a:extLst>
              <a:ext uri="{FF2B5EF4-FFF2-40B4-BE49-F238E27FC236}">
                <a16:creationId xmlns:a16="http://schemas.microsoft.com/office/drawing/2014/main" id="{145E9386-1CA2-4959-B379-CFA3BA46D691}"/>
              </a:ext>
            </a:extLst>
          </p:cNvPr>
          <p:cNvSpPr>
            <a:spLocks noGrp="1"/>
          </p:cNvSpPr>
          <p:nvPr>
            <p:ph type="sldNum" sz="quarter" idx="12"/>
          </p:nvPr>
        </p:nvSpPr>
        <p:spPr/>
        <p:txBody>
          <a:bodyPr/>
          <a:lstStyle/>
          <a:p>
            <a:fld id="{A4DBBB07-2F6F-4E90-8073-ED4B40896F16}" type="slidenum">
              <a:rPr lang="en-US" smtClean="0"/>
              <a:t>11</a:t>
            </a:fld>
            <a:endParaRPr lang="en-US"/>
          </a:p>
        </p:txBody>
      </p:sp>
    </p:spTree>
    <p:extLst>
      <p:ext uri="{BB962C8B-B14F-4D97-AF65-F5344CB8AC3E}">
        <p14:creationId xmlns:p14="http://schemas.microsoft.com/office/powerpoint/2010/main" val="37201615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F3C65-D9A1-4CBC-83C7-E571AE495CD5}"/>
              </a:ext>
            </a:extLst>
          </p:cNvPr>
          <p:cNvSpPr>
            <a:spLocks noGrp="1"/>
          </p:cNvSpPr>
          <p:nvPr>
            <p:ph type="title"/>
          </p:nvPr>
        </p:nvSpPr>
        <p:spPr/>
        <p:txBody>
          <a:bodyPr/>
          <a:lstStyle/>
          <a:p>
            <a:r>
              <a:rPr lang="en-US" b="1" dirty="0"/>
              <a:t>Service &amp; Domestic Robotics</a:t>
            </a:r>
            <a:endParaRPr lang="en-US" dirty="0"/>
          </a:p>
        </p:txBody>
      </p:sp>
      <p:sp>
        <p:nvSpPr>
          <p:cNvPr id="3" name="Content Placeholder 2">
            <a:extLst>
              <a:ext uri="{FF2B5EF4-FFF2-40B4-BE49-F238E27FC236}">
                <a16:creationId xmlns:a16="http://schemas.microsoft.com/office/drawing/2014/main" id="{AA5ABBB0-0BF2-4498-951C-9FCB794DCC1B}"/>
              </a:ext>
            </a:extLst>
          </p:cNvPr>
          <p:cNvSpPr>
            <a:spLocks noGrp="1"/>
          </p:cNvSpPr>
          <p:nvPr>
            <p:ph sz="half" idx="1"/>
          </p:nvPr>
        </p:nvSpPr>
        <p:spPr>
          <a:xfrm>
            <a:off x="838200" y="1825625"/>
            <a:ext cx="6502400" cy="4351338"/>
          </a:xfrm>
        </p:spPr>
        <p:txBody>
          <a:bodyPr>
            <a:normAutofit/>
          </a:bodyPr>
          <a:lstStyle/>
          <a:p>
            <a:r>
              <a:rPr lang="en-US" b="1" dirty="0"/>
              <a:t>Vacuum Robots</a:t>
            </a:r>
            <a:r>
              <a:rPr lang="en-US" dirty="0"/>
              <a:t> – e.g., Roomba</a:t>
            </a:r>
          </a:p>
          <a:p>
            <a:r>
              <a:rPr lang="en-US" b="1" dirty="0"/>
              <a:t>Social &amp; Companion Robots</a:t>
            </a:r>
            <a:r>
              <a:rPr lang="en-US" dirty="0"/>
              <a:t> – e.g., Pepper, Paro (therapeutic seal)</a:t>
            </a:r>
          </a:p>
          <a:p>
            <a:r>
              <a:rPr lang="en-US" b="1" dirty="0"/>
              <a:t>Delivery Robots</a:t>
            </a:r>
            <a:r>
              <a:rPr lang="en-US" dirty="0"/>
              <a:t> – Food, medical supplies, parcels</a:t>
            </a:r>
          </a:p>
          <a:p>
            <a:r>
              <a:rPr lang="en-US" b="1" dirty="0"/>
              <a:t>Agricultural Robots</a:t>
            </a:r>
            <a:r>
              <a:rPr lang="en-US" dirty="0"/>
              <a:t> – Harvesting, weeding, monitoring crops</a:t>
            </a:r>
          </a:p>
          <a:p>
            <a:r>
              <a:rPr lang="en-US" b="1" dirty="0"/>
              <a:t>Growing market due to AI and sensor advancements</a:t>
            </a:r>
            <a:endParaRPr lang="en-US" dirty="0"/>
          </a:p>
          <a:p>
            <a:endParaRPr lang="en-US" dirty="0"/>
          </a:p>
        </p:txBody>
      </p:sp>
      <p:pic>
        <p:nvPicPr>
          <p:cNvPr id="5" name="Content Placeholder 4">
            <a:extLst>
              <a:ext uri="{FF2B5EF4-FFF2-40B4-BE49-F238E27FC236}">
                <a16:creationId xmlns:a16="http://schemas.microsoft.com/office/drawing/2014/main" id="{A1D93C5D-09EA-4722-B544-FD8BB8501BF4}"/>
              </a:ext>
            </a:extLst>
          </p:cNvPr>
          <p:cNvPicPr>
            <a:picLocks noGrp="1" noChangeAspect="1"/>
          </p:cNvPicPr>
          <p:nvPr>
            <p:ph sz="half" idx="2"/>
          </p:nvPr>
        </p:nvPicPr>
        <p:blipFill>
          <a:blip r:embed="rId2"/>
          <a:stretch>
            <a:fillRect/>
          </a:stretch>
        </p:blipFill>
        <p:spPr>
          <a:xfrm>
            <a:off x="7484533" y="1309423"/>
            <a:ext cx="3945468" cy="2625529"/>
          </a:xfrm>
          <a:prstGeom prst="rect">
            <a:avLst/>
          </a:prstGeom>
        </p:spPr>
      </p:pic>
      <p:pic>
        <p:nvPicPr>
          <p:cNvPr id="6" name="Picture 5">
            <a:extLst>
              <a:ext uri="{FF2B5EF4-FFF2-40B4-BE49-F238E27FC236}">
                <a16:creationId xmlns:a16="http://schemas.microsoft.com/office/drawing/2014/main" id="{61F8D798-AA6B-4C48-A0B6-A35638868813}"/>
              </a:ext>
            </a:extLst>
          </p:cNvPr>
          <p:cNvPicPr>
            <a:picLocks noChangeAspect="1"/>
          </p:cNvPicPr>
          <p:nvPr/>
        </p:nvPicPr>
        <p:blipFill>
          <a:blip r:embed="rId3"/>
          <a:stretch>
            <a:fillRect/>
          </a:stretch>
        </p:blipFill>
        <p:spPr>
          <a:xfrm>
            <a:off x="7484533" y="3934951"/>
            <a:ext cx="3945468" cy="2649511"/>
          </a:xfrm>
          <a:prstGeom prst="rect">
            <a:avLst/>
          </a:prstGeom>
        </p:spPr>
      </p:pic>
      <p:sp>
        <p:nvSpPr>
          <p:cNvPr id="7" name="Slide Number Placeholder 6">
            <a:extLst>
              <a:ext uri="{FF2B5EF4-FFF2-40B4-BE49-F238E27FC236}">
                <a16:creationId xmlns:a16="http://schemas.microsoft.com/office/drawing/2014/main" id="{22D05091-58B7-4198-A259-2A0DBCAE4326}"/>
              </a:ext>
            </a:extLst>
          </p:cNvPr>
          <p:cNvSpPr>
            <a:spLocks noGrp="1"/>
          </p:cNvSpPr>
          <p:nvPr>
            <p:ph type="sldNum" sz="quarter" idx="12"/>
          </p:nvPr>
        </p:nvSpPr>
        <p:spPr/>
        <p:txBody>
          <a:bodyPr/>
          <a:lstStyle/>
          <a:p>
            <a:fld id="{A4DBBB07-2F6F-4E90-8073-ED4B40896F16}" type="slidenum">
              <a:rPr lang="en-US" smtClean="0"/>
              <a:t>12</a:t>
            </a:fld>
            <a:endParaRPr lang="en-US"/>
          </a:p>
        </p:txBody>
      </p:sp>
    </p:spTree>
    <p:extLst>
      <p:ext uri="{BB962C8B-B14F-4D97-AF65-F5344CB8AC3E}">
        <p14:creationId xmlns:p14="http://schemas.microsoft.com/office/powerpoint/2010/main" val="10997757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2AABF-32EA-4C7C-B953-01CA9979E489}"/>
              </a:ext>
            </a:extLst>
          </p:cNvPr>
          <p:cNvSpPr>
            <a:spLocks noGrp="1"/>
          </p:cNvSpPr>
          <p:nvPr>
            <p:ph type="title"/>
          </p:nvPr>
        </p:nvSpPr>
        <p:spPr/>
        <p:txBody>
          <a:bodyPr/>
          <a:lstStyle/>
          <a:p>
            <a:r>
              <a:rPr lang="en-US" b="1" dirty="0"/>
              <a:t>Medical Robotics</a:t>
            </a:r>
            <a:endParaRPr lang="en-US" dirty="0"/>
          </a:p>
        </p:txBody>
      </p:sp>
      <p:sp>
        <p:nvSpPr>
          <p:cNvPr id="3" name="Content Placeholder 2">
            <a:extLst>
              <a:ext uri="{FF2B5EF4-FFF2-40B4-BE49-F238E27FC236}">
                <a16:creationId xmlns:a16="http://schemas.microsoft.com/office/drawing/2014/main" id="{8806F0F1-7B88-460F-97BB-ECFB5AD79BD8}"/>
              </a:ext>
            </a:extLst>
          </p:cNvPr>
          <p:cNvSpPr>
            <a:spLocks noGrp="1"/>
          </p:cNvSpPr>
          <p:nvPr>
            <p:ph sz="half" idx="1"/>
          </p:nvPr>
        </p:nvSpPr>
        <p:spPr>
          <a:xfrm>
            <a:off x="838200" y="1825625"/>
            <a:ext cx="6248400" cy="4351338"/>
          </a:xfrm>
        </p:spPr>
        <p:txBody>
          <a:bodyPr>
            <a:normAutofit lnSpcReduction="10000"/>
          </a:bodyPr>
          <a:lstStyle/>
          <a:p>
            <a:r>
              <a:rPr lang="en-US" b="1" dirty="0"/>
              <a:t>Surgical Robots</a:t>
            </a:r>
            <a:r>
              <a:rPr lang="en-US" dirty="0"/>
              <a:t> – e.g., da Vinci System (minimally invasive)</a:t>
            </a:r>
          </a:p>
          <a:p>
            <a:r>
              <a:rPr lang="en-US" b="1" dirty="0"/>
              <a:t>Rehabilitation Robots</a:t>
            </a:r>
            <a:r>
              <a:rPr lang="en-US" dirty="0"/>
              <a:t> – Assistive exoskeletons</a:t>
            </a:r>
          </a:p>
          <a:p>
            <a:r>
              <a:rPr lang="en-US" b="1" dirty="0"/>
              <a:t>Diagnostics &amp; Lab Automation</a:t>
            </a:r>
            <a:r>
              <a:rPr lang="en-US" dirty="0"/>
              <a:t> – Sample handling, testing</a:t>
            </a:r>
          </a:p>
          <a:p>
            <a:r>
              <a:rPr lang="en-US" b="1" dirty="0"/>
              <a:t>Telemedicine</a:t>
            </a:r>
            <a:r>
              <a:rPr lang="en-US" dirty="0"/>
              <a:t> – Remote patient care and monitoring</a:t>
            </a:r>
          </a:p>
          <a:p>
            <a:r>
              <a:rPr lang="en-US" b="1" dirty="0"/>
              <a:t>Benefits</a:t>
            </a:r>
            <a:r>
              <a:rPr lang="en-US" dirty="0"/>
              <a:t>: Precision, reduced recovery time, less human fatigue</a:t>
            </a:r>
          </a:p>
          <a:p>
            <a:endParaRPr lang="en-US" dirty="0"/>
          </a:p>
        </p:txBody>
      </p:sp>
      <p:pic>
        <p:nvPicPr>
          <p:cNvPr id="5" name="Content Placeholder 4">
            <a:extLst>
              <a:ext uri="{FF2B5EF4-FFF2-40B4-BE49-F238E27FC236}">
                <a16:creationId xmlns:a16="http://schemas.microsoft.com/office/drawing/2014/main" id="{9449AC61-FE70-47AD-972B-45B05EA755FA}"/>
              </a:ext>
            </a:extLst>
          </p:cNvPr>
          <p:cNvPicPr>
            <a:picLocks noGrp="1" noChangeAspect="1"/>
          </p:cNvPicPr>
          <p:nvPr>
            <p:ph sz="half" idx="2"/>
          </p:nvPr>
        </p:nvPicPr>
        <p:blipFill>
          <a:blip r:embed="rId2"/>
          <a:stretch>
            <a:fillRect/>
          </a:stretch>
        </p:blipFill>
        <p:spPr>
          <a:xfrm>
            <a:off x="7339819" y="1453356"/>
            <a:ext cx="4013981" cy="2661444"/>
          </a:xfrm>
          <a:prstGeom prst="rect">
            <a:avLst/>
          </a:prstGeom>
        </p:spPr>
      </p:pic>
      <p:pic>
        <p:nvPicPr>
          <p:cNvPr id="6" name="Picture 5">
            <a:extLst>
              <a:ext uri="{FF2B5EF4-FFF2-40B4-BE49-F238E27FC236}">
                <a16:creationId xmlns:a16="http://schemas.microsoft.com/office/drawing/2014/main" id="{E1DD35F7-36D7-4E20-B307-64621699F17D}"/>
              </a:ext>
            </a:extLst>
          </p:cNvPr>
          <p:cNvPicPr>
            <a:picLocks noChangeAspect="1"/>
          </p:cNvPicPr>
          <p:nvPr/>
        </p:nvPicPr>
        <p:blipFill>
          <a:blip r:embed="rId3"/>
          <a:stretch>
            <a:fillRect/>
          </a:stretch>
        </p:blipFill>
        <p:spPr>
          <a:xfrm>
            <a:off x="7339819" y="4114799"/>
            <a:ext cx="4013981" cy="2247829"/>
          </a:xfrm>
          <a:prstGeom prst="rect">
            <a:avLst/>
          </a:prstGeom>
        </p:spPr>
      </p:pic>
      <p:sp>
        <p:nvSpPr>
          <p:cNvPr id="7" name="Slide Number Placeholder 6">
            <a:extLst>
              <a:ext uri="{FF2B5EF4-FFF2-40B4-BE49-F238E27FC236}">
                <a16:creationId xmlns:a16="http://schemas.microsoft.com/office/drawing/2014/main" id="{12E31476-8A0D-44A5-B4F6-171BD6A5F957}"/>
              </a:ext>
            </a:extLst>
          </p:cNvPr>
          <p:cNvSpPr>
            <a:spLocks noGrp="1"/>
          </p:cNvSpPr>
          <p:nvPr>
            <p:ph type="sldNum" sz="quarter" idx="12"/>
          </p:nvPr>
        </p:nvSpPr>
        <p:spPr/>
        <p:txBody>
          <a:bodyPr/>
          <a:lstStyle/>
          <a:p>
            <a:fld id="{A4DBBB07-2F6F-4E90-8073-ED4B40896F16}" type="slidenum">
              <a:rPr lang="en-US" smtClean="0"/>
              <a:t>13</a:t>
            </a:fld>
            <a:endParaRPr lang="en-US"/>
          </a:p>
        </p:txBody>
      </p:sp>
    </p:spTree>
    <p:extLst>
      <p:ext uri="{BB962C8B-B14F-4D97-AF65-F5344CB8AC3E}">
        <p14:creationId xmlns:p14="http://schemas.microsoft.com/office/powerpoint/2010/main" val="33634634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5BB7A-BA4F-4B92-B7CC-6DDA8AEB7037}"/>
              </a:ext>
            </a:extLst>
          </p:cNvPr>
          <p:cNvSpPr>
            <a:spLocks noGrp="1"/>
          </p:cNvSpPr>
          <p:nvPr>
            <p:ph type="title"/>
          </p:nvPr>
        </p:nvSpPr>
        <p:spPr/>
        <p:txBody>
          <a:bodyPr/>
          <a:lstStyle/>
          <a:p>
            <a:r>
              <a:rPr lang="en-US" b="1" dirty="0"/>
              <a:t>Exploration &amp; Hazardous Environment Robots</a:t>
            </a:r>
            <a:endParaRPr lang="en-US" dirty="0"/>
          </a:p>
        </p:txBody>
      </p:sp>
      <p:sp>
        <p:nvSpPr>
          <p:cNvPr id="3" name="Content Placeholder 2">
            <a:extLst>
              <a:ext uri="{FF2B5EF4-FFF2-40B4-BE49-F238E27FC236}">
                <a16:creationId xmlns:a16="http://schemas.microsoft.com/office/drawing/2014/main" id="{7F71514E-FD3C-469F-B99D-0310B6B9CBCF}"/>
              </a:ext>
            </a:extLst>
          </p:cNvPr>
          <p:cNvSpPr>
            <a:spLocks noGrp="1"/>
          </p:cNvSpPr>
          <p:nvPr>
            <p:ph sz="half" idx="1"/>
          </p:nvPr>
        </p:nvSpPr>
        <p:spPr/>
        <p:txBody>
          <a:bodyPr/>
          <a:lstStyle/>
          <a:p>
            <a:r>
              <a:rPr lang="en-US" b="1" dirty="0"/>
              <a:t>Space Robotics</a:t>
            </a:r>
            <a:r>
              <a:rPr lang="en-US" dirty="0"/>
              <a:t> – Mars rovers (Perseverance), robotic arms on ISS</a:t>
            </a:r>
          </a:p>
          <a:p>
            <a:r>
              <a:rPr lang="en-US" b="1" dirty="0"/>
              <a:t>Underwater Robotics</a:t>
            </a:r>
            <a:r>
              <a:rPr lang="en-US" dirty="0"/>
              <a:t> – Pipeline inspection, deep-sea exploration</a:t>
            </a:r>
          </a:p>
          <a:p>
            <a:r>
              <a:rPr lang="en-US" b="1" dirty="0"/>
              <a:t>Disaster Response</a:t>
            </a:r>
            <a:r>
              <a:rPr lang="en-US" dirty="0"/>
              <a:t> – Search and rescue in rubble, radiation zones</a:t>
            </a:r>
          </a:p>
          <a:p>
            <a:r>
              <a:rPr lang="en-US" b="1" dirty="0"/>
              <a:t>Nuclear &amp; Chemical Handling</a:t>
            </a:r>
            <a:r>
              <a:rPr lang="en-US" dirty="0"/>
              <a:t> – Reduce human exposure to hazards</a:t>
            </a:r>
          </a:p>
          <a:p>
            <a:endParaRPr lang="en-US" dirty="0"/>
          </a:p>
        </p:txBody>
      </p:sp>
      <p:pic>
        <p:nvPicPr>
          <p:cNvPr id="5" name="Content Placeholder 4">
            <a:extLst>
              <a:ext uri="{FF2B5EF4-FFF2-40B4-BE49-F238E27FC236}">
                <a16:creationId xmlns:a16="http://schemas.microsoft.com/office/drawing/2014/main" id="{859AA092-7112-4067-AFC0-050FF231F864}"/>
              </a:ext>
            </a:extLst>
          </p:cNvPr>
          <p:cNvPicPr>
            <a:picLocks noGrp="1" noChangeAspect="1"/>
          </p:cNvPicPr>
          <p:nvPr>
            <p:ph sz="half" idx="2"/>
          </p:nvPr>
        </p:nvPicPr>
        <p:blipFill>
          <a:blip r:embed="rId2"/>
          <a:stretch>
            <a:fillRect/>
          </a:stretch>
        </p:blipFill>
        <p:spPr>
          <a:xfrm>
            <a:off x="6834623" y="1524793"/>
            <a:ext cx="4519177" cy="2530739"/>
          </a:xfrm>
          <a:prstGeom prst="rect">
            <a:avLst/>
          </a:prstGeom>
        </p:spPr>
      </p:pic>
      <p:pic>
        <p:nvPicPr>
          <p:cNvPr id="6" name="Picture 5">
            <a:extLst>
              <a:ext uri="{FF2B5EF4-FFF2-40B4-BE49-F238E27FC236}">
                <a16:creationId xmlns:a16="http://schemas.microsoft.com/office/drawing/2014/main" id="{9D473057-06A7-4AB7-B1DA-B33F0EC3A776}"/>
              </a:ext>
            </a:extLst>
          </p:cNvPr>
          <p:cNvPicPr>
            <a:picLocks noChangeAspect="1"/>
          </p:cNvPicPr>
          <p:nvPr/>
        </p:nvPicPr>
        <p:blipFill>
          <a:blip r:embed="rId3"/>
          <a:stretch>
            <a:fillRect/>
          </a:stretch>
        </p:blipFill>
        <p:spPr>
          <a:xfrm>
            <a:off x="6834623" y="4055532"/>
            <a:ext cx="4519178" cy="1591735"/>
          </a:xfrm>
          <a:prstGeom prst="rect">
            <a:avLst/>
          </a:prstGeom>
        </p:spPr>
      </p:pic>
      <p:sp>
        <p:nvSpPr>
          <p:cNvPr id="7" name="Slide Number Placeholder 6">
            <a:extLst>
              <a:ext uri="{FF2B5EF4-FFF2-40B4-BE49-F238E27FC236}">
                <a16:creationId xmlns:a16="http://schemas.microsoft.com/office/drawing/2014/main" id="{AA2AA6E9-EEBE-45A0-ABFF-94FDEC7C08BE}"/>
              </a:ext>
            </a:extLst>
          </p:cNvPr>
          <p:cNvSpPr>
            <a:spLocks noGrp="1"/>
          </p:cNvSpPr>
          <p:nvPr>
            <p:ph type="sldNum" sz="quarter" idx="12"/>
          </p:nvPr>
        </p:nvSpPr>
        <p:spPr/>
        <p:txBody>
          <a:bodyPr/>
          <a:lstStyle/>
          <a:p>
            <a:fld id="{A4DBBB07-2F6F-4E90-8073-ED4B40896F16}" type="slidenum">
              <a:rPr lang="en-US" smtClean="0"/>
              <a:t>14</a:t>
            </a:fld>
            <a:endParaRPr lang="en-US"/>
          </a:p>
        </p:txBody>
      </p:sp>
    </p:spTree>
    <p:extLst>
      <p:ext uri="{BB962C8B-B14F-4D97-AF65-F5344CB8AC3E}">
        <p14:creationId xmlns:p14="http://schemas.microsoft.com/office/powerpoint/2010/main" val="13689497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BD839-5CAA-4140-AE2C-F88FC90976AB}"/>
              </a:ext>
            </a:extLst>
          </p:cNvPr>
          <p:cNvSpPr>
            <a:spLocks noGrp="1"/>
          </p:cNvSpPr>
          <p:nvPr>
            <p:ph type="title"/>
          </p:nvPr>
        </p:nvSpPr>
        <p:spPr/>
        <p:txBody>
          <a:bodyPr/>
          <a:lstStyle/>
          <a:p>
            <a:r>
              <a:rPr lang="en-US" b="1" dirty="0"/>
              <a:t>Military &amp; Security Robotics</a:t>
            </a:r>
            <a:endParaRPr lang="en-US" dirty="0"/>
          </a:p>
        </p:txBody>
      </p:sp>
      <p:sp>
        <p:nvSpPr>
          <p:cNvPr id="3" name="Content Placeholder 2">
            <a:extLst>
              <a:ext uri="{FF2B5EF4-FFF2-40B4-BE49-F238E27FC236}">
                <a16:creationId xmlns:a16="http://schemas.microsoft.com/office/drawing/2014/main" id="{2DA3FCC4-8E60-488A-94BC-354264090A26}"/>
              </a:ext>
            </a:extLst>
          </p:cNvPr>
          <p:cNvSpPr>
            <a:spLocks noGrp="1"/>
          </p:cNvSpPr>
          <p:nvPr>
            <p:ph sz="half" idx="1"/>
          </p:nvPr>
        </p:nvSpPr>
        <p:spPr>
          <a:xfrm>
            <a:off x="838199" y="1825625"/>
            <a:ext cx="7357533" cy="4351338"/>
          </a:xfrm>
        </p:spPr>
        <p:txBody>
          <a:bodyPr/>
          <a:lstStyle/>
          <a:p>
            <a:r>
              <a:rPr lang="en-US" b="1" dirty="0"/>
              <a:t>Unmanned Aerial Vehicles (UAVs)</a:t>
            </a:r>
            <a:r>
              <a:rPr lang="en-US" dirty="0"/>
              <a:t> – Surveillance, reconnaissance</a:t>
            </a:r>
          </a:p>
          <a:p>
            <a:r>
              <a:rPr lang="en-US" b="1" dirty="0"/>
              <a:t>Bomb Disposal Robots</a:t>
            </a:r>
            <a:r>
              <a:rPr lang="en-US" dirty="0"/>
              <a:t> – Safe handling of explosives</a:t>
            </a:r>
          </a:p>
          <a:p>
            <a:r>
              <a:rPr lang="en-US" b="1" dirty="0"/>
              <a:t>Autonomous Patrol Vehicles</a:t>
            </a:r>
            <a:r>
              <a:rPr lang="en-US" dirty="0"/>
              <a:t> – Border surveillance</a:t>
            </a:r>
          </a:p>
          <a:p>
            <a:r>
              <a:rPr lang="en-US" b="1" dirty="0"/>
              <a:t>Ethical concerns</a:t>
            </a:r>
            <a:r>
              <a:rPr lang="en-US" dirty="0"/>
              <a:t> – Autonomous weapon systems (lethal autonomous weapons)</a:t>
            </a:r>
          </a:p>
          <a:p>
            <a:endParaRPr lang="en-US" dirty="0"/>
          </a:p>
        </p:txBody>
      </p:sp>
      <p:pic>
        <p:nvPicPr>
          <p:cNvPr id="5" name="Content Placeholder 4">
            <a:extLst>
              <a:ext uri="{FF2B5EF4-FFF2-40B4-BE49-F238E27FC236}">
                <a16:creationId xmlns:a16="http://schemas.microsoft.com/office/drawing/2014/main" id="{DDF2218D-3D20-480B-848F-996AF66EE106}"/>
              </a:ext>
            </a:extLst>
          </p:cNvPr>
          <p:cNvPicPr>
            <a:picLocks noGrp="1" noChangeAspect="1"/>
          </p:cNvPicPr>
          <p:nvPr>
            <p:ph sz="half" idx="2"/>
          </p:nvPr>
        </p:nvPicPr>
        <p:blipFill>
          <a:blip r:embed="rId2"/>
          <a:stretch>
            <a:fillRect/>
          </a:stretch>
        </p:blipFill>
        <p:spPr>
          <a:xfrm>
            <a:off x="8627533" y="1464997"/>
            <a:ext cx="2726267" cy="2726267"/>
          </a:xfrm>
          <a:prstGeom prst="rect">
            <a:avLst/>
          </a:prstGeom>
        </p:spPr>
      </p:pic>
      <p:pic>
        <p:nvPicPr>
          <p:cNvPr id="6" name="Picture 5">
            <a:extLst>
              <a:ext uri="{FF2B5EF4-FFF2-40B4-BE49-F238E27FC236}">
                <a16:creationId xmlns:a16="http://schemas.microsoft.com/office/drawing/2014/main" id="{949CDE74-D974-4F37-9467-7EDF597332C2}"/>
              </a:ext>
            </a:extLst>
          </p:cNvPr>
          <p:cNvPicPr>
            <a:picLocks noChangeAspect="1"/>
          </p:cNvPicPr>
          <p:nvPr/>
        </p:nvPicPr>
        <p:blipFill>
          <a:blip r:embed="rId3"/>
          <a:stretch>
            <a:fillRect/>
          </a:stretch>
        </p:blipFill>
        <p:spPr>
          <a:xfrm>
            <a:off x="8620125" y="4191264"/>
            <a:ext cx="2733675" cy="1676400"/>
          </a:xfrm>
          <a:prstGeom prst="rect">
            <a:avLst/>
          </a:prstGeom>
        </p:spPr>
      </p:pic>
      <p:sp>
        <p:nvSpPr>
          <p:cNvPr id="7" name="Slide Number Placeholder 6">
            <a:extLst>
              <a:ext uri="{FF2B5EF4-FFF2-40B4-BE49-F238E27FC236}">
                <a16:creationId xmlns:a16="http://schemas.microsoft.com/office/drawing/2014/main" id="{B1DCDCE2-9968-4785-A21C-6BAA305AE927}"/>
              </a:ext>
            </a:extLst>
          </p:cNvPr>
          <p:cNvSpPr>
            <a:spLocks noGrp="1"/>
          </p:cNvSpPr>
          <p:nvPr>
            <p:ph type="sldNum" sz="quarter" idx="12"/>
          </p:nvPr>
        </p:nvSpPr>
        <p:spPr/>
        <p:txBody>
          <a:bodyPr/>
          <a:lstStyle/>
          <a:p>
            <a:fld id="{A4DBBB07-2F6F-4E90-8073-ED4B40896F16}" type="slidenum">
              <a:rPr lang="en-US" smtClean="0"/>
              <a:t>15</a:t>
            </a:fld>
            <a:endParaRPr lang="en-US"/>
          </a:p>
        </p:txBody>
      </p:sp>
    </p:spTree>
    <p:extLst>
      <p:ext uri="{BB962C8B-B14F-4D97-AF65-F5344CB8AC3E}">
        <p14:creationId xmlns:p14="http://schemas.microsoft.com/office/powerpoint/2010/main" val="18578763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C5856-9B35-435B-B07B-05A590BBE218}"/>
              </a:ext>
            </a:extLst>
          </p:cNvPr>
          <p:cNvSpPr>
            <a:spLocks noGrp="1"/>
          </p:cNvSpPr>
          <p:nvPr>
            <p:ph type="title"/>
          </p:nvPr>
        </p:nvSpPr>
        <p:spPr/>
        <p:txBody>
          <a:bodyPr/>
          <a:lstStyle/>
          <a:p>
            <a:r>
              <a:rPr lang="en-US" b="1" dirty="0"/>
              <a:t>Challenges in Robotics – Technical</a:t>
            </a:r>
            <a:br>
              <a:rPr lang="en-US" b="1" dirty="0"/>
            </a:br>
            <a:endParaRPr lang="en-US" dirty="0"/>
          </a:p>
        </p:txBody>
      </p:sp>
      <p:sp>
        <p:nvSpPr>
          <p:cNvPr id="3" name="Content Placeholder 2">
            <a:extLst>
              <a:ext uri="{FF2B5EF4-FFF2-40B4-BE49-F238E27FC236}">
                <a16:creationId xmlns:a16="http://schemas.microsoft.com/office/drawing/2014/main" id="{281D5C99-316F-4E6F-B677-73D6CF51781E}"/>
              </a:ext>
            </a:extLst>
          </p:cNvPr>
          <p:cNvSpPr>
            <a:spLocks noGrp="1"/>
          </p:cNvSpPr>
          <p:nvPr>
            <p:ph idx="1"/>
          </p:nvPr>
        </p:nvSpPr>
        <p:spPr/>
        <p:txBody>
          <a:bodyPr>
            <a:normAutofit/>
          </a:bodyPr>
          <a:lstStyle/>
          <a:p>
            <a:r>
              <a:rPr lang="en-US" b="1" dirty="0"/>
              <a:t>Mobility &amp; Dexterity</a:t>
            </a:r>
            <a:endParaRPr lang="en-US" dirty="0"/>
          </a:p>
          <a:p>
            <a:pPr lvl="1"/>
            <a:r>
              <a:rPr lang="en-US" dirty="0"/>
              <a:t>Navigating unstructured environments</a:t>
            </a:r>
          </a:p>
          <a:p>
            <a:pPr lvl="1"/>
            <a:r>
              <a:rPr lang="en-US" dirty="0"/>
              <a:t>Human-like manipulation still limited</a:t>
            </a:r>
          </a:p>
          <a:p>
            <a:r>
              <a:rPr lang="en-US" b="1" dirty="0"/>
              <a:t>Sensing &amp; Perception</a:t>
            </a:r>
            <a:endParaRPr lang="en-US" dirty="0"/>
          </a:p>
          <a:p>
            <a:pPr lvl="1"/>
            <a:r>
              <a:rPr lang="en-US" dirty="0"/>
              <a:t>Real-time object recognition in varied conditions</a:t>
            </a:r>
          </a:p>
          <a:p>
            <a:pPr lvl="1"/>
            <a:r>
              <a:rPr lang="en-US" dirty="0"/>
              <a:t>Sensor fusion complexity</a:t>
            </a:r>
          </a:p>
          <a:p>
            <a:r>
              <a:rPr lang="en-US" b="1" dirty="0"/>
              <a:t>Power &amp; Energy Efficiency</a:t>
            </a:r>
            <a:endParaRPr lang="en-US" dirty="0"/>
          </a:p>
          <a:p>
            <a:pPr lvl="1"/>
            <a:r>
              <a:rPr lang="en-US" dirty="0"/>
              <a:t>Batteries limit operational time</a:t>
            </a:r>
          </a:p>
          <a:p>
            <a:pPr lvl="1"/>
            <a:r>
              <a:rPr lang="en-US" dirty="0"/>
              <a:t>Heavy systems require high power</a:t>
            </a:r>
          </a:p>
          <a:p>
            <a:endParaRPr lang="en-US" dirty="0"/>
          </a:p>
        </p:txBody>
      </p:sp>
      <p:sp>
        <p:nvSpPr>
          <p:cNvPr id="4" name="Slide Number Placeholder 3">
            <a:extLst>
              <a:ext uri="{FF2B5EF4-FFF2-40B4-BE49-F238E27FC236}">
                <a16:creationId xmlns:a16="http://schemas.microsoft.com/office/drawing/2014/main" id="{BD24C82C-267C-4E18-A6E4-8A6C94DC98FC}"/>
              </a:ext>
            </a:extLst>
          </p:cNvPr>
          <p:cNvSpPr>
            <a:spLocks noGrp="1"/>
          </p:cNvSpPr>
          <p:nvPr>
            <p:ph type="sldNum" sz="quarter" idx="12"/>
          </p:nvPr>
        </p:nvSpPr>
        <p:spPr/>
        <p:txBody>
          <a:bodyPr/>
          <a:lstStyle/>
          <a:p>
            <a:fld id="{A4DBBB07-2F6F-4E90-8073-ED4B40896F16}" type="slidenum">
              <a:rPr lang="en-US" smtClean="0"/>
              <a:t>16</a:t>
            </a:fld>
            <a:endParaRPr lang="en-US"/>
          </a:p>
        </p:txBody>
      </p:sp>
    </p:spTree>
    <p:extLst>
      <p:ext uri="{BB962C8B-B14F-4D97-AF65-F5344CB8AC3E}">
        <p14:creationId xmlns:p14="http://schemas.microsoft.com/office/powerpoint/2010/main" val="28925408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65E55-8423-4195-82DF-594046B945C3}"/>
              </a:ext>
            </a:extLst>
          </p:cNvPr>
          <p:cNvSpPr>
            <a:spLocks noGrp="1"/>
          </p:cNvSpPr>
          <p:nvPr>
            <p:ph type="title"/>
          </p:nvPr>
        </p:nvSpPr>
        <p:spPr/>
        <p:txBody>
          <a:bodyPr>
            <a:normAutofit/>
          </a:bodyPr>
          <a:lstStyle/>
          <a:p>
            <a:r>
              <a:rPr lang="en-US" b="1" dirty="0"/>
              <a:t>Challenges in Robotics – Intelligence &amp; Autonomy</a:t>
            </a:r>
            <a:endParaRPr lang="en-US" dirty="0"/>
          </a:p>
        </p:txBody>
      </p:sp>
      <p:sp>
        <p:nvSpPr>
          <p:cNvPr id="3" name="Content Placeholder 2">
            <a:extLst>
              <a:ext uri="{FF2B5EF4-FFF2-40B4-BE49-F238E27FC236}">
                <a16:creationId xmlns:a16="http://schemas.microsoft.com/office/drawing/2014/main" id="{6BAB4E03-9957-41EB-88DA-BF2FFA8A1011}"/>
              </a:ext>
            </a:extLst>
          </p:cNvPr>
          <p:cNvSpPr>
            <a:spLocks noGrp="1"/>
          </p:cNvSpPr>
          <p:nvPr>
            <p:ph idx="1"/>
          </p:nvPr>
        </p:nvSpPr>
        <p:spPr/>
        <p:txBody>
          <a:bodyPr/>
          <a:lstStyle/>
          <a:p>
            <a:r>
              <a:rPr lang="en-US" b="1" dirty="0"/>
              <a:t>Decision-Making in Uncertain Environments</a:t>
            </a:r>
            <a:endParaRPr lang="en-US" dirty="0"/>
          </a:p>
          <a:p>
            <a:r>
              <a:rPr lang="en-US" b="1" dirty="0"/>
              <a:t>Human-Robot Interaction (HRI)</a:t>
            </a:r>
            <a:r>
              <a:rPr lang="en-US" dirty="0"/>
              <a:t> – Natural communication, trust</a:t>
            </a:r>
          </a:p>
          <a:p>
            <a:r>
              <a:rPr lang="en-US" b="1" dirty="0"/>
              <a:t>Learning &amp; Adaptation</a:t>
            </a:r>
            <a:r>
              <a:rPr lang="en-US" dirty="0"/>
              <a:t> – Machines still lack common sense</a:t>
            </a:r>
          </a:p>
          <a:p>
            <a:r>
              <a:rPr lang="en-US" b="1" dirty="0"/>
              <a:t>Real-Time Processing</a:t>
            </a:r>
            <a:r>
              <a:rPr lang="en-US" dirty="0"/>
              <a:t> – High computational demands</a:t>
            </a:r>
          </a:p>
          <a:p>
            <a:endParaRPr lang="en-US" dirty="0"/>
          </a:p>
        </p:txBody>
      </p:sp>
      <p:sp>
        <p:nvSpPr>
          <p:cNvPr id="4" name="Slide Number Placeholder 3">
            <a:extLst>
              <a:ext uri="{FF2B5EF4-FFF2-40B4-BE49-F238E27FC236}">
                <a16:creationId xmlns:a16="http://schemas.microsoft.com/office/drawing/2014/main" id="{8986271D-B011-4894-8210-7199F436F4F7}"/>
              </a:ext>
            </a:extLst>
          </p:cNvPr>
          <p:cNvSpPr>
            <a:spLocks noGrp="1"/>
          </p:cNvSpPr>
          <p:nvPr>
            <p:ph type="sldNum" sz="quarter" idx="12"/>
          </p:nvPr>
        </p:nvSpPr>
        <p:spPr/>
        <p:txBody>
          <a:bodyPr/>
          <a:lstStyle/>
          <a:p>
            <a:fld id="{A4DBBB07-2F6F-4E90-8073-ED4B40896F16}" type="slidenum">
              <a:rPr lang="en-US" smtClean="0"/>
              <a:t>17</a:t>
            </a:fld>
            <a:endParaRPr lang="en-US"/>
          </a:p>
        </p:txBody>
      </p:sp>
    </p:spTree>
    <p:extLst>
      <p:ext uri="{BB962C8B-B14F-4D97-AF65-F5344CB8AC3E}">
        <p14:creationId xmlns:p14="http://schemas.microsoft.com/office/powerpoint/2010/main" val="33461400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8EDFB6-A232-45F6-AEFD-D1DD8853D92B}"/>
              </a:ext>
            </a:extLst>
          </p:cNvPr>
          <p:cNvSpPr>
            <a:spLocks noGrp="1"/>
          </p:cNvSpPr>
          <p:nvPr>
            <p:ph type="title"/>
          </p:nvPr>
        </p:nvSpPr>
        <p:spPr/>
        <p:txBody>
          <a:bodyPr/>
          <a:lstStyle/>
          <a:p>
            <a:r>
              <a:rPr lang="en-US" b="1" dirty="0"/>
              <a:t>Challenges in Robotics – Safety &amp; Reliability</a:t>
            </a:r>
            <a:endParaRPr lang="en-US" dirty="0"/>
          </a:p>
        </p:txBody>
      </p:sp>
      <p:sp>
        <p:nvSpPr>
          <p:cNvPr id="3" name="Content Placeholder 2">
            <a:extLst>
              <a:ext uri="{FF2B5EF4-FFF2-40B4-BE49-F238E27FC236}">
                <a16:creationId xmlns:a16="http://schemas.microsoft.com/office/drawing/2014/main" id="{5F76443A-CED7-4FE3-BD5C-BFE2E043CA55}"/>
              </a:ext>
            </a:extLst>
          </p:cNvPr>
          <p:cNvSpPr>
            <a:spLocks noGrp="1"/>
          </p:cNvSpPr>
          <p:nvPr>
            <p:ph idx="1"/>
          </p:nvPr>
        </p:nvSpPr>
        <p:spPr/>
        <p:txBody>
          <a:bodyPr/>
          <a:lstStyle/>
          <a:p>
            <a:r>
              <a:rPr lang="en-US" b="1" dirty="0"/>
              <a:t>Safe Human-Robot Collaboration</a:t>
            </a:r>
            <a:r>
              <a:rPr lang="en-US" dirty="0"/>
              <a:t> – Avoiding injuries in shared spaces</a:t>
            </a:r>
          </a:p>
          <a:p>
            <a:r>
              <a:rPr lang="en-US" b="1" dirty="0"/>
              <a:t>Fail-Safe Mechanisms</a:t>
            </a:r>
            <a:r>
              <a:rPr lang="en-US" dirty="0"/>
              <a:t> – Preventing malfunctions in critical tasks</a:t>
            </a:r>
          </a:p>
          <a:p>
            <a:r>
              <a:rPr lang="en-US" b="1" dirty="0"/>
              <a:t>Cybersecurity</a:t>
            </a:r>
            <a:r>
              <a:rPr lang="en-US" dirty="0"/>
              <a:t> – Protecting robots from hacking</a:t>
            </a:r>
          </a:p>
          <a:p>
            <a:r>
              <a:rPr lang="en-US" b="1" dirty="0"/>
              <a:t>Long-Term Reliability</a:t>
            </a:r>
            <a:r>
              <a:rPr lang="en-US" dirty="0"/>
              <a:t> – Wear and tear, maintenance costs</a:t>
            </a:r>
          </a:p>
          <a:p>
            <a:endParaRPr lang="en-US" dirty="0"/>
          </a:p>
        </p:txBody>
      </p:sp>
      <p:sp>
        <p:nvSpPr>
          <p:cNvPr id="4" name="Slide Number Placeholder 3">
            <a:extLst>
              <a:ext uri="{FF2B5EF4-FFF2-40B4-BE49-F238E27FC236}">
                <a16:creationId xmlns:a16="http://schemas.microsoft.com/office/drawing/2014/main" id="{3F7C97CE-29F3-4D5C-8C35-85E78F5E6811}"/>
              </a:ext>
            </a:extLst>
          </p:cNvPr>
          <p:cNvSpPr>
            <a:spLocks noGrp="1"/>
          </p:cNvSpPr>
          <p:nvPr>
            <p:ph type="sldNum" sz="quarter" idx="12"/>
          </p:nvPr>
        </p:nvSpPr>
        <p:spPr/>
        <p:txBody>
          <a:bodyPr/>
          <a:lstStyle/>
          <a:p>
            <a:fld id="{A4DBBB07-2F6F-4E90-8073-ED4B40896F16}" type="slidenum">
              <a:rPr lang="en-US" smtClean="0"/>
              <a:t>18</a:t>
            </a:fld>
            <a:endParaRPr lang="en-US"/>
          </a:p>
        </p:txBody>
      </p:sp>
    </p:spTree>
    <p:extLst>
      <p:ext uri="{BB962C8B-B14F-4D97-AF65-F5344CB8AC3E}">
        <p14:creationId xmlns:p14="http://schemas.microsoft.com/office/powerpoint/2010/main" val="6828805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63BAF-F0DF-4054-BC04-22F8E70A54AB}"/>
              </a:ext>
            </a:extLst>
          </p:cNvPr>
          <p:cNvSpPr>
            <a:spLocks noGrp="1"/>
          </p:cNvSpPr>
          <p:nvPr>
            <p:ph type="title"/>
          </p:nvPr>
        </p:nvSpPr>
        <p:spPr/>
        <p:txBody>
          <a:bodyPr/>
          <a:lstStyle/>
          <a:p>
            <a:r>
              <a:rPr lang="en-US" b="1" dirty="0"/>
              <a:t>Ethical &amp; Social Challenges</a:t>
            </a:r>
            <a:endParaRPr lang="en-US" dirty="0"/>
          </a:p>
        </p:txBody>
      </p:sp>
      <p:sp>
        <p:nvSpPr>
          <p:cNvPr id="3" name="Content Placeholder 2">
            <a:extLst>
              <a:ext uri="{FF2B5EF4-FFF2-40B4-BE49-F238E27FC236}">
                <a16:creationId xmlns:a16="http://schemas.microsoft.com/office/drawing/2014/main" id="{0B1ACE0F-24A6-4D74-8DC7-DA5BA4E75107}"/>
              </a:ext>
            </a:extLst>
          </p:cNvPr>
          <p:cNvSpPr>
            <a:spLocks noGrp="1"/>
          </p:cNvSpPr>
          <p:nvPr>
            <p:ph idx="1"/>
          </p:nvPr>
        </p:nvSpPr>
        <p:spPr/>
        <p:txBody>
          <a:bodyPr/>
          <a:lstStyle/>
          <a:p>
            <a:r>
              <a:rPr lang="en-US" b="1" dirty="0"/>
              <a:t>Job Displacement</a:t>
            </a:r>
            <a:r>
              <a:rPr lang="en-US" dirty="0"/>
              <a:t> – Automation replacing human roles</a:t>
            </a:r>
          </a:p>
          <a:p>
            <a:r>
              <a:rPr lang="en-US" b="1" dirty="0"/>
              <a:t>Privacy</a:t>
            </a:r>
            <a:r>
              <a:rPr lang="en-US" dirty="0"/>
              <a:t> – Surveillance capabilities of robots</a:t>
            </a:r>
          </a:p>
          <a:p>
            <a:r>
              <a:rPr lang="en-US" b="1" dirty="0"/>
              <a:t>Bias in AI</a:t>
            </a:r>
            <a:r>
              <a:rPr lang="en-US" dirty="0"/>
              <a:t> – Reflecting human prejudices in decision-making</a:t>
            </a:r>
          </a:p>
          <a:p>
            <a:r>
              <a:rPr lang="en-US" b="1" dirty="0"/>
              <a:t>Accountability</a:t>
            </a:r>
            <a:r>
              <a:rPr lang="en-US" dirty="0"/>
              <a:t> – Who is responsible when a robot causes harm?</a:t>
            </a:r>
          </a:p>
          <a:p>
            <a:endParaRPr lang="en-US" dirty="0"/>
          </a:p>
        </p:txBody>
      </p:sp>
      <p:sp>
        <p:nvSpPr>
          <p:cNvPr id="4" name="Slide Number Placeholder 3">
            <a:extLst>
              <a:ext uri="{FF2B5EF4-FFF2-40B4-BE49-F238E27FC236}">
                <a16:creationId xmlns:a16="http://schemas.microsoft.com/office/drawing/2014/main" id="{898FC7DE-FA0F-4D62-858F-9621DDACDFB1}"/>
              </a:ext>
            </a:extLst>
          </p:cNvPr>
          <p:cNvSpPr>
            <a:spLocks noGrp="1"/>
          </p:cNvSpPr>
          <p:nvPr>
            <p:ph type="sldNum" sz="quarter" idx="12"/>
          </p:nvPr>
        </p:nvSpPr>
        <p:spPr/>
        <p:txBody>
          <a:bodyPr/>
          <a:lstStyle/>
          <a:p>
            <a:fld id="{A4DBBB07-2F6F-4E90-8073-ED4B40896F16}" type="slidenum">
              <a:rPr lang="en-US" smtClean="0"/>
              <a:t>19</a:t>
            </a:fld>
            <a:endParaRPr lang="en-US"/>
          </a:p>
        </p:txBody>
      </p:sp>
    </p:spTree>
    <p:extLst>
      <p:ext uri="{BB962C8B-B14F-4D97-AF65-F5344CB8AC3E}">
        <p14:creationId xmlns:p14="http://schemas.microsoft.com/office/powerpoint/2010/main" val="14880383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84AFB-4837-4A41-8C4D-2535315D9C2D}"/>
              </a:ext>
            </a:extLst>
          </p:cNvPr>
          <p:cNvSpPr>
            <a:spLocks noGrp="1"/>
          </p:cNvSpPr>
          <p:nvPr>
            <p:ph type="title"/>
          </p:nvPr>
        </p:nvSpPr>
        <p:spPr/>
        <p:txBody>
          <a:bodyPr/>
          <a:lstStyle/>
          <a:p>
            <a:r>
              <a:rPr lang="en-US" b="1" dirty="0"/>
              <a:t>Economic &amp; Adoption Challenges</a:t>
            </a:r>
            <a:endParaRPr lang="en-US" dirty="0"/>
          </a:p>
        </p:txBody>
      </p:sp>
      <p:sp>
        <p:nvSpPr>
          <p:cNvPr id="3" name="Content Placeholder 2">
            <a:extLst>
              <a:ext uri="{FF2B5EF4-FFF2-40B4-BE49-F238E27FC236}">
                <a16:creationId xmlns:a16="http://schemas.microsoft.com/office/drawing/2014/main" id="{36084224-70A4-4E11-948F-406E59A3A0E3}"/>
              </a:ext>
            </a:extLst>
          </p:cNvPr>
          <p:cNvSpPr>
            <a:spLocks noGrp="1"/>
          </p:cNvSpPr>
          <p:nvPr>
            <p:ph idx="1"/>
          </p:nvPr>
        </p:nvSpPr>
        <p:spPr/>
        <p:txBody>
          <a:bodyPr/>
          <a:lstStyle/>
          <a:p>
            <a:r>
              <a:rPr lang="en-US" b="1" dirty="0"/>
              <a:t>High Initial Cost</a:t>
            </a:r>
            <a:r>
              <a:rPr lang="en-US" dirty="0"/>
              <a:t> – Expensive R&amp;D and deployment</a:t>
            </a:r>
          </a:p>
          <a:p>
            <a:r>
              <a:rPr lang="en-US" b="1" dirty="0"/>
              <a:t>Integration with Existing Systems</a:t>
            </a:r>
            <a:r>
              <a:rPr lang="en-US" dirty="0"/>
              <a:t> – Legacy infrastructure compatibility</a:t>
            </a:r>
          </a:p>
          <a:p>
            <a:r>
              <a:rPr lang="en-US" b="1" dirty="0"/>
              <a:t>Skill Gap</a:t>
            </a:r>
            <a:r>
              <a:rPr lang="en-US" dirty="0"/>
              <a:t> – Need for trained roboticists and technicians</a:t>
            </a:r>
          </a:p>
          <a:p>
            <a:r>
              <a:rPr lang="en-US" b="1" dirty="0"/>
              <a:t>Regulation &amp; Standards</a:t>
            </a:r>
            <a:r>
              <a:rPr lang="en-US" dirty="0"/>
              <a:t> – Lack of universal safety and ethics guidelines</a:t>
            </a:r>
          </a:p>
          <a:p>
            <a:endParaRPr lang="en-US" dirty="0"/>
          </a:p>
        </p:txBody>
      </p:sp>
      <p:sp>
        <p:nvSpPr>
          <p:cNvPr id="4" name="Slide Number Placeholder 3">
            <a:extLst>
              <a:ext uri="{FF2B5EF4-FFF2-40B4-BE49-F238E27FC236}">
                <a16:creationId xmlns:a16="http://schemas.microsoft.com/office/drawing/2014/main" id="{886B2FA6-99DD-4FB9-A587-633CA35D416B}"/>
              </a:ext>
            </a:extLst>
          </p:cNvPr>
          <p:cNvSpPr>
            <a:spLocks noGrp="1"/>
          </p:cNvSpPr>
          <p:nvPr>
            <p:ph type="sldNum" sz="quarter" idx="12"/>
          </p:nvPr>
        </p:nvSpPr>
        <p:spPr/>
        <p:txBody>
          <a:bodyPr/>
          <a:lstStyle/>
          <a:p>
            <a:fld id="{A4DBBB07-2F6F-4E90-8073-ED4B40896F16}" type="slidenum">
              <a:rPr lang="en-US" smtClean="0"/>
              <a:t>20</a:t>
            </a:fld>
            <a:endParaRPr lang="en-US"/>
          </a:p>
        </p:txBody>
      </p:sp>
    </p:spTree>
    <p:extLst>
      <p:ext uri="{BB962C8B-B14F-4D97-AF65-F5344CB8AC3E}">
        <p14:creationId xmlns:p14="http://schemas.microsoft.com/office/powerpoint/2010/main" val="34112638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47FA1-E34B-4991-846C-506D1BF42356}"/>
              </a:ext>
            </a:extLst>
          </p:cNvPr>
          <p:cNvSpPr>
            <a:spLocks noGrp="1"/>
          </p:cNvSpPr>
          <p:nvPr>
            <p:ph type="title"/>
          </p:nvPr>
        </p:nvSpPr>
        <p:spPr/>
        <p:txBody>
          <a:bodyPr/>
          <a:lstStyle/>
          <a:p>
            <a:r>
              <a:rPr lang="en-US" b="1" dirty="0"/>
              <a:t>Case Study – Real-World Challenge</a:t>
            </a:r>
            <a:br>
              <a:rPr lang="en-US" b="1" dirty="0"/>
            </a:br>
            <a:endParaRPr lang="en-US" dirty="0"/>
          </a:p>
        </p:txBody>
      </p:sp>
      <p:sp>
        <p:nvSpPr>
          <p:cNvPr id="3" name="Content Placeholder 2">
            <a:extLst>
              <a:ext uri="{FF2B5EF4-FFF2-40B4-BE49-F238E27FC236}">
                <a16:creationId xmlns:a16="http://schemas.microsoft.com/office/drawing/2014/main" id="{525279AD-D47E-4882-B1E4-9B3C284BA7DE}"/>
              </a:ext>
            </a:extLst>
          </p:cNvPr>
          <p:cNvSpPr>
            <a:spLocks noGrp="1"/>
          </p:cNvSpPr>
          <p:nvPr>
            <p:ph idx="1"/>
          </p:nvPr>
        </p:nvSpPr>
        <p:spPr/>
        <p:txBody>
          <a:bodyPr/>
          <a:lstStyle/>
          <a:p>
            <a:r>
              <a:rPr lang="en-US" b="1" dirty="0"/>
              <a:t>Example: Autonomous Vehicles</a:t>
            </a:r>
            <a:endParaRPr lang="en-US" dirty="0"/>
          </a:p>
          <a:p>
            <a:r>
              <a:rPr lang="en-US" b="1" dirty="0"/>
              <a:t>Technical Challenges</a:t>
            </a:r>
            <a:r>
              <a:rPr lang="en-US" dirty="0"/>
              <a:t>: Sensor reliability, real-time decision-making</a:t>
            </a:r>
          </a:p>
          <a:p>
            <a:r>
              <a:rPr lang="en-US" b="1" dirty="0"/>
              <a:t>Ethical Challenges</a:t>
            </a:r>
            <a:r>
              <a:rPr lang="en-US" dirty="0"/>
              <a:t>: “Trolley problem” – decision-making in accidents</a:t>
            </a:r>
          </a:p>
          <a:p>
            <a:r>
              <a:rPr lang="en-US" b="1" dirty="0"/>
              <a:t>Regulatory Challenges</a:t>
            </a:r>
            <a:r>
              <a:rPr lang="en-US" dirty="0"/>
              <a:t>: Insurance, liability, and road laws</a:t>
            </a:r>
          </a:p>
          <a:p>
            <a:r>
              <a:rPr lang="en-US" b="1" dirty="0"/>
              <a:t>Social Acceptance</a:t>
            </a:r>
            <a:r>
              <a:rPr lang="en-US" dirty="0"/>
              <a:t>: Public trust and adoption rate</a:t>
            </a:r>
          </a:p>
          <a:p>
            <a:endParaRPr lang="en-US" dirty="0"/>
          </a:p>
        </p:txBody>
      </p:sp>
      <p:sp>
        <p:nvSpPr>
          <p:cNvPr id="4" name="Slide Number Placeholder 3">
            <a:extLst>
              <a:ext uri="{FF2B5EF4-FFF2-40B4-BE49-F238E27FC236}">
                <a16:creationId xmlns:a16="http://schemas.microsoft.com/office/drawing/2014/main" id="{DFEC83B8-B8BD-41C6-B6C4-039946D1093F}"/>
              </a:ext>
            </a:extLst>
          </p:cNvPr>
          <p:cNvSpPr>
            <a:spLocks noGrp="1"/>
          </p:cNvSpPr>
          <p:nvPr>
            <p:ph type="sldNum" sz="quarter" idx="12"/>
          </p:nvPr>
        </p:nvSpPr>
        <p:spPr/>
        <p:txBody>
          <a:bodyPr/>
          <a:lstStyle/>
          <a:p>
            <a:fld id="{A4DBBB07-2F6F-4E90-8073-ED4B40896F16}" type="slidenum">
              <a:rPr lang="en-US" smtClean="0"/>
              <a:t>21</a:t>
            </a:fld>
            <a:endParaRPr lang="en-US"/>
          </a:p>
        </p:txBody>
      </p:sp>
    </p:spTree>
    <p:extLst>
      <p:ext uri="{BB962C8B-B14F-4D97-AF65-F5344CB8AC3E}">
        <p14:creationId xmlns:p14="http://schemas.microsoft.com/office/powerpoint/2010/main" val="8491015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495AA-A5A6-4415-9958-747469EEB149}"/>
              </a:ext>
            </a:extLst>
          </p:cNvPr>
          <p:cNvSpPr>
            <a:spLocks noGrp="1"/>
          </p:cNvSpPr>
          <p:nvPr>
            <p:ph type="title"/>
          </p:nvPr>
        </p:nvSpPr>
        <p:spPr/>
        <p:txBody>
          <a:bodyPr/>
          <a:lstStyle/>
          <a:p>
            <a:r>
              <a:rPr lang="en-US" b="1" dirty="0"/>
              <a:t>Why Addressing Challenges Matters</a:t>
            </a:r>
            <a:endParaRPr lang="en-US" dirty="0"/>
          </a:p>
        </p:txBody>
      </p:sp>
      <p:sp>
        <p:nvSpPr>
          <p:cNvPr id="3" name="Content Placeholder 2">
            <a:extLst>
              <a:ext uri="{FF2B5EF4-FFF2-40B4-BE49-F238E27FC236}">
                <a16:creationId xmlns:a16="http://schemas.microsoft.com/office/drawing/2014/main" id="{5890F220-D857-491C-B51F-05178FF2873F}"/>
              </a:ext>
            </a:extLst>
          </p:cNvPr>
          <p:cNvSpPr>
            <a:spLocks noGrp="1"/>
          </p:cNvSpPr>
          <p:nvPr>
            <p:ph idx="1"/>
          </p:nvPr>
        </p:nvSpPr>
        <p:spPr/>
        <p:txBody>
          <a:bodyPr/>
          <a:lstStyle/>
          <a:p>
            <a:r>
              <a:rPr lang="en-US" dirty="0"/>
              <a:t>Enables </a:t>
            </a:r>
            <a:r>
              <a:rPr lang="en-US" b="1" dirty="0"/>
              <a:t>wider adoption</a:t>
            </a:r>
            <a:r>
              <a:rPr lang="en-US" dirty="0"/>
              <a:t> in daily life</a:t>
            </a:r>
          </a:p>
          <a:p>
            <a:r>
              <a:rPr lang="en-US" dirty="0"/>
              <a:t>Promotes </a:t>
            </a:r>
            <a:r>
              <a:rPr lang="en-US" b="1" dirty="0"/>
              <a:t>safe and ethical</a:t>
            </a:r>
            <a:r>
              <a:rPr lang="en-US" dirty="0"/>
              <a:t> robot integration</a:t>
            </a:r>
          </a:p>
          <a:p>
            <a:r>
              <a:rPr lang="en-US" dirty="0"/>
              <a:t>Drives </a:t>
            </a:r>
            <a:r>
              <a:rPr lang="en-US" b="1" dirty="0"/>
              <a:t>innovation</a:t>
            </a:r>
            <a:r>
              <a:rPr lang="en-US" dirty="0"/>
              <a:t> in AI, materials, and energy</a:t>
            </a:r>
          </a:p>
          <a:p>
            <a:r>
              <a:rPr lang="en-US" dirty="0"/>
              <a:t>Ensures </a:t>
            </a:r>
            <a:r>
              <a:rPr lang="en-US" b="1" dirty="0"/>
              <a:t>robots serve humanity</a:t>
            </a:r>
            <a:r>
              <a:rPr lang="en-US" dirty="0"/>
              <a:t> positively</a:t>
            </a:r>
          </a:p>
          <a:p>
            <a:endParaRPr lang="en-US" dirty="0"/>
          </a:p>
        </p:txBody>
      </p:sp>
      <p:sp>
        <p:nvSpPr>
          <p:cNvPr id="4" name="Slide Number Placeholder 3">
            <a:extLst>
              <a:ext uri="{FF2B5EF4-FFF2-40B4-BE49-F238E27FC236}">
                <a16:creationId xmlns:a16="http://schemas.microsoft.com/office/drawing/2014/main" id="{1E61ACD1-C609-4F7B-9EBE-3832F909ED66}"/>
              </a:ext>
            </a:extLst>
          </p:cNvPr>
          <p:cNvSpPr>
            <a:spLocks noGrp="1"/>
          </p:cNvSpPr>
          <p:nvPr>
            <p:ph type="sldNum" sz="quarter" idx="12"/>
          </p:nvPr>
        </p:nvSpPr>
        <p:spPr/>
        <p:txBody>
          <a:bodyPr/>
          <a:lstStyle/>
          <a:p>
            <a:fld id="{A4DBBB07-2F6F-4E90-8073-ED4B40896F16}" type="slidenum">
              <a:rPr lang="en-US" smtClean="0"/>
              <a:t>22</a:t>
            </a:fld>
            <a:endParaRPr lang="en-US"/>
          </a:p>
        </p:txBody>
      </p:sp>
    </p:spTree>
    <p:extLst>
      <p:ext uri="{BB962C8B-B14F-4D97-AF65-F5344CB8AC3E}">
        <p14:creationId xmlns:p14="http://schemas.microsoft.com/office/powerpoint/2010/main" val="3052670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39C9C2-AD2A-48FD-8961-3C2D71DC2E36}"/>
              </a:ext>
            </a:extLst>
          </p:cNvPr>
          <p:cNvSpPr>
            <a:spLocks noGrp="1"/>
          </p:cNvSpPr>
          <p:nvPr>
            <p:ph type="title"/>
          </p:nvPr>
        </p:nvSpPr>
        <p:spPr/>
        <p:txBody>
          <a:bodyPr/>
          <a:lstStyle/>
          <a:p>
            <a:r>
              <a:rPr lang="en-US" b="1" dirty="0"/>
              <a:t>The Future of Robotics</a:t>
            </a:r>
            <a:endParaRPr lang="en-US" dirty="0"/>
          </a:p>
        </p:txBody>
      </p:sp>
      <p:sp>
        <p:nvSpPr>
          <p:cNvPr id="3" name="Content Placeholder 2">
            <a:extLst>
              <a:ext uri="{FF2B5EF4-FFF2-40B4-BE49-F238E27FC236}">
                <a16:creationId xmlns:a16="http://schemas.microsoft.com/office/drawing/2014/main" id="{B1023ADB-7C3C-4EE1-AFD3-B5CA6356513A}"/>
              </a:ext>
            </a:extLst>
          </p:cNvPr>
          <p:cNvSpPr>
            <a:spLocks noGrp="1"/>
          </p:cNvSpPr>
          <p:nvPr>
            <p:ph idx="1"/>
          </p:nvPr>
        </p:nvSpPr>
        <p:spPr/>
        <p:txBody>
          <a:bodyPr/>
          <a:lstStyle/>
          <a:p>
            <a:r>
              <a:rPr lang="en-US" b="1" dirty="0"/>
              <a:t>Collaborative Robots (</a:t>
            </a:r>
            <a:r>
              <a:rPr lang="en-US" b="1" dirty="0" err="1"/>
              <a:t>Cobots</a:t>
            </a:r>
            <a:r>
              <a:rPr lang="en-US" b="1" dirty="0"/>
              <a:t>)</a:t>
            </a:r>
            <a:r>
              <a:rPr lang="en-US" dirty="0"/>
              <a:t> – Working alongside humans</a:t>
            </a:r>
          </a:p>
          <a:p>
            <a:r>
              <a:rPr lang="en-US" b="1" dirty="0"/>
              <a:t>Soft Robotics</a:t>
            </a:r>
            <a:r>
              <a:rPr lang="en-US" dirty="0"/>
              <a:t> – Flexible, adaptable structures</a:t>
            </a:r>
          </a:p>
          <a:p>
            <a:r>
              <a:rPr lang="en-US" b="1" dirty="0"/>
              <a:t>Swarm Robotics</a:t>
            </a:r>
            <a:r>
              <a:rPr lang="en-US" dirty="0"/>
              <a:t> – Multiple robots working in coordination</a:t>
            </a:r>
          </a:p>
          <a:p>
            <a:r>
              <a:rPr lang="en-US" b="1" dirty="0"/>
              <a:t>AI-Powered Autonomy</a:t>
            </a:r>
            <a:r>
              <a:rPr lang="en-US" dirty="0"/>
              <a:t> – Smarter, more adaptive systems</a:t>
            </a:r>
          </a:p>
          <a:p>
            <a:r>
              <a:rPr lang="en-US" b="1" dirty="0"/>
              <a:t>Bio-Inspired Robots</a:t>
            </a:r>
            <a:r>
              <a:rPr lang="en-US" dirty="0"/>
              <a:t> – Mimicking nature for better design</a:t>
            </a:r>
          </a:p>
          <a:p>
            <a:br>
              <a:rPr lang="en-US" dirty="0"/>
            </a:br>
            <a:endParaRPr lang="en-US" dirty="0"/>
          </a:p>
        </p:txBody>
      </p:sp>
      <p:sp>
        <p:nvSpPr>
          <p:cNvPr id="4" name="Slide Number Placeholder 3">
            <a:extLst>
              <a:ext uri="{FF2B5EF4-FFF2-40B4-BE49-F238E27FC236}">
                <a16:creationId xmlns:a16="http://schemas.microsoft.com/office/drawing/2014/main" id="{3E995713-EF6C-467E-BE03-76D25674C294}"/>
              </a:ext>
            </a:extLst>
          </p:cNvPr>
          <p:cNvSpPr>
            <a:spLocks noGrp="1"/>
          </p:cNvSpPr>
          <p:nvPr>
            <p:ph type="sldNum" sz="quarter" idx="12"/>
          </p:nvPr>
        </p:nvSpPr>
        <p:spPr/>
        <p:txBody>
          <a:bodyPr/>
          <a:lstStyle/>
          <a:p>
            <a:fld id="{A4DBBB07-2F6F-4E90-8073-ED4B40896F16}" type="slidenum">
              <a:rPr lang="en-US" smtClean="0"/>
              <a:t>23</a:t>
            </a:fld>
            <a:endParaRPr lang="en-US"/>
          </a:p>
        </p:txBody>
      </p:sp>
    </p:spTree>
    <p:extLst>
      <p:ext uri="{BB962C8B-B14F-4D97-AF65-F5344CB8AC3E}">
        <p14:creationId xmlns:p14="http://schemas.microsoft.com/office/powerpoint/2010/main" val="24616141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20036-5184-43D1-A19F-5D1C766B12DE}"/>
              </a:ext>
            </a:extLst>
          </p:cNvPr>
          <p:cNvSpPr>
            <a:spLocks noGrp="1"/>
          </p:cNvSpPr>
          <p:nvPr>
            <p:ph type="title"/>
          </p:nvPr>
        </p:nvSpPr>
        <p:spPr/>
        <p:txBody>
          <a:bodyPr/>
          <a:lstStyle/>
          <a:p>
            <a:r>
              <a:rPr lang="en-US" b="1" dirty="0"/>
              <a:t>Summary</a:t>
            </a:r>
            <a:endParaRPr lang="en-US" dirty="0"/>
          </a:p>
        </p:txBody>
      </p:sp>
      <p:sp>
        <p:nvSpPr>
          <p:cNvPr id="3" name="Content Placeholder 2">
            <a:extLst>
              <a:ext uri="{FF2B5EF4-FFF2-40B4-BE49-F238E27FC236}">
                <a16:creationId xmlns:a16="http://schemas.microsoft.com/office/drawing/2014/main" id="{6A88484E-1355-4232-9642-FC2A334E78E3}"/>
              </a:ext>
            </a:extLst>
          </p:cNvPr>
          <p:cNvSpPr>
            <a:spLocks noGrp="1"/>
          </p:cNvSpPr>
          <p:nvPr>
            <p:ph idx="1"/>
          </p:nvPr>
        </p:nvSpPr>
        <p:spPr/>
        <p:txBody>
          <a:bodyPr/>
          <a:lstStyle/>
          <a:p>
            <a:r>
              <a:rPr lang="en-US" b="1" dirty="0"/>
              <a:t>Robots are everywhere</a:t>
            </a:r>
            <a:r>
              <a:rPr lang="en-US" dirty="0"/>
              <a:t>: industry, home, medicine, exploration, defense</a:t>
            </a:r>
          </a:p>
          <a:p>
            <a:r>
              <a:rPr lang="en-US" b="1" dirty="0"/>
              <a:t>Challenges remain</a:t>
            </a:r>
            <a:r>
              <a:rPr lang="en-US" dirty="0"/>
              <a:t>: technical, ethical, economic, and social</a:t>
            </a:r>
          </a:p>
          <a:p>
            <a:r>
              <a:rPr lang="en-US" b="1" dirty="0"/>
              <a:t>Progress requires collaboration</a:t>
            </a:r>
            <a:r>
              <a:rPr lang="en-US" dirty="0"/>
              <a:t>: engineers, ethicists, policymakers, and society</a:t>
            </a:r>
          </a:p>
          <a:p>
            <a:r>
              <a:rPr lang="en-US" b="1" dirty="0"/>
              <a:t>The goal</a:t>
            </a:r>
            <a:r>
              <a:rPr lang="en-US" dirty="0"/>
              <a:t>: Build robots that are </a:t>
            </a:r>
            <a:r>
              <a:rPr lang="en-US" b="1" dirty="0"/>
              <a:t>capable, safe, and beneficial</a:t>
            </a:r>
            <a:r>
              <a:rPr lang="en-US" dirty="0"/>
              <a:t> to all</a:t>
            </a:r>
          </a:p>
          <a:p>
            <a:endParaRPr lang="en-US" dirty="0"/>
          </a:p>
        </p:txBody>
      </p:sp>
      <p:sp>
        <p:nvSpPr>
          <p:cNvPr id="4" name="Slide Number Placeholder 3">
            <a:extLst>
              <a:ext uri="{FF2B5EF4-FFF2-40B4-BE49-F238E27FC236}">
                <a16:creationId xmlns:a16="http://schemas.microsoft.com/office/drawing/2014/main" id="{263173F6-9725-41B7-82FB-E65DBB575864}"/>
              </a:ext>
            </a:extLst>
          </p:cNvPr>
          <p:cNvSpPr>
            <a:spLocks noGrp="1"/>
          </p:cNvSpPr>
          <p:nvPr>
            <p:ph type="sldNum" sz="quarter" idx="12"/>
          </p:nvPr>
        </p:nvSpPr>
        <p:spPr/>
        <p:txBody>
          <a:bodyPr/>
          <a:lstStyle/>
          <a:p>
            <a:fld id="{A4DBBB07-2F6F-4E90-8073-ED4B40896F16}" type="slidenum">
              <a:rPr lang="en-US" smtClean="0"/>
              <a:t>24</a:t>
            </a:fld>
            <a:endParaRPr lang="en-US"/>
          </a:p>
        </p:txBody>
      </p:sp>
    </p:spTree>
    <p:extLst>
      <p:ext uri="{BB962C8B-B14F-4D97-AF65-F5344CB8AC3E}">
        <p14:creationId xmlns:p14="http://schemas.microsoft.com/office/powerpoint/2010/main" val="12732921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8" name="Group 77">
            <a:extLst>
              <a:ext uri="{FF2B5EF4-FFF2-40B4-BE49-F238E27FC236}">
                <a16:creationId xmlns:a16="http://schemas.microsoft.com/office/drawing/2014/main" id="{26870670-FE17-4E1E-A5FE-34E0243DD21F}"/>
              </a:ext>
            </a:extLst>
          </p:cNvPr>
          <p:cNvGrpSpPr/>
          <p:nvPr/>
        </p:nvGrpSpPr>
        <p:grpSpPr>
          <a:xfrm>
            <a:off x="982133" y="304800"/>
            <a:ext cx="10566400" cy="6350000"/>
            <a:chOff x="2401641" y="1501109"/>
            <a:chExt cx="7388719" cy="3855782"/>
          </a:xfrm>
        </p:grpSpPr>
        <p:sp>
          <p:nvSpPr>
            <p:cNvPr id="2" name="Rounded Rectangle 1"/>
            <p:cNvSpPr/>
            <p:nvPr/>
          </p:nvSpPr>
          <p:spPr>
            <a:xfrm>
              <a:off x="2401641" y="2089864"/>
              <a:ext cx="1723115" cy="703031"/>
            </a:xfrm>
            <a:custGeom>
              <a:avLst/>
              <a:gdLst/>
              <a:ahLst/>
              <a:cxnLst/>
              <a:rect l="0" t="0" r="0" b="0"/>
              <a:pathLst>
                <a:path w="1723115" h="703031">
                  <a:moveTo>
                    <a:pt x="0" y="537612"/>
                  </a:moveTo>
                  <a:cubicBezTo>
                    <a:pt x="0" y="628971"/>
                    <a:pt x="74059" y="703031"/>
                    <a:pt x="165419" y="703031"/>
                  </a:cubicBezTo>
                  <a:lnTo>
                    <a:pt x="1557696" y="703031"/>
                  </a:lnTo>
                  <a:cubicBezTo>
                    <a:pt x="1649056" y="703031"/>
                    <a:pt x="1723115" y="628971"/>
                    <a:pt x="1723115" y="537612"/>
                  </a:cubicBezTo>
                  <a:lnTo>
                    <a:pt x="1723115" y="165419"/>
                  </a:lnTo>
                  <a:cubicBezTo>
                    <a:pt x="1723115" y="74059"/>
                    <a:pt x="1649056" y="0"/>
                    <a:pt x="1557696" y="0"/>
                  </a:cubicBezTo>
                  <a:lnTo>
                    <a:pt x="165419" y="0"/>
                  </a:lnTo>
                  <a:cubicBezTo>
                    <a:pt x="74059" y="0"/>
                    <a:pt x="0" y="74059"/>
                    <a:pt x="0" y="165419"/>
                  </a:cubicBezTo>
                  <a:lnTo>
                    <a:pt x="0" y="537612"/>
                  </a:lnTo>
                </a:path>
              </a:pathLst>
            </a:custGeom>
            <a:solidFill>
              <a:srgbClr val="4F92FF"/>
            </a:solidFill>
            <a:ln>
              <a:noFill/>
            </a:ln>
          </p:spPr>
          <p:txBody>
            <a:bodyPr rtlCol="0" anchor="ctr"/>
            <a:lstStyle/>
            <a:p>
              <a:pPr algn="ctr"/>
              <a:endParaRPr/>
            </a:p>
          </p:txBody>
        </p:sp>
        <p:sp>
          <p:nvSpPr>
            <p:cNvPr id="3" name="Rounded Rectangle 2"/>
            <p:cNvSpPr/>
            <p:nvPr/>
          </p:nvSpPr>
          <p:spPr>
            <a:xfrm>
              <a:off x="2401641" y="2089864"/>
              <a:ext cx="1723115" cy="703031"/>
            </a:xfrm>
            <a:custGeom>
              <a:avLst/>
              <a:gdLst/>
              <a:ahLst/>
              <a:cxnLst/>
              <a:rect l="0" t="0" r="0" b="0"/>
              <a:pathLst>
                <a:path w="1723115" h="703031">
                  <a:moveTo>
                    <a:pt x="1557696" y="0"/>
                  </a:moveTo>
                  <a:cubicBezTo>
                    <a:pt x="1649054" y="0"/>
                    <a:pt x="1723115" y="74060"/>
                    <a:pt x="1723115" y="165419"/>
                  </a:cubicBezTo>
                  <a:moveTo>
                    <a:pt x="165419" y="0"/>
                  </a:moveTo>
                  <a:cubicBezTo>
                    <a:pt x="74060" y="0"/>
                    <a:pt x="0" y="74060"/>
                    <a:pt x="0" y="165419"/>
                  </a:cubicBezTo>
                  <a:moveTo>
                    <a:pt x="0" y="537612"/>
                  </a:moveTo>
                  <a:lnTo>
                    <a:pt x="0" y="165419"/>
                  </a:lnTo>
                  <a:moveTo>
                    <a:pt x="1723115" y="537612"/>
                  </a:moveTo>
                  <a:lnTo>
                    <a:pt x="1723115" y="165419"/>
                  </a:lnTo>
                  <a:moveTo>
                    <a:pt x="1723115" y="537612"/>
                  </a:moveTo>
                  <a:cubicBezTo>
                    <a:pt x="1723115" y="628970"/>
                    <a:pt x="1649054" y="703031"/>
                    <a:pt x="1557696" y="703031"/>
                  </a:cubicBezTo>
                  <a:moveTo>
                    <a:pt x="165419" y="703031"/>
                  </a:moveTo>
                  <a:lnTo>
                    <a:pt x="1557696" y="703031"/>
                  </a:lnTo>
                  <a:moveTo>
                    <a:pt x="165419" y="703031"/>
                  </a:moveTo>
                  <a:cubicBezTo>
                    <a:pt x="74060" y="703031"/>
                    <a:pt x="0" y="628970"/>
                    <a:pt x="0" y="537612"/>
                  </a:cubicBezTo>
                </a:path>
              </a:pathLst>
            </a:custGeom>
            <a:noFill/>
            <a:ln w="5169">
              <a:solidFill>
                <a:srgbClr val="FFFFFF"/>
              </a:solidFill>
            </a:ln>
          </p:spPr>
          <p:txBody>
            <a:bodyPr rtlCol="0" anchor="ctr"/>
            <a:lstStyle/>
            <a:p>
              <a:pPr algn="ctr"/>
              <a:endParaRPr/>
            </a:p>
          </p:txBody>
        </p:sp>
        <p:sp>
          <p:nvSpPr>
            <p:cNvPr id="4" name="Rounded Rectangle 3"/>
            <p:cNvSpPr/>
            <p:nvPr/>
          </p:nvSpPr>
          <p:spPr>
            <a:xfrm>
              <a:off x="2678848" y="2086417"/>
              <a:ext cx="6892" cy="6892"/>
            </a:xfrm>
            <a:custGeom>
              <a:avLst/>
              <a:gdLst/>
              <a:ahLst/>
              <a:cxnLst/>
              <a:rect l="0" t="0" r="0" b="0"/>
              <a:pathLst>
                <a:path w="6892" h="6892">
                  <a:moveTo>
                    <a:pt x="0" y="0"/>
                  </a:moveTo>
                  <a:lnTo>
                    <a:pt x="6892" y="0"/>
                  </a:lnTo>
                  <a:lnTo>
                    <a:pt x="6892" y="6892"/>
                  </a:lnTo>
                  <a:lnTo>
                    <a:pt x="0" y="6892"/>
                  </a:lnTo>
                  <a:lnTo>
                    <a:pt x="0" y="0"/>
                  </a:lnTo>
                </a:path>
              </a:pathLst>
            </a:custGeom>
            <a:solidFill>
              <a:srgbClr val="4F92FF"/>
            </a:solidFill>
            <a:ln>
              <a:noFill/>
            </a:ln>
          </p:spPr>
          <p:txBody>
            <a:bodyPr rtlCol="0" anchor="ctr"/>
            <a:lstStyle/>
            <a:p>
              <a:pPr algn="ctr"/>
              <a:endParaRPr/>
            </a:p>
          </p:txBody>
        </p:sp>
        <p:sp>
          <p:nvSpPr>
            <p:cNvPr id="5" name="Rounded Rectangle 4"/>
            <p:cNvSpPr/>
            <p:nvPr/>
          </p:nvSpPr>
          <p:spPr>
            <a:xfrm>
              <a:off x="2567060" y="2089863"/>
              <a:ext cx="118679" cy="6892"/>
            </a:xfrm>
            <a:custGeom>
              <a:avLst/>
              <a:gdLst/>
              <a:ahLst/>
              <a:cxnLst/>
              <a:rect l="0" t="0" r="0" b="0"/>
              <a:pathLst>
                <a:path w="118679" h="6892">
                  <a:moveTo>
                    <a:pt x="118679" y="0"/>
                  </a:moveTo>
                  <a:lnTo>
                    <a:pt x="0" y="0"/>
                  </a:lnTo>
                </a:path>
              </a:pathLst>
            </a:custGeom>
            <a:noFill/>
            <a:ln w="5169">
              <a:solidFill>
                <a:srgbClr val="FFFFFF"/>
              </a:solidFill>
            </a:ln>
          </p:spPr>
          <p:txBody>
            <a:bodyPr rtlCol="0" anchor="ctr"/>
            <a:lstStyle/>
            <a:p>
              <a:pPr algn="ctr"/>
              <a:endParaRPr/>
            </a:p>
          </p:txBody>
        </p:sp>
        <p:sp>
          <p:nvSpPr>
            <p:cNvPr id="6" name="Rounded Rectangle 5"/>
            <p:cNvSpPr/>
            <p:nvPr/>
          </p:nvSpPr>
          <p:spPr>
            <a:xfrm>
              <a:off x="2685739" y="1924444"/>
              <a:ext cx="1154921" cy="330838"/>
            </a:xfrm>
            <a:custGeom>
              <a:avLst/>
              <a:gdLst/>
              <a:ahLst/>
              <a:cxnLst/>
              <a:rect l="0" t="0" r="0" b="0"/>
              <a:pathLst>
                <a:path w="1154921" h="330838">
                  <a:moveTo>
                    <a:pt x="0" y="172311"/>
                  </a:moveTo>
                  <a:cubicBezTo>
                    <a:pt x="0" y="259859"/>
                    <a:pt x="70978" y="330838"/>
                    <a:pt x="158526" y="330838"/>
                  </a:cubicBezTo>
                  <a:lnTo>
                    <a:pt x="996395" y="330838"/>
                  </a:lnTo>
                  <a:cubicBezTo>
                    <a:pt x="1083943" y="330838"/>
                    <a:pt x="1154921" y="259859"/>
                    <a:pt x="1154921" y="172311"/>
                  </a:cubicBezTo>
                  <a:lnTo>
                    <a:pt x="1154921" y="158526"/>
                  </a:lnTo>
                  <a:cubicBezTo>
                    <a:pt x="1154921" y="70978"/>
                    <a:pt x="1083943" y="0"/>
                    <a:pt x="996395" y="0"/>
                  </a:cubicBezTo>
                  <a:lnTo>
                    <a:pt x="158526" y="0"/>
                  </a:lnTo>
                  <a:cubicBezTo>
                    <a:pt x="70978" y="0"/>
                    <a:pt x="0" y="70978"/>
                    <a:pt x="0" y="158526"/>
                  </a:cubicBezTo>
                  <a:lnTo>
                    <a:pt x="0" y="172311"/>
                  </a:lnTo>
                </a:path>
              </a:pathLst>
            </a:custGeom>
            <a:solidFill>
              <a:srgbClr val="4F92FF"/>
            </a:solidFill>
            <a:ln>
              <a:noFill/>
            </a:ln>
          </p:spPr>
          <p:txBody>
            <a:bodyPr rtlCol="0" anchor="ctr"/>
            <a:lstStyle/>
            <a:p>
              <a:pPr algn="ctr"/>
              <a:endParaRPr/>
            </a:p>
          </p:txBody>
        </p:sp>
        <p:sp>
          <p:nvSpPr>
            <p:cNvPr id="7" name="Rounded Rectangle 6"/>
            <p:cNvSpPr/>
            <p:nvPr/>
          </p:nvSpPr>
          <p:spPr>
            <a:xfrm>
              <a:off x="2685738" y="1924444"/>
              <a:ext cx="1154918" cy="330838"/>
            </a:xfrm>
            <a:custGeom>
              <a:avLst/>
              <a:gdLst/>
              <a:ahLst/>
              <a:cxnLst/>
              <a:rect l="0" t="0" r="0" b="0"/>
              <a:pathLst>
                <a:path w="1154918" h="330838">
                  <a:moveTo>
                    <a:pt x="996391" y="0"/>
                  </a:moveTo>
                  <a:cubicBezTo>
                    <a:pt x="1083943" y="0"/>
                    <a:pt x="1154918" y="70975"/>
                    <a:pt x="1154918" y="158526"/>
                  </a:cubicBezTo>
                  <a:moveTo>
                    <a:pt x="996391" y="0"/>
                  </a:moveTo>
                  <a:lnTo>
                    <a:pt x="158526" y="0"/>
                  </a:lnTo>
                  <a:moveTo>
                    <a:pt x="158526" y="0"/>
                  </a:moveTo>
                  <a:cubicBezTo>
                    <a:pt x="70975" y="0"/>
                    <a:pt x="0" y="70975"/>
                    <a:pt x="0" y="158526"/>
                  </a:cubicBezTo>
                  <a:moveTo>
                    <a:pt x="0" y="172311"/>
                  </a:moveTo>
                  <a:lnTo>
                    <a:pt x="0" y="158526"/>
                  </a:lnTo>
                  <a:moveTo>
                    <a:pt x="1154918" y="172311"/>
                  </a:moveTo>
                  <a:lnTo>
                    <a:pt x="1154918" y="158526"/>
                  </a:lnTo>
                  <a:moveTo>
                    <a:pt x="1154918" y="172311"/>
                  </a:moveTo>
                  <a:cubicBezTo>
                    <a:pt x="1154918" y="259863"/>
                    <a:pt x="1083943" y="330838"/>
                    <a:pt x="996391" y="330838"/>
                  </a:cubicBezTo>
                  <a:moveTo>
                    <a:pt x="158526" y="330838"/>
                  </a:moveTo>
                  <a:lnTo>
                    <a:pt x="996391" y="330838"/>
                  </a:lnTo>
                  <a:moveTo>
                    <a:pt x="158526" y="330838"/>
                  </a:moveTo>
                  <a:cubicBezTo>
                    <a:pt x="70975" y="330838"/>
                    <a:pt x="0" y="259863"/>
                    <a:pt x="0" y="172311"/>
                  </a:cubicBezTo>
                </a:path>
              </a:pathLst>
            </a:custGeom>
            <a:noFill/>
            <a:ln w="5169">
              <a:solidFill>
                <a:srgbClr val="FFFFFF"/>
              </a:solidFill>
            </a:ln>
          </p:spPr>
          <p:txBody>
            <a:bodyPr rtlCol="0" anchor="ctr"/>
            <a:lstStyle/>
            <a:p>
              <a:pPr algn="ctr"/>
              <a:endParaRPr/>
            </a:p>
          </p:txBody>
        </p:sp>
        <p:sp>
          <p:nvSpPr>
            <p:cNvPr id="8" name="Rounded Rectangle 7"/>
            <p:cNvSpPr/>
            <p:nvPr/>
          </p:nvSpPr>
          <p:spPr>
            <a:xfrm>
              <a:off x="3952445" y="2086417"/>
              <a:ext cx="6892" cy="6892"/>
            </a:xfrm>
            <a:custGeom>
              <a:avLst/>
              <a:gdLst/>
              <a:ahLst/>
              <a:cxnLst/>
              <a:rect l="0" t="0" r="0" b="0"/>
              <a:pathLst>
                <a:path w="6892" h="6892">
                  <a:moveTo>
                    <a:pt x="0" y="0"/>
                  </a:moveTo>
                  <a:lnTo>
                    <a:pt x="6892" y="0"/>
                  </a:lnTo>
                  <a:lnTo>
                    <a:pt x="6892" y="6892"/>
                  </a:lnTo>
                  <a:lnTo>
                    <a:pt x="0" y="6892"/>
                  </a:lnTo>
                  <a:lnTo>
                    <a:pt x="0" y="0"/>
                  </a:lnTo>
                </a:path>
              </a:pathLst>
            </a:custGeom>
            <a:solidFill>
              <a:srgbClr val="4F92FF"/>
            </a:solidFill>
            <a:ln>
              <a:noFill/>
            </a:ln>
          </p:spPr>
          <p:txBody>
            <a:bodyPr rtlCol="0" anchor="ctr"/>
            <a:lstStyle/>
            <a:p>
              <a:pPr algn="ctr"/>
              <a:endParaRPr/>
            </a:p>
          </p:txBody>
        </p:sp>
        <p:sp>
          <p:nvSpPr>
            <p:cNvPr id="9" name="Rounded Rectangle 8"/>
            <p:cNvSpPr/>
            <p:nvPr/>
          </p:nvSpPr>
          <p:spPr>
            <a:xfrm>
              <a:off x="3840658" y="2089863"/>
              <a:ext cx="118679" cy="6892"/>
            </a:xfrm>
            <a:custGeom>
              <a:avLst/>
              <a:gdLst/>
              <a:ahLst/>
              <a:cxnLst/>
              <a:rect l="0" t="0" r="0" b="0"/>
              <a:pathLst>
                <a:path w="118679" h="6892">
                  <a:moveTo>
                    <a:pt x="118679" y="0"/>
                  </a:moveTo>
                  <a:lnTo>
                    <a:pt x="0" y="0"/>
                  </a:lnTo>
                </a:path>
              </a:pathLst>
            </a:custGeom>
            <a:noFill/>
            <a:ln w="5169">
              <a:solidFill>
                <a:srgbClr val="FFFFFF"/>
              </a:solidFill>
            </a:ln>
          </p:spPr>
          <p:txBody>
            <a:bodyPr rtlCol="0" anchor="ctr"/>
            <a:lstStyle/>
            <a:p>
              <a:pPr algn="ctr"/>
              <a:endParaRPr/>
            </a:p>
          </p:txBody>
        </p:sp>
        <p:sp>
          <p:nvSpPr>
            <p:cNvPr id="10" name="Rounded Rectangle 9"/>
            <p:cNvSpPr/>
            <p:nvPr/>
          </p:nvSpPr>
          <p:spPr>
            <a:xfrm>
              <a:off x="4290175" y="2089864"/>
              <a:ext cx="1723115" cy="703031"/>
            </a:xfrm>
            <a:custGeom>
              <a:avLst/>
              <a:gdLst/>
              <a:ahLst/>
              <a:cxnLst/>
              <a:rect l="0" t="0" r="0" b="0"/>
              <a:pathLst>
                <a:path w="1723115" h="703031">
                  <a:moveTo>
                    <a:pt x="0" y="537612"/>
                  </a:moveTo>
                  <a:cubicBezTo>
                    <a:pt x="0" y="628971"/>
                    <a:pt x="74059" y="703031"/>
                    <a:pt x="165419" y="703031"/>
                  </a:cubicBezTo>
                  <a:lnTo>
                    <a:pt x="1557696" y="703031"/>
                  </a:lnTo>
                  <a:cubicBezTo>
                    <a:pt x="1649056" y="703031"/>
                    <a:pt x="1723115" y="628971"/>
                    <a:pt x="1723115" y="537612"/>
                  </a:cubicBezTo>
                  <a:lnTo>
                    <a:pt x="1723115" y="165419"/>
                  </a:lnTo>
                  <a:cubicBezTo>
                    <a:pt x="1723115" y="74059"/>
                    <a:pt x="1649056" y="0"/>
                    <a:pt x="1557696" y="0"/>
                  </a:cubicBezTo>
                  <a:lnTo>
                    <a:pt x="165419" y="0"/>
                  </a:lnTo>
                  <a:cubicBezTo>
                    <a:pt x="74059" y="0"/>
                    <a:pt x="0" y="74059"/>
                    <a:pt x="0" y="165419"/>
                  </a:cubicBezTo>
                  <a:lnTo>
                    <a:pt x="0" y="537612"/>
                  </a:lnTo>
                </a:path>
              </a:pathLst>
            </a:custGeom>
            <a:solidFill>
              <a:srgbClr val="4F92FF"/>
            </a:solidFill>
            <a:ln>
              <a:noFill/>
            </a:ln>
          </p:spPr>
          <p:txBody>
            <a:bodyPr rtlCol="0" anchor="ctr"/>
            <a:lstStyle/>
            <a:p>
              <a:pPr algn="ctr"/>
              <a:endParaRPr/>
            </a:p>
          </p:txBody>
        </p:sp>
        <p:sp>
          <p:nvSpPr>
            <p:cNvPr id="11" name="Rounded Rectangle 10"/>
            <p:cNvSpPr/>
            <p:nvPr/>
          </p:nvSpPr>
          <p:spPr>
            <a:xfrm>
              <a:off x="4290175" y="2089864"/>
              <a:ext cx="1723115" cy="703031"/>
            </a:xfrm>
            <a:custGeom>
              <a:avLst/>
              <a:gdLst/>
              <a:ahLst/>
              <a:cxnLst/>
              <a:rect l="0" t="0" r="0" b="0"/>
              <a:pathLst>
                <a:path w="1723115" h="703031">
                  <a:moveTo>
                    <a:pt x="1557696" y="0"/>
                  </a:moveTo>
                  <a:cubicBezTo>
                    <a:pt x="1649054" y="0"/>
                    <a:pt x="1723115" y="74060"/>
                    <a:pt x="1723115" y="165419"/>
                  </a:cubicBezTo>
                  <a:moveTo>
                    <a:pt x="165419" y="0"/>
                  </a:moveTo>
                  <a:cubicBezTo>
                    <a:pt x="74060" y="0"/>
                    <a:pt x="0" y="74060"/>
                    <a:pt x="0" y="165419"/>
                  </a:cubicBezTo>
                  <a:moveTo>
                    <a:pt x="0" y="537612"/>
                  </a:moveTo>
                  <a:lnTo>
                    <a:pt x="0" y="165419"/>
                  </a:lnTo>
                  <a:moveTo>
                    <a:pt x="1723115" y="537612"/>
                  </a:moveTo>
                  <a:lnTo>
                    <a:pt x="1723115" y="165419"/>
                  </a:lnTo>
                  <a:moveTo>
                    <a:pt x="1723115" y="537612"/>
                  </a:moveTo>
                  <a:cubicBezTo>
                    <a:pt x="1723115" y="628970"/>
                    <a:pt x="1649054" y="703031"/>
                    <a:pt x="1557696" y="703031"/>
                  </a:cubicBezTo>
                  <a:moveTo>
                    <a:pt x="165419" y="703031"/>
                  </a:moveTo>
                  <a:lnTo>
                    <a:pt x="1557696" y="703031"/>
                  </a:lnTo>
                  <a:moveTo>
                    <a:pt x="165419" y="703031"/>
                  </a:moveTo>
                  <a:cubicBezTo>
                    <a:pt x="74060" y="703031"/>
                    <a:pt x="0" y="628970"/>
                    <a:pt x="0" y="537612"/>
                  </a:cubicBezTo>
                </a:path>
              </a:pathLst>
            </a:custGeom>
            <a:noFill/>
            <a:ln w="5169">
              <a:solidFill>
                <a:srgbClr val="FFFFFF"/>
              </a:solidFill>
            </a:ln>
          </p:spPr>
          <p:txBody>
            <a:bodyPr rtlCol="0" anchor="ctr"/>
            <a:lstStyle/>
            <a:p>
              <a:pPr algn="ctr"/>
              <a:endParaRPr/>
            </a:p>
          </p:txBody>
        </p:sp>
        <p:sp>
          <p:nvSpPr>
            <p:cNvPr id="12" name="Rounded Rectangle 11"/>
            <p:cNvSpPr/>
            <p:nvPr/>
          </p:nvSpPr>
          <p:spPr>
            <a:xfrm>
              <a:off x="4527137" y="2086417"/>
              <a:ext cx="6892" cy="6892"/>
            </a:xfrm>
            <a:custGeom>
              <a:avLst/>
              <a:gdLst/>
              <a:ahLst/>
              <a:cxnLst/>
              <a:rect l="0" t="0" r="0" b="0"/>
              <a:pathLst>
                <a:path w="6892" h="6892">
                  <a:moveTo>
                    <a:pt x="0" y="0"/>
                  </a:moveTo>
                  <a:lnTo>
                    <a:pt x="6892" y="0"/>
                  </a:lnTo>
                  <a:lnTo>
                    <a:pt x="6892" y="6892"/>
                  </a:lnTo>
                  <a:lnTo>
                    <a:pt x="0" y="6892"/>
                  </a:lnTo>
                  <a:lnTo>
                    <a:pt x="0" y="0"/>
                  </a:lnTo>
                </a:path>
              </a:pathLst>
            </a:custGeom>
            <a:solidFill>
              <a:srgbClr val="4F92FF"/>
            </a:solidFill>
            <a:ln>
              <a:noFill/>
            </a:ln>
          </p:spPr>
          <p:txBody>
            <a:bodyPr rtlCol="0" anchor="ctr"/>
            <a:lstStyle/>
            <a:p>
              <a:pPr algn="ctr"/>
              <a:endParaRPr/>
            </a:p>
          </p:txBody>
        </p:sp>
        <p:sp>
          <p:nvSpPr>
            <p:cNvPr id="13" name="Rounded Rectangle 12"/>
            <p:cNvSpPr/>
            <p:nvPr/>
          </p:nvSpPr>
          <p:spPr>
            <a:xfrm>
              <a:off x="4455594" y="2089863"/>
              <a:ext cx="78437" cy="6892"/>
            </a:xfrm>
            <a:custGeom>
              <a:avLst/>
              <a:gdLst/>
              <a:ahLst/>
              <a:cxnLst/>
              <a:rect l="0" t="0" r="0" b="0"/>
              <a:pathLst>
                <a:path w="78437" h="6892">
                  <a:moveTo>
                    <a:pt x="78437" y="0"/>
                  </a:moveTo>
                  <a:lnTo>
                    <a:pt x="0" y="0"/>
                  </a:lnTo>
                </a:path>
              </a:pathLst>
            </a:custGeom>
            <a:noFill/>
            <a:ln w="5169">
              <a:solidFill>
                <a:srgbClr val="FFFFFF"/>
              </a:solidFill>
            </a:ln>
          </p:spPr>
          <p:txBody>
            <a:bodyPr rtlCol="0" anchor="ctr"/>
            <a:lstStyle/>
            <a:p>
              <a:pPr algn="ctr"/>
              <a:endParaRPr/>
            </a:p>
          </p:txBody>
        </p:sp>
        <p:sp>
          <p:nvSpPr>
            <p:cNvPr id="14" name="Rounded Rectangle 13"/>
            <p:cNvSpPr/>
            <p:nvPr/>
          </p:nvSpPr>
          <p:spPr>
            <a:xfrm>
              <a:off x="4534031" y="1924444"/>
              <a:ext cx="1235404" cy="330838"/>
            </a:xfrm>
            <a:custGeom>
              <a:avLst/>
              <a:gdLst/>
              <a:ahLst/>
              <a:cxnLst/>
              <a:rect l="0" t="0" r="0" b="0"/>
              <a:pathLst>
                <a:path w="1235404" h="330838">
                  <a:moveTo>
                    <a:pt x="0" y="172311"/>
                  </a:moveTo>
                  <a:cubicBezTo>
                    <a:pt x="0" y="259859"/>
                    <a:pt x="70978" y="330838"/>
                    <a:pt x="158526" y="330838"/>
                  </a:cubicBezTo>
                  <a:lnTo>
                    <a:pt x="1076878" y="330838"/>
                  </a:lnTo>
                  <a:cubicBezTo>
                    <a:pt x="1164426" y="330838"/>
                    <a:pt x="1235404" y="259859"/>
                    <a:pt x="1235404" y="172311"/>
                  </a:cubicBezTo>
                  <a:lnTo>
                    <a:pt x="1235404" y="158526"/>
                  </a:lnTo>
                  <a:cubicBezTo>
                    <a:pt x="1235404" y="70978"/>
                    <a:pt x="1164426" y="0"/>
                    <a:pt x="1076878" y="0"/>
                  </a:cubicBezTo>
                  <a:lnTo>
                    <a:pt x="158526" y="0"/>
                  </a:lnTo>
                  <a:cubicBezTo>
                    <a:pt x="70978" y="0"/>
                    <a:pt x="0" y="70978"/>
                    <a:pt x="0" y="158526"/>
                  </a:cubicBezTo>
                  <a:lnTo>
                    <a:pt x="0" y="172311"/>
                  </a:lnTo>
                </a:path>
              </a:pathLst>
            </a:custGeom>
            <a:solidFill>
              <a:srgbClr val="4F92FF"/>
            </a:solidFill>
            <a:ln>
              <a:noFill/>
            </a:ln>
          </p:spPr>
          <p:txBody>
            <a:bodyPr rtlCol="0" anchor="ctr"/>
            <a:lstStyle/>
            <a:p>
              <a:pPr algn="ctr"/>
              <a:endParaRPr/>
            </a:p>
          </p:txBody>
        </p:sp>
        <p:sp>
          <p:nvSpPr>
            <p:cNvPr id="15" name="Rounded Rectangle 14"/>
            <p:cNvSpPr/>
            <p:nvPr/>
          </p:nvSpPr>
          <p:spPr>
            <a:xfrm>
              <a:off x="4534031" y="1924444"/>
              <a:ext cx="1235402" cy="330838"/>
            </a:xfrm>
            <a:custGeom>
              <a:avLst/>
              <a:gdLst/>
              <a:ahLst/>
              <a:cxnLst/>
              <a:rect l="0" t="0" r="0" b="0"/>
              <a:pathLst>
                <a:path w="1235402" h="330838">
                  <a:moveTo>
                    <a:pt x="1076875" y="0"/>
                  </a:moveTo>
                  <a:cubicBezTo>
                    <a:pt x="1164427" y="0"/>
                    <a:pt x="1235402" y="70975"/>
                    <a:pt x="1235402" y="158526"/>
                  </a:cubicBezTo>
                  <a:moveTo>
                    <a:pt x="1076875" y="0"/>
                  </a:moveTo>
                  <a:lnTo>
                    <a:pt x="158526" y="0"/>
                  </a:lnTo>
                  <a:moveTo>
                    <a:pt x="158526" y="0"/>
                  </a:moveTo>
                  <a:cubicBezTo>
                    <a:pt x="70975" y="0"/>
                    <a:pt x="0" y="70975"/>
                    <a:pt x="0" y="158526"/>
                  </a:cubicBezTo>
                  <a:moveTo>
                    <a:pt x="0" y="172311"/>
                  </a:moveTo>
                  <a:lnTo>
                    <a:pt x="0" y="158526"/>
                  </a:lnTo>
                  <a:moveTo>
                    <a:pt x="1235402" y="172311"/>
                  </a:moveTo>
                  <a:lnTo>
                    <a:pt x="1235402" y="158526"/>
                  </a:lnTo>
                  <a:moveTo>
                    <a:pt x="1235402" y="172311"/>
                  </a:moveTo>
                  <a:cubicBezTo>
                    <a:pt x="1235402" y="259863"/>
                    <a:pt x="1164427" y="330838"/>
                    <a:pt x="1076875" y="330838"/>
                  </a:cubicBezTo>
                  <a:moveTo>
                    <a:pt x="158526" y="330838"/>
                  </a:moveTo>
                  <a:lnTo>
                    <a:pt x="1076875" y="330838"/>
                  </a:lnTo>
                  <a:moveTo>
                    <a:pt x="158526" y="330838"/>
                  </a:moveTo>
                  <a:cubicBezTo>
                    <a:pt x="70975" y="330838"/>
                    <a:pt x="0" y="259863"/>
                    <a:pt x="0" y="172311"/>
                  </a:cubicBezTo>
                </a:path>
              </a:pathLst>
            </a:custGeom>
            <a:noFill/>
            <a:ln w="5169">
              <a:solidFill>
                <a:srgbClr val="FFFFFF"/>
              </a:solidFill>
            </a:ln>
          </p:spPr>
          <p:txBody>
            <a:bodyPr rtlCol="0" anchor="ctr"/>
            <a:lstStyle/>
            <a:p>
              <a:pPr algn="ctr"/>
              <a:endParaRPr/>
            </a:p>
          </p:txBody>
        </p:sp>
        <p:sp>
          <p:nvSpPr>
            <p:cNvPr id="16" name="Rounded Rectangle 15"/>
            <p:cNvSpPr/>
            <p:nvPr/>
          </p:nvSpPr>
          <p:spPr>
            <a:xfrm>
              <a:off x="5840977" y="2086417"/>
              <a:ext cx="6892" cy="6892"/>
            </a:xfrm>
            <a:custGeom>
              <a:avLst/>
              <a:gdLst/>
              <a:ahLst/>
              <a:cxnLst/>
              <a:rect l="0" t="0" r="0" b="0"/>
              <a:pathLst>
                <a:path w="6892" h="6892">
                  <a:moveTo>
                    <a:pt x="0" y="0"/>
                  </a:moveTo>
                  <a:lnTo>
                    <a:pt x="6892" y="0"/>
                  </a:lnTo>
                  <a:lnTo>
                    <a:pt x="6892" y="6892"/>
                  </a:lnTo>
                  <a:lnTo>
                    <a:pt x="0" y="6892"/>
                  </a:lnTo>
                  <a:lnTo>
                    <a:pt x="0" y="0"/>
                  </a:lnTo>
                </a:path>
              </a:pathLst>
            </a:custGeom>
            <a:solidFill>
              <a:srgbClr val="4F92FF"/>
            </a:solidFill>
            <a:ln>
              <a:noFill/>
            </a:ln>
          </p:spPr>
          <p:txBody>
            <a:bodyPr rtlCol="0" anchor="ctr"/>
            <a:lstStyle/>
            <a:p>
              <a:pPr algn="ctr"/>
              <a:endParaRPr/>
            </a:p>
          </p:txBody>
        </p:sp>
        <p:sp>
          <p:nvSpPr>
            <p:cNvPr id="17" name="Rounded Rectangle 16"/>
            <p:cNvSpPr/>
            <p:nvPr/>
          </p:nvSpPr>
          <p:spPr>
            <a:xfrm>
              <a:off x="5769434" y="2089863"/>
              <a:ext cx="78437" cy="6892"/>
            </a:xfrm>
            <a:custGeom>
              <a:avLst/>
              <a:gdLst/>
              <a:ahLst/>
              <a:cxnLst/>
              <a:rect l="0" t="0" r="0" b="0"/>
              <a:pathLst>
                <a:path w="78437" h="6892">
                  <a:moveTo>
                    <a:pt x="78437" y="0"/>
                  </a:moveTo>
                  <a:lnTo>
                    <a:pt x="0" y="0"/>
                  </a:lnTo>
                </a:path>
              </a:pathLst>
            </a:custGeom>
            <a:noFill/>
            <a:ln w="5169">
              <a:solidFill>
                <a:srgbClr val="FFFFFF"/>
              </a:solidFill>
            </a:ln>
          </p:spPr>
          <p:txBody>
            <a:bodyPr rtlCol="0" anchor="ctr"/>
            <a:lstStyle/>
            <a:p>
              <a:pPr algn="ctr"/>
              <a:endParaRPr/>
            </a:p>
          </p:txBody>
        </p:sp>
        <p:sp>
          <p:nvSpPr>
            <p:cNvPr id="18" name="Rounded Rectangle 17"/>
            <p:cNvSpPr/>
            <p:nvPr/>
          </p:nvSpPr>
          <p:spPr>
            <a:xfrm>
              <a:off x="6178710" y="2089864"/>
              <a:ext cx="1723115" cy="703031"/>
            </a:xfrm>
            <a:custGeom>
              <a:avLst/>
              <a:gdLst/>
              <a:ahLst/>
              <a:cxnLst/>
              <a:rect l="0" t="0" r="0" b="0"/>
              <a:pathLst>
                <a:path w="1723115" h="703031">
                  <a:moveTo>
                    <a:pt x="0" y="537612"/>
                  </a:moveTo>
                  <a:cubicBezTo>
                    <a:pt x="0" y="628971"/>
                    <a:pt x="74059" y="703031"/>
                    <a:pt x="165419" y="703031"/>
                  </a:cubicBezTo>
                  <a:lnTo>
                    <a:pt x="1557696" y="703031"/>
                  </a:lnTo>
                  <a:cubicBezTo>
                    <a:pt x="1649056" y="703031"/>
                    <a:pt x="1723115" y="628971"/>
                    <a:pt x="1723115" y="537612"/>
                  </a:cubicBezTo>
                  <a:lnTo>
                    <a:pt x="1723115" y="165419"/>
                  </a:lnTo>
                  <a:cubicBezTo>
                    <a:pt x="1723115" y="74059"/>
                    <a:pt x="1649056" y="0"/>
                    <a:pt x="1557696" y="0"/>
                  </a:cubicBezTo>
                  <a:lnTo>
                    <a:pt x="165419" y="0"/>
                  </a:lnTo>
                  <a:cubicBezTo>
                    <a:pt x="74059" y="0"/>
                    <a:pt x="0" y="74059"/>
                    <a:pt x="0" y="165419"/>
                  </a:cubicBezTo>
                  <a:lnTo>
                    <a:pt x="0" y="537612"/>
                  </a:lnTo>
                </a:path>
              </a:pathLst>
            </a:custGeom>
            <a:solidFill>
              <a:srgbClr val="4F92FF"/>
            </a:solidFill>
            <a:ln>
              <a:noFill/>
            </a:ln>
          </p:spPr>
          <p:txBody>
            <a:bodyPr rtlCol="0" anchor="ctr"/>
            <a:lstStyle/>
            <a:p>
              <a:pPr algn="ctr"/>
              <a:endParaRPr/>
            </a:p>
          </p:txBody>
        </p:sp>
        <p:sp>
          <p:nvSpPr>
            <p:cNvPr id="19" name="Rounded Rectangle 18"/>
            <p:cNvSpPr/>
            <p:nvPr/>
          </p:nvSpPr>
          <p:spPr>
            <a:xfrm>
              <a:off x="6178710" y="2089864"/>
              <a:ext cx="1723115" cy="703031"/>
            </a:xfrm>
            <a:custGeom>
              <a:avLst/>
              <a:gdLst/>
              <a:ahLst/>
              <a:cxnLst/>
              <a:rect l="0" t="0" r="0" b="0"/>
              <a:pathLst>
                <a:path w="1723115" h="703031">
                  <a:moveTo>
                    <a:pt x="1557696" y="0"/>
                  </a:moveTo>
                  <a:cubicBezTo>
                    <a:pt x="1649054" y="0"/>
                    <a:pt x="1723115" y="74060"/>
                    <a:pt x="1723115" y="165419"/>
                  </a:cubicBezTo>
                  <a:moveTo>
                    <a:pt x="165419" y="0"/>
                  </a:moveTo>
                  <a:cubicBezTo>
                    <a:pt x="74060" y="0"/>
                    <a:pt x="0" y="74060"/>
                    <a:pt x="0" y="165419"/>
                  </a:cubicBezTo>
                  <a:moveTo>
                    <a:pt x="0" y="537612"/>
                  </a:moveTo>
                  <a:lnTo>
                    <a:pt x="0" y="165419"/>
                  </a:lnTo>
                  <a:moveTo>
                    <a:pt x="1723115" y="537612"/>
                  </a:moveTo>
                  <a:lnTo>
                    <a:pt x="1723115" y="165419"/>
                  </a:lnTo>
                  <a:moveTo>
                    <a:pt x="1723115" y="537612"/>
                  </a:moveTo>
                  <a:cubicBezTo>
                    <a:pt x="1723115" y="628970"/>
                    <a:pt x="1649054" y="703031"/>
                    <a:pt x="1557696" y="703031"/>
                  </a:cubicBezTo>
                  <a:moveTo>
                    <a:pt x="165419" y="703031"/>
                  </a:moveTo>
                  <a:lnTo>
                    <a:pt x="1557696" y="703031"/>
                  </a:lnTo>
                  <a:moveTo>
                    <a:pt x="165419" y="703031"/>
                  </a:moveTo>
                  <a:cubicBezTo>
                    <a:pt x="74060" y="703031"/>
                    <a:pt x="0" y="628970"/>
                    <a:pt x="0" y="537612"/>
                  </a:cubicBezTo>
                </a:path>
              </a:pathLst>
            </a:custGeom>
            <a:noFill/>
            <a:ln w="5169">
              <a:solidFill>
                <a:srgbClr val="FFFFFF"/>
              </a:solidFill>
            </a:ln>
          </p:spPr>
          <p:txBody>
            <a:bodyPr rtlCol="0" anchor="ctr"/>
            <a:lstStyle/>
            <a:p>
              <a:pPr algn="ctr"/>
              <a:endParaRPr/>
            </a:p>
          </p:txBody>
        </p:sp>
        <p:sp>
          <p:nvSpPr>
            <p:cNvPr id="20" name="Rounded Rectangle 19"/>
            <p:cNvSpPr/>
            <p:nvPr/>
          </p:nvSpPr>
          <p:spPr>
            <a:xfrm>
              <a:off x="6526923" y="2086417"/>
              <a:ext cx="6892" cy="6892"/>
            </a:xfrm>
            <a:custGeom>
              <a:avLst/>
              <a:gdLst/>
              <a:ahLst/>
              <a:cxnLst/>
              <a:rect l="0" t="0" r="0" b="0"/>
              <a:pathLst>
                <a:path w="6892" h="6892">
                  <a:moveTo>
                    <a:pt x="0" y="0"/>
                  </a:moveTo>
                  <a:lnTo>
                    <a:pt x="6892" y="0"/>
                  </a:lnTo>
                  <a:lnTo>
                    <a:pt x="6892" y="6892"/>
                  </a:lnTo>
                  <a:lnTo>
                    <a:pt x="0" y="6892"/>
                  </a:lnTo>
                  <a:lnTo>
                    <a:pt x="0" y="0"/>
                  </a:lnTo>
                </a:path>
              </a:pathLst>
            </a:custGeom>
            <a:solidFill>
              <a:srgbClr val="4F92FF"/>
            </a:solidFill>
            <a:ln>
              <a:noFill/>
            </a:ln>
          </p:spPr>
          <p:txBody>
            <a:bodyPr rtlCol="0" anchor="ctr"/>
            <a:lstStyle/>
            <a:p>
              <a:pPr algn="ctr"/>
              <a:endParaRPr/>
            </a:p>
          </p:txBody>
        </p:sp>
        <p:sp>
          <p:nvSpPr>
            <p:cNvPr id="21" name="Rounded Rectangle 20"/>
            <p:cNvSpPr/>
            <p:nvPr/>
          </p:nvSpPr>
          <p:spPr>
            <a:xfrm>
              <a:off x="6344128" y="2089863"/>
              <a:ext cx="189684" cy="6892"/>
            </a:xfrm>
            <a:custGeom>
              <a:avLst/>
              <a:gdLst/>
              <a:ahLst/>
              <a:cxnLst/>
              <a:rect l="0" t="0" r="0" b="0"/>
              <a:pathLst>
                <a:path w="189684" h="6892">
                  <a:moveTo>
                    <a:pt x="189684" y="0"/>
                  </a:moveTo>
                  <a:lnTo>
                    <a:pt x="0" y="0"/>
                  </a:lnTo>
                </a:path>
              </a:pathLst>
            </a:custGeom>
            <a:noFill/>
            <a:ln w="5169">
              <a:solidFill>
                <a:srgbClr val="FFFFFF"/>
              </a:solidFill>
            </a:ln>
          </p:spPr>
          <p:txBody>
            <a:bodyPr rtlCol="0" anchor="ctr"/>
            <a:lstStyle/>
            <a:p>
              <a:pPr algn="ctr"/>
              <a:endParaRPr/>
            </a:p>
          </p:txBody>
        </p:sp>
        <p:sp>
          <p:nvSpPr>
            <p:cNvPr id="22" name="Rounded Rectangle 21"/>
            <p:cNvSpPr/>
            <p:nvPr/>
          </p:nvSpPr>
          <p:spPr>
            <a:xfrm>
              <a:off x="6533814" y="1924444"/>
              <a:ext cx="1012902" cy="330838"/>
            </a:xfrm>
            <a:custGeom>
              <a:avLst/>
              <a:gdLst/>
              <a:ahLst/>
              <a:cxnLst/>
              <a:rect l="0" t="0" r="0" b="0"/>
              <a:pathLst>
                <a:path w="1012902" h="330838">
                  <a:moveTo>
                    <a:pt x="0" y="172311"/>
                  </a:moveTo>
                  <a:cubicBezTo>
                    <a:pt x="0" y="259859"/>
                    <a:pt x="70978" y="330838"/>
                    <a:pt x="158526" y="330838"/>
                  </a:cubicBezTo>
                  <a:lnTo>
                    <a:pt x="854375" y="330838"/>
                  </a:lnTo>
                  <a:cubicBezTo>
                    <a:pt x="941930" y="330838"/>
                    <a:pt x="1012902" y="259859"/>
                    <a:pt x="1012902" y="172311"/>
                  </a:cubicBezTo>
                  <a:lnTo>
                    <a:pt x="1012902" y="158526"/>
                  </a:lnTo>
                  <a:cubicBezTo>
                    <a:pt x="1012902" y="70978"/>
                    <a:pt x="941930" y="0"/>
                    <a:pt x="854375" y="0"/>
                  </a:cubicBezTo>
                  <a:lnTo>
                    <a:pt x="158526" y="0"/>
                  </a:lnTo>
                  <a:cubicBezTo>
                    <a:pt x="70978" y="0"/>
                    <a:pt x="0" y="70978"/>
                    <a:pt x="0" y="158526"/>
                  </a:cubicBezTo>
                  <a:lnTo>
                    <a:pt x="0" y="172311"/>
                  </a:lnTo>
                </a:path>
              </a:pathLst>
            </a:custGeom>
            <a:solidFill>
              <a:srgbClr val="4F92FF"/>
            </a:solidFill>
            <a:ln>
              <a:noFill/>
            </a:ln>
          </p:spPr>
          <p:txBody>
            <a:bodyPr rtlCol="0" anchor="ctr"/>
            <a:lstStyle/>
            <a:p>
              <a:pPr algn="ctr"/>
              <a:endParaRPr/>
            </a:p>
          </p:txBody>
        </p:sp>
        <p:sp>
          <p:nvSpPr>
            <p:cNvPr id="23" name="Rounded Rectangle 22"/>
            <p:cNvSpPr/>
            <p:nvPr/>
          </p:nvSpPr>
          <p:spPr>
            <a:xfrm>
              <a:off x="6533815" y="1924444"/>
              <a:ext cx="1012905" cy="330838"/>
            </a:xfrm>
            <a:custGeom>
              <a:avLst/>
              <a:gdLst/>
              <a:ahLst/>
              <a:cxnLst/>
              <a:rect l="0" t="0" r="0" b="0"/>
              <a:pathLst>
                <a:path w="1012905" h="330838">
                  <a:moveTo>
                    <a:pt x="854378" y="0"/>
                  </a:moveTo>
                  <a:cubicBezTo>
                    <a:pt x="941929" y="0"/>
                    <a:pt x="1012905" y="70975"/>
                    <a:pt x="1012905" y="158526"/>
                  </a:cubicBezTo>
                  <a:moveTo>
                    <a:pt x="854378" y="0"/>
                  </a:moveTo>
                  <a:lnTo>
                    <a:pt x="158526" y="0"/>
                  </a:lnTo>
                  <a:moveTo>
                    <a:pt x="158526" y="0"/>
                  </a:moveTo>
                  <a:cubicBezTo>
                    <a:pt x="70975" y="0"/>
                    <a:pt x="0" y="70975"/>
                    <a:pt x="0" y="158526"/>
                  </a:cubicBezTo>
                  <a:moveTo>
                    <a:pt x="0" y="172311"/>
                  </a:moveTo>
                  <a:lnTo>
                    <a:pt x="0" y="158526"/>
                  </a:lnTo>
                  <a:moveTo>
                    <a:pt x="1012905" y="172311"/>
                  </a:moveTo>
                  <a:lnTo>
                    <a:pt x="1012905" y="158526"/>
                  </a:lnTo>
                  <a:moveTo>
                    <a:pt x="1012905" y="172311"/>
                  </a:moveTo>
                  <a:cubicBezTo>
                    <a:pt x="1012905" y="259863"/>
                    <a:pt x="941929" y="330838"/>
                    <a:pt x="854378" y="330838"/>
                  </a:cubicBezTo>
                  <a:moveTo>
                    <a:pt x="158526" y="330838"/>
                  </a:moveTo>
                  <a:lnTo>
                    <a:pt x="854378" y="330838"/>
                  </a:lnTo>
                  <a:moveTo>
                    <a:pt x="158526" y="330838"/>
                  </a:moveTo>
                  <a:cubicBezTo>
                    <a:pt x="70975" y="330838"/>
                    <a:pt x="0" y="259863"/>
                    <a:pt x="0" y="172311"/>
                  </a:cubicBezTo>
                </a:path>
              </a:pathLst>
            </a:custGeom>
            <a:noFill/>
            <a:ln w="5169">
              <a:solidFill>
                <a:srgbClr val="FFFFFF"/>
              </a:solidFill>
            </a:ln>
          </p:spPr>
          <p:txBody>
            <a:bodyPr rtlCol="0" anchor="ctr"/>
            <a:lstStyle/>
            <a:p>
              <a:pPr algn="ctr"/>
              <a:endParaRPr/>
            </a:p>
          </p:txBody>
        </p:sp>
        <p:sp>
          <p:nvSpPr>
            <p:cNvPr id="24" name="Rounded Rectangle 23"/>
            <p:cNvSpPr/>
            <p:nvPr/>
          </p:nvSpPr>
          <p:spPr>
            <a:xfrm>
              <a:off x="7729516" y="2086417"/>
              <a:ext cx="6892" cy="6892"/>
            </a:xfrm>
            <a:custGeom>
              <a:avLst/>
              <a:gdLst/>
              <a:ahLst/>
              <a:cxnLst/>
              <a:rect l="0" t="0" r="0" b="0"/>
              <a:pathLst>
                <a:path w="6892" h="6892">
                  <a:moveTo>
                    <a:pt x="0" y="0"/>
                  </a:moveTo>
                  <a:lnTo>
                    <a:pt x="6892" y="0"/>
                  </a:lnTo>
                  <a:lnTo>
                    <a:pt x="6892" y="6892"/>
                  </a:lnTo>
                  <a:lnTo>
                    <a:pt x="0" y="6892"/>
                  </a:lnTo>
                  <a:lnTo>
                    <a:pt x="0" y="0"/>
                  </a:lnTo>
                </a:path>
              </a:pathLst>
            </a:custGeom>
            <a:solidFill>
              <a:srgbClr val="4F92FF"/>
            </a:solidFill>
            <a:ln>
              <a:noFill/>
            </a:ln>
          </p:spPr>
          <p:txBody>
            <a:bodyPr rtlCol="0" anchor="ctr"/>
            <a:lstStyle/>
            <a:p>
              <a:pPr algn="ctr"/>
              <a:endParaRPr/>
            </a:p>
          </p:txBody>
        </p:sp>
        <p:sp>
          <p:nvSpPr>
            <p:cNvPr id="25" name="Rounded Rectangle 24"/>
            <p:cNvSpPr/>
            <p:nvPr/>
          </p:nvSpPr>
          <p:spPr>
            <a:xfrm>
              <a:off x="7546721" y="2089863"/>
              <a:ext cx="189684" cy="6892"/>
            </a:xfrm>
            <a:custGeom>
              <a:avLst/>
              <a:gdLst/>
              <a:ahLst/>
              <a:cxnLst/>
              <a:rect l="0" t="0" r="0" b="0"/>
              <a:pathLst>
                <a:path w="189684" h="6892">
                  <a:moveTo>
                    <a:pt x="189684" y="0"/>
                  </a:moveTo>
                  <a:lnTo>
                    <a:pt x="0" y="0"/>
                  </a:lnTo>
                </a:path>
              </a:pathLst>
            </a:custGeom>
            <a:noFill/>
            <a:ln w="5169">
              <a:solidFill>
                <a:srgbClr val="FFFFFF"/>
              </a:solidFill>
            </a:ln>
          </p:spPr>
          <p:txBody>
            <a:bodyPr rtlCol="0" anchor="ctr"/>
            <a:lstStyle/>
            <a:p>
              <a:pPr algn="ctr"/>
              <a:endParaRPr/>
            </a:p>
          </p:txBody>
        </p:sp>
        <p:sp>
          <p:nvSpPr>
            <p:cNvPr id="26" name="Rounded Rectangle 25"/>
            <p:cNvSpPr/>
            <p:nvPr/>
          </p:nvSpPr>
          <p:spPr>
            <a:xfrm>
              <a:off x="8067245" y="2089864"/>
              <a:ext cx="1723115" cy="703031"/>
            </a:xfrm>
            <a:custGeom>
              <a:avLst/>
              <a:gdLst/>
              <a:ahLst/>
              <a:cxnLst/>
              <a:rect l="0" t="0" r="0" b="0"/>
              <a:pathLst>
                <a:path w="1723115" h="703031">
                  <a:moveTo>
                    <a:pt x="0" y="537612"/>
                  </a:moveTo>
                  <a:cubicBezTo>
                    <a:pt x="0" y="628971"/>
                    <a:pt x="74059" y="703031"/>
                    <a:pt x="165419" y="703031"/>
                  </a:cubicBezTo>
                  <a:lnTo>
                    <a:pt x="1557696" y="703031"/>
                  </a:lnTo>
                  <a:cubicBezTo>
                    <a:pt x="1649056" y="703031"/>
                    <a:pt x="1723115" y="628971"/>
                    <a:pt x="1723115" y="537612"/>
                  </a:cubicBezTo>
                  <a:lnTo>
                    <a:pt x="1723115" y="165419"/>
                  </a:lnTo>
                  <a:cubicBezTo>
                    <a:pt x="1723115" y="74059"/>
                    <a:pt x="1649056" y="0"/>
                    <a:pt x="1557696" y="0"/>
                  </a:cubicBezTo>
                  <a:lnTo>
                    <a:pt x="165419" y="0"/>
                  </a:lnTo>
                  <a:cubicBezTo>
                    <a:pt x="74059" y="0"/>
                    <a:pt x="0" y="74059"/>
                    <a:pt x="0" y="165419"/>
                  </a:cubicBezTo>
                  <a:lnTo>
                    <a:pt x="0" y="537612"/>
                  </a:lnTo>
                </a:path>
              </a:pathLst>
            </a:custGeom>
            <a:solidFill>
              <a:srgbClr val="4F92FF"/>
            </a:solidFill>
            <a:ln>
              <a:noFill/>
            </a:ln>
          </p:spPr>
          <p:txBody>
            <a:bodyPr rtlCol="0" anchor="ctr"/>
            <a:lstStyle/>
            <a:p>
              <a:pPr algn="ctr"/>
              <a:endParaRPr/>
            </a:p>
          </p:txBody>
        </p:sp>
        <p:sp>
          <p:nvSpPr>
            <p:cNvPr id="27" name="Rounded Rectangle 26"/>
            <p:cNvSpPr/>
            <p:nvPr/>
          </p:nvSpPr>
          <p:spPr>
            <a:xfrm>
              <a:off x="8067245" y="2089864"/>
              <a:ext cx="1723115" cy="703031"/>
            </a:xfrm>
            <a:custGeom>
              <a:avLst/>
              <a:gdLst/>
              <a:ahLst/>
              <a:cxnLst/>
              <a:rect l="0" t="0" r="0" b="0"/>
              <a:pathLst>
                <a:path w="1723115" h="703031">
                  <a:moveTo>
                    <a:pt x="1557696" y="0"/>
                  </a:moveTo>
                  <a:cubicBezTo>
                    <a:pt x="1649054" y="0"/>
                    <a:pt x="1723115" y="74060"/>
                    <a:pt x="1723115" y="165419"/>
                  </a:cubicBezTo>
                  <a:moveTo>
                    <a:pt x="165419" y="0"/>
                  </a:moveTo>
                  <a:cubicBezTo>
                    <a:pt x="74060" y="0"/>
                    <a:pt x="0" y="74060"/>
                    <a:pt x="0" y="165419"/>
                  </a:cubicBezTo>
                  <a:moveTo>
                    <a:pt x="0" y="537612"/>
                  </a:moveTo>
                  <a:lnTo>
                    <a:pt x="0" y="165419"/>
                  </a:lnTo>
                  <a:moveTo>
                    <a:pt x="1723115" y="537612"/>
                  </a:moveTo>
                  <a:lnTo>
                    <a:pt x="1723115" y="165419"/>
                  </a:lnTo>
                  <a:moveTo>
                    <a:pt x="1723115" y="537612"/>
                  </a:moveTo>
                  <a:cubicBezTo>
                    <a:pt x="1723115" y="628970"/>
                    <a:pt x="1649054" y="703031"/>
                    <a:pt x="1557696" y="703031"/>
                  </a:cubicBezTo>
                  <a:moveTo>
                    <a:pt x="165419" y="703031"/>
                  </a:moveTo>
                  <a:lnTo>
                    <a:pt x="1557696" y="703031"/>
                  </a:lnTo>
                  <a:moveTo>
                    <a:pt x="165419" y="703031"/>
                  </a:moveTo>
                  <a:cubicBezTo>
                    <a:pt x="74060" y="703031"/>
                    <a:pt x="0" y="628970"/>
                    <a:pt x="0" y="537612"/>
                  </a:cubicBezTo>
                </a:path>
              </a:pathLst>
            </a:custGeom>
            <a:noFill/>
            <a:ln w="5169">
              <a:solidFill>
                <a:srgbClr val="FFFFFF"/>
              </a:solidFill>
            </a:ln>
          </p:spPr>
          <p:txBody>
            <a:bodyPr rtlCol="0" anchor="ctr"/>
            <a:lstStyle/>
            <a:p>
              <a:pPr algn="ctr"/>
              <a:endParaRPr/>
            </a:p>
          </p:txBody>
        </p:sp>
        <p:sp>
          <p:nvSpPr>
            <p:cNvPr id="28" name="Rounded Rectangle 27"/>
            <p:cNvSpPr/>
            <p:nvPr/>
          </p:nvSpPr>
          <p:spPr>
            <a:xfrm>
              <a:off x="8517121" y="2086417"/>
              <a:ext cx="6892" cy="6892"/>
            </a:xfrm>
            <a:custGeom>
              <a:avLst/>
              <a:gdLst/>
              <a:ahLst/>
              <a:cxnLst/>
              <a:rect l="0" t="0" r="0" b="0"/>
              <a:pathLst>
                <a:path w="6892" h="6892">
                  <a:moveTo>
                    <a:pt x="0" y="0"/>
                  </a:moveTo>
                  <a:lnTo>
                    <a:pt x="6892" y="0"/>
                  </a:lnTo>
                  <a:lnTo>
                    <a:pt x="6892" y="6892"/>
                  </a:lnTo>
                  <a:lnTo>
                    <a:pt x="0" y="6892"/>
                  </a:lnTo>
                  <a:lnTo>
                    <a:pt x="0" y="0"/>
                  </a:lnTo>
                </a:path>
              </a:pathLst>
            </a:custGeom>
            <a:solidFill>
              <a:srgbClr val="4F92FF"/>
            </a:solidFill>
            <a:ln>
              <a:noFill/>
            </a:ln>
          </p:spPr>
          <p:txBody>
            <a:bodyPr rtlCol="0" anchor="ctr"/>
            <a:lstStyle/>
            <a:p>
              <a:pPr algn="ctr"/>
              <a:endParaRPr/>
            </a:p>
          </p:txBody>
        </p:sp>
        <p:sp>
          <p:nvSpPr>
            <p:cNvPr id="29" name="Rounded Rectangle 28"/>
            <p:cNvSpPr/>
            <p:nvPr/>
          </p:nvSpPr>
          <p:spPr>
            <a:xfrm>
              <a:off x="8232662" y="2089863"/>
              <a:ext cx="291350" cy="6892"/>
            </a:xfrm>
            <a:custGeom>
              <a:avLst/>
              <a:gdLst/>
              <a:ahLst/>
              <a:cxnLst/>
              <a:rect l="0" t="0" r="0" b="0"/>
              <a:pathLst>
                <a:path w="291350" h="6892">
                  <a:moveTo>
                    <a:pt x="291350" y="0"/>
                  </a:moveTo>
                  <a:lnTo>
                    <a:pt x="0" y="0"/>
                  </a:lnTo>
                </a:path>
              </a:pathLst>
            </a:custGeom>
            <a:noFill/>
            <a:ln w="5169">
              <a:solidFill>
                <a:srgbClr val="FFFFFF"/>
              </a:solidFill>
            </a:ln>
          </p:spPr>
          <p:txBody>
            <a:bodyPr rtlCol="0" anchor="ctr"/>
            <a:lstStyle/>
            <a:p>
              <a:pPr algn="ctr"/>
              <a:endParaRPr/>
            </a:p>
          </p:txBody>
        </p:sp>
        <p:sp>
          <p:nvSpPr>
            <p:cNvPr id="30" name="Rounded Rectangle 29"/>
            <p:cNvSpPr/>
            <p:nvPr/>
          </p:nvSpPr>
          <p:spPr>
            <a:xfrm>
              <a:off x="8524013" y="1924444"/>
              <a:ext cx="809574" cy="330838"/>
            </a:xfrm>
            <a:custGeom>
              <a:avLst/>
              <a:gdLst/>
              <a:ahLst/>
              <a:cxnLst/>
              <a:rect l="0" t="0" r="0" b="0"/>
              <a:pathLst>
                <a:path w="809574" h="330838">
                  <a:moveTo>
                    <a:pt x="0" y="172311"/>
                  </a:moveTo>
                  <a:cubicBezTo>
                    <a:pt x="0" y="259859"/>
                    <a:pt x="70978" y="330838"/>
                    <a:pt x="158526" y="330838"/>
                  </a:cubicBezTo>
                  <a:lnTo>
                    <a:pt x="651048" y="330838"/>
                  </a:lnTo>
                  <a:cubicBezTo>
                    <a:pt x="738603" y="330838"/>
                    <a:pt x="809574" y="259859"/>
                    <a:pt x="809574" y="172311"/>
                  </a:cubicBezTo>
                  <a:lnTo>
                    <a:pt x="809574" y="158526"/>
                  </a:lnTo>
                  <a:cubicBezTo>
                    <a:pt x="809574" y="70978"/>
                    <a:pt x="738603" y="0"/>
                    <a:pt x="651048" y="0"/>
                  </a:cubicBezTo>
                  <a:lnTo>
                    <a:pt x="158526" y="0"/>
                  </a:lnTo>
                  <a:cubicBezTo>
                    <a:pt x="70978" y="0"/>
                    <a:pt x="0" y="70978"/>
                    <a:pt x="0" y="158526"/>
                  </a:cubicBezTo>
                  <a:lnTo>
                    <a:pt x="0" y="172311"/>
                  </a:lnTo>
                </a:path>
              </a:pathLst>
            </a:custGeom>
            <a:solidFill>
              <a:srgbClr val="4F92FF"/>
            </a:solidFill>
            <a:ln>
              <a:noFill/>
            </a:ln>
          </p:spPr>
          <p:txBody>
            <a:bodyPr rtlCol="0" anchor="ctr"/>
            <a:lstStyle/>
            <a:p>
              <a:pPr algn="ctr"/>
              <a:endParaRPr/>
            </a:p>
          </p:txBody>
        </p:sp>
        <p:sp>
          <p:nvSpPr>
            <p:cNvPr id="31" name="Rounded Rectangle 30"/>
            <p:cNvSpPr/>
            <p:nvPr/>
          </p:nvSpPr>
          <p:spPr>
            <a:xfrm>
              <a:off x="8524013" y="1924444"/>
              <a:ext cx="809576" cy="330838"/>
            </a:xfrm>
            <a:custGeom>
              <a:avLst/>
              <a:gdLst/>
              <a:ahLst/>
              <a:cxnLst/>
              <a:rect l="0" t="0" r="0" b="0"/>
              <a:pathLst>
                <a:path w="809576" h="330838">
                  <a:moveTo>
                    <a:pt x="651049" y="0"/>
                  </a:moveTo>
                  <a:cubicBezTo>
                    <a:pt x="738601" y="0"/>
                    <a:pt x="809576" y="70975"/>
                    <a:pt x="809576" y="158526"/>
                  </a:cubicBezTo>
                  <a:moveTo>
                    <a:pt x="651049" y="0"/>
                  </a:moveTo>
                  <a:lnTo>
                    <a:pt x="158526" y="0"/>
                  </a:lnTo>
                  <a:moveTo>
                    <a:pt x="158526" y="0"/>
                  </a:moveTo>
                  <a:cubicBezTo>
                    <a:pt x="70975" y="0"/>
                    <a:pt x="0" y="70975"/>
                    <a:pt x="0" y="158526"/>
                  </a:cubicBezTo>
                  <a:moveTo>
                    <a:pt x="0" y="172311"/>
                  </a:moveTo>
                  <a:lnTo>
                    <a:pt x="0" y="158526"/>
                  </a:lnTo>
                  <a:moveTo>
                    <a:pt x="809576" y="172311"/>
                  </a:moveTo>
                  <a:lnTo>
                    <a:pt x="809576" y="158526"/>
                  </a:lnTo>
                  <a:moveTo>
                    <a:pt x="809576" y="172311"/>
                  </a:moveTo>
                  <a:cubicBezTo>
                    <a:pt x="809576" y="259863"/>
                    <a:pt x="738601" y="330838"/>
                    <a:pt x="651049" y="330838"/>
                  </a:cubicBezTo>
                  <a:moveTo>
                    <a:pt x="158526" y="330838"/>
                  </a:moveTo>
                  <a:lnTo>
                    <a:pt x="651049" y="330838"/>
                  </a:lnTo>
                  <a:moveTo>
                    <a:pt x="158526" y="330838"/>
                  </a:moveTo>
                  <a:cubicBezTo>
                    <a:pt x="70975" y="330838"/>
                    <a:pt x="0" y="259863"/>
                    <a:pt x="0" y="172311"/>
                  </a:cubicBezTo>
                </a:path>
              </a:pathLst>
            </a:custGeom>
            <a:noFill/>
            <a:ln w="5169">
              <a:solidFill>
                <a:srgbClr val="FFFFFF"/>
              </a:solidFill>
            </a:ln>
          </p:spPr>
          <p:txBody>
            <a:bodyPr rtlCol="0" anchor="ctr"/>
            <a:lstStyle/>
            <a:p>
              <a:pPr algn="ctr"/>
              <a:endParaRPr/>
            </a:p>
          </p:txBody>
        </p:sp>
        <p:sp>
          <p:nvSpPr>
            <p:cNvPr id="32" name="Rounded Rectangle 31"/>
            <p:cNvSpPr/>
            <p:nvPr/>
          </p:nvSpPr>
          <p:spPr>
            <a:xfrm>
              <a:off x="9618050" y="2086417"/>
              <a:ext cx="6892" cy="6892"/>
            </a:xfrm>
            <a:custGeom>
              <a:avLst/>
              <a:gdLst/>
              <a:ahLst/>
              <a:cxnLst/>
              <a:rect l="0" t="0" r="0" b="0"/>
              <a:pathLst>
                <a:path w="6892" h="6892">
                  <a:moveTo>
                    <a:pt x="0" y="0"/>
                  </a:moveTo>
                  <a:lnTo>
                    <a:pt x="6892" y="0"/>
                  </a:lnTo>
                  <a:lnTo>
                    <a:pt x="6892" y="6892"/>
                  </a:lnTo>
                  <a:lnTo>
                    <a:pt x="0" y="6892"/>
                  </a:lnTo>
                  <a:lnTo>
                    <a:pt x="0" y="0"/>
                  </a:lnTo>
                </a:path>
              </a:pathLst>
            </a:custGeom>
            <a:solidFill>
              <a:srgbClr val="4F92FF"/>
            </a:solidFill>
            <a:ln>
              <a:noFill/>
            </a:ln>
          </p:spPr>
          <p:txBody>
            <a:bodyPr rtlCol="0" anchor="ctr"/>
            <a:lstStyle/>
            <a:p>
              <a:pPr algn="ctr"/>
              <a:endParaRPr/>
            </a:p>
          </p:txBody>
        </p:sp>
        <p:sp>
          <p:nvSpPr>
            <p:cNvPr id="33" name="Rounded Rectangle 32"/>
            <p:cNvSpPr/>
            <p:nvPr/>
          </p:nvSpPr>
          <p:spPr>
            <a:xfrm>
              <a:off x="9333592" y="2089863"/>
              <a:ext cx="291349" cy="6892"/>
            </a:xfrm>
            <a:custGeom>
              <a:avLst/>
              <a:gdLst/>
              <a:ahLst/>
              <a:cxnLst/>
              <a:rect l="0" t="0" r="0" b="0"/>
              <a:pathLst>
                <a:path w="291349" h="6892">
                  <a:moveTo>
                    <a:pt x="291349" y="0"/>
                  </a:moveTo>
                  <a:lnTo>
                    <a:pt x="0" y="0"/>
                  </a:lnTo>
                </a:path>
              </a:pathLst>
            </a:custGeom>
            <a:noFill/>
            <a:ln w="5169">
              <a:solidFill>
                <a:srgbClr val="FFFFFF"/>
              </a:solidFill>
            </a:ln>
          </p:spPr>
          <p:txBody>
            <a:bodyPr rtlCol="0" anchor="ctr"/>
            <a:lstStyle/>
            <a:p>
              <a:pPr algn="ctr"/>
              <a:endParaRPr/>
            </a:p>
          </p:txBody>
        </p:sp>
        <p:sp>
          <p:nvSpPr>
            <p:cNvPr id="34" name="Rounded Rectangle 33"/>
            <p:cNvSpPr/>
            <p:nvPr/>
          </p:nvSpPr>
          <p:spPr>
            <a:xfrm>
              <a:off x="5615860" y="3289152"/>
              <a:ext cx="960278" cy="578966"/>
            </a:xfrm>
            <a:custGeom>
              <a:avLst/>
              <a:gdLst/>
              <a:ahLst/>
              <a:cxnLst/>
              <a:rect l="0" t="0" r="0" b="0"/>
              <a:pathLst>
                <a:path w="960278" h="578966">
                  <a:moveTo>
                    <a:pt x="0" y="296375"/>
                  </a:moveTo>
                  <a:cubicBezTo>
                    <a:pt x="0" y="452448"/>
                    <a:pt x="126518" y="578966"/>
                    <a:pt x="282590" y="578966"/>
                  </a:cubicBezTo>
                  <a:lnTo>
                    <a:pt x="677687" y="578966"/>
                  </a:lnTo>
                  <a:cubicBezTo>
                    <a:pt x="833760" y="578966"/>
                    <a:pt x="960278" y="452448"/>
                    <a:pt x="960278" y="296375"/>
                  </a:cubicBezTo>
                  <a:lnTo>
                    <a:pt x="960278" y="282590"/>
                  </a:lnTo>
                  <a:cubicBezTo>
                    <a:pt x="960278" y="126518"/>
                    <a:pt x="833760" y="0"/>
                    <a:pt x="677687" y="0"/>
                  </a:cubicBezTo>
                  <a:lnTo>
                    <a:pt x="282590" y="0"/>
                  </a:lnTo>
                  <a:cubicBezTo>
                    <a:pt x="126518" y="0"/>
                    <a:pt x="0" y="126518"/>
                    <a:pt x="0" y="282590"/>
                  </a:cubicBezTo>
                  <a:lnTo>
                    <a:pt x="0" y="296375"/>
                  </a:lnTo>
                </a:path>
              </a:pathLst>
            </a:custGeom>
            <a:solidFill>
              <a:srgbClr val="4F92FF"/>
            </a:solidFill>
            <a:ln>
              <a:noFill/>
            </a:ln>
          </p:spPr>
          <p:txBody>
            <a:bodyPr rtlCol="0" anchor="ctr"/>
            <a:lstStyle/>
            <a:p>
              <a:pPr algn="ctr"/>
              <a:endParaRPr/>
            </a:p>
          </p:txBody>
        </p:sp>
        <p:sp>
          <p:nvSpPr>
            <p:cNvPr id="35" name="Rounded Rectangle 34"/>
            <p:cNvSpPr/>
            <p:nvPr/>
          </p:nvSpPr>
          <p:spPr>
            <a:xfrm>
              <a:off x="5615860" y="3289152"/>
              <a:ext cx="960278" cy="578966"/>
            </a:xfrm>
            <a:custGeom>
              <a:avLst/>
              <a:gdLst/>
              <a:ahLst/>
              <a:cxnLst/>
              <a:rect l="0" t="0" r="0" b="0"/>
              <a:pathLst>
                <a:path w="960278" h="578966">
                  <a:moveTo>
                    <a:pt x="677687" y="0"/>
                  </a:moveTo>
                  <a:cubicBezTo>
                    <a:pt x="833757" y="0"/>
                    <a:pt x="960278" y="126520"/>
                    <a:pt x="960278" y="282590"/>
                  </a:cubicBezTo>
                  <a:moveTo>
                    <a:pt x="677687" y="0"/>
                  </a:moveTo>
                  <a:lnTo>
                    <a:pt x="282590" y="0"/>
                  </a:lnTo>
                  <a:moveTo>
                    <a:pt x="282590" y="0"/>
                  </a:moveTo>
                  <a:cubicBezTo>
                    <a:pt x="126520" y="0"/>
                    <a:pt x="0" y="126520"/>
                    <a:pt x="0" y="282590"/>
                  </a:cubicBezTo>
                  <a:moveTo>
                    <a:pt x="0" y="296375"/>
                  </a:moveTo>
                  <a:lnTo>
                    <a:pt x="0" y="282590"/>
                  </a:lnTo>
                  <a:moveTo>
                    <a:pt x="960278" y="296375"/>
                  </a:moveTo>
                  <a:lnTo>
                    <a:pt x="960278" y="282590"/>
                  </a:lnTo>
                  <a:moveTo>
                    <a:pt x="960278" y="296375"/>
                  </a:moveTo>
                  <a:cubicBezTo>
                    <a:pt x="960278" y="452446"/>
                    <a:pt x="833757" y="578966"/>
                    <a:pt x="677687" y="578966"/>
                  </a:cubicBezTo>
                  <a:moveTo>
                    <a:pt x="282590" y="578966"/>
                  </a:moveTo>
                  <a:lnTo>
                    <a:pt x="677687" y="578966"/>
                  </a:lnTo>
                  <a:moveTo>
                    <a:pt x="282590" y="578966"/>
                  </a:moveTo>
                  <a:cubicBezTo>
                    <a:pt x="126520" y="578966"/>
                    <a:pt x="0" y="452446"/>
                    <a:pt x="0" y="296375"/>
                  </a:cubicBezTo>
                </a:path>
              </a:pathLst>
            </a:custGeom>
            <a:noFill/>
            <a:ln w="5169">
              <a:solidFill>
                <a:srgbClr val="FFFFFF"/>
              </a:solidFill>
            </a:ln>
          </p:spPr>
          <p:txBody>
            <a:bodyPr rtlCol="0" anchor="ctr"/>
            <a:lstStyle/>
            <a:p>
              <a:pPr algn="ctr"/>
              <a:endParaRPr/>
            </a:p>
          </p:txBody>
        </p:sp>
        <p:sp>
          <p:nvSpPr>
            <p:cNvPr id="36" name="Rounded Rectangle 35"/>
            <p:cNvSpPr/>
            <p:nvPr/>
          </p:nvSpPr>
          <p:spPr>
            <a:xfrm>
              <a:off x="3345908" y="4529796"/>
              <a:ext cx="1723115" cy="703031"/>
            </a:xfrm>
            <a:custGeom>
              <a:avLst/>
              <a:gdLst/>
              <a:ahLst/>
              <a:cxnLst/>
              <a:rect l="0" t="0" r="0" b="0"/>
              <a:pathLst>
                <a:path w="1723115" h="703031">
                  <a:moveTo>
                    <a:pt x="0" y="537612"/>
                  </a:moveTo>
                  <a:cubicBezTo>
                    <a:pt x="0" y="628971"/>
                    <a:pt x="74059" y="703031"/>
                    <a:pt x="165419" y="703031"/>
                  </a:cubicBezTo>
                  <a:lnTo>
                    <a:pt x="1557696" y="703031"/>
                  </a:lnTo>
                  <a:cubicBezTo>
                    <a:pt x="1649056" y="703031"/>
                    <a:pt x="1723115" y="628971"/>
                    <a:pt x="1723115" y="537612"/>
                  </a:cubicBezTo>
                  <a:lnTo>
                    <a:pt x="1723115" y="165419"/>
                  </a:lnTo>
                  <a:cubicBezTo>
                    <a:pt x="1723115" y="74059"/>
                    <a:pt x="1649056" y="0"/>
                    <a:pt x="1557696" y="0"/>
                  </a:cubicBezTo>
                  <a:lnTo>
                    <a:pt x="165419" y="0"/>
                  </a:lnTo>
                  <a:cubicBezTo>
                    <a:pt x="74059" y="0"/>
                    <a:pt x="0" y="74059"/>
                    <a:pt x="0" y="165419"/>
                  </a:cubicBezTo>
                  <a:lnTo>
                    <a:pt x="0" y="537612"/>
                  </a:lnTo>
                </a:path>
              </a:pathLst>
            </a:custGeom>
            <a:solidFill>
              <a:srgbClr val="4F92FF"/>
            </a:solidFill>
            <a:ln>
              <a:noFill/>
            </a:ln>
          </p:spPr>
          <p:txBody>
            <a:bodyPr rtlCol="0" anchor="ctr"/>
            <a:lstStyle/>
            <a:p>
              <a:pPr algn="ctr"/>
              <a:endParaRPr/>
            </a:p>
          </p:txBody>
        </p:sp>
        <p:sp>
          <p:nvSpPr>
            <p:cNvPr id="37" name="Rounded Rectangle 36"/>
            <p:cNvSpPr/>
            <p:nvPr/>
          </p:nvSpPr>
          <p:spPr>
            <a:xfrm>
              <a:off x="3345908" y="4529796"/>
              <a:ext cx="1723115" cy="703031"/>
            </a:xfrm>
            <a:custGeom>
              <a:avLst/>
              <a:gdLst/>
              <a:ahLst/>
              <a:cxnLst/>
              <a:rect l="0" t="0" r="0" b="0"/>
              <a:pathLst>
                <a:path w="1723115" h="703031">
                  <a:moveTo>
                    <a:pt x="1557696" y="0"/>
                  </a:moveTo>
                  <a:cubicBezTo>
                    <a:pt x="1649054" y="0"/>
                    <a:pt x="1723115" y="74060"/>
                    <a:pt x="1723115" y="165419"/>
                  </a:cubicBezTo>
                  <a:moveTo>
                    <a:pt x="165419" y="0"/>
                  </a:moveTo>
                  <a:cubicBezTo>
                    <a:pt x="74060" y="0"/>
                    <a:pt x="0" y="74060"/>
                    <a:pt x="0" y="165419"/>
                  </a:cubicBezTo>
                  <a:moveTo>
                    <a:pt x="0" y="537612"/>
                  </a:moveTo>
                  <a:lnTo>
                    <a:pt x="0" y="165419"/>
                  </a:lnTo>
                  <a:moveTo>
                    <a:pt x="1723115" y="537612"/>
                  </a:moveTo>
                  <a:lnTo>
                    <a:pt x="1723115" y="165419"/>
                  </a:lnTo>
                  <a:moveTo>
                    <a:pt x="1723115" y="537612"/>
                  </a:moveTo>
                  <a:cubicBezTo>
                    <a:pt x="1723115" y="628970"/>
                    <a:pt x="1649054" y="703031"/>
                    <a:pt x="1557696" y="703031"/>
                  </a:cubicBezTo>
                  <a:moveTo>
                    <a:pt x="165419" y="703031"/>
                  </a:moveTo>
                  <a:lnTo>
                    <a:pt x="1557696" y="703031"/>
                  </a:lnTo>
                  <a:moveTo>
                    <a:pt x="165419" y="703031"/>
                  </a:moveTo>
                  <a:cubicBezTo>
                    <a:pt x="74060" y="703031"/>
                    <a:pt x="0" y="628970"/>
                    <a:pt x="0" y="537612"/>
                  </a:cubicBezTo>
                </a:path>
              </a:pathLst>
            </a:custGeom>
            <a:noFill/>
            <a:ln w="5169">
              <a:solidFill>
                <a:srgbClr val="FFFFFF"/>
              </a:solidFill>
            </a:ln>
          </p:spPr>
          <p:txBody>
            <a:bodyPr rtlCol="0" anchor="ctr"/>
            <a:lstStyle/>
            <a:p>
              <a:pPr algn="ctr"/>
              <a:endParaRPr/>
            </a:p>
          </p:txBody>
        </p:sp>
        <p:sp>
          <p:nvSpPr>
            <p:cNvPr id="38" name="Rounded Rectangle 37"/>
            <p:cNvSpPr/>
            <p:nvPr/>
          </p:nvSpPr>
          <p:spPr>
            <a:xfrm>
              <a:off x="3685609" y="4526349"/>
              <a:ext cx="6892" cy="6892"/>
            </a:xfrm>
            <a:custGeom>
              <a:avLst/>
              <a:gdLst/>
              <a:ahLst/>
              <a:cxnLst/>
              <a:rect l="0" t="0" r="0" b="0"/>
              <a:pathLst>
                <a:path w="6892" h="6892">
                  <a:moveTo>
                    <a:pt x="0" y="0"/>
                  </a:moveTo>
                  <a:lnTo>
                    <a:pt x="6892" y="0"/>
                  </a:lnTo>
                  <a:lnTo>
                    <a:pt x="6892" y="6892"/>
                  </a:lnTo>
                  <a:lnTo>
                    <a:pt x="0" y="6892"/>
                  </a:lnTo>
                  <a:lnTo>
                    <a:pt x="0" y="0"/>
                  </a:lnTo>
                </a:path>
              </a:pathLst>
            </a:custGeom>
            <a:solidFill>
              <a:srgbClr val="4F92FF"/>
            </a:solidFill>
            <a:ln>
              <a:noFill/>
            </a:ln>
          </p:spPr>
          <p:txBody>
            <a:bodyPr rtlCol="0" anchor="ctr"/>
            <a:lstStyle/>
            <a:p>
              <a:pPr algn="ctr"/>
              <a:endParaRPr/>
            </a:p>
          </p:txBody>
        </p:sp>
        <p:sp>
          <p:nvSpPr>
            <p:cNvPr id="39" name="Rounded Rectangle 38"/>
            <p:cNvSpPr/>
            <p:nvPr/>
          </p:nvSpPr>
          <p:spPr>
            <a:xfrm>
              <a:off x="3511326" y="4529795"/>
              <a:ext cx="181178" cy="6892"/>
            </a:xfrm>
            <a:custGeom>
              <a:avLst/>
              <a:gdLst/>
              <a:ahLst/>
              <a:cxnLst/>
              <a:rect l="0" t="0" r="0" b="0"/>
              <a:pathLst>
                <a:path w="181178" h="6892">
                  <a:moveTo>
                    <a:pt x="181178" y="0"/>
                  </a:moveTo>
                  <a:lnTo>
                    <a:pt x="0" y="0"/>
                  </a:lnTo>
                </a:path>
              </a:pathLst>
            </a:custGeom>
            <a:noFill/>
            <a:ln w="5169">
              <a:solidFill>
                <a:srgbClr val="FFFFFF"/>
              </a:solidFill>
            </a:ln>
          </p:spPr>
          <p:txBody>
            <a:bodyPr rtlCol="0" anchor="ctr"/>
            <a:lstStyle/>
            <a:p>
              <a:pPr algn="ctr"/>
              <a:endParaRPr/>
            </a:p>
          </p:txBody>
        </p:sp>
        <p:sp>
          <p:nvSpPr>
            <p:cNvPr id="40" name="Rounded Rectangle 39"/>
            <p:cNvSpPr/>
            <p:nvPr/>
          </p:nvSpPr>
          <p:spPr>
            <a:xfrm>
              <a:off x="3692505" y="4364376"/>
              <a:ext cx="1029919" cy="330838"/>
            </a:xfrm>
            <a:custGeom>
              <a:avLst/>
              <a:gdLst/>
              <a:ahLst/>
              <a:cxnLst/>
              <a:rect l="0" t="0" r="0" b="0"/>
              <a:pathLst>
                <a:path w="1029919" h="330838">
                  <a:moveTo>
                    <a:pt x="0" y="172311"/>
                  </a:moveTo>
                  <a:cubicBezTo>
                    <a:pt x="0" y="259859"/>
                    <a:pt x="70978" y="330838"/>
                    <a:pt x="158526" y="330838"/>
                  </a:cubicBezTo>
                  <a:lnTo>
                    <a:pt x="871393" y="330838"/>
                  </a:lnTo>
                  <a:cubicBezTo>
                    <a:pt x="958948" y="330838"/>
                    <a:pt x="1029919" y="259859"/>
                    <a:pt x="1029919" y="172311"/>
                  </a:cubicBezTo>
                  <a:lnTo>
                    <a:pt x="1029919" y="158526"/>
                  </a:lnTo>
                  <a:cubicBezTo>
                    <a:pt x="1029919" y="70978"/>
                    <a:pt x="958948" y="0"/>
                    <a:pt x="871393" y="0"/>
                  </a:cubicBezTo>
                  <a:lnTo>
                    <a:pt x="158526" y="0"/>
                  </a:lnTo>
                  <a:cubicBezTo>
                    <a:pt x="70978" y="0"/>
                    <a:pt x="0" y="70978"/>
                    <a:pt x="0" y="158526"/>
                  </a:cubicBezTo>
                  <a:lnTo>
                    <a:pt x="0" y="172311"/>
                  </a:lnTo>
                </a:path>
              </a:pathLst>
            </a:custGeom>
            <a:solidFill>
              <a:srgbClr val="4F92FF"/>
            </a:solidFill>
            <a:ln>
              <a:noFill/>
            </a:ln>
          </p:spPr>
          <p:txBody>
            <a:bodyPr rtlCol="0" anchor="ctr"/>
            <a:lstStyle/>
            <a:p>
              <a:pPr algn="ctr"/>
              <a:endParaRPr/>
            </a:p>
          </p:txBody>
        </p:sp>
        <p:sp>
          <p:nvSpPr>
            <p:cNvPr id="41" name="Rounded Rectangle 40"/>
            <p:cNvSpPr/>
            <p:nvPr/>
          </p:nvSpPr>
          <p:spPr>
            <a:xfrm>
              <a:off x="3692504" y="4364376"/>
              <a:ext cx="1029920" cy="330838"/>
            </a:xfrm>
            <a:custGeom>
              <a:avLst/>
              <a:gdLst/>
              <a:ahLst/>
              <a:cxnLst/>
              <a:rect l="0" t="0" r="0" b="0"/>
              <a:pathLst>
                <a:path w="1029920" h="330838">
                  <a:moveTo>
                    <a:pt x="871394" y="0"/>
                  </a:moveTo>
                  <a:cubicBezTo>
                    <a:pt x="958945" y="0"/>
                    <a:pt x="1029920" y="70975"/>
                    <a:pt x="1029920" y="158526"/>
                  </a:cubicBezTo>
                  <a:moveTo>
                    <a:pt x="871394" y="0"/>
                  </a:moveTo>
                  <a:lnTo>
                    <a:pt x="158526" y="0"/>
                  </a:lnTo>
                  <a:moveTo>
                    <a:pt x="158526" y="0"/>
                  </a:moveTo>
                  <a:cubicBezTo>
                    <a:pt x="70975" y="0"/>
                    <a:pt x="0" y="70975"/>
                    <a:pt x="0" y="158526"/>
                  </a:cubicBezTo>
                  <a:moveTo>
                    <a:pt x="0" y="172311"/>
                  </a:moveTo>
                  <a:lnTo>
                    <a:pt x="0" y="158526"/>
                  </a:lnTo>
                  <a:moveTo>
                    <a:pt x="1029920" y="172311"/>
                  </a:moveTo>
                  <a:lnTo>
                    <a:pt x="1029920" y="158526"/>
                  </a:lnTo>
                  <a:moveTo>
                    <a:pt x="1029920" y="172311"/>
                  </a:moveTo>
                  <a:cubicBezTo>
                    <a:pt x="1029920" y="259863"/>
                    <a:pt x="958945" y="330838"/>
                    <a:pt x="871394" y="330838"/>
                  </a:cubicBezTo>
                  <a:moveTo>
                    <a:pt x="158526" y="330838"/>
                  </a:moveTo>
                  <a:lnTo>
                    <a:pt x="871394" y="330838"/>
                  </a:lnTo>
                  <a:moveTo>
                    <a:pt x="158526" y="330838"/>
                  </a:moveTo>
                  <a:cubicBezTo>
                    <a:pt x="70975" y="330838"/>
                    <a:pt x="0" y="259863"/>
                    <a:pt x="0" y="172311"/>
                  </a:cubicBezTo>
                </a:path>
              </a:pathLst>
            </a:custGeom>
            <a:noFill/>
            <a:ln w="5169">
              <a:solidFill>
                <a:srgbClr val="FFFFFF"/>
              </a:solidFill>
            </a:ln>
          </p:spPr>
          <p:txBody>
            <a:bodyPr rtlCol="0" anchor="ctr"/>
            <a:lstStyle/>
            <a:p>
              <a:pPr algn="ctr"/>
              <a:endParaRPr/>
            </a:p>
          </p:txBody>
        </p:sp>
        <p:sp>
          <p:nvSpPr>
            <p:cNvPr id="42" name="Rounded Rectangle 41"/>
            <p:cNvSpPr/>
            <p:nvPr/>
          </p:nvSpPr>
          <p:spPr>
            <a:xfrm>
              <a:off x="4896708" y="4526349"/>
              <a:ext cx="6892" cy="6892"/>
            </a:xfrm>
            <a:custGeom>
              <a:avLst/>
              <a:gdLst/>
              <a:ahLst/>
              <a:cxnLst/>
              <a:rect l="0" t="0" r="0" b="0"/>
              <a:pathLst>
                <a:path w="6892" h="6892">
                  <a:moveTo>
                    <a:pt x="0" y="0"/>
                  </a:moveTo>
                  <a:lnTo>
                    <a:pt x="6892" y="0"/>
                  </a:lnTo>
                  <a:lnTo>
                    <a:pt x="6892" y="6892"/>
                  </a:lnTo>
                  <a:lnTo>
                    <a:pt x="0" y="6892"/>
                  </a:lnTo>
                  <a:lnTo>
                    <a:pt x="0" y="0"/>
                  </a:lnTo>
                </a:path>
              </a:pathLst>
            </a:custGeom>
            <a:solidFill>
              <a:srgbClr val="4F92FF"/>
            </a:solidFill>
            <a:ln>
              <a:noFill/>
            </a:ln>
          </p:spPr>
          <p:txBody>
            <a:bodyPr rtlCol="0" anchor="ctr"/>
            <a:lstStyle/>
            <a:p>
              <a:pPr algn="ctr"/>
              <a:endParaRPr/>
            </a:p>
          </p:txBody>
        </p:sp>
        <p:sp>
          <p:nvSpPr>
            <p:cNvPr id="43" name="Rounded Rectangle 42"/>
            <p:cNvSpPr/>
            <p:nvPr/>
          </p:nvSpPr>
          <p:spPr>
            <a:xfrm>
              <a:off x="4722425" y="4529795"/>
              <a:ext cx="181178" cy="6892"/>
            </a:xfrm>
            <a:custGeom>
              <a:avLst/>
              <a:gdLst/>
              <a:ahLst/>
              <a:cxnLst/>
              <a:rect l="0" t="0" r="0" b="0"/>
              <a:pathLst>
                <a:path w="181178" h="6892">
                  <a:moveTo>
                    <a:pt x="181178" y="0"/>
                  </a:moveTo>
                  <a:lnTo>
                    <a:pt x="0" y="0"/>
                  </a:lnTo>
                </a:path>
              </a:pathLst>
            </a:custGeom>
            <a:noFill/>
            <a:ln w="5169">
              <a:solidFill>
                <a:srgbClr val="FFFFFF"/>
              </a:solidFill>
            </a:ln>
          </p:spPr>
          <p:txBody>
            <a:bodyPr rtlCol="0" anchor="ctr"/>
            <a:lstStyle/>
            <a:p>
              <a:pPr algn="ctr"/>
              <a:endParaRPr/>
            </a:p>
          </p:txBody>
        </p:sp>
        <p:sp>
          <p:nvSpPr>
            <p:cNvPr id="44" name="Rounded Rectangle 43"/>
            <p:cNvSpPr/>
            <p:nvPr/>
          </p:nvSpPr>
          <p:spPr>
            <a:xfrm>
              <a:off x="5234443" y="4529796"/>
              <a:ext cx="1723115" cy="703031"/>
            </a:xfrm>
            <a:custGeom>
              <a:avLst/>
              <a:gdLst/>
              <a:ahLst/>
              <a:cxnLst/>
              <a:rect l="0" t="0" r="0" b="0"/>
              <a:pathLst>
                <a:path w="1723115" h="703031">
                  <a:moveTo>
                    <a:pt x="0" y="537612"/>
                  </a:moveTo>
                  <a:cubicBezTo>
                    <a:pt x="0" y="628971"/>
                    <a:pt x="74059" y="703031"/>
                    <a:pt x="165419" y="703031"/>
                  </a:cubicBezTo>
                  <a:lnTo>
                    <a:pt x="1557696" y="703031"/>
                  </a:lnTo>
                  <a:cubicBezTo>
                    <a:pt x="1649056" y="703031"/>
                    <a:pt x="1723115" y="628971"/>
                    <a:pt x="1723115" y="537612"/>
                  </a:cubicBezTo>
                  <a:lnTo>
                    <a:pt x="1723115" y="165419"/>
                  </a:lnTo>
                  <a:cubicBezTo>
                    <a:pt x="1723115" y="74059"/>
                    <a:pt x="1649056" y="0"/>
                    <a:pt x="1557696" y="0"/>
                  </a:cubicBezTo>
                  <a:lnTo>
                    <a:pt x="165419" y="0"/>
                  </a:lnTo>
                  <a:cubicBezTo>
                    <a:pt x="74059" y="0"/>
                    <a:pt x="0" y="74059"/>
                    <a:pt x="0" y="165419"/>
                  </a:cubicBezTo>
                  <a:lnTo>
                    <a:pt x="0" y="537612"/>
                  </a:lnTo>
                </a:path>
              </a:pathLst>
            </a:custGeom>
            <a:solidFill>
              <a:srgbClr val="4F92FF"/>
            </a:solidFill>
            <a:ln>
              <a:noFill/>
            </a:ln>
          </p:spPr>
          <p:txBody>
            <a:bodyPr rtlCol="0" anchor="ctr"/>
            <a:lstStyle/>
            <a:p>
              <a:pPr algn="ctr"/>
              <a:endParaRPr/>
            </a:p>
          </p:txBody>
        </p:sp>
        <p:sp>
          <p:nvSpPr>
            <p:cNvPr id="45" name="Rounded Rectangle 44"/>
            <p:cNvSpPr/>
            <p:nvPr/>
          </p:nvSpPr>
          <p:spPr>
            <a:xfrm>
              <a:off x="5234443" y="4529796"/>
              <a:ext cx="1723115" cy="703031"/>
            </a:xfrm>
            <a:custGeom>
              <a:avLst/>
              <a:gdLst/>
              <a:ahLst/>
              <a:cxnLst/>
              <a:rect l="0" t="0" r="0" b="0"/>
              <a:pathLst>
                <a:path w="1723115" h="703031">
                  <a:moveTo>
                    <a:pt x="1557696" y="0"/>
                  </a:moveTo>
                  <a:cubicBezTo>
                    <a:pt x="1649054" y="0"/>
                    <a:pt x="1723115" y="74060"/>
                    <a:pt x="1723115" y="165419"/>
                  </a:cubicBezTo>
                  <a:moveTo>
                    <a:pt x="165419" y="0"/>
                  </a:moveTo>
                  <a:cubicBezTo>
                    <a:pt x="74060" y="0"/>
                    <a:pt x="0" y="74060"/>
                    <a:pt x="0" y="165419"/>
                  </a:cubicBezTo>
                  <a:moveTo>
                    <a:pt x="0" y="537612"/>
                  </a:moveTo>
                  <a:lnTo>
                    <a:pt x="0" y="165419"/>
                  </a:lnTo>
                  <a:moveTo>
                    <a:pt x="1723115" y="537612"/>
                  </a:moveTo>
                  <a:lnTo>
                    <a:pt x="1723115" y="165419"/>
                  </a:lnTo>
                  <a:moveTo>
                    <a:pt x="1723115" y="537612"/>
                  </a:moveTo>
                  <a:cubicBezTo>
                    <a:pt x="1723115" y="628970"/>
                    <a:pt x="1649054" y="703031"/>
                    <a:pt x="1557696" y="703031"/>
                  </a:cubicBezTo>
                  <a:moveTo>
                    <a:pt x="165419" y="703031"/>
                  </a:moveTo>
                  <a:lnTo>
                    <a:pt x="1557696" y="703031"/>
                  </a:lnTo>
                  <a:moveTo>
                    <a:pt x="165419" y="703031"/>
                  </a:moveTo>
                  <a:cubicBezTo>
                    <a:pt x="74060" y="703031"/>
                    <a:pt x="0" y="628970"/>
                    <a:pt x="0" y="537612"/>
                  </a:cubicBezTo>
                </a:path>
              </a:pathLst>
            </a:custGeom>
            <a:noFill/>
            <a:ln w="5169">
              <a:solidFill>
                <a:srgbClr val="FFFFFF"/>
              </a:solidFill>
            </a:ln>
          </p:spPr>
          <p:txBody>
            <a:bodyPr rtlCol="0" anchor="ctr"/>
            <a:lstStyle/>
            <a:p>
              <a:pPr algn="ctr"/>
              <a:endParaRPr/>
            </a:p>
          </p:txBody>
        </p:sp>
        <p:sp>
          <p:nvSpPr>
            <p:cNvPr id="46" name="Rounded Rectangle 45"/>
            <p:cNvSpPr/>
            <p:nvPr/>
          </p:nvSpPr>
          <p:spPr>
            <a:xfrm>
              <a:off x="5590444" y="4526349"/>
              <a:ext cx="6892" cy="6892"/>
            </a:xfrm>
            <a:custGeom>
              <a:avLst/>
              <a:gdLst/>
              <a:ahLst/>
              <a:cxnLst/>
              <a:rect l="0" t="0" r="0" b="0"/>
              <a:pathLst>
                <a:path w="6892" h="6892">
                  <a:moveTo>
                    <a:pt x="0" y="0"/>
                  </a:moveTo>
                  <a:lnTo>
                    <a:pt x="6892" y="0"/>
                  </a:lnTo>
                  <a:lnTo>
                    <a:pt x="6892" y="6892"/>
                  </a:lnTo>
                  <a:lnTo>
                    <a:pt x="0" y="6892"/>
                  </a:lnTo>
                  <a:lnTo>
                    <a:pt x="0" y="0"/>
                  </a:lnTo>
                </a:path>
              </a:pathLst>
            </a:custGeom>
            <a:solidFill>
              <a:srgbClr val="4F92FF"/>
            </a:solidFill>
            <a:ln>
              <a:noFill/>
            </a:ln>
          </p:spPr>
          <p:txBody>
            <a:bodyPr rtlCol="0" anchor="ctr"/>
            <a:lstStyle/>
            <a:p>
              <a:pPr algn="ctr"/>
              <a:endParaRPr/>
            </a:p>
          </p:txBody>
        </p:sp>
        <p:sp>
          <p:nvSpPr>
            <p:cNvPr id="47" name="Rounded Rectangle 46"/>
            <p:cNvSpPr/>
            <p:nvPr/>
          </p:nvSpPr>
          <p:spPr>
            <a:xfrm>
              <a:off x="5399861" y="4529795"/>
              <a:ext cx="197476" cy="6892"/>
            </a:xfrm>
            <a:custGeom>
              <a:avLst/>
              <a:gdLst/>
              <a:ahLst/>
              <a:cxnLst/>
              <a:rect l="0" t="0" r="0" b="0"/>
              <a:pathLst>
                <a:path w="197476" h="6892">
                  <a:moveTo>
                    <a:pt x="197476" y="0"/>
                  </a:moveTo>
                  <a:lnTo>
                    <a:pt x="0" y="0"/>
                  </a:lnTo>
                </a:path>
              </a:pathLst>
            </a:custGeom>
            <a:noFill/>
            <a:ln w="5169">
              <a:solidFill>
                <a:srgbClr val="FFFFFF"/>
              </a:solidFill>
            </a:ln>
          </p:spPr>
          <p:txBody>
            <a:bodyPr rtlCol="0" anchor="ctr"/>
            <a:lstStyle/>
            <a:p>
              <a:pPr algn="ctr"/>
              <a:endParaRPr/>
            </a:p>
          </p:txBody>
        </p:sp>
        <p:sp>
          <p:nvSpPr>
            <p:cNvPr id="48" name="Rounded Rectangle 47"/>
            <p:cNvSpPr/>
            <p:nvPr/>
          </p:nvSpPr>
          <p:spPr>
            <a:xfrm>
              <a:off x="5597338" y="4364376"/>
              <a:ext cx="997325" cy="330838"/>
            </a:xfrm>
            <a:custGeom>
              <a:avLst/>
              <a:gdLst/>
              <a:ahLst/>
              <a:cxnLst/>
              <a:rect l="0" t="0" r="0" b="0"/>
              <a:pathLst>
                <a:path w="997325" h="330838">
                  <a:moveTo>
                    <a:pt x="0" y="172311"/>
                  </a:moveTo>
                  <a:cubicBezTo>
                    <a:pt x="0" y="259859"/>
                    <a:pt x="70978" y="330838"/>
                    <a:pt x="158526" y="330838"/>
                  </a:cubicBezTo>
                  <a:lnTo>
                    <a:pt x="838798" y="330838"/>
                  </a:lnTo>
                  <a:cubicBezTo>
                    <a:pt x="926346" y="330838"/>
                    <a:pt x="997325" y="259859"/>
                    <a:pt x="997325" y="172311"/>
                  </a:cubicBezTo>
                  <a:lnTo>
                    <a:pt x="997325" y="158526"/>
                  </a:lnTo>
                  <a:cubicBezTo>
                    <a:pt x="997325" y="70978"/>
                    <a:pt x="926346" y="0"/>
                    <a:pt x="838798" y="0"/>
                  </a:cubicBezTo>
                  <a:lnTo>
                    <a:pt x="158526" y="0"/>
                  </a:lnTo>
                  <a:cubicBezTo>
                    <a:pt x="70978" y="0"/>
                    <a:pt x="0" y="70978"/>
                    <a:pt x="0" y="158526"/>
                  </a:cubicBezTo>
                  <a:lnTo>
                    <a:pt x="0" y="172311"/>
                  </a:lnTo>
                </a:path>
              </a:pathLst>
            </a:custGeom>
            <a:solidFill>
              <a:srgbClr val="4F92FF"/>
            </a:solidFill>
            <a:ln>
              <a:noFill/>
            </a:ln>
          </p:spPr>
          <p:txBody>
            <a:bodyPr rtlCol="0" anchor="ctr"/>
            <a:lstStyle/>
            <a:p>
              <a:pPr algn="ctr"/>
              <a:endParaRPr/>
            </a:p>
          </p:txBody>
        </p:sp>
        <p:sp>
          <p:nvSpPr>
            <p:cNvPr id="49" name="Rounded Rectangle 48"/>
            <p:cNvSpPr/>
            <p:nvPr/>
          </p:nvSpPr>
          <p:spPr>
            <a:xfrm>
              <a:off x="5597337" y="4364376"/>
              <a:ext cx="997324" cy="330838"/>
            </a:xfrm>
            <a:custGeom>
              <a:avLst/>
              <a:gdLst/>
              <a:ahLst/>
              <a:cxnLst/>
              <a:rect l="0" t="0" r="0" b="0"/>
              <a:pathLst>
                <a:path w="997324" h="330838">
                  <a:moveTo>
                    <a:pt x="838798" y="0"/>
                  </a:moveTo>
                  <a:cubicBezTo>
                    <a:pt x="926349" y="0"/>
                    <a:pt x="997324" y="70975"/>
                    <a:pt x="997324" y="158526"/>
                  </a:cubicBezTo>
                  <a:moveTo>
                    <a:pt x="838798" y="0"/>
                  </a:moveTo>
                  <a:lnTo>
                    <a:pt x="158526" y="0"/>
                  </a:lnTo>
                  <a:moveTo>
                    <a:pt x="158526" y="0"/>
                  </a:moveTo>
                  <a:cubicBezTo>
                    <a:pt x="70975" y="0"/>
                    <a:pt x="0" y="70975"/>
                    <a:pt x="0" y="158526"/>
                  </a:cubicBezTo>
                  <a:moveTo>
                    <a:pt x="0" y="172311"/>
                  </a:moveTo>
                  <a:lnTo>
                    <a:pt x="0" y="158526"/>
                  </a:lnTo>
                  <a:moveTo>
                    <a:pt x="997324" y="172311"/>
                  </a:moveTo>
                  <a:lnTo>
                    <a:pt x="997324" y="158526"/>
                  </a:lnTo>
                  <a:moveTo>
                    <a:pt x="997324" y="172311"/>
                  </a:moveTo>
                  <a:cubicBezTo>
                    <a:pt x="997324" y="259863"/>
                    <a:pt x="926349" y="330838"/>
                    <a:pt x="838798" y="330838"/>
                  </a:cubicBezTo>
                  <a:moveTo>
                    <a:pt x="158526" y="330838"/>
                  </a:moveTo>
                  <a:lnTo>
                    <a:pt x="838798" y="330838"/>
                  </a:lnTo>
                  <a:moveTo>
                    <a:pt x="158526" y="330838"/>
                  </a:moveTo>
                  <a:cubicBezTo>
                    <a:pt x="70975" y="330838"/>
                    <a:pt x="0" y="259863"/>
                    <a:pt x="0" y="172311"/>
                  </a:cubicBezTo>
                </a:path>
              </a:pathLst>
            </a:custGeom>
            <a:noFill/>
            <a:ln w="5169">
              <a:solidFill>
                <a:srgbClr val="FFFFFF"/>
              </a:solidFill>
            </a:ln>
          </p:spPr>
          <p:txBody>
            <a:bodyPr rtlCol="0" anchor="ctr"/>
            <a:lstStyle/>
            <a:p>
              <a:pPr algn="ctr"/>
              <a:endParaRPr/>
            </a:p>
          </p:txBody>
        </p:sp>
        <p:sp>
          <p:nvSpPr>
            <p:cNvPr id="50" name="Rounded Rectangle 49"/>
            <p:cNvSpPr/>
            <p:nvPr/>
          </p:nvSpPr>
          <p:spPr>
            <a:xfrm>
              <a:off x="6785247" y="4526349"/>
              <a:ext cx="6892" cy="6892"/>
            </a:xfrm>
            <a:custGeom>
              <a:avLst/>
              <a:gdLst/>
              <a:ahLst/>
              <a:cxnLst/>
              <a:rect l="0" t="0" r="0" b="0"/>
              <a:pathLst>
                <a:path w="6892" h="6892">
                  <a:moveTo>
                    <a:pt x="0" y="0"/>
                  </a:moveTo>
                  <a:lnTo>
                    <a:pt x="6892" y="0"/>
                  </a:lnTo>
                  <a:lnTo>
                    <a:pt x="6892" y="6892"/>
                  </a:lnTo>
                  <a:lnTo>
                    <a:pt x="0" y="6892"/>
                  </a:lnTo>
                  <a:lnTo>
                    <a:pt x="0" y="0"/>
                  </a:lnTo>
                </a:path>
              </a:pathLst>
            </a:custGeom>
            <a:solidFill>
              <a:srgbClr val="4F92FF"/>
            </a:solidFill>
            <a:ln>
              <a:noFill/>
            </a:ln>
          </p:spPr>
          <p:txBody>
            <a:bodyPr rtlCol="0" anchor="ctr"/>
            <a:lstStyle/>
            <a:p>
              <a:pPr algn="ctr"/>
              <a:endParaRPr/>
            </a:p>
          </p:txBody>
        </p:sp>
        <p:sp>
          <p:nvSpPr>
            <p:cNvPr id="51" name="Rounded Rectangle 50"/>
            <p:cNvSpPr/>
            <p:nvPr/>
          </p:nvSpPr>
          <p:spPr>
            <a:xfrm>
              <a:off x="6594663" y="4529795"/>
              <a:ext cx="197474" cy="6892"/>
            </a:xfrm>
            <a:custGeom>
              <a:avLst/>
              <a:gdLst/>
              <a:ahLst/>
              <a:cxnLst/>
              <a:rect l="0" t="0" r="0" b="0"/>
              <a:pathLst>
                <a:path w="197474" h="6892">
                  <a:moveTo>
                    <a:pt x="197474" y="0"/>
                  </a:moveTo>
                  <a:lnTo>
                    <a:pt x="0" y="0"/>
                  </a:lnTo>
                </a:path>
              </a:pathLst>
            </a:custGeom>
            <a:noFill/>
            <a:ln w="5169">
              <a:solidFill>
                <a:srgbClr val="FFFFFF"/>
              </a:solidFill>
            </a:ln>
          </p:spPr>
          <p:txBody>
            <a:bodyPr rtlCol="0" anchor="ctr"/>
            <a:lstStyle/>
            <a:p>
              <a:pPr algn="ctr"/>
              <a:endParaRPr/>
            </a:p>
          </p:txBody>
        </p:sp>
        <p:sp>
          <p:nvSpPr>
            <p:cNvPr id="52" name="Rounded Rectangle 51"/>
            <p:cNvSpPr/>
            <p:nvPr/>
          </p:nvSpPr>
          <p:spPr>
            <a:xfrm>
              <a:off x="7122977" y="4529796"/>
              <a:ext cx="1723115" cy="827095"/>
            </a:xfrm>
            <a:custGeom>
              <a:avLst/>
              <a:gdLst/>
              <a:ahLst/>
              <a:cxnLst/>
              <a:rect l="0" t="0" r="0" b="0"/>
              <a:pathLst>
                <a:path w="1723115" h="827095">
                  <a:moveTo>
                    <a:pt x="0" y="661676"/>
                  </a:moveTo>
                  <a:cubicBezTo>
                    <a:pt x="0" y="753035"/>
                    <a:pt x="74059" y="827095"/>
                    <a:pt x="165419" y="827095"/>
                  </a:cubicBezTo>
                  <a:lnTo>
                    <a:pt x="1557696" y="827095"/>
                  </a:lnTo>
                  <a:cubicBezTo>
                    <a:pt x="1649056" y="827095"/>
                    <a:pt x="1723115" y="753035"/>
                    <a:pt x="1723115" y="661676"/>
                  </a:cubicBezTo>
                  <a:lnTo>
                    <a:pt x="1723115" y="165419"/>
                  </a:lnTo>
                  <a:cubicBezTo>
                    <a:pt x="1723115" y="74059"/>
                    <a:pt x="1649056" y="0"/>
                    <a:pt x="1557696" y="0"/>
                  </a:cubicBezTo>
                  <a:lnTo>
                    <a:pt x="165419" y="0"/>
                  </a:lnTo>
                  <a:cubicBezTo>
                    <a:pt x="74059" y="0"/>
                    <a:pt x="0" y="74059"/>
                    <a:pt x="0" y="165419"/>
                  </a:cubicBezTo>
                  <a:lnTo>
                    <a:pt x="0" y="661676"/>
                  </a:lnTo>
                </a:path>
              </a:pathLst>
            </a:custGeom>
            <a:solidFill>
              <a:srgbClr val="4F92FF"/>
            </a:solidFill>
            <a:ln>
              <a:noFill/>
            </a:ln>
          </p:spPr>
          <p:txBody>
            <a:bodyPr rtlCol="0" anchor="ctr"/>
            <a:lstStyle/>
            <a:p>
              <a:pPr algn="ctr"/>
              <a:endParaRPr/>
            </a:p>
          </p:txBody>
        </p:sp>
        <p:sp>
          <p:nvSpPr>
            <p:cNvPr id="53" name="Rounded Rectangle 52"/>
            <p:cNvSpPr/>
            <p:nvPr/>
          </p:nvSpPr>
          <p:spPr>
            <a:xfrm>
              <a:off x="7122977" y="4529796"/>
              <a:ext cx="1723115" cy="827095"/>
            </a:xfrm>
            <a:custGeom>
              <a:avLst/>
              <a:gdLst/>
              <a:ahLst/>
              <a:cxnLst/>
              <a:rect l="0" t="0" r="0" b="0"/>
              <a:pathLst>
                <a:path w="1723115" h="827095">
                  <a:moveTo>
                    <a:pt x="1557696" y="0"/>
                  </a:moveTo>
                  <a:cubicBezTo>
                    <a:pt x="1649054" y="0"/>
                    <a:pt x="1723115" y="74060"/>
                    <a:pt x="1723115" y="165419"/>
                  </a:cubicBezTo>
                  <a:moveTo>
                    <a:pt x="165419" y="0"/>
                  </a:moveTo>
                  <a:cubicBezTo>
                    <a:pt x="74060" y="0"/>
                    <a:pt x="0" y="74060"/>
                    <a:pt x="0" y="165419"/>
                  </a:cubicBezTo>
                  <a:moveTo>
                    <a:pt x="0" y="661676"/>
                  </a:moveTo>
                  <a:lnTo>
                    <a:pt x="0" y="165419"/>
                  </a:lnTo>
                  <a:moveTo>
                    <a:pt x="1723115" y="661676"/>
                  </a:moveTo>
                  <a:lnTo>
                    <a:pt x="1723115" y="165419"/>
                  </a:lnTo>
                  <a:moveTo>
                    <a:pt x="1723115" y="661676"/>
                  </a:moveTo>
                  <a:cubicBezTo>
                    <a:pt x="1723115" y="753034"/>
                    <a:pt x="1649054" y="827095"/>
                    <a:pt x="1557696" y="827095"/>
                  </a:cubicBezTo>
                  <a:moveTo>
                    <a:pt x="165419" y="827095"/>
                  </a:moveTo>
                  <a:lnTo>
                    <a:pt x="1557696" y="827095"/>
                  </a:lnTo>
                  <a:moveTo>
                    <a:pt x="165419" y="827095"/>
                  </a:moveTo>
                  <a:cubicBezTo>
                    <a:pt x="74060" y="827095"/>
                    <a:pt x="0" y="753034"/>
                    <a:pt x="0" y="661676"/>
                  </a:cubicBezTo>
                </a:path>
              </a:pathLst>
            </a:custGeom>
            <a:noFill/>
            <a:ln w="5169">
              <a:solidFill>
                <a:srgbClr val="FFFFFF"/>
              </a:solidFill>
            </a:ln>
          </p:spPr>
          <p:txBody>
            <a:bodyPr rtlCol="0" anchor="ctr"/>
            <a:lstStyle/>
            <a:p>
              <a:pPr algn="ctr"/>
              <a:endParaRPr/>
            </a:p>
          </p:txBody>
        </p:sp>
        <p:sp>
          <p:nvSpPr>
            <p:cNvPr id="54" name="Rounded Rectangle 53"/>
            <p:cNvSpPr/>
            <p:nvPr/>
          </p:nvSpPr>
          <p:spPr>
            <a:xfrm>
              <a:off x="7351648" y="4526349"/>
              <a:ext cx="6892" cy="6892"/>
            </a:xfrm>
            <a:custGeom>
              <a:avLst/>
              <a:gdLst/>
              <a:ahLst/>
              <a:cxnLst/>
              <a:rect l="0" t="0" r="0" b="0"/>
              <a:pathLst>
                <a:path w="6892" h="6892">
                  <a:moveTo>
                    <a:pt x="0" y="0"/>
                  </a:moveTo>
                  <a:lnTo>
                    <a:pt x="6892" y="0"/>
                  </a:lnTo>
                  <a:lnTo>
                    <a:pt x="6892" y="6892"/>
                  </a:lnTo>
                  <a:lnTo>
                    <a:pt x="0" y="6892"/>
                  </a:lnTo>
                  <a:lnTo>
                    <a:pt x="0" y="0"/>
                  </a:lnTo>
                </a:path>
              </a:pathLst>
            </a:custGeom>
            <a:solidFill>
              <a:srgbClr val="4F92FF"/>
            </a:solidFill>
            <a:ln>
              <a:noFill/>
            </a:ln>
          </p:spPr>
          <p:txBody>
            <a:bodyPr rtlCol="0" anchor="ctr"/>
            <a:lstStyle/>
            <a:p>
              <a:pPr algn="ctr"/>
              <a:endParaRPr/>
            </a:p>
          </p:txBody>
        </p:sp>
        <p:sp>
          <p:nvSpPr>
            <p:cNvPr id="55" name="Rounded Rectangle 54"/>
            <p:cNvSpPr/>
            <p:nvPr/>
          </p:nvSpPr>
          <p:spPr>
            <a:xfrm>
              <a:off x="7288396" y="4529795"/>
              <a:ext cx="70145" cy="6892"/>
            </a:xfrm>
            <a:custGeom>
              <a:avLst/>
              <a:gdLst/>
              <a:ahLst/>
              <a:cxnLst/>
              <a:rect l="0" t="0" r="0" b="0"/>
              <a:pathLst>
                <a:path w="70145" h="6892">
                  <a:moveTo>
                    <a:pt x="70145" y="0"/>
                  </a:moveTo>
                  <a:lnTo>
                    <a:pt x="0" y="0"/>
                  </a:lnTo>
                </a:path>
              </a:pathLst>
            </a:custGeom>
            <a:noFill/>
            <a:ln w="5169">
              <a:solidFill>
                <a:srgbClr val="FFFFFF"/>
              </a:solidFill>
            </a:ln>
          </p:spPr>
          <p:txBody>
            <a:bodyPr rtlCol="0" anchor="ctr"/>
            <a:lstStyle/>
            <a:p>
              <a:pPr algn="ctr"/>
              <a:endParaRPr/>
            </a:p>
          </p:txBody>
        </p:sp>
        <p:sp>
          <p:nvSpPr>
            <p:cNvPr id="56" name="Rounded Rectangle 55"/>
            <p:cNvSpPr/>
            <p:nvPr/>
          </p:nvSpPr>
          <p:spPr>
            <a:xfrm>
              <a:off x="7358541" y="4364376"/>
              <a:ext cx="1251988" cy="330838"/>
            </a:xfrm>
            <a:custGeom>
              <a:avLst/>
              <a:gdLst/>
              <a:ahLst/>
              <a:cxnLst/>
              <a:rect l="0" t="0" r="0" b="0"/>
              <a:pathLst>
                <a:path w="1251988" h="330838">
                  <a:moveTo>
                    <a:pt x="0" y="172311"/>
                  </a:moveTo>
                  <a:cubicBezTo>
                    <a:pt x="0" y="259859"/>
                    <a:pt x="70978" y="330838"/>
                    <a:pt x="158526" y="330838"/>
                  </a:cubicBezTo>
                  <a:lnTo>
                    <a:pt x="1093461" y="330838"/>
                  </a:lnTo>
                  <a:cubicBezTo>
                    <a:pt x="1181009" y="330838"/>
                    <a:pt x="1251988" y="259859"/>
                    <a:pt x="1251988" y="172311"/>
                  </a:cubicBezTo>
                  <a:lnTo>
                    <a:pt x="1251988" y="158526"/>
                  </a:lnTo>
                  <a:cubicBezTo>
                    <a:pt x="1251988" y="70978"/>
                    <a:pt x="1181009" y="0"/>
                    <a:pt x="1093461" y="0"/>
                  </a:cubicBezTo>
                  <a:lnTo>
                    <a:pt x="158526" y="0"/>
                  </a:lnTo>
                  <a:cubicBezTo>
                    <a:pt x="70978" y="0"/>
                    <a:pt x="0" y="70978"/>
                    <a:pt x="0" y="158526"/>
                  </a:cubicBezTo>
                  <a:lnTo>
                    <a:pt x="0" y="172311"/>
                  </a:lnTo>
                </a:path>
              </a:pathLst>
            </a:custGeom>
            <a:solidFill>
              <a:srgbClr val="4F92FF"/>
            </a:solidFill>
            <a:ln>
              <a:noFill/>
            </a:ln>
          </p:spPr>
          <p:txBody>
            <a:bodyPr rtlCol="0" anchor="ctr"/>
            <a:lstStyle/>
            <a:p>
              <a:pPr algn="ctr"/>
              <a:endParaRPr/>
            </a:p>
          </p:txBody>
        </p:sp>
        <p:sp>
          <p:nvSpPr>
            <p:cNvPr id="57" name="Rounded Rectangle 56"/>
            <p:cNvSpPr/>
            <p:nvPr/>
          </p:nvSpPr>
          <p:spPr>
            <a:xfrm>
              <a:off x="7358542" y="4364376"/>
              <a:ext cx="1251987" cy="330838"/>
            </a:xfrm>
            <a:custGeom>
              <a:avLst/>
              <a:gdLst/>
              <a:ahLst/>
              <a:cxnLst/>
              <a:rect l="0" t="0" r="0" b="0"/>
              <a:pathLst>
                <a:path w="1251987" h="330838">
                  <a:moveTo>
                    <a:pt x="1093460" y="0"/>
                  </a:moveTo>
                  <a:cubicBezTo>
                    <a:pt x="1181012" y="0"/>
                    <a:pt x="1251987" y="70975"/>
                    <a:pt x="1251987" y="158526"/>
                  </a:cubicBezTo>
                  <a:moveTo>
                    <a:pt x="1093460" y="0"/>
                  </a:moveTo>
                  <a:lnTo>
                    <a:pt x="158526" y="0"/>
                  </a:lnTo>
                  <a:moveTo>
                    <a:pt x="158526" y="0"/>
                  </a:moveTo>
                  <a:cubicBezTo>
                    <a:pt x="70975" y="0"/>
                    <a:pt x="0" y="70975"/>
                    <a:pt x="0" y="158526"/>
                  </a:cubicBezTo>
                  <a:moveTo>
                    <a:pt x="0" y="172311"/>
                  </a:moveTo>
                  <a:lnTo>
                    <a:pt x="0" y="158526"/>
                  </a:lnTo>
                  <a:moveTo>
                    <a:pt x="1251987" y="172311"/>
                  </a:moveTo>
                  <a:lnTo>
                    <a:pt x="1251987" y="158526"/>
                  </a:lnTo>
                  <a:moveTo>
                    <a:pt x="1251987" y="172311"/>
                  </a:moveTo>
                  <a:cubicBezTo>
                    <a:pt x="1251987" y="259863"/>
                    <a:pt x="1181012" y="330838"/>
                    <a:pt x="1093460" y="330838"/>
                  </a:cubicBezTo>
                  <a:moveTo>
                    <a:pt x="158526" y="330838"/>
                  </a:moveTo>
                  <a:lnTo>
                    <a:pt x="1093460" y="330838"/>
                  </a:lnTo>
                  <a:moveTo>
                    <a:pt x="158526" y="330838"/>
                  </a:moveTo>
                  <a:cubicBezTo>
                    <a:pt x="70975" y="330838"/>
                    <a:pt x="0" y="259863"/>
                    <a:pt x="0" y="172311"/>
                  </a:cubicBezTo>
                </a:path>
              </a:pathLst>
            </a:custGeom>
            <a:noFill/>
            <a:ln w="5169">
              <a:solidFill>
                <a:srgbClr val="FFFFFF"/>
              </a:solidFill>
            </a:ln>
          </p:spPr>
          <p:txBody>
            <a:bodyPr rtlCol="0" anchor="ctr"/>
            <a:lstStyle/>
            <a:p>
              <a:pPr algn="ctr"/>
              <a:endParaRPr/>
            </a:p>
          </p:txBody>
        </p:sp>
        <p:sp>
          <p:nvSpPr>
            <p:cNvPr id="58" name="Rounded Rectangle 57"/>
            <p:cNvSpPr/>
            <p:nvPr/>
          </p:nvSpPr>
          <p:spPr>
            <a:xfrm>
              <a:off x="8673780" y="4526349"/>
              <a:ext cx="6892" cy="6892"/>
            </a:xfrm>
            <a:custGeom>
              <a:avLst/>
              <a:gdLst/>
              <a:ahLst/>
              <a:cxnLst/>
              <a:rect l="0" t="0" r="0" b="0"/>
              <a:pathLst>
                <a:path w="6892" h="6892">
                  <a:moveTo>
                    <a:pt x="0" y="0"/>
                  </a:moveTo>
                  <a:lnTo>
                    <a:pt x="6892" y="0"/>
                  </a:lnTo>
                  <a:lnTo>
                    <a:pt x="6892" y="6892"/>
                  </a:lnTo>
                  <a:lnTo>
                    <a:pt x="0" y="6892"/>
                  </a:lnTo>
                  <a:lnTo>
                    <a:pt x="0" y="0"/>
                  </a:lnTo>
                </a:path>
              </a:pathLst>
            </a:custGeom>
            <a:solidFill>
              <a:srgbClr val="4F92FF"/>
            </a:solidFill>
            <a:ln>
              <a:noFill/>
            </a:ln>
          </p:spPr>
          <p:txBody>
            <a:bodyPr rtlCol="0" anchor="ctr"/>
            <a:lstStyle/>
            <a:p>
              <a:pPr algn="ctr"/>
              <a:endParaRPr/>
            </a:p>
          </p:txBody>
        </p:sp>
        <p:sp>
          <p:nvSpPr>
            <p:cNvPr id="59" name="Rounded Rectangle 58"/>
            <p:cNvSpPr/>
            <p:nvPr/>
          </p:nvSpPr>
          <p:spPr>
            <a:xfrm>
              <a:off x="8610529" y="4529795"/>
              <a:ext cx="70145" cy="6892"/>
            </a:xfrm>
            <a:custGeom>
              <a:avLst/>
              <a:gdLst/>
              <a:ahLst/>
              <a:cxnLst/>
              <a:rect l="0" t="0" r="0" b="0"/>
              <a:pathLst>
                <a:path w="70145" h="6892">
                  <a:moveTo>
                    <a:pt x="70145" y="0"/>
                  </a:moveTo>
                  <a:lnTo>
                    <a:pt x="0" y="0"/>
                  </a:lnTo>
                </a:path>
              </a:pathLst>
            </a:custGeom>
            <a:noFill/>
            <a:ln w="5169">
              <a:solidFill>
                <a:srgbClr val="FFFFFF"/>
              </a:solidFill>
            </a:ln>
          </p:spPr>
          <p:txBody>
            <a:bodyPr rtlCol="0" anchor="ctr"/>
            <a:lstStyle/>
            <a:p>
              <a:pPr algn="ctr"/>
              <a:endParaRPr/>
            </a:p>
          </p:txBody>
        </p:sp>
        <p:sp>
          <p:nvSpPr>
            <p:cNvPr id="60" name="Rounded Rectangle 59"/>
            <p:cNvSpPr/>
            <p:nvPr/>
          </p:nvSpPr>
          <p:spPr>
            <a:xfrm>
              <a:off x="3263197" y="2792895"/>
              <a:ext cx="5665604" cy="496257"/>
            </a:xfrm>
            <a:custGeom>
              <a:avLst/>
              <a:gdLst/>
              <a:ahLst/>
              <a:cxnLst/>
              <a:rect l="0" t="0" r="0" b="0"/>
              <a:pathLst>
                <a:path w="5665604" h="496257">
                  <a:moveTo>
                    <a:pt x="2832802" y="496257"/>
                  </a:moveTo>
                  <a:lnTo>
                    <a:pt x="2832802" y="248128"/>
                  </a:lnTo>
                  <a:moveTo>
                    <a:pt x="0" y="0"/>
                  </a:moveTo>
                  <a:lnTo>
                    <a:pt x="0" y="165419"/>
                  </a:lnTo>
                  <a:cubicBezTo>
                    <a:pt x="0" y="211098"/>
                    <a:pt x="37030" y="248128"/>
                    <a:pt x="82709" y="248128"/>
                  </a:cubicBezTo>
                  <a:lnTo>
                    <a:pt x="5582894" y="248128"/>
                  </a:lnTo>
                  <a:cubicBezTo>
                    <a:pt x="5628573" y="248128"/>
                    <a:pt x="5665604" y="211098"/>
                    <a:pt x="5665604" y="165419"/>
                  </a:cubicBezTo>
                  <a:lnTo>
                    <a:pt x="5665604" y="0"/>
                  </a:lnTo>
                  <a:moveTo>
                    <a:pt x="1971244" y="248128"/>
                  </a:moveTo>
                  <a:lnTo>
                    <a:pt x="1971244" y="248128"/>
                  </a:lnTo>
                  <a:cubicBezTo>
                    <a:pt x="1925565" y="248128"/>
                    <a:pt x="1888534" y="211098"/>
                    <a:pt x="1888534" y="165419"/>
                  </a:cubicBezTo>
                  <a:lnTo>
                    <a:pt x="1888534" y="0"/>
                  </a:lnTo>
                  <a:moveTo>
                    <a:pt x="3777069" y="0"/>
                  </a:moveTo>
                  <a:lnTo>
                    <a:pt x="3777069" y="165419"/>
                  </a:lnTo>
                  <a:cubicBezTo>
                    <a:pt x="3777069" y="211098"/>
                    <a:pt x="3740039" y="248128"/>
                    <a:pt x="3694359" y="248128"/>
                  </a:cubicBezTo>
                  <a:lnTo>
                    <a:pt x="3694359" y="248128"/>
                  </a:lnTo>
                </a:path>
              </a:pathLst>
            </a:custGeom>
            <a:noFill/>
            <a:ln w="5169">
              <a:solidFill>
                <a:srgbClr val="4F92FF"/>
              </a:solidFill>
            </a:ln>
          </p:spPr>
          <p:txBody>
            <a:bodyPr rtlCol="0" anchor="ctr"/>
            <a:lstStyle/>
            <a:p>
              <a:pPr algn="ctr"/>
              <a:endParaRPr/>
            </a:p>
          </p:txBody>
        </p:sp>
        <p:sp>
          <p:nvSpPr>
            <p:cNvPr id="61" name="Rounded Rectangle 60"/>
            <p:cNvSpPr/>
            <p:nvPr/>
          </p:nvSpPr>
          <p:spPr>
            <a:xfrm>
              <a:off x="4207466" y="3868119"/>
              <a:ext cx="3777069" cy="496257"/>
            </a:xfrm>
            <a:custGeom>
              <a:avLst/>
              <a:gdLst/>
              <a:ahLst/>
              <a:cxnLst/>
              <a:rect l="0" t="0" r="0" b="0"/>
              <a:pathLst>
                <a:path w="3777069" h="496257">
                  <a:moveTo>
                    <a:pt x="1888534" y="0"/>
                  </a:moveTo>
                  <a:lnTo>
                    <a:pt x="1888534" y="248128"/>
                  </a:lnTo>
                  <a:moveTo>
                    <a:pt x="3777069" y="496257"/>
                  </a:moveTo>
                  <a:lnTo>
                    <a:pt x="3777069" y="330838"/>
                  </a:lnTo>
                  <a:cubicBezTo>
                    <a:pt x="3777069" y="285158"/>
                    <a:pt x="3740039" y="248128"/>
                    <a:pt x="3694359" y="248128"/>
                  </a:cubicBezTo>
                  <a:lnTo>
                    <a:pt x="82709" y="248128"/>
                  </a:lnTo>
                  <a:cubicBezTo>
                    <a:pt x="37030" y="248128"/>
                    <a:pt x="0" y="285158"/>
                    <a:pt x="0" y="330838"/>
                  </a:cubicBezTo>
                  <a:lnTo>
                    <a:pt x="0" y="496257"/>
                  </a:lnTo>
                  <a:moveTo>
                    <a:pt x="1888534" y="0"/>
                  </a:moveTo>
                  <a:lnTo>
                    <a:pt x="1888534" y="496257"/>
                  </a:lnTo>
                </a:path>
              </a:pathLst>
            </a:custGeom>
            <a:noFill/>
            <a:ln w="5169">
              <a:solidFill>
                <a:srgbClr val="4F92FF"/>
              </a:solidFill>
            </a:ln>
          </p:spPr>
          <p:txBody>
            <a:bodyPr rtlCol="0" anchor="ctr"/>
            <a:lstStyle/>
            <a:p>
              <a:pPr algn="ctr"/>
              <a:endParaRPr/>
            </a:p>
          </p:txBody>
        </p:sp>
        <p:sp>
          <p:nvSpPr>
            <p:cNvPr id="62" name="TextBox 61"/>
            <p:cNvSpPr txBox="1"/>
            <p:nvPr/>
          </p:nvSpPr>
          <p:spPr>
            <a:xfrm>
              <a:off x="6587968" y="2017492"/>
              <a:ext cx="904587" cy="112131"/>
            </a:xfrm>
            <a:prstGeom prst="rect">
              <a:avLst/>
            </a:prstGeom>
            <a:noFill/>
            <a:ln>
              <a:noFill/>
            </a:ln>
          </p:spPr>
          <p:txBody>
            <a:bodyPr wrap="none" lIns="0" tIns="0" rIns="0" bIns="0" anchor="t">
              <a:spAutoFit/>
            </a:bodyPr>
            <a:lstStyle/>
            <a:p>
              <a:pPr algn="ctr"/>
              <a:r>
                <a:rPr sz="1200" b="1" dirty="0">
                  <a:solidFill>
                    <a:srgbClr val="FFFFFF"/>
                  </a:solidFill>
                  <a:latin typeface="Roboto"/>
                </a:rPr>
                <a:t>Social Integration</a:t>
              </a:r>
            </a:p>
          </p:txBody>
        </p:sp>
        <p:sp>
          <p:nvSpPr>
            <p:cNvPr id="63" name="TextBox 62"/>
            <p:cNvSpPr txBox="1"/>
            <p:nvPr/>
          </p:nvSpPr>
          <p:spPr>
            <a:xfrm>
              <a:off x="3747977" y="4457424"/>
              <a:ext cx="919024" cy="112131"/>
            </a:xfrm>
            <a:prstGeom prst="rect">
              <a:avLst/>
            </a:prstGeom>
            <a:noFill/>
            <a:ln>
              <a:noFill/>
            </a:ln>
          </p:spPr>
          <p:txBody>
            <a:bodyPr wrap="none" lIns="0" tIns="0" rIns="0" bIns="0" anchor="t">
              <a:spAutoFit/>
            </a:bodyPr>
            <a:lstStyle/>
            <a:p>
              <a:pPr algn="ctr"/>
              <a:r>
                <a:rPr sz="1200" b="1" dirty="0">
                  <a:solidFill>
                    <a:srgbClr val="FFFFFF"/>
                  </a:solidFill>
                  <a:latin typeface="Roboto"/>
                </a:rPr>
                <a:t>Technical Hurdles</a:t>
              </a:r>
            </a:p>
          </p:txBody>
        </p:sp>
        <p:sp>
          <p:nvSpPr>
            <p:cNvPr id="64" name="TextBox 63"/>
            <p:cNvSpPr txBox="1"/>
            <p:nvPr/>
          </p:nvSpPr>
          <p:spPr>
            <a:xfrm>
              <a:off x="4568291" y="2017492"/>
              <a:ext cx="1166883" cy="112131"/>
            </a:xfrm>
            <a:prstGeom prst="rect">
              <a:avLst/>
            </a:prstGeom>
            <a:noFill/>
            <a:ln>
              <a:noFill/>
            </a:ln>
          </p:spPr>
          <p:txBody>
            <a:bodyPr wrap="none" lIns="0" tIns="0" rIns="0" bIns="0" anchor="t">
              <a:spAutoFit/>
            </a:bodyPr>
            <a:lstStyle/>
            <a:p>
              <a:pPr algn="ctr"/>
              <a:r>
                <a:rPr sz="1200" b="1" dirty="0">
                  <a:solidFill>
                    <a:srgbClr val="FFFFFF"/>
                  </a:solidFill>
                  <a:latin typeface="Roboto"/>
                </a:rPr>
                <a:t>Ethical Considerations</a:t>
              </a:r>
            </a:p>
          </p:txBody>
        </p:sp>
        <p:sp>
          <p:nvSpPr>
            <p:cNvPr id="65" name="TextBox 64"/>
            <p:cNvSpPr txBox="1"/>
            <p:nvPr/>
          </p:nvSpPr>
          <p:spPr>
            <a:xfrm>
              <a:off x="2727967" y="2017492"/>
              <a:ext cx="1070483" cy="112131"/>
            </a:xfrm>
            <a:prstGeom prst="rect">
              <a:avLst/>
            </a:prstGeom>
            <a:noFill/>
            <a:ln>
              <a:noFill/>
            </a:ln>
          </p:spPr>
          <p:txBody>
            <a:bodyPr wrap="none" lIns="0" tIns="0" rIns="0" bIns="0" anchor="t">
              <a:spAutoFit/>
            </a:bodyPr>
            <a:lstStyle/>
            <a:p>
              <a:pPr algn="ctr"/>
              <a:r>
                <a:rPr sz="1200" b="1" dirty="0">
                  <a:solidFill>
                    <a:srgbClr val="FFFFFF"/>
                  </a:solidFill>
                  <a:latin typeface="Roboto"/>
                </a:rPr>
                <a:t>Ubiquitous Presence</a:t>
              </a:r>
            </a:p>
          </p:txBody>
        </p:sp>
        <p:sp>
          <p:nvSpPr>
            <p:cNvPr id="66" name="TextBox 65"/>
            <p:cNvSpPr txBox="1"/>
            <p:nvPr/>
          </p:nvSpPr>
          <p:spPr>
            <a:xfrm>
              <a:off x="3770652" y="1501109"/>
              <a:ext cx="4650717" cy="299016"/>
            </a:xfrm>
            <a:prstGeom prst="rect">
              <a:avLst/>
            </a:prstGeom>
            <a:noFill/>
            <a:ln>
              <a:noFill/>
            </a:ln>
          </p:spPr>
          <p:txBody>
            <a:bodyPr wrap="none" lIns="0" tIns="0" rIns="0" bIns="0" anchor="t">
              <a:spAutoFit/>
            </a:bodyPr>
            <a:lstStyle/>
            <a:p>
              <a:pPr algn="ctr"/>
              <a:r>
                <a:rPr sz="3200" dirty="0">
                  <a:ln w="0"/>
                  <a:effectLst>
                    <a:outerShdw blurRad="38100" dist="19050" dir="2700000" algn="tl" rotWithShape="0">
                      <a:schemeClr val="dk1">
                        <a:alpha val="40000"/>
                      </a:schemeClr>
                    </a:outerShdw>
                  </a:effectLst>
                  <a:latin typeface="Roboto"/>
                </a:rPr>
                <a:t>The Evolving Landscape of Robotics</a:t>
              </a:r>
            </a:p>
          </p:txBody>
        </p:sp>
        <p:sp>
          <p:nvSpPr>
            <p:cNvPr id="67" name="TextBox 66"/>
            <p:cNvSpPr txBox="1"/>
            <p:nvPr/>
          </p:nvSpPr>
          <p:spPr>
            <a:xfrm>
              <a:off x="7370857" y="4829618"/>
              <a:ext cx="1227413" cy="448524"/>
            </a:xfrm>
            <a:prstGeom prst="rect">
              <a:avLst/>
            </a:prstGeom>
            <a:noFill/>
            <a:ln>
              <a:noFill/>
            </a:ln>
          </p:spPr>
          <p:txBody>
            <a:bodyPr wrap="none" lIns="0" tIns="0" rIns="0" bIns="0" anchor="t">
              <a:spAutoFit/>
            </a:bodyPr>
            <a:lstStyle/>
            <a:p>
              <a:pPr algn="ctr"/>
              <a:r>
                <a:rPr sz="1600" dirty="0">
                  <a:solidFill>
                    <a:srgbClr val="FFFFFF"/>
                  </a:solidFill>
                  <a:latin typeface="Roboto"/>
                </a:rPr>
                <a:t>Progress requires
cooperation among
stakeholders</a:t>
              </a:r>
            </a:p>
          </p:txBody>
        </p:sp>
        <p:sp>
          <p:nvSpPr>
            <p:cNvPr id="68" name="TextBox 67"/>
            <p:cNvSpPr txBox="1"/>
            <p:nvPr/>
          </p:nvSpPr>
          <p:spPr>
            <a:xfrm>
              <a:off x="5650426" y="4457424"/>
              <a:ext cx="891136" cy="112131"/>
            </a:xfrm>
            <a:prstGeom prst="rect">
              <a:avLst/>
            </a:prstGeom>
            <a:noFill/>
            <a:ln>
              <a:noFill/>
            </a:ln>
          </p:spPr>
          <p:txBody>
            <a:bodyPr wrap="none" lIns="0" tIns="0" rIns="0" bIns="0" anchor="t">
              <a:spAutoFit/>
            </a:bodyPr>
            <a:lstStyle/>
            <a:p>
              <a:pPr algn="ctr"/>
              <a:r>
                <a:rPr sz="1200" b="1" dirty="0">
                  <a:solidFill>
                    <a:srgbClr val="FFFFFF"/>
                  </a:solidFill>
                  <a:latin typeface="Roboto"/>
                </a:rPr>
                <a:t>Economic Impact</a:t>
              </a:r>
            </a:p>
          </p:txBody>
        </p:sp>
        <p:sp>
          <p:nvSpPr>
            <p:cNvPr id="69" name="TextBox 68"/>
            <p:cNvSpPr txBox="1"/>
            <p:nvPr/>
          </p:nvSpPr>
          <p:spPr>
            <a:xfrm>
              <a:off x="8585076" y="2017492"/>
              <a:ext cx="687441" cy="112131"/>
            </a:xfrm>
            <a:prstGeom prst="rect">
              <a:avLst/>
            </a:prstGeom>
            <a:noFill/>
            <a:ln>
              <a:noFill/>
            </a:ln>
          </p:spPr>
          <p:txBody>
            <a:bodyPr wrap="none" lIns="0" tIns="0" rIns="0" bIns="0" anchor="t">
              <a:spAutoFit/>
            </a:bodyPr>
            <a:lstStyle/>
            <a:p>
              <a:pPr algn="ctr"/>
              <a:r>
                <a:rPr sz="1200" b="1" dirty="0">
                  <a:solidFill>
                    <a:srgbClr val="FFFFFF"/>
                  </a:solidFill>
                  <a:latin typeface="Roboto"/>
                </a:rPr>
                <a:t>Future Vision</a:t>
              </a:r>
            </a:p>
          </p:txBody>
        </p:sp>
        <p:sp>
          <p:nvSpPr>
            <p:cNvPr id="70" name="TextBox 69"/>
            <p:cNvSpPr txBox="1"/>
            <p:nvPr/>
          </p:nvSpPr>
          <p:spPr>
            <a:xfrm>
              <a:off x="2437618" y="2389685"/>
              <a:ext cx="1651122" cy="299016"/>
            </a:xfrm>
            <a:prstGeom prst="rect">
              <a:avLst/>
            </a:prstGeom>
            <a:noFill/>
            <a:ln>
              <a:noFill/>
            </a:ln>
          </p:spPr>
          <p:txBody>
            <a:bodyPr wrap="none" lIns="0" tIns="0" rIns="0" bIns="0" anchor="t">
              <a:spAutoFit/>
            </a:bodyPr>
            <a:lstStyle/>
            <a:p>
              <a:pPr algn="ctr"/>
              <a:r>
                <a:rPr sz="1600" dirty="0">
                  <a:solidFill>
                    <a:srgbClr val="FFFFFF"/>
                  </a:solidFill>
                  <a:latin typeface="Roboto"/>
                </a:rPr>
                <a:t>Robots are integrated into
various sectors</a:t>
              </a:r>
            </a:p>
          </p:txBody>
        </p:sp>
        <p:sp>
          <p:nvSpPr>
            <p:cNvPr id="71" name="TextBox 70"/>
            <p:cNvSpPr txBox="1"/>
            <p:nvPr/>
          </p:nvSpPr>
          <p:spPr>
            <a:xfrm>
              <a:off x="5635873" y="3499923"/>
              <a:ext cx="920280" cy="224262"/>
            </a:xfrm>
            <a:prstGeom prst="rect">
              <a:avLst/>
            </a:prstGeom>
            <a:noFill/>
            <a:ln>
              <a:noFill/>
            </a:ln>
          </p:spPr>
          <p:txBody>
            <a:bodyPr wrap="none" lIns="0" tIns="0" rIns="0" bIns="0" anchor="t">
              <a:spAutoFit/>
            </a:bodyPr>
            <a:lstStyle/>
            <a:p>
              <a:pPr algn="ctr"/>
              <a:r>
                <a:rPr sz="2400" b="1" dirty="0">
                  <a:solidFill>
                    <a:srgbClr val="FFFFFF"/>
                  </a:solidFill>
                  <a:latin typeface="Roboto"/>
                </a:rPr>
                <a:t>Robotics</a:t>
              </a:r>
            </a:p>
          </p:txBody>
        </p:sp>
        <p:sp>
          <p:nvSpPr>
            <p:cNvPr id="72" name="TextBox 71"/>
            <p:cNvSpPr txBox="1"/>
            <p:nvPr/>
          </p:nvSpPr>
          <p:spPr>
            <a:xfrm>
              <a:off x="4390068" y="2389685"/>
              <a:ext cx="1523336" cy="261639"/>
            </a:xfrm>
            <a:prstGeom prst="rect">
              <a:avLst/>
            </a:prstGeom>
            <a:noFill/>
            <a:ln>
              <a:noFill/>
            </a:ln>
          </p:spPr>
          <p:txBody>
            <a:bodyPr wrap="none" lIns="0" tIns="0" rIns="0" bIns="0" anchor="t">
              <a:spAutoFit/>
            </a:bodyPr>
            <a:lstStyle/>
            <a:p>
              <a:pPr algn="ctr"/>
              <a:r>
                <a:rPr sz="1400" dirty="0">
                  <a:solidFill>
                    <a:srgbClr val="FFFFFF"/>
                  </a:solidFill>
                  <a:latin typeface="Roboto"/>
                </a:rPr>
                <a:t>Society grapples with the
moral implications of robots</a:t>
              </a:r>
            </a:p>
          </p:txBody>
        </p:sp>
        <p:sp>
          <p:nvSpPr>
            <p:cNvPr id="73" name="TextBox 72"/>
            <p:cNvSpPr txBox="1"/>
            <p:nvPr/>
          </p:nvSpPr>
          <p:spPr>
            <a:xfrm>
              <a:off x="7396070" y="4457424"/>
              <a:ext cx="1176972" cy="112131"/>
            </a:xfrm>
            <a:prstGeom prst="rect">
              <a:avLst/>
            </a:prstGeom>
            <a:noFill/>
            <a:ln>
              <a:noFill/>
            </a:ln>
          </p:spPr>
          <p:txBody>
            <a:bodyPr wrap="none" lIns="0" tIns="0" rIns="0" bIns="0" anchor="t">
              <a:spAutoFit/>
            </a:bodyPr>
            <a:lstStyle/>
            <a:p>
              <a:pPr algn="ctr"/>
              <a:r>
                <a:rPr sz="1200" b="1" dirty="0">
                  <a:solidFill>
                    <a:srgbClr val="FFFFFF"/>
                  </a:solidFill>
                  <a:latin typeface="Roboto"/>
                </a:rPr>
                <a:t>Collaborative Progress</a:t>
              </a:r>
            </a:p>
          </p:txBody>
        </p:sp>
        <p:sp>
          <p:nvSpPr>
            <p:cNvPr id="74" name="TextBox 73"/>
            <p:cNvSpPr txBox="1"/>
            <p:nvPr/>
          </p:nvSpPr>
          <p:spPr>
            <a:xfrm>
              <a:off x="8171075" y="2389685"/>
              <a:ext cx="1515490" cy="261639"/>
            </a:xfrm>
            <a:prstGeom prst="rect">
              <a:avLst/>
            </a:prstGeom>
            <a:noFill/>
            <a:ln>
              <a:noFill/>
            </a:ln>
          </p:spPr>
          <p:txBody>
            <a:bodyPr wrap="none" lIns="0" tIns="0" rIns="0" bIns="0" anchor="t">
              <a:spAutoFit/>
            </a:bodyPr>
            <a:lstStyle/>
            <a:p>
              <a:pPr algn="ctr"/>
              <a:r>
                <a:rPr sz="1400" dirty="0">
                  <a:solidFill>
                    <a:srgbClr val="FFFFFF"/>
                  </a:solidFill>
                  <a:latin typeface="Roboto"/>
                </a:rPr>
                <a:t>The goal is to create robots
that benefit humanity</a:t>
              </a:r>
            </a:p>
          </p:txBody>
        </p:sp>
        <p:sp>
          <p:nvSpPr>
            <p:cNvPr id="75" name="TextBox 74"/>
            <p:cNvSpPr txBox="1"/>
            <p:nvPr/>
          </p:nvSpPr>
          <p:spPr>
            <a:xfrm>
              <a:off x="5288961" y="4829617"/>
              <a:ext cx="1614132" cy="261639"/>
            </a:xfrm>
            <a:prstGeom prst="rect">
              <a:avLst/>
            </a:prstGeom>
            <a:noFill/>
            <a:ln>
              <a:noFill/>
            </a:ln>
          </p:spPr>
          <p:txBody>
            <a:bodyPr wrap="none" lIns="0" tIns="0" rIns="0" bIns="0" anchor="t">
              <a:spAutoFit/>
            </a:bodyPr>
            <a:lstStyle/>
            <a:p>
              <a:pPr algn="ctr"/>
              <a:r>
                <a:rPr sz="1400" dirty="0">
                  <a:solidFill>
                    <a:srgbClr val="FFFFFF"/>
                  </a:solidFill>
                  <a:latin typeface="Roboto"/>
                </a:rPr>
                <a:t>Robots influence job markets
and economic growth</a:t>
              </a:r>
            </a:p>
          </p:txBody>
        </p:sp>
        <p:sp>
          <p:nvSpPr>
            <p:cNvPr id="76" name="TextBox 75"/>
            <p:cNvSpPr txBox="1"/>
            <p:nvPr/>
          </p:nvSpPr>
          <p:spPr>
            <a:xfrm>
              <a:off x="6257890" y="2389685"/>
              <a:ext cx="1564811" cy="261639"/>
            </a:xfrm>
            <a:prstGeom prst="rect">
              <a:avLst/>
            </a:prstGeom>
            <a:noFill/>
            <a:ln>
              <a:noFill/>
            </a:ln>
          </p:spPr>
          <p:txBody>
            <a:bodyPr wrap="none" lIns="0" tIns="0" rIns="0" bIns="0" anchor="t">
              <a:spAutoFit/>
            </a:bodyPr>
            <a:lstStyle/>
            <a:p>
              <a:pPr algn="ctr"/>
              <a:r>
                <a:rPr sz="1400" dirty="0">
                  <a:solidFill>
                    <a:srgbClr val="FFFFFF"/>
                  </a:solidFill>
                  <a:latin typeface="Roboto"/>
                </a:rPr>
                <a:t>Robots need to be accepted
and integrated into daily life</a:t>
              </a:r>
            </a:p>
          </p:txBody>
        </p:sp>
        <p:sp>
          <p:nvSpPr>
            <p:cNvPr id="77" name="TextBox 76"/>
            <p:cNvSpPr txBox="1"/>
            <p:nvPr/>
          </p:nvSpPr>
          <p:spPr>
            <a:xfrm>
              <a:off x="3407136" y="4829617"/>
              <a:ext cx="1600681" cy="261639"/>
            </a:xfrm>
            <a:prstGeom prst="rect">
              <a:avLst/>
            </a:prstGeom>
            <a:noFill/>
            <a:ln>
              <a:noFill/>
            </a:ln>
          </p:spPr>
          <p:txBody>
            <a:bodyPr wrap="none" lIns="0" tIns="0" rIns="0" bIns="0" anchor="t">
              <a:spAutoFit/>
            </a:bodyPr>
            <a:lstStyle/>
            <a:p>
              <a:pPr algn="ctr"/>
              <a:r>
                <a:rPr sz="1400" dirty="0">
                  <a:solidFill>
                    <a:srgbClr val="FFFFFF"/>
                  </a:solidFill>
                  <a:latin typeface="Roboto"/>
                </a:rPr>
                <a:t>Engineers face challenges in
robot design</a:t>
              </a:r>
            </a:p>
          </p:txBody>
        </p:sp>
      </p:grpSp>
      <p:sp>
        <p:nvSpPr>
          <p:cNvPr id="79" name="Slide Number Placeholder 78">
            <a:extLst>
              <a:ext uri="{FF2B5EF4-FFF2-40B4-BE49-F238E27FC236}">
                <a16:creationId xmlns:a16="http://schemas.microsoft.com/office/drawing/2014/main" id="{74D05CC5-D808-48F7-AAFD-B130C9A9BDED}"/>
              </a:ext>
            </a:extLst>
          </p:cNvPr>
          <p:cNvSpPr>
            <a:spLocks noGrp="1"/>
          </p:cNvSpPr>
          <p:nvPr>
            <p:ph type="sldNum" sz="quarter" idx="12"/>
          </p:nvPr>
        </p:nvSpPr>
        <p:spPr/>
        <p:txBody>
          <a:bodyPr/>
          <a:lstStyle/>
          <a:p>
            <a:fld id="{A4DBBB07-2F6F-4E90-8073-ED4B40896F16}" type="slidenum">
              <a:rPr lang="en-US" smtClean="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906D3-8442-4EDB-A62E-1D96D132FC66}"/>
              </a:ext>
            </a:extLst>
          </p:cNvPr>
          <p:cNvSpPr>
            <a:spLocks noGrp="1"/>
          </p:cNvSpPr>
          <p:nvPr>
            <p:ph type="title"/>
          </p:nvPr>
        </p:nvSpPr>
        <p:spPr/>
        <p:txBody>
          <a:bodyPr/>
          <a:lstStyle/>
          <a:p>
            <a:r>
              <a:rPr lang="en-US" b="1" dirty="0"/>
              <a:t>Q&amp;A / Discussion</a:t>
            </a:r>
            <a:endParaRPr lang="en-US" dirty="0"/>
          </a:p>
        </p:txBody>
      </p:sp>
      <p:sp>
        <p:nvSpPr>
          <p:cNvPr id="3" name="Content Placeholder 2">
            <a:extLst>
              <a:ext uri="{FF2B5EF4-FFF2-40B4-BE49-F238E27FC236}">
                <a16:creationId xmlns:a16="http://schemas.microsoft.com/office/drawing/2014/main" id="{AEA86BDB-8B5A-4AAB-A999-7928CE940787}"/>
              </a:ext>
            </a:extLst>
          </p:cNvPr>
          <p:cNvSpPr>
            <a:spLocks noGrp="1"/>
          </p:cNvSpPr>
          <p:nvPr>
            <p:ph idx="1"/>
          </p:nvPr>
        </p:nvSpPr>
        <p:spPr/>
        <p:txBody>
          <a:bodyPr/>
          <a:lstStyle/>
          <a:p>
            <a:r>
              <a:rPr lang="en-US" dirty="0"/>
              <a:t>What robot application excites you the most?</a:t>
            </a:r>
          </a:p>
          <a:p>
            <a:r>
              <a:rPr lang="en-US" dirty="0"/>
              <a:t>Which challenge do you think is the hardest to solve?</a:t>
            </a:r>
          </a:p>
          <a:p>
            <a:r>
              <a:rPr lang="en-US" dirty="0"/>
              <a:t>How can we ensure robots are developed ethically?</a:t>
            </a:r>
          </a:p>
          <a:p>
            <a:endParaRPr lang="en-US" dirty="0"/>
          </a:p>
        </p:txBody>
      </p:sp>
      <p:sp>
        <p:nvSpPr>
          <p:cNvPr id="4" name="Slide Number Placeholder 3">
            <a:extLst>
              <a:ext uri="{FF2B5EF4-FFF2-40B4-BE49-F238E27FC236}">
                <a16:creationId xmlns:a16="http://schemas.microsoft.com/office/drawing/2014/main" id="{F4254E04-DD61-4EB7-99A2-1F8D7EA222C9}"/>
              </a:ext>
            </a:extLst>
          </p:cNvPr>
          <p:cNvSpPr>
            <a:spLocks noGrp="1"/>
          </p:cNvSpPr>
          <p:nvPr>
            <p:ph type="sldNum" sz="quarter" idx="12"/>
          </p:nvPr>
        </p:nvSpPr>
        <p:spPr/>
        <p:txBody>
          <a:bodyPr/>
          <a:lstStyle/>
          <a:p>
            <a:fld id="{A4DBBB07-2F6F-4E90-8073-ED4B40896F16}" type="slidenum">
              <a:rPr lang="en-US" smtClean="0"/>
              <a:t>26</a:t>
            </a:fld>
            <a:endParaRPr lang="en-US"/>
          </a:p>
        </p:txBody>
      </p:sp>
    </p:spTree>
    <p:extLst>
      <p:ext uri="{BB962C8B-B14F-4D97-AF65-F5344CB8AC3E}">
        <p14:creationId xmlns:p14="http://schemas.microsoft.com/office/powerpoint/2010/main" val="10622479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308F1D-AFC0-495F-B66C-F41121C5E623}"/>
              </a:ext>
            </a:extLst>
          </p:cNvPr>
          <p:cNvSpPr>
            <a:spLocks noGrp="1"/>
          </p:cNvSpPr>
          <p:nvPr>
            <p:ph type="title"/>
          </p:nvPr>
        </p:nvSpPr>
        <p:spPr/>
        <p:txBody>
          <a:bodyPr/>
          <a:lstStyle/>
          <a:p>
            <a:r>
              <a:rPr lang="en-US" b="1" dirty="0"/>
              <a:t>How to Classify a Robot</a:t>
            </a:r>
            <a:br>
              <a:rPr lang="en-US" b="1" dirty="0"/>
            </a:br>
            <a:endParaRPr lang="en-US" dirty="0"/>
          </a:p>
        </p:txBody>
      </p:sp>
      <p:sp>
        <p:nvSpPr>
          <p:cNvPr id="3" name="Content Placeholder 2">
            <a:extLst>
              <a:ext uri="{FF2B5EF4-FFF2-40B4-BE49-F238E27FC236}">
                <a16:creationId xmlns:a16="http://schemas.microsoft.com/office/drawing/2014/main" id="{5C494DD7-8DE2-4F3F-902F-83AA0B59F11A}"/>
              </a:ext>
            </a:extLst>
          </p:cNvPr>
          <p:cNvSpPr>
            <a:spLocks noGrp="1"/>
          </p:cNvSpPr>
          <p:nvPr>
            <p:ph idx="1"/>
          </p:nvPr>
        </p:nvSpPr>
        <p:spPr/>
        <p:txBody>
          <a:bodyPr/>
          <a:lstStyle/>
          <a:p>
            <a:pPr marL="0" indent="0">
              <a:buNone/>
            </a:pPr>
            <a:r>
              <a:rPr lang="en-US" dirty="0"/>
              <a:t>Robots can be grouped in multiple ways:</a:t>
            </a:r>
          </a:p>
          <a:p>
            <a:r>
              <a:rPr lang="en-US" b="1" dirty="0"/>
              <a:t>By Movement &amp; Structure:</a:t>
            </a:r>
            <a:r>
              <a:rPr lang="en-US" dirty="0"/>
              <a:t> How it is physically built and moves.</a:t>
            </a:r>
          </a:p>
          <a:p>
            <a:r>
              <a:rPr lang="en-US" b="1" dirty="0"/>
              <a:t>By Application &amp; Sector:</a:t>
            </a:r>
            <a:r>
              <a:rPr lang="en-US" dirty="0"/>
              <a:t> The job it is designed to do.</a:t>
            </a:r>
          </a:p>
          <a:p>
            <a:r>
              <a:rPr lang="en-US" b="1" dirty="0"/>
              <a:t>By Level of Autonomy:</a:t>
            </a:r>
            <a:r>
              <a:rPr lang="en-US" dirty="0"/>
              <a:t> How independently it can operate and make decisions.</a:t>
            </a:r>
          </a:p>
          <a:p>
            <a:r>
              <a:rPr lang="en-US" b="1" dirty="0"/>
              <a:t>By Mobility:</a:t>
            </a:r>
            <a:r>
              <a:rPr lang="en-US" dirty="0"/>
              <a:t> Whether it is fixed in place or can move around its environment.</a:t>
            </a:r>
          </a:p>
          <a:p>
            <a:endParaRPr lang="en-US" dirty="0"/>
          </a:p>
        </p:txBody>
      </p:sp>
      <p:sp>
        <p:nvSpPr>
          <p:cNvPr id="4" name="Slide Number Placeholder 3">
            <a:extLst>
              <a:ext uri="{FF2B5EF4-FFF2-40B4-BE49-F238E27FC236}">
                <a16:creationId xmlns:a16="http://schemas.microsoft.com/office/drawing/2014/main" id="{DD2733AA-C32A-4763-8833-A30FC9F2106C}"/>
              </a:ext>
            </a:extLst>
          </p:cNvPr>
          <p:cNvSpPr>
            <a:spLocks noGrp="1"/>
          </p:cNvSpPr>
          <p:nvPr>
            <p:ph type="sldNum" sz="quarter" idx="12"/>
          </p:nvPr>
        </p:nvSpPr>
        <p:spPr/>
        <p:txBody>
          <a:bodyPr/>
          <a:lstStyle/>
          <a:p>
            <a:fld id="{A4DBBB07-2F6F-4E90-8073-ED4B40896F16}" type="slidenum">
              <a:rPr lang="en-US" smtClean="0"/>
              <a:t>27</a:t>
            </a:fld>
            <a:endParaRPr lang="en-US"/>
          </a:p>
        </p:txBody>
      </p:sp>
    </p:spTree>
    <p:extLst>
      <p:ext uri="{BB962C8B-B14F-4D97-AF65-F5344CB8AC3E}">
        <p14:creationId xmlns:p14="http://schemas.microsoft.com/office/powerpoint/2010/main" val="38694960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58FD8-E284-4479-B973-449EA5F5707C}"/>
              </a:ext>
            </a:extLst>
          </p:cNvPr>
          <p:cNvSpPr>
            <a:spLocks noGrp="1"/>
          </p:cNvSpPr>
          <p:nvPr>
            <p:ph type="title"/>
          </p:nvPr>
        </p:nvSpPr>
        <p:spPr/>
        <p:txBody>
          <a:bodyPr>
            <a:normAutofit/>
          </a:bodyPr>
          <a:lstStyle/>
          <a:p>
            <a:r>
              <a:rPr lang="en-US" b="1" dirty="0"/>
              <a:t>Classification by Physical Structure &amp; Movement</a:t>
            </a:r>
            <a:endParaRPr lang="en-US" dirty="0"/>
          </a:p>
        </p:txBody>
      </p:sp>
      <p:sp>
        <p:nvSpPr>
          <p:cNvPr id="3" name="Content Placeholder 2">
            <a:extLst>
              <a:ext uri="{FF2B5EF4-FFF2-40B4-BE49-F238E27FC236}">
                <a16:creationId xmlns:a16="http://schemas.microsoft.com/office/drawing/2014/main" id="{C2061F4E-D3FB-4F05-B117-02BD3E42A305}"/>
              </a:ext>
            </a:extLst>
          </p:cNvPr>
          <p:cNvSpPr>
            <a:spLocks noGrp="1"/>
          </p:cNvSpPr>
          <p:nvPr>
            <p:ph sz="half" idx="1"/>
          </p:nvPr>
        </p:nvSpPr>
        <p:spPr/>
        <p:txBody>
          <a:bodyPr>
            <a:normAutofit fontScale="70000" lnSpcReduction="20000"/>
          </a:bodyPr>
          <a:lstStyle/>
          <a:p>
            <a:pPr marL="0" indent="0">
              <a:buNone/>
            </a:pPr>
            <a:r>
              <a:rPr lang="en-US" dirty="0"/>
              <a:t>Key categories of robotic manipulators</a:t>
            </a:r>
          </a:p>
          <a:p>
            <a:r>
              <a:rPr lang="en-US" b="1" dirty="0"/>
              <a:t>Articulated / 6-Axis:</a:t>
            </a:r>
            <a:r>
              <a:rPr lang="en-US" dirty="0"/>
              <a:t> The most common industrial arm. Highly flexible with a rotating base and multiple joints. </a:t>
            </a:r>
            <a:r>
              <a:rPr lang="en-US" i="1" dirty="0"/>
              <a:t>Example: Welding, painting.</a:t>
            </a:r>
            <a:endParaRPr lang="en-US" dirty="0"/>
          </a:p>
          <a:p>
            <a:r>
              <a:rPr lang="en-US" b="1" dirty="0"/>
              <a:t>SCARA:</a:t>
            </a:r>
            <a:r>
              <a:rPr lang="en-US" dirty="0"/>
              <a:t> Fast and precise in a single horizontal plane. </a:t>
            </a:r>
            <a:r>
              <a:rPr lang="en-US" i="1" dirty="0"/>
              <a:t>Example: Pick-and-place, assembly.</a:t>
            </a:r>
            <a:endParaRPr lang="en-US" dirty="0"/>
          </a:p>
          <a:p>
            <a:r>
              <a:rPr lang="en-US" b="1" dirty="0"/>
              <a:t>Cartesian / Gantry:</a:t>
            </a:r>
            <a:r>
              <a:rPr lang="en-US" dirty="0"/>
              <a:t> Moves in straight lines along X, Y, Z axes. Very rigid and precise. </a:t>
            </a:r>
            <a:r>
              <a:rPr lang="en-US" i="1" dirty="0"/>
              <a:t>Example: 3D printing, CNC machining.</a:t>
            </a:r>
            <a:endParaRPr lang="en-US" dirty="0"/>
          </a:p>
          <a:p>
            <a:r>
              <a:rPr lang="en-US" b="1" dirty="0"/>
              <a:t>Delta:</a:t>
            </a:r>
            <a:r>
              <a:rPr lang="en-US" dirty="0"/>
              <a:t> Very high-speed parallel robot with "spider-like“ arms.  </a:t>
            </a:r>
            <a:r>
              <a:rPr lang="en-US" i="1" dirty="0"/>
              <a:t>Example: Food &amp; pharmaceutical packaging.</a:t>
            </a:r>
            <a:br>
              <a:rPr lang="en-US" dirty="0"/>
            </a:br>
            <a:endParaRPr lang="en-US" dirty="0"/>
          </a:p>
        </p:txBody>
      </p:sp>
      <p:pic>
        <p:nvPicPr>
          <p:cNvPr id="1026" name="Picture 2" descr="SCARA Robot | How To Build Your Own ...">
            <a:extLst>
              <a:ext uri="{FF2B5EF4-FFF2-40B4-BE49-F238E27FC236}">
                <a16:creationId xmlns:a16="http://schemas.microsoft.com/office/drawing/2014/main" id="{B977183F-DC57-4632-8325-93D511C1CE66}"/>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172202" y="1553634"/>
            <a:ext cx="2857500" cy="16002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57D93055-1BBA-48AC-A5AB-EE51264F7F3B}"/>
              </a:ext>
            </a:extLst>
          </p:cNvPr>
          <p:cNvPicPr>
            <a:picLocks noChangeAspect="1"/>
          </p:cNvPicPr>
          <p:nvPr/>
        </p:nvPicPr>
        <p:blipFill>
          <a:blip r:embed="rId3"/>
          <a:stretch>
            <a:fillRect/>
          </a:stretch>
        </p:blipFill>
        <p:spPr>
          <a:xfrm>
            <a:off x="9610725" y="923925"/>
            <a:ext cx="1743075" cy="2619375"/>
          </a:xfrm>
          <a:prstGeom prst="rect">
            <a:avLst/>
          </a:prstGeom>
        </p:spPr>
      </p:pic>
      <p:pic>
        <p:nvPicPr>
          <p:cNvPr id="7" name="Picture 6">
            <a:extLst>
              <a:ext uri="{FF2B5EF4-FFF2-40B4-BE49-F238E27FC236}">
                <a16:creationId xmlns:a16="http://schemas.microsoft.com/office/drawing/2014/main" id="{8F9BB1A6-0DE9-48D6-A30A-3E19A67912A5}"/>
              </a:ext>
            </a:extLst>
          </p:cNvPr>
          <p:cNvPicPr>
            <a:picLocks noChangeAspect="1"/>
          </p:cNvPicPr>
          <p:nvPr/>
        </p:nvPicPr>
        <p:blipFill>
          <a:blip r:embed="rId4"/>
          <a:stretch>
            <a:fillRect/>
          </a:stretch>
        </p:blipFill>
        <p:spPr>
          <a:xfrm>
            <a:off x="9142941" y="3684587"/>
            <a:ext cx="2847975" cy="1600200"/>
          </a:xfrm>
          <a:prstGeom prst="rect">
            <a:avLst/>
          </a:prstGeom>
        </p:spPr>
      </p:pic>
      <p:pic>
        <p:nvPicPr>
          <p:cNvPr id="8" name="Picture 7">
            <a:extLst>
              <a:ext uri="{FF2B5EF4-FFF2-40B4-BE49-F238E27FC236}">
                <a16:creationId xmlns:a16="http://schemas.microsoft.com/office/drawing/2014/main" id="{556FA48C-1107-470C-BF36-B224081EF899}"/>
              </a:ext>
            </a:extLst>
          </p:cNvPr>
          <p:cNvPicPr>
            <a:picLocks noChangeAspect="1"/>
          </p:cNvPicPr>
          <p:nvPr/>
        </p:nvPicPr>
        <p:blipFill>
          <a:blip r:embed="rId5"/>
          <a:stretch>
            <a:fillRect/>
          </a:stretch>
        </p:blipFill>
        <p:spPr>
          <a:xfrm>
            <a:off x="6157383" y="3543300"/>
            <a:ext cx="2847975" cy="1600200"/>
          </a:xfrm>
          <a:prstGeom prst="rect">
            <a:avLst/>
          </a:prstGeom>
        </p:spPr>
      </p:pic>
      <p:sp>
        <p:nvSpPr>
          <p:cNvPr id="9" name="Slide Number Placeholder 8">
            <a:extLst>
              <a:ext uri="{FF2B5EF4-FFF2-40B4-BE49-F238E27FC236}">
                <a16:creationId xmlns:a16="http://schemas.microsoft.com/office/drawing/2014/main" id="{EFD1238B-472F-46F8-8F43-3B2B051210EF}"/>
              </a:ext>
            </a:extLst>
          </p:cNvPr>
          <p:cNvSpPr>
            <a:spLocks noGrp="1"/>
          </p:cNvSpPr>
          <p:nvPr>
            <p:ph type="sldNum" sz="quarter" idx="12"/>
          </p:nvPr>
        </p:nvSpPr>
        <p:spPr/>
        <p:txBody>
          <a:bodyPr/>
          <a:lstStyle/>
          <a:p>
            <a:fld id="{A4DBBB07-2F6F-4E90-8073-ED4B40896F16}" type="slidenum">
              <a:rPr lang="en-US" smtClean="0"/>
              <a:t>28</a:t>
            </a:fld>
            <a:endParaRPr lang="en-US"/>
          </a:p>
        </p:txBody>
      </p:sp>
    </p:spTree>
    <p:extLst>
      <p:ext uri="{BB962C8B-B14F-4D97-AF65-F5344CB8AC3E}">
        <p14:creationId xmlns:p14="http://schemas.microsoft.com/office/powerpoint/2010/main" val="18690806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B7ACD-9DFF-40D3-8207-370C845297A7}"/>
              </a:ext>
            </a:extLst>
          </p:cNvPr>
          <p:cNvSpPr>
            <a:spLocks noGrp="1"/>
          </p:cNvSpPr>
          <p:nvPr>
            <p:ph type="title"/>
          </p:nvPr>
        </p:nvSpPr>
        <p:spPr/>
        <p:txBody>
          <a:bodyPr/>
          <a:lstStyle/>
          <a:p>
            <a:r>
              <a:rPr lang="en-US" b="1" dirty="0"/>
              <a:t>Classification by Application &amp; Sector</a:t>
            </a:r>
            <a:endParaRPr lang="en-US" dirty="0"/>
          </a:p>
        </p:txBody>
      </p:sp>
      <p:sp>
        <p:nvSpPr>
          <p:cNvPr id="3" name="Content Placeholder 2">
            <a:extLst>
              <a:ext uri="{FF2B5EF4-FFF2-40B4-BE49-F238E27FC236}">
                <a16:creationId xmlns:a16="http://schemas.microsoft.com/office/drawing/2014/main" id="{C7469E12-CA10-4DAC-9D6B-89997FADB304}"/>
              </a:ext>
            </a:extLst>
          </p:cNvPr>
          <p:cNvSpPr>
            <a:spLocks noGrp="1"/>
          </p:cNvSpPr>
          <p:nvPr>
            <p:ph idx="1"/>
          </p:nvPr>
        </p:nvSpPr>
        <p:spPr/>
        <p:txBody>
          <a:bodyPr>
            <a:normAutofit fontScale="92500"/>
          </a:bodyPr>
          <a:lstStyle/>
          <a:p>
            <a:pPr marL="0" indent="0">
              <a:buNone/>
            </a:pPr>
            <a:r>
              <a:rPr lang="en-US" dirty="0"/>
              <a:t>Where robots work defines their design:</a:t>
            </a:r>
          </a:p>
          <a:p>
            <a:r>
              <a:rPr lang="en-US" b="1" dirty="0"/>
              <a:t>Industrial:</a:t>
            </a:r>
            <a:r>
              <a:rPr lang="en-US" dirty="0"/>
              <a:t> Manufacturing, assembly, welding, painting, palletizing.</a:t>
            </a:r>
          </a:p>
          <a:p>
            <a:r>
              <a:rPr lang="en-US" b="1" dirty="0"/>
              <a:t>Service &amp; Commercial:</a:t>
            </a:r>
            <a:r>
              <a:rPr lang="en-US" dirty="0"/>
              <a:t> Cleaning, delivery, hospitality, logistics (AMRs/AGVs).</a:t>
            </a:r>
          </a:p>
          <a:p>
            <a:r>
              <a:rPr lang="en-US" b="1" dirty="0"/>
              <a:t>Medical:</a:t>
            </a:r>
            <a:r>
              <a:rPr lang="en-US" dirty="0"/>
              <a:t> Surgical assistance, rehabilitation, lab automation, patient care.</a:t>
            </a:r>
          </a:p>
          <a:p>
            <a:r>
              <a:rPr lang="en-US" b="1" dirty="0"/>
              <a:t>Consumer:</a:t>
            </a:r>
            <a:r>
              <a:rPr lang="en-US" dirty="0"/>
              <a:t> Vacuum cleaners, lawn mowers, educational kits, companions.</a:t>
            </a:r>
          </a:p>
          <a:p>
            <a:r>
              <a:rPr lang="en-US" b="1" dirty="0"/>
              <a:t>Aerospace &amp; Defense:</a:t>
            </a:r>
            <a:r>
              <a:rPr lang="en-US" dirty="0"/>
              <a:t> Drones, space exploration rovers, bomb disposal.</a:t>
            </a:r>
          </a:p>
          <a:p>
            <a:r>
              <a:rPr lang="en-US" b="1" dirty="0"/>
              <a:t>Research &amp; Exploration:</a:t>
            </a:r>
            <a:r>
              <a:rPr lang="en-US" dirty="0"/>
              <a:t> Humanoids, ocean mapping, disaster response.</a:t>
            </a:r>
          </a:p>
          <a:p>
            <a:endParaRPr lang="en-US" dirty="0"/>
          </a:p>
        </p:txBody>
      </p:sp>
      <p:sp>
        <p:nvSpPr>
          <p:cNvPr id="4" name="Slide Number Placeholder 3">
            <a:extLst>
              <a:ext uri="{FF2B5EF4-FFF2-40B4-BE49-F238E27FC236}">
                <a16:creationId xmlns:a16="http://schemas.microsoft.com/office/drawing/2014/main" id="{9FABA7D5-A76E-4CCD-88CA-E2699935D204}"/>
              </a:ext>
            </a:extLst>
          </p:cNvPr>
          <p:cNvSpPr>
            <a:spLocks noGrp="1"/>
          </p:cNvSpPr>
          <p:nvPr>
            <p:ph type="sldNum" sz="quarter" idx="12"/>
          </p:nvPr>
        </p:nvSpPr>
        <p:spPr/>
        <p:txBody>
          <a:bodyPr/>
          <a:lstStyle/>
          <a:p>
            <a:fld id="{A4DBBB07-2F6F-4E90-8073-ED4B40896F16}" type="slidenum">
              <a:rPr lang="en-US" smtClean="0"/>
              <a:t>29</a:t>
            </a:fld>
            <a:endParaRPr lang="en-US"/>
          </a:p>
        </p:txBody>
      </p:sp>
    </p:spTree>
    <p:extLst>
      <p:ext uri="{BB962C8B-B14F-4D97-AF65-F5344CB8AC3E}">
        <p14:creationId xmlns:p14="http://schemas.microsoft.com/office/powerpoint/2010/main" val="13228869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DF6D0-1BA6-475D-84A2-7366B36674CF}"/>
              </a:ext>
            </a:extLst>
          </p:cNvPr>
          <p:cNvSpPr>
            <a:spLocks noGrp="1"/>
          </p:cNvSpPr>
          <p:nvPr>
            <p:ph type="title"/>
          </p:nvPr>
        </p:nvSpPr>
        <p:spPr/>
        <p:txBody>
          <a:bodyPr/>
          <a:lstStyle/>
          <a:p>
            <a:r>
              <a:rPr lang="en-US" b="1" dirty="0"/>
              <a:t>Key Robot Types in Detail (1)</a:t>
            </a:r>
            <a:endParaRPr lang="en-US" dirty="0"/>
          </a:p>
        </p:txBody>
      </p:sp>
      <p:sp>
        <p:nvSpPr>
          <p:cNvPr id="3" name="Content Placeholder 2">
            <a:extLst>
              <a:ext uri="{FF2B5EF4-FFF2-40B4-BE49-F238E27FC236}">
                <a16:creationId xmlns:a16="http://schemas.microsoft.com/office/drawing/2014/main" id="{C3A6158F-4BFB-45FA-B74F-78B2667C0D7E}"/>
              </a:ext>
            </a:extLst>
          </p:cNvPr>
          <p:cNvSpPr>
            <a:spLocks noGrp="1"/>
          </p:cNvSpPr>
          <p:nvPr>
            <p:ph sz="half" idx="1"/>
          </p:nvPr>
        </p:nvSpPr>
        <p:spPr/>
        <p:txBody>
          <a:bodyPr>
            <a:normAutofit fontScale="92500" lnSpcReduction="20000"/>
          </a:bodyPr>
          <a:lstStyle/>
          <a:p>
            <a:r>
              <a:rPr lang="en-US" b="1" dirty="0"/>
              <a:t>Autonomous Mobile Robots (AMRs):</a:t>
            </a:r>
            <a:endParaRPr lang="en-US" dirty="0"/>
          </a:p>
          <a:p>
            <a:pPr lvl="1"/>
            <a:r>
              <a:rPr lang="en-US" dirty="0"/>
              <a:t>Use sensors and onboard intelligence to </a:t>
            </a:r>
            <a:r>
              <a:rPr lang="en-US" b="1" dirty="0"/>
              <a:t>navigate and make real-time decisions</a:t>
            </a:r>
            <a:r>
              <a:rPr lang="en-US" dirty="0"/>
              <a:t> in dynamic environments.</a:t>
            </a:r>
          </a:p>
          <a:p>
            <a:pPr lvl="1"/>
            <a:r>
              <a:rPr lang="en-US" i="1" dirty="0"/>
              <a:t>Examples: Hospital delivery bots, warehouse inventory robots.</a:t>
            </a:r>
            <a:endParaRPr lang="en-US" dirty="0"/>
          </a:p>
          <a:p>
            <a:r>
              <a:rPr lang="en-US" b="1" dirty="0"/>
              <a:t>Automated Guided Vehicles (AGVs):</a:t>
            </a:r>
            <a:endParaRPr lang="en-US" dirty="0"/>
          </a:p>
          <a:p>
            <a:pPr lvl="1"/>
            <a:r>
              <a:rPr lang="en-US" dirty="0"/>
              <a:t>Follow </a:t>
            </a:r>
            <a:r>
              <a:rPr lang="en-US" b="1" dirty="0"/>
              <a:t>pre-defined paths</a:t>
            </a:r>
            <a:r>
              <a:rPr lang="en-US" dirty="0"/>
              <a:t> (wires, magnetic tape) in structured environments. Less flexible than AMRs.</a:t>
            </a:r>
          </a:p>
          <a:p>
            <a:pPr lvl="1"/>
            <a:r>
              <a:rPr lang="en-US" i="1" dirty="0"/>
              <a:t>Examples: Material transport in factories.</a:t>
            </a:r>
            <a:endParaRPr lang="en-US" dirty="0"/>
          </a:p>
          <a:p>
            <a:endParaRPr lang="en-US" dirty="0"/>
          </a:p>
        </p:txBody>
      </p:sp>
      <p:pic>
        <p:nvPicPr>
          <p:cNvPr id="5" name="Content Placeholder 4">
            <a:extLst>
              <a:ext uri="{FF2B5EF4-FFF2-40B4-BE49-F238E27FC236}">
                <a16:creationId xmlns:a16="http://schemas.microsoft.com/office/drawing/2014/main" id="{A1038DC0-2567-456D-A788-33DF7A837BF2}"/>
              </a:ext>
            </a:extLst>
          </p:cNvPr>
          <p:cNvPicPr>
            <a:picLocks noGrp="1" noChangeAspect="1"/>
          </p:cNvPicPr>
          <p:nvPr>
            <p:ph sz="half" idx="2"/>
          </p:nvPr>
        </p:nvPicPr>
        <p:blipFill>
          <a:blip r:embed="rId2"/>
          <a:stretch>
            <a:fillRect/>
          </a:stretch>
        </p:blipFill>
        <p:spPr>
          <a:xfrm>
            <a:off x="6172202" y="1660658"/>
            <a:ext cx="2857500" cy="1600200"/>
          </a:xfrm>
          <a:prstGeom prst="rect">
            <a:avLst/>
          </a:prstGeom>
        </p:spPr>
      </p:pic>
      <p:pic>
        <p:nvPicPr>
          <p:cNvPr id="6" name="Picture 5">
            <a:extLst>
              <a:ext uri="{FF2B5EF4-FFF2-40B4-BE49-F238E27FC236}">
                <a16:creationId xmlns:a16="http://schemas.microsoft.com/office/drawing/2014/main" id="{A316029B-A50B-44A5-B08C-1A4409DF2A9D}"/>
              </a:ext>
            </a:extLst>
          </p:cNvPr>
          <p:cNvPicPr>
            <a:picLocks noChangeAspect="1"/>
          </p:cNvPicPr>
          <p:nvPr/>
        </p:nvPicPr>
        <p:blipFill>
          <a:blip r:embed="rId3"/>
          <a:stretch>
            <a:fillRect/>
          </a:stretch>
        </p:blipFill>
        <p:spPr>
          <a:xfrm>
            <a:off x="9234468" y="1402026"/>
            <a:ext cx="2765974" cy="2026973"/>
          </a:xfrm>
          <a:prstGeom prst="rect">
            <a:avLst/>
          </a:prstGeom>
        </p:spPr>
      </p:pic>
      <p:pic>
        <p:nvPicPr>
          <p:cNvPr id="7" name="Picture 6">
            <a:extLst>
              <a:ext uri="{FF2B5EF4-FFF2-40B4-BE49-F238E27FC236}">
                <a16:creationId xmlns:a16="http://schemas.microsoft.com/office/drawing/2014/main" id="{5E377F3B-E6DE-4DB3-B113-4481A6D2CAD2}"/>
              </a:ext>
            </a:extLst>
          </p:cNvPr>
          <p:cNvPicPr>
            <a:picLocks noChangeAspect="1"/>
          </p:cNvPicPr>
          <p:nvPr/>
        </p:nvPicPr>
        <p:blipFill>
          <a:blip r:embed="rId4"/>
          <a:stretch>
            <a:fillRect/>
          </a:stretch>
        </p:blipFill>
        <p:spPr>
          <a:xfrm>
            <a:off x="5765802" y="3852332"/>
            <a:ext cx="3341311" cy="1871134"/>
          </a:xfrm>
          <a:prstGeom prst="rect">
            <a:avLst/>
          </a:prstGeom>
        </p:spPr>
      </p:pic>
      <p:pic>
        <p:nvPicPr>
          <p:cNvPr id="8" name="Picture 7">
            <a:extLst>
              <a:ext uri="{FF2B5EF4-FFF2-40B4-BE49-F238E27FC236}">
                <a16:creationId xmlns:a16="http://schemas.microsoft.com/office/drawing/2014/main" id="{483E8857-17DB-4393-A5DF-FBFB64D5F330}"/>
              </a:ext>
            </a:extLst>
          </p:cNvPr>
          <p:cNvPicPr>
            <a:picLocks noChangeAspect="1"/>
          </p:cNvPicPr>
          <p:nvPr/>
        </p:nvPicPr>
        <p:blipFill>
          <a:blip r:embed="rId5"/>
          <a:stretch>
            <a:fillRect/>
          </a:stretch>
        </p:blipFill>
        <p:spPr>
          <a:xfrm>
            <a:off x="9234468" y="3916361"/>
            <a:ext cx="2619375" cy="1743075"/>
          </a:xfrm>
          <a:prstGeom prst="rect">
            <a:avLst/>
          </a:prstGeom>
        </p:spPr>
      </p:pic>
      <p:sp>
        <p:nvSpPr>
          <p:cNvPr id="9" name="Slide Number Placeholder 8">
            <a:extLst>
              <a:ext uri="{FF2B5EF4-FFF2-40B4-BE49-F238E27FC236}">
                <a16:creationId xmlns:a16="http://schemas.microsoft.com/office/drawing/2014/main" id="{B2323A38-C5A6-426F-9119-6F3754353DC5}"/>
              </a:ext>
            </a:extLst>
          </p:cNvPr>
          <p:cNvSpPr>
            <a:spLocks noGrp="1"/>
          </p:cNvSpPr>
          <p:nvPr>
            <p:ph type="sldNum" sz="quarter" idx="12"/>
          </p:nvPr>
        </p:nvSpPr>
        <p:spPr/>
        <p:txBody>
          <a:bodyPr/>
          <a:lstStyle/>
          <a:p>
            <a:fld id="{A4DBBB07-2F6F-4E90-8073-ED4B40896F16}" type="slidenum">
              <a:rPr lang="en-US" smtClean="0"/>
              <a:t>30</a:t>
            </a:fld>
            <a:endParaRPr lang="en-US"/>
          </a:p>
        </p:txBody>
      </p:sp>
    </p:spTree>
    <p:extLst>
      <p:ext uri="{BB962C8B-B14F-4D97-AF65-F5344CB8AC3E}">
        <p14:creationId xmlns:p14="http://schemas.microsoft.com/office/powerpoint/2010/main" val="19966977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228D9-075B-4BCA-9B79-6F17701BA7B0}"/>
              </a:ext>
            </a:extLst>
          </p:cNvPr>
          <p:cNvSpPr>
            <a:spLocks noGrp="1"/>
          </p:cNvSpPr>
          <p:nvPr>
            <p:ph type="title"/>
          </p:nvPr>
        </p:nvSpPr>
        <p:spPr/>
        <p:txBody>
          <a:bodyPr/>
          <a:lstStyle/>
          <a:p>
            <a:r>
              <a:rPr lang="en-US" b="1" dirty="0"/>
              <a:t>Key Robot Types in Detail (2)</a:t>
            </a:r>
            <a:endParaRPr lang="en-US" dirty="0"/>
          </a:p>
        </p:txBody>
      </p:sp>
      <p:sp>
        <p:nvSpPr>
          <p:cNvPr id="3" name="Content Placeholder 2">
            <a:extLst>
              <a:ext uri="{FF2B5EF4-FFF2-40B4-BE49-F238E27FC236}">
                <a16:creationId xmlns:a16="http://schemas.microsoft.com/office/drawing/2014/main" id="{BFB2F5BC-2E1D-4FB4-B6D4-67F77CC21124}"/>
              </a:ext>
            </a:extLst>
          </p:cNvPr>
          <p:cNvSpPr>
            <a:spLocks noGrp="1"/>
          </p:cNvSpPr>
          <p:nvPr>
            <p:ph sz="half" idx="1"/>
          </p:nvPr>
        </p:nvSpPr>
        <p:spPr/>
        <p:txBody>
          <a:bodyPr>
            <a:normAutofit fontScale="92500" lnSpcReduction="10000"/>
          </a:bodyPr>
          <a:lstStyle/>
          <a:p>
            <a:r>
              <a:rPr lang="en-US" b="1" dirty="0"/>
              <a:t>Collaborative Robots (</a:t>
            </a:r>
            <a:r>
              <a:rPr lang="en-US" b="1" dirty="0" err="1"/>
              <a:t>Cobots</a:t>
            </a:r>
            <a:r>
              <a:rPr lang="en-US" b="1" dirty="0"/>
              <a:t>):</a:t>
            </a:r>
            <a:endParaRPr lang="en-US" dirty="0"/>
          </a:p>
          <a:p>
            <a:pPr lvl="1"/>
            <a:r>
              <a:rPr lang="en-US" dirty="0"/>
              <a:t>Designed with </a:t>
            </a:r>
            <a:r>
              <a:rPr lang="en-US" b="1" dirty="0"/>
              <a:t>safety features</a:t>
            </a:r>
            <a:r>
              <a:rPr lang="en-US" dirty="0"/>
              <a:t> (force sensing, rounded edges) to </a:t>
            </a:r>
            <a:r>
              <a:rPr lang="en-US" b="1" dirty="0"/>
              <a:t>work alongside humans</a:t>
            </a:r>
            <a:r>
              <a:rPr lang="en-US" dirty="0"/>
              <a:t> without cages.</a:t>
            </a:r>
          </a:p>
          <a:p>
            <a:pPr lvl="1"/>
            <a:r>
              <a:rPr lang="en-US" i="1" dirty="0"/>
              <a:t>Examples: Hand-guiding for assembly, machine tending.</a:t>
            </a:r>
            <a:endParaRPr lang="en-US" dirty="0"/>
          </a:p>
          <a:p>
            <a:r>
              <a:rPr lang="en-US" b="1" dirty="0"/>
              <a:t>Humanoid Robots:</a:t>
            </a:r>
            <a:endParaRPr lang="en-US" dirty="0"/>
          </a:p>
          <a:p>
            <a:pPr lvl="1"/>
            <a:r>
              <a:rPr lang="en-US" dirty="0"/>
              <a:t>Mimic the human form to operate in environments built for people.</a:t>
            </a:r>
          </a:p>
          <a:p>
            <a:pPr lvl="1"/>
            <a:r>
              <a:rPr lang="en-US" dirty="0"/>
              <a:t>A frontier of research for complex tasks and human-robot interaction.</a:t>
            </a:r>
          </a:p>
          <a:p>
            <a:pPr lvl="1"/>
            <a:r>
              <a:rPr lang="en-US" i="1" dirty="0"/>
              <a:t>Examples: Research platforms, public guidance, eldercare prototypes.</a:t>
            </a:r>
            <a:endParaRPr lang="en-US" dirty="0"/>
          </a:p>
          <a:p>
            <a:endParaRPr lang="en-US" dirty="0"/>
          </a:p>
        </p:txBody>
      </p:sp>
      <p:pic>
        <p:nvPicPr>
          <p:cNvPr id="5" name="Content Placeholder 4">
            <a:extLst>
              <a:ext uri="{FF2B5EF4-FFF2-40B4-BE49-F238E27FC236}">
                <a16:creationId xmlns:a16="http://schemas.microsoft.com/office/drawing/2014/main" id="{0BAFF8A3-71E5-4637-9AB2-8559CDE0F965}"/>
              </a:ext>
            </a:extLst>
          </p:cNvPr>
          <p:cNvPicPr>
            <a:picLocks noGrp="1" noChangeAspect="1"/>
          </p:cNvPicPr>
          <p:nvPr>
            <p:ph sz="half" idx="2"/>
          </p:nvPr>
        </p:nvPicPr>
        <p:blipFill>
          <a:blip r:embed="rId2"/>
          <a:stretch>
            <a:fillRect/>
          </a:stretch>
        </p:blipFill>
        <p:spPr>
          <a:xfrm>
            <a:off x="6026536" y="1690688"/>
            <a:ext cx="3213243" cy="1738312"/>
          </a:xfrm>
          <a:prstGeom prst="rect">
            <a:avLst/>
          </a:prstGeom>
        </p:spPr>
      </p:pic>
      <p:pic>
        <p:nvPicPr>
          <p:cNvPr id="6" name="Picture 5">
            <a:extLst>
              <a:ext uri="{FF2B5EF4-FFF2-40B4-BE49-F238E27FC236}">
                <a16:creationId xmlns:a16="http://schemas.microsoft.com/office/drawing/2014/main" id="{1D634E64-03A7-4150-9E17-36CB2E779E3D}"/>
              </a:ext>
            </a:extLst>
          </p:cNvPr>
          <p:cNvPicPr>
            <a:picLocks noChangeAspect="1"/>
          </p:cNvPicPr>
          <p:nvPr/>
        </p:nvPicPr>
        <p:blipFill>
          <a:blip r:embed="rId3"/>
          <a:stretch>
            <a:fillRect/>
          </a:stretch>
        </p:blipFill>
        <p:spPr>
          <a:xfrm>
            <a:off x="9239779" y="1685925"/>
            <a:ext cx="2619375" cy="1743075"/>
          </a:xfrm>
          <a:prstGeom prst="rect">
            <a:avLst/>
          </a:prstGeom>
        </p:spPr>
      </p:pic>
      <p:pic>
        <p:nvPicPr>
          <p:cNvPr id="9" name="Picture 8">
            <a:extLst>
              <a:ext uri="{FF2B5EF4-FFF2-40B4-BE49-F238E27FC236}">
                <a16:creationId xmlns:a16="http://schemas.microsoft.com/office/drawing/2014/main" id="{58B0FF0D-D03C-4E91-9EE4-744A5BE33101}"/>
              </a:ext>
            </a:extLst>
          </p:cNvPr>
          <p:cNvPicPr>
            <a:picLocks noChangeAspect="1"/>
          </p:cNvPicPr>
          <p:nvPr/>
        </p:nvPicPr>
        <p:blipFill>
          <a:blip r:embed="rId4"/>
          <a:stretch>
            <a:fillRect/>
          </a:stretch>
        </p:blipFill>
        <p:spPr>
          <a:xfrm>
            <a:off x="9239778" y="3878262"/>
            <a:ext cx="2619375" cy="1743075"/>
          </a:xfrm>
          <a:prstGeom prst="rect">
            <a:avLst/>
          </a:prstGeom>
        </p:spPr>
      </p:pic>
      <p:pic>
        <p:nvPicPr>
          <p:cNvPr id="10" name="Picture 9">
            <a:extLst>
              <a:ext uri="{FF2B5EF4-FFF2-40B4-BE49-F238E27FC236}">
                <a16:creationId xmlns:a16="http://schemas.microsoft.com/office/drawing/2014/main" id="{ABA69836-C4A9-4494-B154-6357C740E04B}"/>
              </a:ext>
            </a:extLst>
          </p:cNvPr>
          <p:cNvPicPr>
            <a:picLocks noChangeAspect="1"/>
          </p:cNvPicPr>
          <p:nvPr/>
        </p:nvPicPr>
        <p:blipFill>
          <a:blip r:embed="rId5"/>
          <a:stretch>
            <a:fillRect/>
          </a:stretch>
        </p:blipFill>
        <p:spPr>
          <a:xfrm>
            <a:off x="5829828" y="4078286"/>
            <a:ext cx="3409950" cy="1343025"/>
          </a:xfrm>
          <a:prstGeom prst="rect">
            <a:avLst/>
          </a:prstGeom>
        </p:spPr>
      </p:pic>
      <p:sp>
        <p:nvSpPr>
          <p:cNvPr id="11" name="Slide Number Placeholder 10">
            <a:extLst>
              <a:ext uri="{FF2B5EF4-FFF2-40B4-BE49-F238E27FC236}">
                <a16:creationId xmlns:a16="http://schemas.microsoft.com/office/drawing/2014/main" id="{96EE5076-8429-456A-92AB-22324FC68EA1}"/>
              </a:ext>
            </a:extLst>
          </p:cNvPr>
          <p:cNvSpPr>
            <a:spLocks noGrp="1"/>
          </p:cNvSpPr>
          <p:nvPr>
            <p:ph type="sldNum" sz="quarter" idx="12"/>
          </p:nvPr>
        </p:nvSpPr>
        <p:spPr/>
        <p:txBody>
          <a:bodyPr/>
          <a:lstStyle/>
          <a:p>
            <a:fld id="{A4DBBB07-2F6F-4E90-8073-ED4B40896F16}" type="slidenum">
              <a:rPr lang="en-US" smtClean="0"/>
              <a:t>31</a:t>
            </a:fld>
            <a:endParaRPr lang="en-US"/>
          </a:p>
        </p:txBody>
      </p:sp>
    </p:spTree>
    <p:extLst>
      <p:ext uri="{BB962C8B-B14F-4D97-AF65-F5344CB8AC3E}">
        <p14:creationId xmlns:p14="http://schemas.microsoft.com/office/powerpoint/2010/main" val="12073617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FE038-F1C4-4656-927F-97CB88EC769E}"/>
              </a:ext>
            </a:extLst>
          </p:cNvPr>
          <p:cNvSpPr>
            <a:spLocks noGrp="1"/>
          </p:cNvSpPr>
          <p:nvPr>
            <p:ph type="title"/>
          </p:nvPr>
        </p:nvSpPr>
        <p:spPr/>
        <p:txBody>
          <a:bodyPr/>
          <a:lstStyle/>
          <a:p>
            <a:r>
              <a:rPr lang="en-US" b="1" dirty="0"/>
              <a:t>The State of the Art in Mobile Robotics</a:t>
            </a:r>
            <a:endParaRPr lang="en-US" dirty="0"/>
          </a:p>
        </p:txBody>
      </p:sp>
      <p:sp>
        <p:nvSpPr>
          <p:cNvPr id="3" name="Content Placeholder 2">
            <a:extLst>
              <a:ext uri="{FF2B5EF4-FFF2-40B4-BE49-F238E27FC236}">
                <a16:creationId xmlns:a16="http://schemas.microsoft.com/office/drawing/2014/main" id="{B58FA961-61B5-4366-9976-9A74EBB34350}"/>
              </a:ext>
            </a:extLst>
          </p:cNvPr>
          <p:cNvSpPr>
            <a:spLocks noGrp="1"/>
          </p:cNvSpPr>
          <p:nvPr>
            <p:ph idx="1"/>
          </p:nvPr>
        </p:nvSpPr>
        <p:spPr/>
        <p:txBody>
          <a:bodyPr/>
          <a:lstStyle/>
          <a:p>
            <a:r>
              <a:rPr lang="en-US" dirty="0"/>
              <a:t>The frontier is no longer just movement—it’s </a:t>
            </a:r>
            <a:r>
              <a:rPr lang="en-US" b="1" dirty="0"/>
              <a:t>intelligent perception and adaptation</a:t>
            </a:r>
            <a:r>
              <a:rPr lang="en-US" dirty="0"/>
              <a:t>.</a:t>
            </a:r>
            <a:br>
              <a:rPr lang="en-US" dirty="0"/>
            </a:br>
            <a:r>
              <a:rPr lang="en-US" b="1" dirty="0"/>
              <a:t>Core Challenge: Robust Localization &amp; Mapping</a:t>
            </a:r>
            <a:br>
              <a:rPr lang="en-US" dirty="0"/>
            </a:br>
            <a:r>
              <a:rPr lang="en-US" dirty="0"/>
              <a:t>Knowing "where am I?" in a complex, changing world is fundamental. The state of the art combines multiple advanced technologies to solve this.</a:t>
            </a:r>
          </a:p>
          <a:p>
            <a:endParaRPr lang="en-US" dirty="0"/>
          </a:p>
        </p:txBody>
      </p:sp>
      <p:sp>
        <p:nvSpPr>
          <p:cNvPr id="4" name="Slide Number Placeholder 3">
            <a:extLst>
              <a:ext uri="{FF2B5EF4-FFF2-40B4-BE49-F238E27FC236}">
                <a16:creationId xmlns:a16="http://schemas.microsoft.com/office/drawing/2014/main" id="{F7282342-44A3-44B6-A68F-A7B4576056D3}"/>
              </a:ext>
            </a:extLst>
          </p:cNvPr>
          <p:cNvSpPr>
            <a:spLocks noGrp="1"/>
          </p:cNvSpPr>
          <p:nvPr>
            <p:ph type="sldNum" sz="quarter" idx="12"/>
          </p:nvPr>
        </p:nvSpPr>
        <p:spPr/>
        <p:txBody>
          <a:bodyPr/>
          <a:lstStyle/>
          <a:p>
            <a:fld id="{A4DBBB07-2F6F-4E90-8073-ED4B40896F16}" type="slidenum">
              <a:rPr lang="en-US" smtClean="0"/>
              <a:t>32</a:t>
            </a:fld>
            <a:endParaRPr lang="en-US"/>
          </a:p>
        </p:txBody>
      </p:sp>
    </p:spTree>
    <p:extLst>
      <p:ext uri="{BB962C8B-B14F-4D97-AF65-F5344CB8AC3E}">
        <p14:creationId xmlns:p14="http://schemas.microsoft.com/office/powerpoint/2010/main" val="37712016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C6DC7-BC74-441D-9577-2A361DAEF6F5}"/>
              </a:ext>
            </a:extLst>
          </p:cNvPr>
          <p:cNvSpPr>
            <a:spLocks noGrp="1"/>
          </p:cNvSpPr>
          <p:nvPr>
            <p:ph type="title"/>
          </p:nvPr>
        </p:nvSpPr>
        <p:spPr/>
        <p:txBody>
          <a:bodyPr/>
          <a:lstStyle/>
          <a:p>
            <a:r>
              <a:rPr lang="en-US" b="1" dirty="0"/>
              <a:t>State of the Art: Technology Drivers (1)</a:t>
            </a:r>
            <a:endParaRPr lang="en-US" dirty="0"/>
          </a:p>
        </p:txBody>
      </p:sp>
      <p:sp>
        <p:nvSpPr>
          <p:cNvPr id="3" name="Content Placeholder 2">
            <a:extLst>
              <a:ext uri="{FF2B5EF4-FFF2-40B4-BE49-F238E27FC236}">
                <a16:creationId xmlns:a16="http://schemas.microsoft.com/office/drawing/2014/main" id="{03823DDB-2B6D-4AE9-952A-65AAFA1FAC24}"/>
              </a:ext>
            </a:extLst>
          </p:cNvPr>
          <p:cNvSpPr>
            <a:spLocks noGrp="1"/>
          </p:cNvSpPr>
          <p:nvPr>
            <p:ph sz="half" idx="1"/>
          </p:nvPr>
        </p:nvSpPr>
        <p:spPr/>
        <p:txBody>
          <a:bodyPr>
            <a:normAutofit fontScale="92500" lnSpcReduction="20000"/>
          </a:bodyPr>
          <a:lstStyle/>
          <a:p>
            <a:r>
              <a:rPr lang="en-US" b="1" dirty="0"/>
              <a:t>Advanced Sensor Fusion:</a:t>
            </a:r>
            <a:endParaRPr lang="en-US" dirty="0"/>
          </a:p>
          <a:p>
            <a:pPr lvl="1"/>
            <a:r>
              <a:rPr lang="en-US" dirty="0"/>
              <a:t>Combining data from </a:t>
            </a:r>
            <a:r>
              <a:rPr lang="en-US" b="1" dirty="0"/>
              <a:t>LiDAR, cameras, radar, and inertial sensors</a:t>
            </a:r>
            <a:r>
              <a:rPr lang="en-US" dirty="0"/>
              <a:t> to create a robust, 3D understanding of the environment. Reduces the weakness of any single sensor.</a:t>
            </a:r>
          </a:p>
          <a:p>
            <a:r>
              <a:rPr lang="en-US" b="1" dirty="0"/>
              <a:t>AI &amp; Machine Learning:</a:t>
            </a:r>
            <a:endParaRPr lang="en-US" dirty="0"/>
          </a:p>
          <a:p>
            <a:pPr lvl="1"/>
            <a:r>
              <a:rPr lang="en-US" b="1" dirty="0"/>
              <a:t>Deep Learning</a:t>
            </a:r>
            <a:r>
              <a:rPr lang="en-US" dirty="0"/>
              <a:t> enables better object recognition, semantic understanding (e.g., "this is a door"), and prediction of how people or vehicles will move.</a:t>
            </a:r>
          </a:p>
          <a:p>
            <a:pPr lvl="1"/>
            <a:r>
              <a:rPr lang="en-US" dirty="0"/>
              <a:t>Allows for navigation in </a:t>
            </a:r>
            <a:r>
              <a:rPr lang="en-US" b="1" dirty="0"/>
              <a:t>unstructured, novel environments</a:t>
            </a:r>
            <a:r>
              <a:rPr lang="en-US" dirty="0"/>
              <a:t> without a pre-made map.</a:t>
            </a:r>
          </a:p>
          <a:p>
            <a:endParaRPr lang="en-US" dirty="0"/>
          </a:p>
        </p:txBody>
      </p:sp>
      <p:pic>
        <p:nvPicPr>
          <p:cNvPr id="5" name="Content Placeholder 4">
            <a:extLst>
              <a:ext uri="{FF2B5EF4-FFF2-40B4-BE49-F238E27FC236}">
                <a16:creationId xmlns:a16="http://schemas.microsoft.com/office/drawing/2014/main" id="{AE8A20F9-868B-42C2-8C64-0E65A06581B6}"/>
              </a:ext>
            </a:extLst>
          </p:cNvPr>
          <p:cNvPicPr>
            <a:picLocks noGrp="1" noChangeAspect="1"/>
          </p:cNvPicPr>
          <p:nvPr>
            <p:ph sz="half" idx="2"/>
          </p:nvPr>
        </p:nvPicPr>
        <p:blipFill>
          <a:blip r:embed="rId2"/>
          <a:stretch>
            <a:fillRect/>
          </a:stretch>
        </p:blipFill>
        <p:spPr>
          <a:xfrm>
            <a:off x="7086071" y="1668993"/>
            <a:ext cx="3912130" cy="2226094"/>
          </a:xfrm>
          <a:prstGeom prst="rect">
            <a:avLst/>
          </a:prstGeom>
        </p:spPr>
      </p:pic>
      <p:pic>
        <p:nvPicPr>
          <p:cNvPr id="6" name="Picture 5">
            <a:extLst>
              <a:ext uri="{FF2B5EF4-FFF2-40B4-BE49-F238E27FC236}">
                <a16:creationId xmlns:a16="http://schemas.microsoft.com/office/drawing/2014/main" id="{884DBAA6-F48B-4E22-BFC5-FF7D67DA6A89}"/>
              </a:ext>
            </a:extLst>
          </p:cNvPr>
          <p:cNvPicPr>
            <a:picLocks noChangeAspect="1"/>
          </p:cNvPicPr>
          <p:nvPr/>
        </p:nvPicPr>
        <p:blipFill>
          <a:blip r:embed="rId3"/>
          <a:stretch>
            <a:fillRect/>
          </a:stretch>
        </p:blipFill>
        <p:spPr>
          <a:xfrm>
            <a:off x="7048382" y="3958317"/>
            <a:ext cx="4305418" cy="2002216"/>
          </a:xfrm>
          <a:prstGeom prst="rect">
            <a:avLst/>
          </a:prstGeom>
        </p:spPr>
      </p:pic>
      <p:sp>
        <p:nvSpPr>
          <p:cNvPr id="7" name="Slide Number Placeholder 6">
            <a:extLst>
              <a:ext uri="{FF2B5EF4-FFF2-40B4-BE49-F238E27FC236}">
                <a16:creationId xmlns:a16="http://schemas.microsoft.com/office/drawing/2014/main" id="{B194AE31-9E05-4B45-A699-B28FFBA1B177}"/>
              </a:ext>
            </a:extLst>
          </p:cNvPr>
          <p:cNvSpPr>
            <a:spLocks noGrp="1"/>
          </p:cNvSpPr>
          <p:nvPr>
            <p:ph type="sldNum" sz="quarter" idx="12"/>
          </p:nvPr>
        </p:nvSpPr>
        <p:spPr/>
        <p:txBody>
          <a:bodyPr/>
          <a:lstStyle/>
          <a:p>
            <a:fld id="{A4DBBB07-2F6F-4E90-8073-ED4B40896F16}" type="slidenum">
              <a:rPr lang="en-US" smtClean="0"/>
              <a:t>33</a:t>
            </a:fld>
            <a:endParaRPr lang="en-US"/>
          </a:p>
        </p:txBody>
      </p:sp>
    </p:spTree>
    <p:extLst>
      <p:ext uri="{BB962C8B-B14F-4D97-AF65-F5344CB8AC3E}">
        <p14:creationId xmlns:p14="http://schemas.microsoft.com/office/powerpoint/2010/main" val="21853787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D9EF6-EF7B-40DE-8B08-25AE0763D441}"/>
              </a:ext>
            </a:extLst>
          </p:cNvPr>
          <p:cNvSpPr>
            <a:spLocks noGrp="1"/>
          </p:cNvSpPr>
          <p:nvPr>
            <p:ph type="title"/>
          </p:nvPr>
        </p:nvSpPr>
        <p:spPr/>
        <p:txBody>
          <a:bodyPr/>
          <a:lstStyle/>
          <a:p>
            <a:r>
              <a:rPr lang="en-US" b="1" dirty="0"/>
              <a:t>State of the Art: Technology Drivers (2)</a:t>
            </a:r>
            <a:endParaRPr lang="en-US" dirty="0"/>
          </a:p>
        </p:txBody>
      </p:sp>
      <p:sp>
        <p:nvSpPr>
          <p:cNvPr id="3" name="Content Placeholder 2">
            <a:extLst>
              <a:ext uri="{FF2B5EF4-FFF2-40B4-BE49-F238E27FC236}">
                <a16:creationId xmlns:a16="http://schemas.microsoft.com/office/drawing/2014/main" id="{6F64F369-4021-425F-BFF1-299CC28FF3C8}"/>
              </a:ext>
            </a:extLst>
          </p:cNvPr>
          <p:cNvSpPr>
            <a:spLocks noGrp="1"/>
          </p:cNvSpPr>
          <p:nvPr>
            <p:ph sz="half" idx="1"/>
          </p:nvPr>
        </p:nvSpPr>
        <p:spPr/>
        <p:txBody>
          <a:bodyPr>
            <a:normAutofit fontScale="92500"/>
          </a:bodyPr>
          <a:lstStyle/>
          <a:p>
            <a:r>
              <a:rPr lang="en-US" b="1" dirty="0"/>
              <a:t>Dynamic Environment Handling:</a:t>
            </a:r>
            <a:endParaRPr lang="en-US" dirty="0"/>
          </a:p>
          <a:p>
            <a:pPr lvl="1"/>
            <a:r>
              <a:rPr lang="en-US" dirty="0"/>
              <a:t>Algorithms that allow robots to operate reliably in </a:t>
            </a:r>
            <a:r>
              <a:rPr lang="en-US" b="1" dirty="0"/>
              <a:t>crowded, unpredictable spaces</a:t>
            </a:r>
            <a:r>
              <a:rPr lang="en-US" dirty="0"/>
              <a:t> (public streets, busy hospitals) where conditions change every second.</a:t>
            </a:r>
          </a:p>
          <a:p>
            <a:r>
              <a:rPr lang="en-US" b="1" dirty="0"/>
              <a:t>Cooperative Multi-Robot Systems:</a:t>
            </a:r>
            <a:endParaRPr lang="en-US" dirty="0"/>
          </a:p>
          <a:p>
            <a:pPr lvl="1"/>
            <a:r>
              <a:rPr lang="en-US" b="1" dirty="0"/>
              <a:t>Teams of robots</a:t>
            </a:r>
            <a:r>
              <a:rPr lang="en-US" dirty="0"/>
              <a:t> that share maps and task data to work together efficiently.</a:t>
            </a:r>
          </a:p>
          <a:p>
            <a:pPr lvl="1"/>
            <a:r>
              <a:rPr lang="en-US" dirty="0"/>
              <a:t>Enables applications like swarm robotics for search &amp; rescue or coordinated logistics.</a:t>
            </a:r>
          </a:p>
          <a:p>
            <a:endParaRPr lang="en-US" dirty="0"/>
          </a:p>
        </p:txBody>
      </p:sp>
      <p:pic>
        <p:nvPicPr>
          <p:cNvPr id="5" name="Content Placeholder 4">
            <a:extLst>
              <a:ext uri="{FF2B5EF4-FFF2-40B4-BE49-F238E27FC236}">
                <a16:creationId xmlns:a16="http://schemas.microsoft.com/office/drawing/2014/main" id="{9FF7BB42-7E98-4424-9E70-F69F14B47117}"/>
              </a:ext>
            </a:extLst>
          </p:cNvPr>
          <p:cNvPicPr>
            <a:picLocks noGrp="1" noChangeAspect="1"/>
          </p:cNvPicPr>
          <p:nvPr>
            <p:ph sz="half" idx="2"/>
          </p:nvPr>
        </p:nvPicPr>
        <p:blipFill>
          <a:blip r:embed="rId2"/>
          <a:stretch>
            <a:fillRect/>
          </a:stretch>
        </p:blipFill>
        <p:spPr>
          <a:xfrm>
            <a:off x="7020981" y="1600993"/>
            <a:ext cx="4231915" cy="2369873"/>
          </a:xfrm>
          <a:prstGeom prst="rect">
            <a:avLst/>
          </a:prstGeom>
        </p:spPr>
      </p:pic>
      <p:pic>
        <p:nvPicPr>
          <p:cNvPr id="6" name="Picture 5">
            <a:extLst>
              <a:ext uri="{FF2B5EF4-FFF2-40B4-BE49-F238E27FC236}">
                <a16:creationId xmlns:a16="http://schemas.microsoft.com/office/drawing/2014/main" id="{86AA58F6-AFC0-4951-A909-AC82E311A163}"/>
              </a:ext>
            </a:extLst>
          </p:cNvPr>
          <p:cNvPicPr>
            <a:picLocks noChangeAspect="1"/>
          </p:cNvPicPr>
          <p:nvPr/>
        </p:nvPicPr>
        <p:blipFill>
          <a:blip r:embed="rId3"/>
          <a:stretch>
            <a:fillRect/>
          </a:stretch>
        </p:blipFill>
        <p:spPr>
          <a:xfrm>
            <a:off x="6096000" y="4166129"/>
            <a:ext cx="2790825" cy="1638300"/>
          </a:xfrm>
          <a:prstGeom prst="rect">
            <a:avLst/>
          </a:prstGeom>
        </p:spPr>
      </p:pic>
      <p:pic>
        <p:nvPicPr>
          <p:cNvPr id="7" name="Picture 6">
            <a:extLst>
              <a:ext uri="{FF2B5EF4-FFF2-40B4-BE49-F238E27FC236}">
                <a16:creationId xmlns:a16="http://schemas.microsoft.com/office/drawing/2014/main" id="{5A0863A5-D1F5-438B-A2A8-BFAE95F80971}"/>
              </a:ext>
            </a:extLst>
          </p:cNvPr>
          <p:cNvPicPr>
            <a:picLocks noChangeAspect="1"/>
          </p:cNvPicPr>
          <p:nvPr/>
        </p:nvPicPr>
        <p:blipFill>
          <a:blip r:embed="rId4"/>
          <a:stretch>
            <a:fillRect/>
          </a:stretch>
        </p:blipFill>
        <p:spPr>
          <a:xfrm>
            <a:off x="8963025" y="4113741"/>
            <a:ext cx="2619375" cy="1743075"/>
          </a:xfrm>
          <a:prstGeom prst="rect">
            <a:avLst/>
          </a:prstGeom>
        </p:spPr>
      </p:pic>
      <p:sp>
        <p:nvSpPr>
          <p:cNvPr id="8" name="Slide Number Placeholder 7">
            <a:extLst>
              <a:ext uri="{FF2B5EF4-FFF2-40B4-BE49-F238E27FC236}">
                <a16:creationId xmlns:a16="http://schemas.microsoft.com/office/drawing/2014/main" id="{80A5661E-58F8-4721-99ED-E20455B218A6}"/>
              </a:ext>
            </a:extLst>
          </p:cNvPr>
          <p:cNvSpPr>
            <a:spLocks noGrp="1"/>
          </p:cNvSpPr>
          <p:nvPr>
            <p:ph type="sldNum" sz="quarter" idx="12"/>
          </p:nvPr>
        </p:nvSpPr>
        <p:spPr/>
        <p:txBody>
          <a:bodyPr/>
          <a:lstStyle/>
          <a:p>
            <a:fld id="{A4DBBB07-2F6F-4E90-8073-ED4B40896F16}" type="slidenum">
              <a:rPr lang="en-US" smtClean="0"/>
              <a:t>34</a:t>
            </a:fld>
            <a:endParaRPr lang="en-US"/>
          </a:p>
        </p:txBody>
      </p:sp>
    </p:spTree>
    <p:extLst>
      <p:ext uri="{BB962C8B-B14F-4D97-AF65-F5344CB8AC3E}">
        <p14:creationId xmlns:p14="http://schemas.microsoft.com/office/powerpoint/2010/main" val="15144809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F4159-937C-4652-A2FB-01245DF8CED8}"/>
              </a:ext>
            </a:extLst>
          </p:cNvPr>
          <p:cNvSpPr>
            <a:spLocks noGrp="1"/>
          </p:cNvSpPr>
          <p:nvPr>
            <p:ph type="title"/>
          </p:nvPr>
        </p:nvSpPr>
        <p:spPr/>
        <p:txBody>
          <a:bodyPr/>
          <a:lstStyle/>
          <a:p>
            <a:r>
              <a:rPr lang="en-US" b="1" dirty="0"/>
              <a:t>The Intelligent Future</a:t>
            </a:r>
            <a:endParaRPr lang="en-US" dirty="0"/>
          </a:p>
        </p:txBody>
      </p:sp>
      <p:sp>
        <p:nvSpPr>
          <p:cNvPr id="3" name="Content Placeholder 2">
            <a:extLst>
              <a:ext uri="{FF2B5EF4-FFF2-40B4-BE49-F238E27FC236}">
                <a16:creationId xmlns:a16="http://schemas.microsoft.com/office/drawing/2014/main" id="{ACC60C35-024B-4866-87B3-D12EC30CEB68}"/>
              </a:ext>
            </a:extLst>
          </p:cNvPr>
          <p:cNvSpPr>
            <a:spLocks noGrp="1"/>
          </p:cNvSpPr>
          <p:nvPr>
            <p:ph idx="1"/>
          </p:nvPr>
        </p:nvSpPr>
        <p:spPr/>
        <p:txBody>
          <a:bodyPr/>
          <a:lstStyle/>
          <a:p>
            <a:r>
              <a:rPr lang="en-US" dirty="0"/>
              <a:t>Classifying robots helps us understand their </a:t>
            </a:r>
            <a:r>
              <a:rPr lang="en-US" b="1" dirty="0"/>
              <a:t>design purpose and capabilities</a:t>
            </a:r>
            <a:r>
              <a:rPr lang="en-US" dirty="0"/>
              <a:t>.</a:t>
            </a:r>
          </a:p>
          <a:p>
            <a:r>
              <a:rPr lang="en-US" dirty="0"/>
              <a:t>The shift is toward </a:t>
            </a:r>
            <a:r>
              <a:rPr lang="en-US" b="1" dirty="0"/>
              <a:t>greater autonomy, safety, and collaboration</a:t>
            </a:r>
            <a:r>
              <a:rPr lang="en-US" dirty="0"/>
              <a:t>.</a:t>
            </a:r>
          </a:p>
          <a:p>
            <a:r>
              <a:rPr lang="en-US" b="1" dirty="0"/>
              <a:t>Mobile robotics</a:t>
            </a:r>
            <a:r>
              <a:rPr lang="en-US" dirty="0"/>
              <a:t> is being revolutionized by </a:t>
            </a:r>
            <a:r>
              <a:rPr lang="en-US" b="1" dirty="0"/>
              <a:t>perception, AI, and connectivity</a:t>
            </a:r>
            <a:r>
              <a:rPr lang="en-US" dirty="0"/>
              <a:t>, pushing robots out of controlled factories and into our dynamic everyday world.</a:t>
            </a:r>
          </a:p>
          <a:p>
            <a:endParaRPr lang="en-US" dirty="0"/>
          </a:p>
        </p:txBody>
      </p:sp>
      <p:sp>
        <p:nvSpPr>
          <p:cNvPr id="4" name="Slide Number Placeholder 3">
            <a:extLst>
              <a:ext uri="{FF2B5EF4-FFF2-40B4-BE49-F238E27FC236}">
                <a16:creationId xmlns:a16="http://schemas.microsoft.com/office/drawing/2014/main" id="{7E7E9032-3D3D-4AF3-AB2D-8E2348CD4594}"/>
              </a:ext>
            </a:extLst>
          </p:cNvPr>
          <p:cNvSpPr>
            <a:spLocks noGrp="1"/>
          </p:cNvSpPr>
          <p:nvPr>
            <p:ph type="sldNum" sz="quarter" idx="12"/>
          </p:nvPr>
        </p:nvSpPr>
        <p:spPr/>
        <p:txBody>
          <a:bodyPr/>
          <a:lstStyle/>
          <a:p>
            <a:fld id="{A4DBBB07-2F6F-4E90-8073-ED4B40896F16}" type="slidenum">
              <a:rPr lang="en-US" smtClean="0"/>
              <a:t>35</a:t>
            </a:fld>
            <a:endParaRPr lang="en-US"/>
          </a:p>
        </p:txBody>
      </p:sp>
    </p:spTree>
    <p:extLst>
      <p:ext uri="{BB962C8B-B14F-4D97-AF65-F5344CB8AC3E}">
        <p14:creationId xmlns:p14="http://schemas.microsoft.com/office/powerpoint/2010/main" val="37005546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B7048-0182-4C50-A32E-C0F9D33F4020}"/>
              </a:ext>
            </a:extLst>
          </p:cNvPr>
          <p:cNvSpPr>
            <a:spLocks noGrp="1"/>
          </p:cNvSpPr>
          <p:nvPr>
            <p:ph type="title"/>
          </p:nvPr>
        </p:nvSpPr>
        <p:spPr/>
        <p:txBody>
          <a:bodyPr/>
          <a:lstStyle/>
          <a:p>
            <a:r>
              <a:rPr lang="en-US" b="1" dirty="0"/>
              <a:t>Discussion</a:t>
            </a:r>
            <a:r>
              <a:rPr lang="en-US" dirty="0"/>
              <a:t> - </a:t>
            </a:r>
            <a:r>
              <a:rPr lang="en-US" b="1" dirty="0"/>
              <a:t>Practical &amp; Design Reflection</a:t>
            </a:r>
            <a:endParaRPr lang="en-US" dirty="0"/>
          </a:p>
        </p:txBody>
      </p:sp>
      <p:sp>
        <p:nvSpPr>
          <p:cNvPr id="3" name="Content Placeholder 2">
            <a:extLst>
              <a:ext uri="{FF2B5EF4-FFF2-40B4-BE49-F238E27FC236}">
                <a16:creationId xmlns:a16="http://schemas.microsoft.com/office/drawing/2014/main" id="{7777353A-4F7E-4465-AD9C-8DA4C26015ED}"/>
              </a:ext>
            </a:extLst>
          </p:cNvPr>
          <p:cNvSpPr>
            <a:spLocks noGrp="1"/>
          </p:cNvSpPr>
          <p:nvPr>
            <p:ph idx="1"/>
          </p:nvPr>
        </p:nvSpPr>
        <p:spPr/>
        <p:txBody>
          <a:bodyPr>
            <a:normAutofit/>
          </a:bodyPr>
          <a:lstStyle/>
          <a:p>
            <a:r>
              <a:rPr lang="en-US" dirty="0"/>
              <a:t>How does a robot's intended </a:t>
            </a:r>
            <a:r>
              <a:rPr lang="en-US" b="1" dirty="0"/>
              <a:t>work environment</a:t>
            </a:r>
            <a:r>
              <a:rPr lang="en-US" dirty="0"/>
              <a:t> (structured factory vs. chaotic home) fundamentally dictate its classification across all other categories (mobility, intelligence, structure)?</a:t>
            </a:r>
          </a:p>
          <a:p>
            <a:r>
              <a:rPr lang="en-US" b="1" dirty="0"/>
              <a:t>Modular robots</a:t>
            </a:r>
            <a:r>
              <a:rPr lang="en-US" dirty="0"/>
              <a:t>, made of interchangeable units, can change their own form and function. How do they challenge our traditional, fixed classification systems?</a:t>
            </a:r>
          </a:p>
          <a:p>
            <a:r>
              <a:rPr lang="en-US" dirty="0"/>
              <a:t>When designing a robot for a new task, should you start by choosing a </a:t>
            </a:r>
            <a:r>
              <a:rPr lang="en-US" b="1" dirty="0"/>
              <a:t>structural type</a:t>
            </a:r>
            <a:r>
              <a:rPr lang="en-US" dirty="0"/>
              <a:t> (e.g., "a SCARA arm") or defining its required </a:t>
            </a:r>
            <a:r>
              <a:rPr lang="en-US" b="1" dirty="0"/>
              <a:t>capabilities</a:t>
            </a:r>
            <a:r>
              <a:rPr lang="en-US" dirty="0"/>
              <a:t> (e.g., "fast, precise, horizontal picks")? What are the pros and cons of each approach?</a:t>
            </a:r>
          </a:p>
          <a:p>
            <a:endParaRPr lang="en-US" dirty="0"/>
          </a:p>
        </p:txBody>
      </p:sp>
      <p:sp>
        <p:nvSpPr>
          <p:cNvPr id="4" name="Slide Number Placeholder 3">
            <a:extLst>
              <a:ext uri="{FF2B5EF4-FFF2-40B4-BE49-F238E27FC236}">
                <a16:creationId xmlns:a16="http://schemas.microsoft.com/office/drawing/2014/main" id="{5B5B899C-CB99-41E7-843F-48AD586E4B70}"/>
              </a:ext>
            </a:extLst>
          </p:cNvPr>
          <p:cNvSpPr>
            <a:spLocks noGrp="1"/>
          </p:cNvSpPr>
          <p:nvPr>
            <p:ph type="sldNum" sz="quarter" idx="12"/>
          </p:nvPr>
        </p:nvSpPr>
        <p:spPr/>
        <p:txBody>
          <a:bodyPr/>
          <a:lstStyle/>
          <a:p>
            <a:fld id="{A4DBBB07-2F6F-4E90-8073-ED4B40896F16}" type="slidenum">
              <a:rPr lang="en-US" smtClean="0"/>
              <a:t>36</a:t>
            </a:fld>
            <a:endParaRPr lang="en-US"/>
          </a:p>
        </p:txBody>
      </p:sp>
    </p:spTree>
    <p:extLst>
      <p:ext uri="{BB962C8B-B14F-4D97-AF65-F5344CB8AC3E}">
        <p14:creationId xmlns:p14="http://schemas.microsoft.com/office/powerpoint/2010/main" val="25047211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AA02A-2E82-4863-91F6-AE045CDDEBBC}"/>
              </a:ext>
            </a:extLst>
          </p:cNvPr>
          <p:cNvSpPr>
            <a:spLocks noGrp="1"/>
          </p:cNvSpPr>
          <p:nvPr>
            <p:ph type="title"/>
          </p:nvPr>
        </p:nvSpPr>
        <p:spPr/>
        <p:txBody>
          <a:bodyPr/>
          <a:lstStyle/>
          <a:p>
            <a:r>
              <a:rPr lang="en-US" b="1" dirty="0"/>
              <a:t>Discussion - Ethical &amp; Societal Reflection</a:t>
            </a:r>
            <a:endParaRPr lang="en-US" dirty="0"/>
          </a:p>
        </p:txBody>
      </p:sp>
      <p:sp>
        <p:nvSpPr>
          <p:cNvPr id="3" name="Content Placeholder 2">
            <a:extLst>
              <a:ext uri="{FF2B5EF4-FFF2-40B4-BE49-F238E27FC236}">
                <a16:creationId xmlns:a16="http://schemas.microsoft.com/office/drawing/2014/main" id="{E47E80D9-2107-44F9-8906-0D4479D46CF1}"/>
              </a:ext>
            </a:extLst>
          </p:cNvPr>
          <p:cNvSpPr>
            <a:spLocks noGrp="1"/>
          </p:cNvSpPr>
          <p:nvPr>
            <p:ph idx="1"/>
          </p:nvPr>
        </p:nvSpPr>
        <p:spPr/>
        <p:txBody>
          <a:bodyPr>
            <a:normAutofit lnSpcReduction="10000"/>
          </a:bodyPr>
          <a:lstStyle/>
          <a:p>
            <a:r>
              <a:rPr lang="en-US" dirty="0"/>
              <a:t>Does classifying a robot as a "collaborative robot" or "autonomous system" change our perception of </a:t>
            </a:r>
            <a:r>
              <a:rPr lang="en-US" b="1" dirty="0"/>
              <a:t>responsibility</a:t>
            </a:r>
            <a:r>
              <a:rPr lang="en-US" dirty="0"/>
              <a:t> when something goes wrong? Should it?</a:t>
            </a:r>
          </a:p>
          <a:p>
            <a:r>
              <a:rPr lang="en-US" dirty="0"/>
              <a:t>As AI allows a single robot to perform tasks across different sectors (e.g., logistics, security, customer service), do </a:t>
            </a:r>
            <a:r>
              <a:rPr lang="en-US" b="1" dirty="0"/>
              <a:t>application-based classifications</a:t>
            </a:r>
            <a:r>
              <a:rPr lang="en-US" dirty="0"/>
              <a:t> become less meaningful? What new classifications might emerge?</a:t>
            </a:r>
          </a:p>
          <a:p>
            <a:r>
              <a:rPr lang="en-US" dirty="0"/>
              <a:t>Some argue that "intelligence" and "autonomy" should be primary classification axes, not just features. What would be the societal or regulatory benefits of formally classifying robots by their level of independent decision-making?</a:t>
            </a:r>
          </a:p>
          <a:p>
            <a:endParaRPr lang="en-US" dirty="0"/>
          </a:p>
        </p:txBody>
      </p:sp>
      <p:sp>
        <p:nvSpPr>
          <p:cNvPr id="4" name="Slide Number Placeholder 3">
            <a:extLst>
              <a:ext uri="{FF2B5EF4-FFF2-40B4-BE49-F238E27FC236}">
                <a16:creationId xmlns:a16="http://schemas.microsoft.com/office/drawing/2014/main" id="{363ABCAC-948B-4652-9C8F-2AFACAA84163}"/>
              </a:ext>
            </a:extLst>
          </p:cNvPr>
          <p:cNvSpPr>
            <a:spLocks noGrp="1"/>
          </p:cNvSpPr>
          <p:nvPr>
            <p:ph type="sldNum" sz="quarter" idx="12"/>
          </p:nvPr>
        </p:nvSpPr>
        <p:spPr/>
        <p:txBody>
          <a:bodyPr/>
          <a:lstStyle/>
          <a:p>
            <a:fld id="{A4DBBB07-2F6F-4E90-8073-ED4B40896F16}" type="slidenum">
              <a:rPr lang="en-US" smtClean="0"/>
              <a:t>37</a:t>
            </a:fld>
            <a:endParaRPr lang="en-US"/>
          </a:p>
        </p:txBody>
      </p:sp>
    </p:spTree>
    <p:extLst>
      <p:ext uri="{BB962C8B-B14F-4D97-AF65-F5344CB8AC3E}">
        <p14:creationId xmlns:p14="http://schemas.microsoft.com/office/powerpoint/2010/main" val="13645082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B87AD795-235E-4B05-A7EF-8C4938DBC1C0}"/>
              </a:ext>
            </a:extLst>
          </p:cNvPr>
          <p:cNvSpPr>
            <a:spLocks noGrp="1"/>
          </p:cNvSpPr>
          <p:nvPr>
            <p:ph idx="1"/>
          </p:nvPr>
        </p:nvSpPr>
        <p:spPr>
          <a:xfrm>
            <a:off x="765175" y="742421"/>
            <a:ext cx="10828866" cy="4351338"/>
          </a:xfrm>
        </p:spPr>
        <p:txBody>
          <a:bodyPr>
            <a:normAutofit fontScale="85000" lnSpcReduction="20000"/>
          </a:bodyPr>
          <a:lstStyle/>
          <a:p>
            <a:pPr algn="just"/>
            <a:r>
              <a:rPr lang="en-US" sz="3600" dirty="0"/>
              <a:t>As we've seen today, classification is more than just putting robots in boxes. </a:t>
            </a:r>
          </a:p>
          <a:p>
            <a:pPr algn="just"/>
            <a:r>
              <a:rPr lang="en-US" sz="3600" dirty="0"/>
              <a:t>It’s a </a:t>
            </a:r>
            <a:r>
              <a:rPr lang="en-US" sz="3600" b="1" dirty="0"/>
              <a:t>powerful lens</a:t>
            </a:r>
            <a:r>
              <a:rPr lang="en-US" sz="3600" dirty="0"/>
              <a:t> that helps us understand their design purpose, their capabilities, and their role in our world. </a:t>
            </a:r>
          </a:p>
          <a:p>
            <a:pPr algn="just"/>
            <a:r>
              <a:rPr lang="en-US" sz="3600" dirty="0"/>
              <a:t>From the rigid arms on a factory floor to the navigating robots in our hospitals, these categories reveal a fundamental truth: </a:t>
            </a:r>
            <a:r>
              <a:rPr lang="en-US" sz="3600" b="1" dirty="0"/>
              <a:t>we build tools shaped by the problems we aim to solve.</a:t>
            </a:r>
            <a:r>
              <a:rPr lang="en-US" sz="3600" dirty="0"/>
              <a:t> </a:t>
            </a:r>
          </a:p>
          <a:p>
            <a:pPr algn="just"/>
            <a:r>
              <a:rPr lang="en-US" sz="3600" dirty="0"/>
              <a:t>The next time you see a robot, I encourage you to look beyond what it's doing and ask yourself: </a:t>
            </a:r>
            <a:r>
              <a:rPr lang="en-US" sz="3600" i="1" dirty="0"/>
              <a:t>'How is it built to move? Where does it get its intelligence? What category would I put it in, and why?'</a:t>
            </a:r>
            <a:r>
              <a:rPr lang="en-US" sz="3600" dirty="0"/>
              <a:t> Thank you."</a:t>
            </a:r>
          </a:p>
        </p:txBody>
      </p:sp>
      <p:pic>
        <p:nvPicPr>
          <p:cNvPr id="8" name="Picture 7">
            <a:extLst>
              <a:ext uri="{FF2B5EF4-FFF2-40B4-BE49-F238E27FC236}">
                <a16:creationId xmlns:a16="http://schemas.microsoft.com/office/drawing/2014/main" id="{10A6C192-AC4A-4F29-ACFB-FDED148FA8C7}"/>
              </a:ext>
            </a:extLst>
          </p:cNvPr>
          <p:cNvPicPr>
            <a:picLocks noChangeAspect="1"/>
          </p:cNvPicPr>
          <p:nvPr/>
        </p:nvPicPr>
        <p:blipFill>
          <a:blip r:embed="rId2"/>
          <a:stretch>
            <a:fillRect/>
          </a:stretch>
        </p:blipFill>
        <p:spPr>
          <a:xfrm>
            <a:off x="8893175" y="4602162"/>
            <a:ext cx="2533650" cy="1809750"/>
          </a:xfrm>
          <a:prstGeom prst="rect">
            <a:avLst/>
          </a:prstGeom>
        </p:spPr>
      </p:pic>
      <p:sp>
        <p:nvSpPr>
          <p:cNvPr id="9" name="Slide Number Placeholder 8">
            <a:extLst>
              <a:ext uri="{FF2B5EF4-FFF2-40B4-BE49-F238E27FC236}">
                <a16:creationId xmlns:a16="http://schemas.microsoft.com/office/drawing/2014/main" id="{4EA38C28-4898-4C34-AC9C-3CB1FFA5E07C}"/>
              </a:ext>
            </a:extLst>
          </p:cNvPr>
          <p:cNvSpPr>
            <a:spLocks noGrp="1"/>
          </p:cNvSpPr>
          <p:nvPr>
            <p:ph type="sldNum" sz="quarter" idx="12"/>
          </p:nvPr>
        </p:nvSpPr>
        <p:spPr/>
        <p:txBody>
          <a:bodyPr/>
          <a:lstStyle/>
          <a:p>
            <a:fld id="{A4DBBB07-2F6F-4E90-8073-ED4B40896F16}" type="slidenum">
              <a:rPr lang="en-US" smtClean="0"/>
              <a:t>38</a:t>
            </a:fld>
            <a:endParaRPr lang="en-US"/>
          </a:p>
        </p:txBody>
      </p:sp>
    </p:spTree>
    <p:extLst>
      <p:ext uri="{BB962C8B-B14F-4D97-AF65-F5344CB8AC3E}">
        <p14:creationId xmlns:p14="http://schemas.microsoft.com/office/powerpoint/2010/main" val="11586413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1515</TotalTime>
  <Words>2580</Words>
  <Application>Microsoft Office PowerPoint</Application>
  <PresentationFormat>Widescreen</PresentationFormat>
  <Paragraphs>258</Paragraphs>
  <Slides>38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38</vt:i4>
      </vt:variant>
    </vt:vector>
  </HeadingPairs>
  <TitlesOfParts>
    <vt:vector size="45" baseType="lpstr">
      <vt:lpstr>Arial</vt:lpstr>
      <vt:lpstr>Calibri</vt:lpstr>
      <vt:lpstr>Calibri Light</vt:lpstr>
      <vt:lpstr>Georgia</vt:lpstr>
      <vt:lpstr>Georgia Pro Light</vt:lpstr>
      <vt:lpstr>Roboto</vt:lpstr>
      <vt:lpstr>Office Theme</vt:lpstr>
      <vt:lpstr>Robotics CSC 2207</vt:lpstr>
      <vt:lpstr>PowerPoint Presentation</vt:lpstr>
      <vt:lpstr>Robotics </vt:lpstr>
      <vt:lpstr>Robotics</vt:lpstr>
      <vt:lpstr>Robotics </vt:lpstr>
      <vt:lpstr>Origin of the Term "Robot"</vt:lpstr>
      <vt:lpstr>Origin of the Term "Robot"</vt:lpstr>
      <vt:lpstr>General Structure of a Robot Manipulator</vt:lpstr>
      <vt:lpstr>Multidisciplinary Nature of Robotics </vt:lpstr>
      <vt:lpstr>Introduction to Robotics Applications</vt:lpstr>
      <vt:lpstr>Industrial Robotics</vt:lpstr>
      <vt:lpstr>Service &amp; Domestic Robotics</vt:lpstr>
      <vt:lpstr>Medical Robotics</vt:lpstr>
      <vt:lpstr>Exploration &amp; Hazardous Environment Robots</vt:lpstr>
      <vt:lpstr>Military &amp; Security Robotics</vt:lpstr>
      <vt:lpstr>Challenges in Robotics – Technical </vt:lpstr>
      <vt:lpstr>Challenges in Robotics – Intelligence &amp; Autonomy</vt:lpstr>
      <vt:lpstr>Challenges in Robotics – Safety &amp; Reliability</vt:lpstr>
      <vt:lpstr>Ethical &amp; Social Challenges</vt:lpstr>
      <vt:lpstr>Economic &amp; Adoption Challenges</vt:lpstr>
      <vt:lpstr>Case Study – Real-World Challenge </vt:lpstr>
      <vt:lpstr>Why Addressing Challenges Matters</vt:lpstr>
      <vt:lpstr>The Future of Robotics</vt:lpstr>
      <vt:lpstr>Summary</vt:lpstr>
      <vt:lpstr>PowerPoint Presentation</vt:lpstr>
      <vt:lpstr>Q&amp;A / Discussion</vt:lpstr>
      <vt:lpstr>How to Classify a Robot </vt:lpstr>
      <vt:lpstr>Classification by Physical Structure &amp; Movement</vt:lpstr>
      <vt:lpstr>Classification by Application &amp; Sector</vt:lpstr>
      <vt:lpstr>Key Robot Types in Detail (1)</vt:lpstr>
      <vt:lpstr>Key Robot Types in Detail (2)</vt:lpstr>
      <vt:lpstr>The State of the Art in Mobile Robotics</vt:lpstr>
      <vt:lpstr>State of the Art: Technology Drivers (1)</vt:lpstr>
      <vt:lpstr>State of the Art: Technology Drivers (2)</vt:lpstr>
      <vt:lpstr>The Intelligent Future</vt:lpstr>
      <vt:lpstr>Discussion - Practical &amp; Design Reflection</vt:lpstr>
      <vt:lpstr>Discussion - Ethical &amp; Societal Reflection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Deckzi Solutions</dc:creator>
  <cp:lastModifiedBy>DSI</cp:lastModifiedBy>
  <cp:revision>26</cp:revision>
  <dcterms:created xsi:type="dcterms:W3CDTF">2022-01-07T08:40:16Z</dcterms:created>
  <dcterms:modified xsi:type="dcterms:W3CDTF">2026-02-23T04:49:09Z</dcterms:modified>
</cp:coreProperties>
</file>