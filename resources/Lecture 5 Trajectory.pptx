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0"/>
  </p:notesMasterIdLst>
  <p:sldIdLst>
    <p:sldId id="314" r:id="rId2"/>
    <p:sldId id="352" r:id="rId3"/>
    <p:sldId id="353" r:id="rId4"/>
    <p:sldId id="320" r:id="rId5"/>
    <p:sldId id="264" r:id="rId6"/>
    <p:sldId id="321" r:id="rId7"/>
    <p:sldId id="322" r:id="rId8"/>
    <p:sldId id="265" r:id="rId9"/>
    <p:sldId id="323" r:id="rId10"/>
    <p:sldId id="324" r:id="rId11"/>
    <p:sldId id="325" r:id="rId12"/>
    <p:sldId id="326" r:id="rId13"/>
    <p:sldId id="327" r:id="rId14"/>
    <p:sldId id="258" r:id="rId15"/>
    <p:sldId id="259" r:id="rId16"/>
    <p:sldId id="332" r:id="rId17"/>
    <p:sldId id="261" r:id="rId18"/>
    <p:sldId id="262" r:id="rId19"/>
    <p:sldId id="263" r:id="rId20"/>
    <p:sldId id="333" r:id="rId21"/>
    <p:sldId id="328" r:id="rId22"/>
    <p:sldId id="330" r:id="rId23"/>
    <p:sldId id="267" r:id="rId24"/>
    <p:sldId id="334" r:id="rId25"/>
    <p:sldId id="331" r:id="rId26"/>
    <p:sldId id="269" r:id="rId27"/>
    <p:sldId id="273" r:id="rId28"/>
    <p:sldId id="336" r:id="rId29"/>
    <p:sldId id="337" r:id="rId30"/>
    <p:sldId id="338" r:id="rId31"/>
    <p:sldId id="339" r:id="rId32"/>
    <p:sldId id="340" r:id="rId33"/>
    <p:sldId id="341" r:id="rId34"/>
    <p:sldId id="342" r:id="rId35"/>
    <p:sldId id="272" r:id="rId36"/>
    <p:sldId id="335" r:id="rId37"/>
    <p:sldId id="277" r:id="rId38"/>
    <p:sldId id="343" r:id="rId39"/>
    <p:sldId id="344" r:id="rId40"/>
    <p:sldId id="345" r:id="rId41"/>
    <p:sldId id="346" r:id="rId42"/>
    <p:sldId id="347" r:id="rId43"/>
    <p:sldId id="348" r:id="rId44"/>
    <p:sldId id="279" r:id="rId45"/>
    <p:sldId id="280" r:id="rId46"/>
    <p:sldId id="349" r:id="rId47"/>
    <p:sldId id="351" r:id="rId48"/>
    <p:sldId id="350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>
        <p:scale>
          <a:sx n="66" d="100"/>
          <a:sy n="66" d="100"/>
        </p:scale>
        <p:origin x="6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503AE-8B1A-485B-9D9E-CFB7CF4C1527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89261D-78EB-48F1-9BED-BC9002FBC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1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AA59D-1E04-4565-B616-14360BCB6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E2235F-D4B1-412B-9D2B-E5A575CF9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093F9-020C-4684-9C39-34938FCB2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A64C-3CD2-4CC9-AF6E-FE56B905ACA0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CF17E-4E64-4409-A222-5FF106ECE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852FD-B27F-4A51-AA08-773621C87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6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34649-6C8E-44AD-B1B3-4A4AFFE03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6D263-B546-4ACC-8738-30A7B1C6E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64FBD-1FE2-4423-A7A2-5C1A57D6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375D-2DC3-4A7C-BD54-C08DB0054FFD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A5FC5-BC63-4AF3-95DC-9E98747A0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E0DB8-2176-4CC6-A2A2-46B7ACA9B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2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379CA-0F2B-4E3D-8FCD-CDDB52491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4408E-7E02-4C5B-BFC3-9090C2261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FFE28-36C9-4847-954B-1095E6B7B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5D9D8-3BA4-498E-85E2-2A0883EB1A2E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714F9-D131-4F7D-A3F9-778C24BE6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87D4E-C1E3-4E7D-A7A0-594D18FBE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3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00EB2-2980-408E-B04A-B4E3DE61E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98E9A-43D7-4685-9038-92FE13DAD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DF086-B39D-46E6-AD53-4D8D6CBC7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3AF08-F0DB-4B93-BF21-C6A720F0D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304C-CC1F-4C2B-85B6-C58E8929100C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4C4E3-A895-4194-A10F-833B20851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BB748-EF0E-4B6C-B19D-0CF2380ED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63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B8CD6-9978-4316-B66A-1260754FB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83AC0-1A7D-4F61-90E8-DBFAF06E7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A1C89-0FAA-42D4-AD1C-FC4BF7355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401867-9222-46D2-B461-301DB33D5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310FB1-230E-4F19-8C59-1D3F7AA0F8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549B5F-1DF8-4047-B4BF-9AA9AB977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7E1E-5EE8-42DA-9167-ABA927A1DC27}" type="datetime1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EA2D32-1CA2-4640-81A0-9A38059D3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897BDD-6175-4FF7-A944-489D2FDA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34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3AB40-7EC2-43C8-A98E-4F1919828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275FE-D982-44F3-9B89-290C7AAA3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10D63-D7C8-4081-9152-524D5793BE1A}" type="datetime1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49A0F-9774-45A4-91CF-4FB6B69C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AC52D5-57BB-4173-9DE3-7E8FEDBB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84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F22432-6022-43D9-9E2E-28DA086D2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2B667-5C71-4434-B5B2-088979ADDB79}" type="datetime1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0C1498-FD86-4D62-90AB-82492CB54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E4858-B2EB-4399-ADDF-EC87DB6F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22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E69B-8E6C-4B19-B80B-4D5D0391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4BC9B-DC73-4FD7-A8E4-B5E29ED3F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3F92D-C228-4496-A7F5-532770E03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47580-B52A-40C4-87C5-8E81DD29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09B1-EB6B-4637-BB4C-16189E043E50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D2392-B302-4F43-857B-79B26499D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F25AF-2F15-4CC9-91B8-9A0C96272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9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67FE-A0B1-4A12-940B-EB1D0863E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C395DF-7019-4B80-91E4-CEB2995AB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778B1-B4EB-4ECE-8ECD-AB96831F8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A1211-8544-4729-A906-AD297FAED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286E-048C-4E64-93A4-B611E18EC61B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E61EA-CC50-497D-B4F6-B8AE8DD5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2FD04-7675-4A6C-9E63-1603855B9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59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7610-5C36-462D-B01A-960A40E72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BF038-CB9C-471E-BECB-0C4965524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D0325-A982-4877-AAAA-DDB94CFC1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29B7D-C6D9-434C-B91E-9127E9C9293C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6122A-9DEC-405E-B16D-5BA0E8295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59F9F-6679-4115-A307-973E4C25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633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F9C11-7AB4-4337-9743-DDCE61CDFE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885B98-5B5B-4774-9EE6-4C9EB7F1F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872BA-6A76-408C-AFD9-699763CC4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5E1B2-5383-4347-B7DC-FA3DA20C97C8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91622-C74E-4F9C-B4A3-8C3F07BB4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2F2DC-A8D9-443F-850C-BA8D3F36A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017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F0CAEF-1503-43D2-AA9C-90B068830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54C42-365F-4592-8BD8-573D96036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F7966-E23E-4997-B7BC-C59B0E2E82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7F987-859A-4D0D-AE10-632F7ADA7AA7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A7FCE-65E0-4DEC-9F61-8BB939DCF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6EC13-E5C8-47B2-92F3-10D22A989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851AC-500D-4A24-A934-83C91A09B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0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works.com/help/robotics/ug/design-a-trajectory-with-velocity-limits-using-a-trapezoidal-velocity-profile.html?utm_source=chatgpt.com" TargetMode="Externa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BB3D675-74FD-422E-873F-D1FC519B0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Trajectory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69D498F-7944-4FF0-B1DA-FE60F59F44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98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Path Planning in Robotics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Path planning</a:t>
            </a:r>
            <a:r>
              <a:rPr lang="en-US" dirty="0"/>
              <a:t> is the process of determining a </a:t>
            </a:r>
            <a:r>
              <a:rPr lang="en-US" b="1" dirty="0"/>
              <a:t>collision-free route</a:t>
            </a:r>
            <a:r>
              <a:rPr lang="en-US" dirty="0"/>
              <a:t> from a start position to a goal position.</a:t>
            </a:r>
          </a:p>
          <a:p>
            <a:r>
              <a:rPr lang="en-US" b="1" dirty="0"/>
              <a:t>Key Idea</a:t>
            </a:r>
          </a:p>
          <a:p>
            <a:pPr lvl="1"/>
            <a:r>
              <a:rPr lang="en-US" dirty="0"/>
              <a:t>Find </a:t>
            </a:r>
            <a:r>
              <a:rPr lang="en-US" i="1" dirty="0"/>
              <a:t>where to move</a:t>
            </a:r>
            <a:r>
              <a:rPr lang="en-US" dirty="0"/>
              <a:t> (geometry) </a:t>
            </a:r>
          </a:p>
          <a:p>
            <a:pPr lvl="1"/>
            <a:r>
              <a:rPr lang="en-US" dirty="0"/>
              <a:t>Not necessarily </a:t>
            </a:r>
            <a:r>
              <a:rPr lang="en-US" i="1" dirty="0"/>
              <a:t>how fast</a:t>
            </a:r>
            <a:r>
              <a:rPr lang="en-US" dirty="0"/>
              <a:t> (that’s trajectory planning)</a:t>
            </a:r>
          </a:p>
          <a:p>
            <a:r>
              <a:rPr lang="en-US" dirty="0"/>
              <a:t>Path - geometric route (no time)</a:t>
            </a:r>
          </a:p>
          <a:p>
            <a:r>
              <a:rPr lang="en-US" dirty="0"/>
              <a:t>Trajectory - path + timing</a:t>
            </a:r>
          </a:p>
          <a:p>
            <a:r>
              <a:rPr lang="en-US" dirty="0"/>
              <a:t>Important - planning vs execution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31795-1C1F-4B42-8CBC-C8780E62B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8317F-1087-4F39-9288-94E92A926096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6B215-C6CE-46F8-996A-486B55A3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vs Trajectory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5366"/>
                <a:ext cx="10606238" cy="508570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Path - geometric route (no time)</a:t>
                </a:r>
              </a:p>
              <a:p>
                <a:r>
                  <a:rPr lang="en-US" dirty="0"/>
                  <a:t>Trajectory - path + timing. The position of the robot as a function of time q(t) where q is robot position and t is time</a:t>
                </a:r>
              </a:p>
              <a:p>
                <a:r>
                  <a:rPr lang="en-US" dirty="0"/>
                  <a:t>The robot’s position is defined for every moment in time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(time zero to time final)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5366"/>
                <a:ext cx="10606238" cy="5085708"/>
              </a:xfrm>
              <a:blipFill>
                <a:blip r:embed="rId2"/>
                <a:stretch>
                  <a:fillRect l="-1035" t="-1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FF4B08-80CD-46D1-A3DA-E5C4D83E6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402359"/>
              </p:ext>
            </p:extLst>
          </p:nvPr>
        </p:nvGraphicFramePr>
        <p:xfrm>
          <a:off x="792881" y="3868220"/>
          <a:ext cx="10606237" cy="207990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767439">
                  <a:extLst>
                    <a:ext uri="{9D8B030D-6E8A-4147-A177-3AD203B41FA5}">
                      <a16:colId xmlns:a16="http://schemas.microsoft.com/office/drawing/2014/main" val="4117156033"/>
                    </a:ext>
                  </a:extLst>
                </a:gridCol>
                <a:gridCol w="5553777">
                  <a:extLst>
                    <a:ext uri="{9D8B030D-6E8A-4147-A177-3AD203B41FA5}">
                      <a16:colId xmlns:a16="http://schemas.microsoft.com/office/drawing/2014/main" val="3965245517"/>
                    </a:ext>
                  </a:extLst>
                </a:gridCol>
                <a:gridCol w="3285021">
                  <a:extLst>
                    <a:ext uri="{9D8B030D-6E8A-4147-A177-3AD203B41FA5}">
                      <a16:colId xmlns:a16="http://schemas.microsoft.com/office/drawing/2014/main" val="924778399"/>
                    </a:ext>
                  </a:extLst>
                </a:gridCol>
              </a:tblGrid>
              <a:tr h="586498">
                <a:tc>
                  <a:txBody>
                    <a:bodyPr/>
                    <a:lstStyle/>
                    <a:p>
                      <a:pPr marL="0" marR="0">
                        <a:lnSpc>
                          <a:spcPct val="16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Term</a:t>
                      </a:r>
                      <a:endParaRPr lang="en-US" sz="28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6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Definition</a:t>
                      </a:r>
                      <a:endParaRPr lang="en-US" sz="28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6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Parameters</a:t>
                      </a:r>
                      <a:endParaRPr lang="en-US" sz="28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1608256"/>
                  </a:ext>
                </a:extLst>
              </a:tr>
              <a:tr h="61686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Path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Geometric locus of points (no time)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q(s), s∈[0,1]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0794436"/>
                  </a:ext>
                </a:extLst>
              </a:tr>
              <a:tr h="84834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Trajectory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Path</a:t>
                      </a:r>
                      <a:r>
                        <a:rPr lang="en-US" sz="2800" dirty="0"/>
                        <a:t> + time + velocity + acceleration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q(t), velocity, acceleration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629227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A235F-75AE-4212-B50C-84593994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E2A71-6959-421A-B3D5-B60AE44A738B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786B8-4E3C-412C-8E21-A0CA2B728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CC034-1D26-4C96-A8F2-4D78BFA7F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3642C9-F438-421D-9D81-49D0D5C9DA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trajectory describes how a robot moves over time.</a:t>
                </a:r>
              </a:p>
              <a:p>
                <a:r>
                  <a:rPr lang="en-US" dirty="0"/>
                  <a:t>Trajectory; path + timing. The position of the robot as a function of time q(t) where q is robot position or joint angle and t is time</a:t>
                </a:r>
              </a:p>
              <a:p>
                <a:r>
                  <a:rPr lang="en-US" dirty="0"/>
                  <a:t>The robot’s position is defined for every moment in time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(time zero to time final)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3642C9-F438-421D-9D81-49D0D5C9DA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A2360-FEEF-4941-9C22-2962703F3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F35ED-47CD-45C1-8FD5-FB7CB410313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F86E6-1324-4ADF-A9E4-A411CF3A3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90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Joint vs Cartesian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Joint space</a:t>
            </a:r>
          </a:p>
          <a:p>
            <a:pPr lvl="1"/>
            <a:r>
              <a:rPr lang="en-US" dirty="0"/>
              <a:t>Path in 𝒞‑space: q(t)</a:t>
            </a:r>
            <a:endParaRPr lang="en-US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lvl="1"/>
            <a:r>
              <a:rPr lang="en-US" dirty="0"/>
              <a:t>No Inverse Kinematics needed, smooth joint motion</a:t>
            </a:r>
            <a:endParaRPr lang="en-US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lvl="1"/>
            <a:r>
              <a:rPr lang="en-US" dirty="0"/>
              <a:t>End‑effector motion unpredictable</a:t>
            </a:r>
          </a:p>
          <a:p>
            <a:r>
              <a:rPr lang="en-US" dirty="0"/>
              <a:t>Cartesian Space</a:t>
            </a:r>
          </a:p>
          <a:p>
            <a:pPr lvl="1"/>
            <a:r>
              <a:rPr lang="en-US" dirty="0"/>
              <a:t>intuitive motion</a:t>
            </a:r>
          </a:p>
          <a:p>
            <a:pPr lvl="1"/>
            <a:r>
              <a:rPr lang="en-US" dirty="0"/>
              <a:t>Path in workspace x(t), orientation</a:t>
            </a:r>
            <a:endParaRPr lang="en-US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lvl="1"/>
            <a:r>
              <a:rPr lang="en-US" dirty="0"/>
              <a:t>Intuitive for tasks requiring specific tool paths</a:t>
            </a:r>
            <a:endParaRPr lang="en-US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lvl="1"/>
            <a:r>
              <a:rPr lang="en-US" dirty="0"/>
              <a:t>Inverse Kinematics at each step, singularities</a:t>
            </a:r>
            <a:endParaRPr lang="en-US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9ECC1-AF74-4B44-AC7F-46E90DC92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0452F-9CBB-4C90-B043-8A5D78800B5E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B133B9-5FE4-4D11-92F6-7ABE16B2B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BDA2-12DF-4040-8FDA-8ECC3EBDC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trajectory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BB061-48A0-4710-AA50-89E60A2B7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Joint Space Trajectory</a:t>
            </a:r>
            <a:endParaRPr lang="en-US" dirty="0"/>
          </a:p>
          <a:p>
            <a:pPr lvl="1"/>
            <a:r>
              <a:rPr lang="en-US" dirty="0"/>
              <a:t>Plan motion in </a:t>
            </a:r>
            <a:r>
              <a:rPr lang="en-US" b="1" dirty="0"/>
              <a:t>joint angles </a:t>
            </a:r>
          </a:p>
          <a:p>
            <a:pPr marL="400050" lvl="1" indent="0">
              <a:buNone/>
            </a:pPr>
            <a:r>
              <a:rPr lang="en-US" b="1" dirty="0"/>
              <a:t>		</a:t>
            </a:r>
            <a:r>
              <a:rPr lang="en-US" dirty="0"/>
              <a:t>q(t) = [</a:t>
            </a:r>
            <a:r>
              <a:rPr lang="el-GR" dirty="0"/>
              <a:t>θ1</a:t>
            </a:r>
            <a:r>
              <a:rPr lang="en-US" dirty="0"/>
              <a:t> </a:t>
            </a:r>
            <a:r>
              <a:rPr lang="el-GR" dirty="0"/>
              <a:t>(</a:t>
            </a:r>
            <a:r>
              <a:rPr lang="en-US" dirty="0"/>
              <a:t>t), </a:t>
            </a:r>
            <a:r>
              <a:rPr lang="el-GR" dirty="0"/>
              <a:t>θ2(</a:t>
            </a:r>
            <a:r>
              <a:rPr lang="en-US" dirty="0"/>
              <a:t>t), … ]</a:t>
            </a:r>
          </a:p>
          <a:p>
            <a:pPr lvl="1"/>
            <a:r>
              <a:rPr lang="en-US" dirty="0"/>
              <a:t>Used in robot arms</a:t>
            </a:r>
          </a:p>
          <a:p>
            <a:r>
              <a:rPr lang="fr-FR" b="1" dirty="0" err="1"/>
              <a:t>Cartesian</a:t>
            </a:r>
            <a:r>
              <a:rPr lang="fr-FR" b="1" dirty="0"/>
              <a:t> </a:t>
            </a:r>
            <a:r>
              <a:rPr lang="fr-FR" b="1" dirty="0" err="1"/>
              <a:t>Space</a:t>
            </a:r>
            <a:r>
              <a:rPr lang="fr-FR" b="1" dirty="0"/>
              <a:t> </a:t>
            </a:r>
            <a:r>
              <a:rPr lang="fr-FR" b="1" dirty="0" err="1"/>
              <a:t>Trajectory</a:t>
            </a:r>
            <a:endParaRPr lang="fr-FR" b="1" dirty="0"/>
          </a:p>
          <a:p>
            <a:pPr lvl="1"/>
            <a:r>
              <a:rPr lang="fr-FR" dirty="0"/>
              <a:t>Plan motion in </a:t>
            </a:r>
            <a:r>
              <a:rPr lang="fr-FR" b="1" dirty="0" err="1"/>
              <a:t>task</a:t>
            </a:r>
            <a:r>
              <a:rPr lang="fr-FR" b="1" dirty="0"/>
              <a:t> </a:t>
            </a:r>
            <a:r>
              <a:rPr lang="fr-FR" b="1" dirty="0" err="1"/>
              <a:t>space</a:t>
            </a:r>
            <a:r>
              <a:rPr lang="fr-FR" dirty="0"/>
              <a:t> </a:t>
            </a:r>
          </a:p>
          <a:p>
            <a:pPr marL="400050" lvl="1" indent="0">
              <a:buNone/>
            </a:pPr>
            <a:r>
              <a:rPr lang="fr-FR" dirty="0"/>
              <a:t>		x(t), y(t), z(t) </a:t>
            </a:r>
          </a:p>
          <a:p>
            <a:pPr lvl="1"/>
            <a:r>
              <a:rPr lang="fr-FR" dirty="0" err="1"/>
              <a:t>Requires</a:t>
            </a:r>
            <a:r>
              <a:rPr lang="fr-FR" dirty="0"/>
              <a:t> inverse </a:t>
            </a:r>
            <a:r>
              <a:rPr lang="fr-FR" dirty="0" err="1"/>
              <a:t>kinematics</a:t>
            </a:r>
            <a:endParaRPr lang="fr-F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0AFE5-077E-425A-B1AD-C30CAA694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3755-B792-4C98-9DB4-26C4494E94D3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7F7D9-7318-4735-8356-6C617BD3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2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9DB87-0107-4419-9FF4-DFB896D41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Trajectory Requirements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F2DB0-1000-4DA0-A6A8-F4413BACC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good trajectory must</a:t>
            </a:r>
          </a:p>
          <a:p>
            <a:r>
              <a:rPr lang="en-US" dirty="0"/>
              <a:t>Start and end at correct positions </a:t>
            </a:r>
          </a:p>
          <a:p>
            <a:r>
              <a:rPr lang="en-US" dirty="0"/>
              <a:t>Be smooth </a:t>
            </a:r>
          </a:p>
          <a:p>
            <a:r>
              <a:rPr lang="en-US" dirty="0"/>
              <a:t>Respect velocity &amp; acceleration limits </a:t>
            </a:r>
          </a:p>
          <a:p>
            <a:r>
              <a:rPr lang="en-US" dirty="0"/>
              <a:t>Avoid sudden jerks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8D3DD-7BAE-45C9-9370-DAFCCFEE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2C737-DAAF-47F1-898A-8055E38D96D2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EF8A4-956D-4CF2-985E-119FCAFB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82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Polynomial Trajectories - Cubic Trajectory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85850" y="1362076"/>
                <a:ext cx="8572500" cy="513079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</a:t>
                </a:r>
                <a:r>
                  <a:rPr lang="en-US" b="1" dirty="0"/>
                  <a:t>cubic trajectory</a:t>
                </a:r>
                <a:r>
                  <a:rPr lang="en-US" dirty="0"/>
                  <a:t> defines robot motion using a 3rd-degree polynomial that defines position as a function of time. </a:t>
                </a:r>
              </a:p>
              <a:p>
                <a:r>
                  <a:rPr lang="en-US" dirty="0"/>
                  <a:t>Ensures smooth velocity</a:t>
                </a:r>
              </a:p>
              <a:p>
                <a:pPr lvl="1"/>
                <a:r>
                  <a:rPr lang="en-US" dirty="0"/>
                  <a:t>It allows us to specify </a:t>
                </a:r>
                <a:r>
                  <a:rPr lang="en-US" b="1" dirty="0"/>
                  <a:t>position and velocity</a:t>
                </a:r>
                <a:r>
                  <a:rPr lang="en-US" dirty="0"/>
                  <a:t> at both start and end points, ensuring smooth motion without velocity jumps.</a:t>
                </a:r>
              </a:p>
              <a:p>
                <a:r>
                  <a:rPr lang="en-US" dirty="0"/>
                  <a:t>Used for basic motion</a:t>
                </a:r>
              </a:p>
              <a:p>
                <a:r>
                  <a:rPr lang="en-US" b="1" dirty="0"/>
                  <a:t>Boundary Conditions, </a:t>
                </a:r>
                <a:r>
                  <a:rPr lang="en-US" dirty="0"/>
                  <a:t>We specify:</a:t>
                </a:r>
              </a:p>
              <a:p>
                <a:pPr lvl="1"/>
                <a:r>
                  <a:rPr lang="en-US" dirty="0"/>
                  <a:t>Initial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Final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Initial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Final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ar-AE" dirty="0"/>
              </a:p>
              <a:p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5850" y="1362076"/>
                <a:ext cx="8572500" cy="5130799"/>
              </a:xfrm>
              <a:blipFill>
                <a:blip r:embed="rId2"/>
                <a:stretch>
                  <a:fillRect l="-1280" t="-1900" r="-1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91A0F-A800-498D-BFF3-2B47F0D1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3F95-F133-4290-B7EA-79FB881174AC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AF5A2-211B-456A-9A57-B928BFAB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6127D1-0EE8-45A4-888A-A26C9255A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1" y="2138363"/>
            <a:ext cx="4264801" cy="4311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8FFFE-CB96-4588-B042-58E0212E0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Cubic Trajectory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EF6CCC-E2E9-40CA-B18A-C240032EE7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Once we have the polynomial coefficients, we </a:t>
                </a:r>
                <a:r>
                  <a:rPr lang="en-US" b="1" dirty="0"/>
                  <a:t>differentiate</a:t>
                </a:r>
                <a:r>
                  <a:rPr lang="en-US" dirty="0"/>
                  <a:t> to obtain velocity and acceleration</a:t>
                </a:r>
              </a:p>
              <a:p>
                <a:endParaRPr lang="en-US" dirty="0"/>
              </a:p>
              <a:p>
                <a:r>
                  <a:rPr lang="en-US" dirty="0"/>
                  <a:t>Equation   </a:t>
                </a:r>
              </a:p>
              <a:p>
                <a:r>
                  <a:rPr lang="en-US" dirty="0"/>
                  <a:t>Velocity </a:t>
                </a:r>
              </a:p>
              <a:p>
                <a:r>
                  <a:rPr lang="en-US" dirty="0"/>
                  <a:t>Acceleration </a:t>
                </a:r>
              </a:p>
              <a:p>
                <a:r>
                  <a:rPr lang="en-US" dirty="0"/>
                  <a:t>Solving for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EF6CCC-E2E9-40CA-B18A-C240032EE7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D20CD-6D96-4D73-A6B5-CDA152055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3782-29F6-4D28-A911-F266AA85A99E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82D0A2-7F8C-46C9-AEE3-F0B9CE90D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B21855-8E14-461E-9D6A-4FF65DFB3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469" y="3273814"/>
            <a:ext cx="4264801" cy="4311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F57CC2-7E4D-475E-AF04-2218C061E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469" y="3738689"/>
            <a:ext cx="3300782" cy="443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3CD575-A7E1-4508-91C9-864D3648F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9949" y="4212306"/>
            <a:ext cx="2450178" cy="44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00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C8398-42B2-460A-84B1-3CE04E44A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Cubic Trajectory - Solving for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51BB93-50DE-4976-8F5D-22CF20B2BC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Step 1: At t=0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Step 2: At t=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51BB93-50DE-4976-8F5D-22CF20B2BC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02A60-ACBF-4A0F-92BF-717F274E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947D9-49A4-475D-BD92-D3A8B4FABFD6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D444A-04B0-4F6E-8B56-4E96906A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C0059A-B379-4798-A21D-88E8E3C3C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600" y="2721097"/>
            <a:ext cx="2238482" cy="1142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712F5E-96DB-45A8-BA75-85E13F574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600" y="4683575"/>
            <a:ext cx="5627447" cy="130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44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C8398-42B2-460A-84B1-3CE04E44A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Cubic Trajectory - Solving for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51BB93-50DE-4976-8F5D-22CF20B2BC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Step 3: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51BB93-50DE-4976-8F5D-22CF20B2BC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02A60-ACBF-4A0F-92BF-717F274E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28B6-C0D8-4E71-89A5-1057AD4F2757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D444A-04B0-4F6E-8B56-4E96906A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7E74DB-23B3-452C-B86D-0BA235013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901" y="2795806"/>
            <a:ext cx="4654541" cy="235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74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8E689-FB84-42EA-877E-906EA2F6C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Worked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7D645E1-C2AA-49ED-8028-4EFFFEA7E5D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Given:</a:t>
                </a:r>
              </a:p>
              <a:p>
                <a:r>
                  <a:rPr lang="en-US" dirty="0"/>
                  <a:t>Start: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= 0 </a:t>
                </a:r>
              </a:p>
              <a:p>
                <a:r>
                  <a:rPr lang="en-US" dirty="0"/>
                  <a:t>End: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10</a:t>
                </a:r>
              </a:p>
              <a:p>
                <a:r>
                  <a:rPr lang="en-US" dirty="0"/>
                  <a:t>Initial 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0  </a:t>
                </a:r>
              </a:p>
              <a:p>
                <a:r>
                  <a:rPr lang="en-US" dirty="0"/>
                  <a:t>Final 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0  </a:t>
                </a:r>
              </a:p>
              <a:p>
                <a:r>
                  <a:rPr lang="en-US" dirty="0"/>
                  <a:t>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2 </a:t>
                </a:r>
              </a:p>
              <a:p>
                <a:r>
                  <a:rPr lang="en-US" dirty="0"/>
                  <a:t>Step 1: Compute coefficients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=0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7D645E1-C2AA-49ED-8028-4EFFFEA7E5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1BEA73-EB15-409C-ACA8-0EFD0F3240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Compute a</a:t>
            </a:r>
            <a:r>
              <a:rPr lang="en-US" baseline="-25000" dirty="0"/>
              <a:t>2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Compute a</a:t>
            </a:r>
            <a:r>
              <a:rPr lang="en-US" baseline="-25000" dirty="0"/>
              <a:t>3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Step 2: Final Equation (degrees)</a:t>
            </a:r>
          </a:p>
          <a:p>
            <a:endParaRPr lang="en-US" dirty="0"/>
          </a:p>
          <a:p>
            <a:r>
              <a:rPr lang="en-US" dirty="0"/>
              <a:t>Check q(t) when t = 0, 2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73DEC-89F4-4458-BA46-6FCBB599D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2FF84-4CF8-45B9-A384-DECEB4D43AB6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B6383-F51F-4230-9C5D-24D64952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AA86E2-8DD8-43CB-9F0B-052158A03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835" y="4970419"/>
            <a:ext cx="2613458" cy="449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F9238F-D2F8-4559-AA9A-F76EFCB80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478" y="3659165"/>
            <a:ext cx="3212026" cy="7732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BF484A-9609-44D5-B165-27B5B0037C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6479" y="2221692"/>
            <a:ext cx="2846750" cy="77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4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Quintic Trajectories in Robotics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 err="1"/>
              <a:t>quintic</a:t>
            </a:r>
            <a:r>
              <a:rPr lang="en-US" b="1" dirty="0"/>
              <a:t> trajectory</a:t>
            </a:r>
            <a:r>
              <a:rPr lang="en-US" dirty="0"/>
              <a:t> is a 5th-degree polynomial used in motion planning to generate smooth paths for robotic systems.</a:t>
            </a:r>
          </a:p>
          <a:p>
            <a:r>
              <a:rPr lang="en-US" dirty="0"/>
              <a:t>It has the general form:   q(t) = a</a:t>
            </a:r>
            <a:r>
              <a:rPr lang="en-US" baseline="-25000" dirty="0"/>
              <a:t>0</a:t>
            </a:r>
            <a:r>
              <a:rPr lang="en-US" dirty="0"/>
              <a:t> + a</a:t>
            </a:r>
            <a:r>
              <a:rPr lang="en-US" baseline="-25000" dirty="0"/>
              <a:t>1</a:t>
            </a:r>
            <a:r>
              <a:rPr lang="en-US" dirty="0"/>
              <a:t>t + a</a:t>
            </a:r>
            <a:r>
              <a:rPr lang="en-US" baseline="-25000" dirty="0"/>
              <a:t>2</a:t>
            </a:r>
            <a:r>
              <a:rPr lang="en-US" dirty="0"/>
              <a:t>t</a:t>
            </a:r>
            <a:r>
              <a:rPr lang="en-US" baseline="30000" dirty="0"/>
              <a:t>2</a:t>
            </a:r>
            <a:r>
              <a:rPr lang="en-US" dirty="0"/>
              <a:t> + a</a:t>
            </a:r>
            <a:r>
              <a:rPr lang="en-US" baseline="-25000" dirty="0"/>
              <a:t>3</a:t>
            </a:r>
            <a:r>
              <a:rPr lang="en-US" dirty="0"/>
              <a:t>t</a:t>
            </a:r>
            <a:r>
              <a:rPr lang="en-US" baseline="30000" dirty="0"/>
              <a:t>3</a:t>
            </a:r>
            <a:r>
              <a:rPr lang="en-US" dirty="0"/>
              <a:t> + a</a:t>
            </a:r>
            <a:r>
              <a:rPr lang="en-US" baseline="-25000" dirty="0"/>
              <a:t>4</a:t>
            </a:r>
            <a:r>
              <a:rPr lang="en-US" dirty="0"/>
              <a:t>t</a:t>
            </a:r>
            <a:r>
              <a:rPr lang="en-US" baseline="30000" dirty="0"/>
              <a:t>4</a:t>
            </a:r>
            <a:r>
              <a:rPr lang="en-US" dirty="0"/>
              <a:t> + a</a:t>
            </a:r>
            <a:r>
              <a:rPr lang="en-US" baseline="-25000" dirty="0"/>
              <a:t>5</a:t>
            </a:r>
            <a:r>
              <a:rPr lang="en-US" dirty="0"/>
              <a:t> t</a:t>
            </a:r>
            <a:r>
              <a:rPr lang="en-US" baseline="30000" dirty="0"/>
              <a:t>5</a:t>
            </a:r>
            <a:r>
              <a:rPr lang="en-US" dirty="0"/>
              <a:t>   Where: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q(t): position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q˙(t) : velocity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q¨(t): acceleration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</a:t>
            </a:r>
            <a:r>
              <a:rPr lang="en-US" baseline="-25000" dirty="0"/>
              <a:t>0 </a:t>
            </a:r>
            <a:r>
              <a:rPr lang="en-US" dirty="0"/>
              <a:t>… a</a:t>
            </a:r>
            <a:r>
              <a:rPr lang="en-US" baseline="-25000" dirty="0"/>
              <a:t>5</a:t>
            </a:r>
            <a:r>
              <a:rPr lang="en-US" dirty="0"/>
              <a:t> ​: coefficients determined by boundary conditions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08EA9-CCB0-4A35-A6EE-B01B56053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201FB-C6E2-4114-AE88-2BAF02824B38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DF6564-3E0D-4C5D-8E60-F42504FE5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Quintic Trajectories?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Quintic</a:t>
            </a:r>
            <a:r>
              <a:rPr lang="en-US" dirty="0"/>
              <a:t> polynomials are preferred because they allow control over: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Position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Velocity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Acceleration </a:t>
            </a:r>
          </a:p>
          <a:p>
            <a:r>
              <a:rPr lang="en-US" dirty="0"/>
              <a:t>at both the </a:t>
            </a:r>
            <a:r>
              <a:rPr lang="en-US" b="1" dirty="0"/>
              <a:t>start and end points</a:t>
            </a:r>
            <a:r>
              <a:rPr lang="en-US" dirty="0"/>
              <a:t> of motion.</a:t>
            </a:r>
          </a:p>
          <a:p>
            <a:r>
              <a:rPr lang="en-US" dirty="0"/>
              <a:t>This gives </a:t>
            </a:r>
            <a:r>
              <a:rPr lang="en-US" b="1" dirty="0"/>
              <a:t>6 boundary conditions</a:t>
            </a:r>
            <a:r>
              <a:rPr lang="en-US" dirty="0"/>
              <a:t>, matching the 6 coefficients.</a:t>
            </a:r>
          </a:p>
          <a:p>
            <a:r>
              <a:rPr dirty="0"/>
              <a:t>Ensures smooth motion.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62F0E-BA79-48F4-8A59-4FAE2AAD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1B13-97F5-42B7-B304-CAACEE5B5053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76A785-CEEC-48A5-91BA-5D1675160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Boundary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a motion from time t= 0 to t=T, we define:</a:t>
            </a:r>
          </a:p>
          <a:p>
            <a:r>
              <a:rPr lang="en-US" dirty="0"/>
              <a:t>At t = 0: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q(0) = q</a:t>
            </a:r>
            <a:r>
              <a:rPr lang="en-US" baseline="-25000" dirty="0"/>
              <a:t>0</a:t>
            </a:r>
            <a:r>
              <a:rPr lang="en-US" dirty="0"/>
              <a:t>   position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q˙(0) =v</a:t>
            </a:r>
            <a:r>
              <a:rPr lang="en-US" baseline="-25000" dirty="0"/>
              <a:t>0</a:t>
            </a:r>
            <a:r>
              <a:rPr lang="en-US" dirty="0"/>
              <a:t> velocity - change in position over time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q¨(0) =a</a:t>
            </a:r>
            <a:r>
              <a:rPr lang="en-US" baseline="-25000" dirty="0"/>
              <a:t>0</a:t>
            </a:r>
            <a:r>
              <a:rPr lang="en-US" dirty="0"/>
              <a:t>  Acceleration - change in velocity over time</a:t>
            </a:r>
          </a:p>
          <a:p>
            <a:r>
              <a:rPr lang="en-US" dirty="0"/>
              <a:t>At t=T: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q(T)=</a:t>
            </a:r>
            <a:r>
              <a:rPr lang="en-US" dirty="0" err="1"/>
              <a:t>q</a:t>
            </a:r>
            <a:r>
              <a:rPr lang="en-US" baseline="-25000" dirty="0" err="1"/>
              <a:t>f</a:t>
            </a:r>
            <a:r>
              <a:rPr lang="en-US" baseline="-25000" dirty="0"/>
              <a:t> </a:t>
            </a:r>
            <a:r>
              <a:rPr lang="en-US" dirty="0"/>
              <a:t> ​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q˙(T)=</a:t>
            </a:r>
            <a:r>
              <a:rPr lang="en-US" dirty="0" err="1"/>
              <a:t>v</a:t>
            </a:r>
            <a:r>
              <a:rPr lang="en-US" baseline="-25000" dirty="0" err="1"/>
              <a:t>f</a:t>
            </a:r>
            <a:r>
              <a:rPr lang="en-US" dirty="0"/>
              <a:t> 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q¨(T)=</a:t>
            </a:r>
            <a:r>
              <a:rPr lang="en-US" dirty="0" err="1"/>
              <a:t>a</a:t>
            </a:r>
            <a:r>
              <a:rPr lang="en-US" baseline="-25000" dirty="0" err="1"/>
              <a:t>f</a:t>
            </a:r>
            <a:r>
              <a:rPr lang="en-US" dirty="0"/>
              <a:t>   </a:t>
            </a:r>
          </a:p>
          <a:p>
            <a:r>
              <a:rPr lang="en-US" dirty="0"/>
              <a:t>These constraints ensure smooth start and stop.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DC4F5-E454-4821-9430-01BDB5487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BA45-FDAD-4AA2-99CC-08FC632DCBF6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9FA08-7970-4276-BC34-576763E9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2C64-9C60-41EA-B9A6-F97CD403E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Acceleration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B8504-5465-4A8D-ACFF-EF6B5426DB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/>
              <a:t>Acceleration constraints are critical because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High acceleration can damage actuators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Causes mechanical stress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Reduces system lifespan </a:t>
            </a:r>
          </a:p>
          <a:p>
            <a:r>
              <a:rPr lang="en-US" dirty="0"/>
              <a:t> </a:t>
            </a:r>
            <a:r>
              <a:rPr lang="en-US" sz="3000" dirty="0"/>
              <a:t>Acceleration is the second derivative</a:t>
            </a:r>
            <a:endParaRPr lang="en-US" dirty="0"/>
          </a:p>
          <a:p>
            <a:pPr marL="457200" lvl="1" indent="0">
              <a:buNone/>
            </a:pPr>
            <a:r>
              <a:rPr lang="en-US" sz="2600" dirty="0"/>
              <a:t>  q¨​(t )= 2a</a:t>
            </a:r>
            <a:r>
              <a:rPr lang="en-US" sz="2600" baseline="-25000" dirty="0"/>
              <a:t>2</a:t>
            </a:r>
            <a:r>
              <a:rPr lang="en-US" sz="2600" dirty="0"/>
              <a:t>​ + 6a</a:t>
            </a:r>
            <a:r>
              <a:rPr lang="en-US" sz="2600" baseline="-25000" dirty="0"/>
              <a:t>3</a:t>
            </a:r>
            <a:r>
              <a:rPr lang="en-US" sz="2600" dirty="0"/>
              <a:t>​t + 12a</a:t>
            </a:r>
            <a:r>
              <a:rPr lang="en-US" sz="2600" baseline="-25000" dirty="0"/>
              <a:t>4</a:t>
            </a:r>
            <a:r>
              <a:rPr lang="en-US" sz="2600" dirty="0"/>
              <a:t>​t</a:t>
            </a:r>
            <a:r>
              <a:rPr lang="en-US" sz="2600" baseline="30000" dirty="0"/>
              <a:t>2 </a:t>
            </a:r>
            <a:r>
              <a:rPr lang="en-US" sz="2600" dirty="0"/>
              <a:t>+ 20a</a:t>
            </a:r>
            <a:r>
              <a:rPr lang="en-US" sz="2600" baseline="-25000" dirty="0"/>
              <a:t>5</a:t>
            </a:r>
            <a:r>
              <a:rPr lang="en-US" sz="2600" dirty="0"/>
              <a:t>​t</a:t>
            </a:r>
            <a:r>
              <a:rPr lang="en-US" sz="2600" baseline="30000" dirty="0"/>
              <a:t>3</a:t>
            </a:r>
            <a:r>
              <a:rPr lang="en-US" sz="2600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38E28-7D1F-4F44-A428-E51BE772CD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900" dirty="0"/>
              <a:t>Key properties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Acceleration is continuous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Can be constrained at endpoints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Avoids sudden jumps (unlike cubic trajectories) </a:t>
            </a:r>
            <a:endParaRPr lang="en-US" sz="3000" dirty="0"/>
          </a:p>
          <a:p>
            <a:pPr lvl="0"/>
            <a:r>
              <a:rPr lang="en-US" sz="2900" dirty="0"/>
              <a:t>Practical Constraint Handling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Set a</a:t>
            </a:r>
            <a:r>
              <a:rPr lang="en-US" sz="2600" baseline="-25000" dirty="0"/>
              <a:t>0</a:t>
            </a:r>
            <a:r>
              <a:rPr lang="en-US" sz="2600" dirty="0"/>
              <a:t>​ = 0 and </a:t>
            </a:r>
            <a:r>
              <a:rPr lang="en-US" sz="2600" dirty="0" err="1"/>
              <a:t>a</a:t>
            </a:r>
            <a:r>
              <a:rPr lang="en-US" sz="2600" baseline="-25000" dirty="0" err="1"/>
              <a:t>f</a:t>
            </a:r>
            <a:r>
              <a:rPr lang="en-US" sz="2600" dirty="0"/>
              <a:t> =0  for smooth rest-to-rest motion </a:t>
            </a:r>
          </a:p>
          <a:p>
            <a:pPr lvl="0"/>
            <a:r>
              <a:rPr lang="en-US" dirty="0"/>
              <a:t>Limit peak acceleration using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Time scaling (increase T)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Optimization-based trajectory generation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A9A33-9DA2-4492-B53F-411B2DCB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2189-FE07-4116-8971-EB0AD05C98AF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40F4E-7E94-43DD-B164-1788624A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961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Jerk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Jerk is the rate of change of acceleration, Jerk = d</a:t>
            </a:r>
            <a:r>
              <a:rPr lang="en-US" sz="3200" baseline="30000" dirty="0"/>
              <a:t>3</a:t>
            </a:r>
            <a:r>
              <a:rPr lang="en-US" sz="3200" dirty="0"/>
              <a:t>q / dt</a:t>
            </a:r>
            <a:r>
              <a:rPr lang="en-US" sz="3200" baseline="30000" dirty="0"/>
              <a:t>3</a:t>
            </a:r>
            <a:endParaRPr lang="en-US" sz="3200" dirty="0"/>
          </a:p>
          <a:p>
            <a:r>
              <a:rPr lang="en-US" sz="3200" dirty="0"/>
              <a:t>For </a:t>
            </a:r>
            <a:r>
              <a:rPr lang="en-US" sz="3200" dirty="0" err="1"/>
              <a:t>quintic</a:t>
            </a:r>
            <a:r>
              <a:rPr lang="en-US" sz="3200" dirty="0"/>
              <a:t> trajectories,   q′′′(t) = 6a</a:t>
            </a:r>
            <a:r>
              <a:rPr lang="en-US" sz="3200" baseline="-25000" dirty="0"/>
              <a:t>3</a:t>
            </a:r>
            <a:r>
              <a:rPr lang="en-US" sz="3200" dirty="0"/>
              <a:t>​ + 24a</a:t>
            </a:r>
            <a:r>
              <a:rPr lang="en-US" sz="3200" baseline="-25000" dirty="0"/>
              <a:t>4</a:t>
            </a:r>
            <a:r>
              <a:rPr lang="en-US" sz="3200" dirty="0"/>
              <a:t>​t + 60a</a:t>
            </a:r>
            <a:r>
              <a:rPr lang="en-US" sz="3200" baseline="-25000" dirty="0"/>
              <a:t>5</a:t>
            </a:r>
            <a:r>
              <a:rPr lang="en-US" sz="3200" dirty="0"/>
              <a:t>​t</a:t>
            </a:r>
            <a:r>
              <a:rPr lang="en-US" sz="3200" baseline="30000" dirty="0"/>
              <a:t>2</a:t>
            </a:r>
            <a:r>
              <a:rPr lang="en-US" sz="3200" dirty="0"/>
              <a:t> </a:t>
            </a:r>
          </a:p>
          <a:p>
            <a:pPr lvl="0"/>
            <a:r>
              <a:rPr lang="en-US" sz="3200" dirty="0"/>
              <a:t>Why Jerk Control Matters</a:t>
            </a:r>
            <a:r>
              <a:rPr lang="en-US" sz="3200" b="1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Reduces vibration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Prevents oscillations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Improves tracking accuracy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Enhances user safety (especially in human-robot interaction) </a:t>
            </a:r>
          </a:p>
          <a:p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7E6CE-E302-4C80-AF66-EBBE713F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F8700-A5BD-44C4-8B14-BEBD208944D6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B9BE2-34DD-4476-A034-5027FCBA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8544"/>
            <a:ext cx="10515600" cy="459842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 of </a:t>
            </a:r>
            <a:r>
              <a:rPr lang="en-US" altLang="en-US" sz="3200" dirty="0" err="1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Quintic</a:t>
            </a:r>
            <a:r>
              <a:rPr lang="en-US" altLang="en-US" sz="32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Trajectories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ea typeface="Arial" panose="020B0604020202020204" pitchFamily="34" charset="0"/>
              </a:rPr>
              <a:t>Continuous jerk profile </a:t>
            </a:r>
            <a:endParaRPr lang="en-US" altLang="en-US" sz="28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  <a:ea typeface="Arial" panose="020B0604020202020204" pitchFamily="34" charset="0"/>
              </a:rPr>
              <a:t>No abrupt acceleration changes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  <a:ea typeface="Arial" panose="020B0604020202020204" pitchFamily="34" charset="0"/>
              </a:rPr>
              <a:t>Smooth transition between motion phases 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</a:p>
          <a:p>
            <a:pPr lvl="1"/>
            <a:r>
              <a:rPr sz="2800" dirty="0"/>
              <a:t>Cubic: Discontinuous acceleration</a:t>
            </a:r>
          </a:p>
          <a:p>
            <a:pPr lvl="1"/>
            <a:r>
              <a:rPr sz="2800" dirty="0" err="1"/>
              <a:t>Quintic</a:t>
            </a:r>
            <a:r>
              <a:rPr sz="2800" dirty="0"/>
              <a:t>: Smooth acceleration and jerk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6F75F9-0FA8-4270-9B39-5E132737F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67472"/>
              </p:ext>
            </p:extLst>
          </p:nvPr>
        </p:nvGraphicFramePr>
        <p:xfrm>
          <a:off x="914400" y="4877243"/>
          <a:ext cx="10515600" cy="14346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36319549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13334294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48829523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736379091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10122961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Trajectory Type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Position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Velocity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Acceleration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Jerk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39352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Cubic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Smooth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Smooth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Discontinuous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Infinite spikes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3157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</a:rPr>
                        <a:t>Quintic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Smooth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Smooth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Smooth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Continuous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6655471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E9EAC2-86EC-41F4-9C79-5AF1C18C9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ABA5A-79EE-4E5E-9D65-FFC7EC37A417}" type="datetime1">
              <a:rPr lang="en-US" smtClean="0"/>
              <a:t>4/12/2026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F294D-F16E-46BD-9F02-2AB1D2BC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Industrial robots</a:t>
            </a:r>
          </a:p>
          <a:p>
            <a:r>
              <a:rPr dirty="0"/>
              <a:t>Medical robots</a:t>
            </a:r>
          </a:p>
          <a:p>
            <a:r>
              <a:rPr lang="en-US" dirty="0"/>
              <a:t>Autonomous vehicles</a:t>
            </a:r>
          </a:p>
          <a:p>
            <a:r>
              <a:rPr lang="en-US" dirty="0"/>
              <a:t>Semiconductor systems</a:t>
            </a:r>
          </a:p>
          <a:p>
            <a:r>
              <a:rPr dirty="0"/>
              <a:t>CNC machines</a:t>
            </a:r>
            <a:r>
              <a:rPr lang="en-US" dirty="0"/>
              <a:t> - Computer Numerical Control machines in robotics are automated manufacturing systems that use programmed instructions to control tools and machinery with high precision.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83A21-14EF-47C4-8920-EAF961CA8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17D7-B72A-41C5-B849-3FCED4CFC4DF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67999-8A72-4B9D-A922-505198E8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12D35-4E23-4658-9C1B-9FC8B0580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1592-93AC-40BE-BE1A-FADE6F6B5B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6250" y="1825625"/>
            <a:ext cx="5543550" cy="4351338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Quintic</a:t>
            </a:r>
            <a:r>
              <a:rPr lang="en-US" dirty="0"/>
              <a:t> trajectories are widely used in high-precision systems</a:t>
            </a:r>
          </a:p>
          <a:p>
            <a:pPr marL="0" lvl="0" indent="0">
              <a:buNone/>
            </a:pPr>
            <a:r>
              <a:rPr lang="en-US" dirty="0"/>
              <a:t>a) Industrial Robotics - Robotic arms (e.g., assembly lines), Welding and painting robots </a:t>
            </a:r>
          </a:p>
          <a:p>
            <a:pPr lvl="1"/>
            <a:r>
              <a:rPr lang="en-US" dirty="0"/>
              <a:t>Ensures smooth tool motion and high accuracy </a:t>
            </a:r>
          </a:p>
          <a:p>
            <a:pPr marL="0" lvl="0" indent="0">
              <a:buNone/>
            </a:pPr>
            <a:r>
              <a:rPr lang="en-US" dirty="0"/>
              <a:t>b) Medical Robotics - Surgical robots, Prosthetics and rehabilitation devices </a:t>
            </a:r>
          </a:p>
          <a:p>
            <a:pPr lvl="1"/>
            <a:r>
              <a:rPr lang="en-US" dirty="0"/>
              <a:t>Requires extremely smooth motion to avoid harm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1B394-B0AD-4AA1-9484-B36AF1540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476875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c) CNC Machines -</a:t>
            </a:r>
            <a:r>
              <a:rPr lang="en-US" b="1" dirty="0"/>
              <a:t> </a:t>
            </a:r>
            <a:r>
              <a:rPr lang="en-US" dirty="0"/>
              <a:t>Tool path planning </a:t>
            </a:r>
          </a:p>
          <a:p>
            <a:pPr lvl="1"/>
            <a:r>
              <a:rPr lang="en-US" dirty="0"/>
              <a:t>Minimizes vibration and improves surface finish </a:t>
            </a:r>
          </a:p>
          <a:p>
            <a:pPr marL="0" lvl="0" indent="0">
              <a:buNone/>
            </a:pPr>
            <a:r>
              <a:rPr lang="en-US" dirty="0"/>
              <a:t>d) Autonomous Systems Drones and self-driving vehicles </a:t>
            </a:r>
          </a:p>
          <a:p>
            <a:pPr lvl="1"/>
            <a:r>
              <a:rPr lang="en-US" dirty="0"/>
              <a:t>Smooth navigation and passenger comfort </a:t>
            </a:r>
          </a:p>
          <a:p>
            <a:pPr marL="0" lvl="0" indent="0">
              <a:buNone/>
            </a:pPr>
            <a:r>
              <a:rPr lang="en-US" dirty="0"/>
              <a:t>e) Semiconductor Manufacturing Ultra-precise positioning systems </a:t>
            </a:r>
          </a:p>
          <a:p>
            <a:pPr lvl="1"/>
            <a:r>
              <a:rPr lang="en-US" dirty="0"/>
              <a:t>Nanometer-level accuracy requirements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130C1-6CF3-43FA-8E20-FDE739768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2372-BCA8-4975-B181-2F696FE4BE2F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A5200-7813-4D5D-87D4-C63984782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9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Advantages</a:t>
            </a:r>
            <a:r>
              <a:rPr lang="en-US" dirty="0"/>
              <a:t> and limitations</a:t>
            </a:r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72BEB5-B32F-45F8-B86A-20CBD6EE3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Smooth position, velocity, and acceleration profiles </a:t>
            </a:r>
          </a:p>
          <a:p>
            <a:r>
              <a:rPr lang="en-US" dirty="0"/>
              <a:t>Reduced mechanical wear and tear </a:t>
            </a:r>
          </a:p>
          <a:p>
            <a:r>
              <a:rPr lang="en-US" dirty="0"/>
              <a:t>Improved control stability </a:t>
            </a:r>
          </a:p>
          <a:p>
            <a:r>
              <a:rPr lang="en-US" dirty="0"/>
              <a:t>Better tracking performance </a:t>
            </a:r>
          </a:p>
          <a:p>
            <a:r>
              <a:rPr lang="en-US" dirty="0"/>
              <a:t>Ideal for high-speed, high-precision tasks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10E6FC-2664-4F87-8191-FF0EC6733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60943-105D-4F86-B8E1-D459D4413FF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Computationally more complex than lower-order polynomials </a:t>
            </a:r>
          </a:p>
          <a:p>
            <a:pPr lvl="0"/>
            <a:r>
              <a:rPr lang="en-US" dirty="0"/>
              <a:t>May require optimization for strict constraints </a:t>
            </a:r>
          </a:p>
          <a:p>
            <a:r>
              <a:rPr lang="en-US" dirty="0"/>
              <a:t>Not always sufficient for highly dynamic environments (may need spline-based or jerk-limited profiles)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747630-A2F4-470E-928D-2149C1306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4FA32-C500-4300-8C1E-D2C8C321AB89}" type="datetime1">
              <a:rPr lang="en-US" smtClean="0"/>
              <a:t>4/12/2026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36A7A3-457F-404C-B282-0AC61A13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Quintic</a:t>
            </a:r>
            <a:r>
              <a:rPr lang="en-US" dirty="0"/>
              <a:t> trajectories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Quintic</a:t>
            </a:r>
            <a:r>
              <a:rPr lang="en-US" dirty="0"/>
              <a:t> trajectories are a powerful tool in robotic motion planning, especially where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Smoothness is critical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Acceleration and jerk must be controlled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Precision and safety are required </a:t>
            </a:r>
          </a:p>
          <a:p>
            <a:r>
              <a:rPr lang="en-US" dirty="0"/>
              <a:t>They strike a balance between mathematical simplicity and physical realism, making them a standard choice in modern robotics.</a:t>
            </a:r>
          </a:p>
          <a:p>
            <a:r>
              <a:rPr dirty="0" err="1"/>
              <a:t>Quintic</a:t>
            </a:r>
            <a:r>
              <a:rPr dirty="0"/>
              <a:t> trajectories are ideal for precision robotics requiring smooth, safe, and accurate motion.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3C21F-8A72-4955-AC69-459567219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1459-F17A-4318-8691-2BC4EC9F02C6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96D73-64DB-493B-951D-C107611B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Segment with Parabolic Blend (LSPB) </a:t>
            </a:r>
            <a:r>
              <a:rPr dirty="0"/>
              <a:t> Trajectory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Idea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Accelerate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Move at constant speed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Decelerate</a:t>
            </a:r>
          </a:p>
          <a:p>
            <a:r>
              <a:rPr lang="en-US" b="1" dirty="0"/>
              <a:t>Velocity Profile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Start → acceleration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Middle → constant velocity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End → deceleration </a:t>
            </a:r>
          </a:p>
          <a:p>
            <a:r>
              <a:rPr dirty="0"/>
              <a:t>Trapezoidal velocity</a:t>
            </a:r>
          </a:p>
          <a:p>
            <a:r>
              <a:rPr dirty="0"/>
              <a:t>Phases</a:t>
            </a:r>
            <a:r>
              <a:rPr lang="en-US" dirty="0"/>
              <a:t> -</a:t>
            </a:r>
            <a:r>
              <a:rPr dirty="0"/>
              <a:t> accel, constant, </a:t>
            </a:r>
            <a:r>
              <a:rPr dirty="0" err="1"/>
              <a:t>decel</a:t>
            </a:r>
            <a:endParaRPr dirty="0"/>
          </a:p>
          <a:p>
            <a:r>
              <a:rPr dirty="0"/>
              <a:t>Efficient and simple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49A76AB-78B3-420E-9493-A75595C0E5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66557" y="1358100"/>
            <a:ext cx="4649167" cy="49141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EC06D-E6A9-4858-AE60-86CA7F77F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8AD7-1E36-4F71-9C39-8566392AC63A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7D5F9-B761-4EE9-A11F-12ECD2A7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CDE4B-A473-4D11-9BE5-B5046FBD1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LSPB  Trajectory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ABCB6-EBBA-499D-976A-3785645460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Given:</a:t>
            </a:r>
          </a:p>
          <a:p>
            <a:pPr lvl="1"/>
            <a:r>
              <a:rPr lang="en-US" dirty="0"/>
              <a:t>Distance = 10 m </a:t>
            </a:r>
          </a:p>
          <a:p>
            <a:pPr lvl="1"/>
            <a:r>
              <a:rPr lang="en-US" dirty="0"/>
              <a:t>Max velocity = 4 m/s </a:t>
            </a:r>
          </a:p>
          <a:p>
            <a:pPr lvl="1"/>
            <a:r>
              <a:rPr lang="en-US" dirty="0"/>
              <a:t>Acceleration = 2 m/s² </a:t>
            </a:r>
          </a:p>
          <a:p>
            <a:pPr marL="0" indent="0">
              <a:buNone/>
            </a:pPr>
            <a:r>
              <a:rPr lang="en-US" dirty="0"/>
              <a:t>Step 1: Time to accelerate t</a:t>
            </a:r>
            <a:r>
              <a:rPr lang="en-US" baseline="-25000" dirty="0"/>
              <a:t>a</a:t>
            </a:r>
            <a:r>
              <a:rPr lang="en-US" dirty="0"/>
              <a:t>=v/a = 4/2 = 2 s</a:t>
            </a:r>
          </a:p>
          <a:p>
            <a:pPr marL="0" indent="0">
              <a:buNone/>
            </a:pPr>
            <a:r>
              <a:rPr lang="en-US" dirty="0"/>
              <a:t>Step 2: Distance during acceleration   d</a:t>
            </a:r>
            <a:r>
              <a:rPr lang="en-US" baseline="-25000" dirty="0"/>
              <a:t>a</a:t>
            </a:r>
            <a:r>
              <a:rPr lang="en-US" dirty="0"/>
              <a:t>​=1/2(​at</a:t>
            </a:r>
            <a:r>
              <a:rPr lang="en-US" baseline="30000" dirty="0"/>
              <a:t>2</a:t>
            </a:r>
            <a:r>
              <a:rPr lang="en-US" dirty="0"/>
              <a:t>) = 4 </a:t>
            </a:r>
          </a:p>
          <a:p>
            <a:pPr marL="0" indent="0">
              <a:buNone/>
            </a:pPr>
            <a:r>
              <a:rPr lang="en-US" dirty="0"/>
              <a:t>Step 3: Remaining distance 10−2(4) = 2  </a:t>
            </a:r>
          </a:p>
          <a:p>
            <a:pPr marL="0" indent="0">
              <a:buNone/>
            </a:pPr>
            <a:r>
              <a:rPr lang="en-US" dirty="0"/>
              <a:t>Step 4: Constant velocity time   </a:t>
            </a:r>
            <a:r>
              <a:rPr lang="en-US" dirty="0" err="1"/>
              <a:t>t</a:t>
            </a:r>
            <a:r>
              <a:rPr lang="en-US" baseline="-25000" dirty="0" err="1"/>
              <a:t>c</a:t>
            </a:r>
            <a:r>
              <a:rPr lang="en-US" dirty="0"/>
              <a:t>​ = 2/4 ​=0.5 s </a:t>
            </a:r>
          </a:p>
          <a:p>
            <a:r>
              <a:rPr lang="en-US" dirty="0"/>
              <a:t>Total time  T = 2 + 0.5 + 2 = 4.5 s</a:t>
            </a:r>
          </a:p>
          <a:p>
            <a:r>
              <a:rPr lang="en-US" dirty="0"/>
              <a:t>Total motion time = time to speed up + time at full speed + time to slow down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AA933-9FF2-4180-9B4F-C61A18D91D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The Three Phases</a:t>
            </a:r>
          </a:p>
          <a:p>
            <a:r>
              <a:rPr lang="en-US" b="1" dirty="0"/>
              <a:t>1. Acceleration Phase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1 </a:t>
            </a:r>
            <a:r>
              <a:rPr lang="en-US" dirty="0"/>
              <a:t>​ = 2 s </a:t>
            </a:r>
          </a:p>
          <a:p>
            <a:pPr lvl="1"/>
            <a:r>
              <a:rPr lang="en-US" dirty="0"/>
              <a:t>Robot speeds up from 0 to max velocity </a:t>
            </a:r>
          </a:p>
          <a:p>
            <a:pPr lvl="1"/>
            <a:r>
              <a:rPr lang="en-US" dirty="0"/>
              <a:t>Motion is accelerating </a:t>
            </a:r>
          </a:p>
          <a:p>
            <a:r>
              <a:rPr lang="en-US" b="1" dirty="0"/>
              <a:t>2. Constant Velocity Phase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 ​= 0.5 s </a:t>
            </a:r>
          </a:p>
          <a:p>
            <a:pPr lvl="1"/>
            <a:r>
              <a:rPr lang="en-US" dirty="0"/>
              <a:t>Robot moves at </a:t>
            </a:r>
            <a:r>
              <a:rPr lang="en-US" b="1" dirty="0"/>
              <a:t>maximum speed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No acceleration </a:t>
            </a:r>
          </a:p>
          <a:p>
            <a:r>
              <a:rPr lang="en-US" b="1" dirty="0"/>
              <a:t>3. Deceleration Phase</a:t>
            </a:r>
          </a:p>
          <a:p>
            <a:pPr lvl="1"/>
            <a:r>
              <a:rPr lang="en-US" dirty="0"/>
              <a:t>t</a:t>
            </a:r>
            <a:r>
              <a:rPr lang="en-US" baseline="-25000" dirty="0"/>
              <a:t>3</a:t>
            </a:r>
            <a:r>
              <a:rPr lang="en-US" dirty="0"/>
              <a:t>​ = 2 s </a:t>
            </a:r>
          </a:p>
          <a:p>
            <a:pPr lvl="1"/>
            <a:r>
              <a:rPr lang="en-US" dirty="0"/>
              <a:t>Robot slows down to stop </a:t>
            </a:r>
          </a:p>
          <a:p>
            <a:pPr lvl="1"/>
            <a:r>
              <a:rPr lang="en-US" dirty="0"/>
              <a:t>Motion is decelerating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C537A-F137-41FA-89C1-ECE24AC810AD}"/>
              </a:ext>
            </a:extLst>
          </p:cNvPr>
          <p:cNvSpPr txBox="1"/>
          <p:nvPr/>
        </p:nvSpPr>
        <p:spPr>
          <a:xfrm>
            <a:off x="327991" y="5853797"/>
            <a:ext cx="11400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https://www.mathworks.com/help/robotics/ug/design-a-trajectory-with-velocity-limits-using-a-trapezoidal-velocity-profile.html?utm_source=chatgpt.com</a:t>
            </a:r>
            <a:r>
              <a:rPr lang="en-US" dirty="0"/>
              <a:t>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FA89C1-448B-4B46-B99C-A70A64E5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20FCB-1596-4646-A175-08A863697CB4}" type="datetime1">
              <a:rPr lang="en-US" smtClean="0"/>
              <a:t>4/12/2026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18BE5-63DE-42E7-817B-87C087016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77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C326-8271-49B4-8E7C-120E5C634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Multi-Point Trajectory (Spline)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60A24-6CCC-4F82-BF1B-CBA2E56A9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Idea - Pass through multiple points smoothly q</a:t>
            </a:r>
            <a:r>
              <a:rPr lang="en-US" b="1" baseline="-25000" dirty="0"/>
              <a:t>0 </a:t>
            </a:r>
            <a:r>
              <a:rPr lang="en-US" b="1" dirty="0"/>
              <a:t>​→ q</a:t>
            </a:r>
            <a:r>
              <a:rPr lang="en-US" b="1" baseline="-25000" dirty="0"/>
              <a:t>1 </a:t>
            </a:r>
            <a:r>
              <a:rPr lang="en-US" b="1" dirty="0"/>
              <a:t>​→ q</a:t>
            </a:r>
            <a:r>
              <a:rPr lang="en-US" b="1" baseline="-25000" dirty="0"/>
              <a:t>2</a:t>
            </a:r>
            <a:r>
              <a:rPr lang="en-US" b="1" dirty="0"/>
              <a:t>​ → q</a:t>
            </a:r>
            <a:r>
              <a:rPr lang="en-US" b="1" baseline="-25000" dirty="0"/>
              <a:t>3</a:t>
            </a:r>
            <a:r>
              <a:rPr lang="en-US" b="1" dirty="0"/>
              <a:t>​</a:t>
            </a:r>
          </a:p>
          <a:p>
            <a:r>
              <a:rPr lang="en-US" dirty="0"/>
              <a:t>  Use - Cubic splines, B-splines </a:t>
            </a:r>
          </a:p>
          <a:p>
            <a:r>
              <a:rPr lang="en-US" dirty="0"/>
              <a:t> Ensures smooth motion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F876B-7C88-4E5E-A46C-8BC8C0D6B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8D7B7-6537-43B9-870C-09B8F5EA1792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F3C1D-853A-4EFB-83A4-6E2A81616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80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S-Curve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Limits jerk</a:t>
            </a:r>
          </a:p>
          <a:p>
            <a:r>
              <a:t>Smooth transitions</a:t>
            </a:r>
          </a:p>
          <a:p>
            <a:r>
              <a:t>Used in high precision 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50959-F866-4C4D-BF41-D37E40EBE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00B4F-B97A-40A6-8974-DEBC77480106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F570D-4954-4735-8BF1-9EDFFABD5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Cubic Spline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robotics, we often want a robot to move through </a:t>
            </a:r>
            <a:r>
              <a:rPr lang="en-US" b="1" dirty="0"/>
              <a:t>multiple points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b="1" dirty="0"/>
              <a:t>q</a:t>
            </a:r>
            <a:r>
              <a:rPr lang="en-US" b="1" baseline="-25000" dirty="0"/>
              <a:t>0 </a:t>
            </a:r>
            <a:r>
              <a:rPr lang="en-US" b="1" dirty="0"/>
              <a:t>​→ q</a:t>
            </a:r>
            <a:r>
              <a:rPr lang="en-US" b="1" baseline="-25000" dirty="0"/>
              <a:t>1 </a:t>
            </a:r>
            <a:r>
              <a:rPr lang="en-US" b="1" dirty="0"/>
              <a:t>​→ q</a:t>
            </a:r>
            <a:r>
              <a:rPr lang="en-US" b="1" baseline="-25000" dirty="0"/>
              <a:t>2</a:t>
            </a:r>
            <a:r>
              <a:rPr lang="en-US" b="1" dirty="0"/>
              <a:t>​ → q</a:t>
            </a:r>
            <a:r>
              <a:rPr lang="en-US" b="1" baseline="-25000" dirty="0"/>
              <a:t>3</a:t>
            </a:r>
            <a:r>
              <a:rPr lang="en-US" b="1" dirty="0"/>
              <a:t>​</a:t>
            </a:r>
          </a:p>
          <a:p>
            <a:r>
              <a:rPr lang="en-US" dirty="0"/>
              <a:t>A single polynomial is NOT enough because:</a:t>
            </a:r>
          </a:p>
          <a:p>
            <a:pPr lvl="1"/>
            <a:r>
              <a:rPr lang="en-US" dirty="0"/>
              <a:t>it becomes unstable </a:t>
            </a:r>
          </a:p>
          <a:p>
            <a:pPr lvl="1"/>
            <a:r>
              <a:rPr lang="en-US" dirty="0"/>
              <a:t>it cannot maintain smoothness across many points </a:t>
            </a:r>
          </a:p>
          <a:p>
            <a:r>
              <a:rPr lang="en-US" dirty="0"/>
              <a:t>Solution: </a:t>
            </a:r>
            <a:r>
              <a:rPr lang="en-US" b="1" dirty="0"/>
              <a:t>Splines</a:t>
            </a:r>
            <a:endParaRPr lang="en-US" dirty="0"/>
          </a:p>
          <a:p>
            <a:r>
              <a:rPr lang="en-US" b="1" dirty="0"/>
              <a:t> Key Idea: “</a:t>
            </a:r>
            <a:r>
              <a:rPr lang="en-US" dirty="0"/>
              <a:t>Break the motion into smaller smooth pieces and join them together</a:t>
            </a:r>
            <a:r>
              <a:rPr lang="en-US" b="1" dirty="0"/>
              <a:t>.”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29291-AD2F-4E86-A796-8D81EEDB4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89F47-1D4C-4F3E-93EF-94EF4B0A3B36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8F103-3F85-4FC9-AE92-9A57A22E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0D462-BC22-496F-9979-DCB1F7F99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Cubic spline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FFD13-8262-4E7B-AD0A-1457F62FE3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cubic spline</a:t>
            </a:r>
            <a:r>
              <a:rPr lang="en-US" dirty="0"/>
              <a:t> is a set of </a:t>
            </a:r>
            <a:r>
              <a:rPr lang="en-US" b="1" dirty="0"/>
              <a:t>piecewise cubic polynomials</a:t>
            </a:r>
            <a:r>
              <a:rPr lang="en-US" dirty="0"/>
              <a:t>, one between each pair of points.</a:t>
            </a:r>
          </a:p>
          <a:p>
            <a:r>
              <a:rPr lang="en-US" dirty="0"/>
              <a:t>For points: q</a:t>
            </a:r>
            <a:r>
              <a:rPr lang="en-US" baseline="-25000" dirty="0"/>
              <a:t>0</a:t>
            </a:r>
            <a:r>
              <a:rPr lang="en-US" dirty="0"/>
              <a:t>​, q</a:t>
            </a:r>
            <a:r>
              <a:rPr lang="en-US" baseline="-25000" dirty="0"/>
              <a:t>1</a:t>
            </a:r>
            <a:r>
              <a:rPr lang="en-US" dirty="0"/>
              <a:t>​, q</a:t>
            </a:r>
            <a:r>
              <a:rPr lang="en-US" baseline="-25000" dirty="0"/>
              <a:t>2</a:t>
            </a:r>
            <a:r>
              <a:rPr lang="en-US" dirty="0"/>
              <a:t>​, q</a:t>
            </a:r>
            <a:r>
              <a:rPr lang="en-US" baseline="-25000" dirty="0"/>
              <a:t>3</a:t>
            </a:r>
            <a:r>
              <a:rPr lang="en-US" dirty="0"/>
              <a:t>​ </a:t>
            </a:r>
          </a:p>
          <a:p>
            <a:r>
              <a:rPr lang="en-US" dirty="0"/>
              <a:t>We define:</a:t>
            </a:r>
          </a:p>
          <a:p>
            <a:pPr lvl="1"/>
            <a:r>
              <a:rPr lang="en-US" dirty="0"/>
              <a:t>Segment 1: between q</a:t>
            </a:r>
            <a:r>
              <a:rPr lang="en-US" baseline="-25000" dirty="0"/>
              <a:t>0</a:t>
            </a:r>
            <a:r>
              <a:rPr lang="en-US" dirty="0"/>
              <a:t>→q</a:t>
            </a:r>
            <a:r>
              <a:rPr lang="en-US" baseline="-25000" dirty="0"/>
              <a:t>1</a:t>
            </a:r>
            <a:r>
              <a:rPr lang="en-US" dirty="0"/>
              <a:t>   </a:t>
            </a:r>
          </a:p>
          <a:p>
            <a:pPr lvl="1"/>
            <a:r>
              <a:rPr lang="en-US" dirty="0"/>
              <a:t>Segment 2: between q</a:t>
            </a:r>
            <a:r>
              <a:rPr lang="en-US" baseline="-25000" dirty="0"/>
              <a:t>1</a:t>
            </a:r>
            <a:r>
              <a:rPr lang="en-US" dirty="0"/>
              <a:t>→q</a:t>
            </a:r>
            <a:r>
              <a:rPr lang="en-US" baseline="-25000" dirty="0"/>
              <a:t>2</a:t>
            </a:r>
            <a:r>
              <a:rPr lang="en-US" dirty="0"/>
              <a:t>  ​ </a:t>
            </a:r>
          </a:p>
          <a:p>
            <a:pPr lvl="1"/>
            <a:r>
              <a:rPr lang="en-US" dirty="0"/>
              <a:t>Segment 3: between q</a:t>
            </a:r>
            <a:r>
              <a:rPr lang="en-US" baseline="-25000" dirty="0"/>
              <a:t>2</a:t>
            </a:r>
            <a:r>
              <a:rPr lang="en-US" dirty="0"/>
              <a:t>→q</a:t>
            </a:r>
            <a:r>
              <a:rPr lang="en-US" baseline="-25000" dirty="0"/>
              <a:t>3</a:t>
            </a:r>
            <a:r>
              <a:rPr lang="en-US" dirty="0"/>
              <a:t>  ​ </a:t>
            </a:r>
          </a:p>
          <a:p>
            <a:r>
              <a:rPr lang="en-US" dirty="0"/>
              <a:t>Each segment: q</a:t>
            </a:r>
            <a:r>
              <a:rPr lang="en-US" baseline="-25000" dirty="0"/>
              <a:t>i</a:t>
            </a:r>
            <a:r>
              <a:rPr lang="en-US" dirty="0"/>
              <a:t>(t) = a</a:t>
            </a:r>
            <a:r>
              <a:rPr lang="en-US" baseline="-25000" dirty="0"/>
              <a:t>i </a:t>
            </a:r>
            <a:r>
              <a:rPr lang="en-US" dirty="0"/>
              <a:t>+ b</a:t>
            </a:r>
            <a:r>
              <a:rPr lang="en-US" baseline="-25000" dirty="0"/>
              <a:t>i</a:t>
            </a:r>
            <a:r>
              <a:rPr lang="en-US" dirty="0"/>
              <a:t>t + c</a:t>
            </a:r>
            <a:r>
              <a:rPr lang="en-US" baseline="-25000" dirty="0"/>
              <a:t>i</a:t>
            </a:r>
            <a:r>
              <a:rPr lang="en-US" dirty="0"/>
              <a:t>t2 + d</a:t>
            </a:r>
            <a:r>
              <a:rPr lang="en-US" baseline="-25000" dirty="0"/>
              <a:t>i</a:t>
            </a:r>
            <a:r>
              <a:rPr lang="en-US" dirty="0"/>
              <a:t>t3   </a:t>
            </a:r>
          </a:p>
          <a:p>
            <a:endParaRPr lang="en-US" dirty="0"/>
          </a:p>
        </p:txBody>
      </p:sp>
      <p:pic>
        <p:nvPicPr>
          <p:cNvPr id="5" name="Content Placeholder 4" descr="https://images.openai.com/static-rsc-4/37FC7xDZYeCaX4RdmWrvj2Lh4NseEQTt5o_9XUIyeeFs4Q34GTsh-gmjKO9euKp5agRDZ_JdaBdJ79tiiwlSMUCCJSlFm5sNVVaxweyTcN4grn3evp-LY6pPWoJyEf3iPqmd7aA5FgBtamLaIlEVpCM2ykEzDihuJsua_Yowzl0FmgP4uhuKj7d0tXyFPlIu?purpose=fullsize">
            <a:extLst>
              <a:ext uri="{FF2B5EF4-FFF2-40B4-BE49-F238E27FC236}">
                <a16:creationId xmlns:a16="http://schemas.microsoft.com/office/drawing/2014/main" id="{73D1414C-455F-423E-B2DD-8773B89024A1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825625"/>
            <a:ext cx="5429250" cy="395221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FBB4153-08D2-4814-AF61-EE3CFCB50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D255-1457-4163-9DCB-7A9C37E29E93}" type="datetime1">
              <a:rPr lang="en-US" smtClean="0"/>
              <a:t>4/12/2026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D14CF-0419-44DE-A8FC-D146F4BB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92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https://images.openai.com/static-rsc-4/j58emzBEh--1A6KJFWu00FMuJkRYVVejVbUTxGdqa943-RkeRyskUfWTDl0O5UPYJd22UaCElzHZPlM-XCXczD1orB6zbysg6j5qkcgeAClMdV6Vbj2KH3F6aFvVd_B-jBXf7pStkA2yjs1iJQrZdGYpiphd_3pGYrMiUiXsdbGyqXimSZvr_QJ1oStru917?purpose=fullsize">
            <a:extLst>
              <a:ext uri="{FF2B5EF4-FFF2-40B4-BE49-F238E27FC236}">
                <a16:creationId xmlns:a16="http://schemas.microsoft.com/office/drawing/2014/main" id="{0280E4F4-B092-41EF-A2DC-A74E228B887A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975" y="406400"/>
            <a:ext cx="365760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ttps://images.openai.com/static-rsc-4/RrV1XYpTT39PyG9GCp5yU-hFCeM65EsBeOK4TtyHKbn0riiRQlpZBk9rSHeekstwWvx573Jszq5KTUbI23BcjNciKrbXVE3tyhSUwRFPeZZeaxgpCAl9hoBd93JiLxNkb07m7afatKtKQT98xqsftry2smaNSqoiNVPT_GQNvTWv9YPX9VzvsjMnlAE4fhQT?purpose=fullsize">
            <a:extLst>
              <a:ext uri="{FF2B5EF4-FFF2-40B4-BE49-F238E27FC236}">
                <a16:creationId xmlns:a16="http://schemas.microsoft.com/office/drawing/2014/main" id="{1A27818F-7CF9-49E8-BB8D-877CDAB0F59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428999"/>
            <a:ext cx="4391025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C62B7C-8C6D-403A-8173-2DABD1308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226"/>
            <a:ext cx="10515600" cy="1325563"/>
          </a:xfrm>
        </p:spPr>
        <p:txBody>
          <a:bodyPr/>
          <a:lstStyle/>
          <a:p>
            <a:r>
              <a:rPr lang="en-US" b="1" dirty="0"/>
              <a:t>Conditions for cubic spline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0BD6B-04AA-406D-B06E-361BDCE70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91250" cy="4546600"/>
          </a:xfrm>
        </p:spPr>
        <p:txBody>
          <a:bodyPr/>
          <a:lstStyle/>
          <a:p>
            <a:r>
              <a:rPr lang="en-US" dirty="0"/>
              <a:t>At each connecting point: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Position must match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Velocity must match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Acceleration must match</a:t>
            </a:r>
          </a:p>
          <a:p>
            <a:r>
              <a:rPr lang="en-US" dirty="0"/>
              <a:t>This ensures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Smooth motion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No jerks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Continuous acceleration</a:t>
            </a:r>
          </a:p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5F645-1A34-4B4C-A2AC-4FBA57ED2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845A-8E16-435F-9253-EB296B06F5A7}" type="datetime1">
              <a:rPr lang="en-US" smtClean="0"/>
              <a:t>4/12/2026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A3B12B-1CD7-45FE-BCE6-FE9468BF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95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89C5-9318-4324-B76E-97C48B04A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Conditions for cubic spline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E8108-742C-42F5-9B1C-241C1F0BB2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Points   </a:t>
            </a:r>
          </a:p>
          <a:p>
            <a:pPr marL="457200" lvl="1" indent="0">
              <a:buNone/>
            </a:pPr>
            <a:r>
              <a:rPr lang="en-US" dirty="0"/>
              <a:t>q</a:t>
            </a:r>
            <a:r>
              <a:rPr lang="en-US" baseline="-25000" dirty="0"/>
              <a:t>0</a:t>
            </a:r>
            <a:r>
              <a:rPr lang="en-US" dirty="0"/>
              <a:t> ​= 0, q</a:t>
            </a:r>
            <a:r>
              <a:rPr lang="en-US" baseline="-25000" dirty="0"/>
              <a:t>1</a:t>
            </a:r>
            <a:r>
              <a:rPr lang="en-US" dirty="0"/>
              <a:t>​ = 5, q</a:t>
            </a:r>
            <a:r>
              <a:rPr lang="en-US" baseline="-25000" dirty="0"/>
              <a:t>2</a:t>
            </a:r>
            <a:r>
              <a:rPr lang="en-US" dirty="0"/>
              <a:t> ​= 8, q</a:t>
            </a:r>
            <a:r>
              <a:rPr lang="en-US" baseline="-25000" dirty="0"/>
              <a:t>3</a:t>
            </a:r>
            <a:r>
              <a:rPr lang="en-US" dirty="0"/>
              <a:t>​ = 10 </a:t>
            </a:r>
          </a:p>
          <a:p>
            <a:r>
              <a:rPr lang="en-US" dirty="0"/>
              <a:t>What happens?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Robot moves from 0 → 5 smoothly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Then 5 → 8 smoothly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Then 8 → 10 smoothly </a:t>
            </a:r>
          </a:p>
          <a:p>
            <a:r>
              <a:rPr lang="en-US" dirty="0"/>
              <a:t>No sharp turns or stops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6EA26-D29A-4B51-8B48-8E5D664064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Cubic Splines Are Good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Smooth motion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Passes exactly through all points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Easy to compute</a:t>
            </a:r>
          </a:p>
          <a:p>
            <a:r>
              <a:rPr lang="en-US" b="1" dirty="0"/>
              <a:t> </a:t>
            </a:r>
            <a:r>
              <a:rPr lang="en-US" dirty="0"/>
              <a:t>Limitation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Changing one point affects the whole curve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9BB08-B3D2-4960-BCE7-F95CE32C1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F034E-A9C9-44D2-8222-A583DEB16C88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FD9D5-61E5-4BE5-B0F0-98190FB0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09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6E62A-5B19-4397-A4B4-72F2DDF95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B-Splines (Basis Splines)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2A603-EDD6-4571-B119-41B9D9416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5433" y="1825625"/>
            <a:ext cx="782854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B-spline</a:t>
            </a:r>
            <a:r>
              <a:rPr lang="en-US" dirty="0"/>
              <a:t> is a smooth curve controlled by </a:t>
            </a:r>
            <a:r>
              <a:rPr lang="en-US" b="1" dirty="0"/>
              <a:t>control points</a:t>
            </a:r>
            <a:r>
              <a:rPr lang="en-US" dirty="0"/>
              <a:t>, but:</a:t>
            </a:r>
          </a:p>
          <a:p>
            <a:pPr lvl="1"/>
            <a:r>
              <a:rPr lang="en-US" dirty="0"/>
              <a:t>It does NOT necessarily pass through all points</a:t>
            </a:r>
          </a:p>
          <a:p>
            <a:pPr marL="0" indent="0">
              <a:buNone/>
            </a:pPr>
            <a:r>
              <a:rPr lang="en-US" b="1" dirty="0"/>
              <a:t> Key Idea : “</a:t>
            </a:r>
            <a:r>
              <a:rPr lang="en-US" dirty="0"/>
              <a:t>Control the shape of the curve using nearby points instead of forcing it through every point.”</a:t>
            </a:r>
          </a:p>
          <a:p>
            <a:r>
              <a:rPr lang="en-US" dirty="0"/>
              <a:t>Instead of interpolation:</a:t>
            </a:r>
          </a:p>
          <a:p>
            <a:pPr lvl="1"/>
            <a:r>
              <a:rPr lang="en-US" dirty="0"/>
              <a:t>q(t) = ∑ B</a:t>
            </a:r>
            <a:r>
              <a:rPr lang="en-US" baseline="-25000" dirty="0"/>
              <a:t>i</a:t>
            </a:r>
            <a:r>
              <a:rPr lang="en-US" dirty="0"/>
              <a:t>​(t)P</a:t>
            </a:r>
            <a:r>
              <a:rPr lang="en-US" baseline="-25000" dirty="0"/>
              <a:t>i</a:t>
            </a:r>
            <a:r>
              <a:rPr lang="en-US" dirty="0"/>
              <a:t>​ </a:t>
            </a:r>
          </a:p>
          <a:p>
            <a:r>
              <a:rPr lang="en-US" dirty="0"/>
              <a:t>Where:</a:t>
            </a:r>
          </a:p>
          <a:p>
            <a:pPr lvl="1"/>
            <a:r>
              <a:rPr lang="en-US" dirty="0"/>
              <a:t>P</a:t>
            </a:r>
            <a:r>
              <a:rPr lang="en-US" baseline="-25000" dirty="0"/>
              <a:t>i</a:t>
            </a:r>
            <a:r>
              <a:rPr lang="en-US" dirty="0"/>
              <a:t>​ = control points </a:t>
            </a:r>
          </a:p>
          <a:p>
            <a:pPr lvl="1"/>
            <a:r>
              <a:rPr lang="en-US" dirty="0"/>
              <a:t>B</a:t>
            </a:r>
            <a:r>
              <a:rPr lang="en-US" baseline="-25000" dirty="0"/>
              <a:t>i</a:t>
            </a:r>
            <a:r>
              <a:rPr lang="en-US" dirty="0"/>
              <a:t>(t)  = basis functions </a:t>
            </a:r>
          </a:p>
          <a:p>
            <a:endParaRPr lang="en-US" dirty="0"/>
          </a:p>
        </p:txBody>
      </p:sp>
      <p:pic>
        <p:nvPicPr>
          <p:cNvPr id="2050" name="Picture 3" descr="https://images.openai.com/static-rsc-4/_4EbgpyIsKp8ruDClLJ4v69BBmFrJ3E6NhZIBqD-MaDKiqvrUTEqfIiXPDQA3TJTd8rmDClsq1cEiRCVXSpjIKxSMMItuecOKcl2TNWewzArUtnfB4SMND04D7AKgpVk2uiN0M-KHbcLT7k-Vd15zlwE1aqUe4dBR71POPEenYzAR1uQ4FlctxkjffTiJcbi?purpose=fullsize">
            <a:extLst>
              <a:ext uri="{FF2B5EF4-FFF2-40B4-BE49-F238E27FC236}">
                <a16:creationId xmlns:a16="http://schemas.microsoft.com/office/drawing/2014/main" id="{A58CAE72-4A5E-4D0B-92EE-06CE26F16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4539" y="1461294"/>
            <a:ext cx="3175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2" descr="https://images.openai.com/static-rsc-4/UwIaBakC0Zob5F3MNf4xq8xYHJKjfcidIcf5s7smlpt8SDpWvP4QVIHnkj2VUaezIGB6cP7TKppP1NaWdGawJdu5TcnEkkvh6EEHKypsA46te2Cnziu4b5a-aFmUBvltyexolLY23wDOsYLMLDuLHSiVrjrLWGFJMurBPDTnxJJOdjTnRcgGrfOPtwAXpzyU?purpose=fullsize">
            <a:extLst>
              <a:ext uri="{FF2B5EF4-FFF2-40B4-BE49-F238E27FC236}">
                <a16:creationId xmlns:a16="http://schemas.microsoft.com/office/drawing/2014/main" id="{4C0D9149-CE83-45F2-A6C0-BA527DA9D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4539" y="4475163"/>
            <a:ext cx="3136900" cy="170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B80EB13B-1B46-4E03-A69E-6E64159FE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B850E14-C579-4B9A-8552-C734F99E5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9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E11199-B94B-4A95-9D4B-33FA52B26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D432D-5D2B-48B6-9DDA-C62D51B8AD24}" type="datetime1">
              <a:rPr lang="en-US" smtClean="0"/>
              <a:t>4/12/2026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CD79CF1-5F89-4027-85B4-00096D86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38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DEFB-F340-42BF-A9A0-6F8D24647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(B-Spline)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C8B55-2BC4-4E3C-8B8A-6CB1523547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Control Points: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</a:t>
            </a:r>
            <a:r>
              <a:rPr lang="en-US" baseline="-25000" dirty="0"/>
              <a:t>0</a:t>
            </a:r>
            <a:r>
              <a:rPr lang="en-US" dirty="0"/>
              <a:t> = (-1,0), P</a:t>
            </a:r>
            <a:r>
              <a:rPr lang="en-US" baseline="-25000" dirty="0"/>
              <a:t>1</a:t>
            </a:r>
            <a:r>
              <a:rPr lang="en-US" dirty="0"/>
              <a:t> = (-3,3), P</a:t>
            </a:r>
            <a:r>
              <a:rPr lang="en-US" baseline="-25000" dirty="0"/>
              <a:t>2</a:t>
            </a:r>
            <a:r>
              <a:rPr lang="en-US" dirty="0"/>
              <a:t> = (4,1), P</a:t>
            </a:r>
            <a:r>
              <a:rPr lang="en-US" baseline="-25000" dirty="0"/>
              <a:t>3</a:t>
            </a:r>
            <a:r>
              <a:rPr lang="en-US" dirty="0"/>
              <a:t> = (2,1) p4 = (1,3) </a:t>
            </a:r>
          </a:p>
          <a:p>
            <a:r>
              <a:rPr lang="en-US" dirty="0"/>
              <a:t>The curve: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does NOT pass through all points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stays </a:t>
            </a:r>
            <a:r>
              <a:rPr lang="en-US" b="1" dirty="0"/>
              <a:t>close to them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forms a smooth path </a:t>
            </a:r>
          </a:p>
          <a:p>
            <a:r>
              <a:rPr lang="en-US" b="1" dirty="0"/>
              <a:t>Key Property -</a:t>
            </a:r>
            <a:r>
              <a:rPr lang="en-US" dirty="0"/>
              <a:t> </a:t>
            </a:r>
            <a:r>
              <a:rPr lang="en-US" b="1" dirty="0"/>
              <a:t>Local Control</a:t>
            </a:r>
            <a:endParaRPr lang="en-US" dirty="0"/>
          </a:p>
          <a:p>
            <a:r>
              <a:rPr lang="en-US" dirty="0"/>
              <a:t>If you move one control point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Only part of the curve changes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Not the entire curve </a:t>
            </a:r>
          </a:p>
          <a:p>
            <a:endParaRPr lang="en-US" dirty="0"/>
          </a:p>
        </p:txBody>
      </p:sp>
      <p:pic>
        <p:nvPicPr>
          <p:cNvPr id="5" name="Content Placeholder 4" descr="https://images.openai.com/static-rsc-4/hztSA1TyT-HDa-nPBHDpKR3xmAuGpJGMlDSrjXvE6L-FBihrl--Q-H0INjWy_uYLB-oj1B-y4_eU5veArL5Bkx62tW-eZ-RW_IEfvcn8lTkemZH-xCHrWwYpCSx4ePbegx5vD4CrcPjlJNBtVWTHik9NlCta3vIOUcAfKctdx-uytY-Pd_UZ0WCdSwGSmlVJ?purpose=fullsize">
            <a:extLst>
              <a:ext uri="{FF2B5EF4-FFF2-40B4-BE49-F238E27FC236}">
                <a16:creationId xmlns:a16="http://schemas.microsoft.com/office/drawing/2014/main" id="{CB244557-49CB-4124-BD4E-3899F97E555D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058194"/>
            <a:ext cx="51816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F29080-153E-4905-9835-30833141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084E3-7C6A-4098-8261-6C2CD0439BD2}" type="datetime1">
              <a:rPr lang="en-US" smtClean="0"/>
              <a:t>4/12/2026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3244A-D726-4284-96C6-AF25CBCC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3631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4B2B0-7196-4B7E-8045-AF353E5C6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Cubic Spline vs B-Spline</a:t>
            </a: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E2F3C6A-492F-42AA-8A48-60F5B6FAD77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65139478"/>
              </p:ext>
            </p:extLst>
          </p:nvPr>
        </p:nvGraphicFramePr>
        <p:xfrm>
          <a:off x="838199" y="1315701"/>
          <a:ext cx="9990222" cy="23996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30074">
                  <a:extLst>
                    <a:ext uri="{9D8B030D-6E8A-4147-A177-3AD203B41FA5}">
                      <a16:colId xmlns:a16="http://schemas.microsoft.com/office/drawing/2014/main" val="2851903952"/>
                    </a:ext>
                  </a:extLst>
                </a:gridCol>
                <a:gridCol w="3330074">
                  <a:extLst>
                    <a:ext uri="{9D8B030D-6E8A-4147-A177-3AD203B41FA5}">
                      <a16:colId xmlns:a16="http://schemas.microsoft.com/office/drawing/2014/main" val="4085362224"/>
                    </a:ext>
                  </a:extLst>
                </a:gridCol>
                <a:gridCol w="3330074">
                  <a:extLst>
                    <a:ext uri="{9D8B030D-6E8A-4147-A177-3AD203B41FA5}">
                      <a16:colId xmlns:a16="http://schemas.microsoft.com/office/drawing/2014/main" val="2595702543"/>
                    </a:ext>
                  </a:extLst>
                </a:gridCol>
              </a:tblGrid>
              <a:tr h="479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</a:rPr>
                        <a:t>Feature</a:t>
                      </a:r>
                      <a:endParaRPr lang="en-US" sz="28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</a:rPr>
                        <a:t>Cubic Spline</a:t>
                      </a:r>
                      <a:endParaRPr lang="en-US" sz="28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</a:rPr>
                        <a:t>B-Spline</a:t>
                      </a:r>
                      <a:endParaRPr lang="en-US" sz="28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2337151062"/>
                  </a:ext>
                </a:extLst>
              </a:tr>
              <a:tr h="4799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Passes through points</a:t>
                      </a:r>
                      <a:endParaRPr lang="en-US" sz="2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Yes</a:t>
                      </a:r>
                      <a:endParaRPr lang="en-US" sz="2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 No</a:t>
                      </a:r>
                      <a:endParaRPr lang="en-US" sz="2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4028271428"/>
                  </a:ext>
                </a:extLst>
              </a:tr>
              <a:tr h="4799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Smoothness</a:t>
                      </a:r>
                      <a:endParaRPr lang="en-US" sz="2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High</a:t>
                      </a:r>
                      <a:endParaRPr lang="en-US" sz="2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Very high</a:t>
                      </a:r>
                      <a:endParaRPr lang="en-US" sz="2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1490262195"/>
                  </a:ext>
                </a:extLst>
              </a:tr>
              <a:tr h="4799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Control</a:t>
                      </a:r>
                      <a:endParaRPr lang="en-US" sz="2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Global</a:t>
                      </a:r>
                      <a:endParaRPr lang="en-US" sz="2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Local</a:t>
                      </a:r>
                      <a:endParaRPr lang="en-US" sz="2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2006066160"/>
                  </a:ext>
                </a:extLst>
              </a:tr>
              <a:tr h="4799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Stability</a:t>
                      </a:r>
                      <a:endParaRPr lang="en-US" sz="2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Moderate</a:t>
                      </a:r>
                      <a:endParaRPr lang="en-US" sz="2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</a:rPr>
                        <a:t>Very stable</a:t>
                      </a:r>
                      <a:endParaRPr lang="en-US" sz="28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283301979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3C887CB-B4E9-4DD4-A3D0-02B0C05E115E}"/>
              </a:ext>
            </a:extLst>
          </p:cNvPr>
          <p:cNvSpPr/>
          <p:nvPr/>
        </p:nvSpPr>
        <p:spPr>
          <a:xfrm>
            <a:off x="751972" y="3905825"/>
            <a:ext cx="5081338" cy="223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b="1" dirty="0">
                <a:latin typeface="Arial" panose="020B0604020202020204" pitchFamily="34" charset="0"/>
              </a:rPr>
              <a:t>Use Cubic Splines when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Robot must pass through exact points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Waypoints are critical </a:t>
            </a:r>
          </a:p>
          <a:p>
            <a:pPr>
              <a:lnSpc>
                <a:spcPct val="115000"/>
              </a:lnSpc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2800" b="1" dirty="0"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88A73F-1739-4340-B572-894DBB73D38C}"/>
              </a:ext>
            </a:extLst>
          </p:cNvPr>
          <p:cNvSpPr/>
          <p:nvPr/>
        </p:nvSpPr>
        <p:spPr>
          <a:xfrm>
            <a:off x="6214712" y="3905825"/>
            <a:ext cx="4940969" cy="1902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b="1" dirty="0">
                <a:latin typeface="Arial" panose="020B0604020202020204" pitchFamily="34" charset="0"/>
              </a:rPr>
              <a:t>Use B-Splines when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Smoothness is more important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You want flexible shape control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Avoid sharp changes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36BB184-5F1C-4D95-BF4A-C3A1011C7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2118-922F-4076-BA21-0AC41B4DD673}" type="datetime1">
              <a:rPr lang="en-US" smtClean="0"/>
              <a:t>4/12/2026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0BCD35F-7462-4E77-9451-05AB952BC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29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4BFC5-5FA3-47B8-AFA6-6AA978A0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Robotics Application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B70DE-FE27-47C2-AB2C-3871217735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728152"/>
          </a:xfrm>
        </p:spPr>
        <p:txBody>
          <a:bodyPr>
            <a:normAutofit/>
          </a:bodyPr>
          <a:lstStyle/>
          <a:p>
            <a:r>
              <a:rPr lang="en-US" b="1" dirty="0"/>
              <a:t>Cubic Splines</a:t>
            </a:r>
          </a:p>
          <a:p>
            <a:pPr lvl="1"/>
            <a:r>
              <a:rPr lang="en-US" dirty="0"/>
              <a:t>Industrial robot arms </a:t>
            </a:r>
          </a:p>
          <a:p>
            <a:pPr lvl="1"/>
            <a:r>
              <a:rPr lang="en-US" dirty="0"/>
              <a:t>Pick-and-place tasks </a:t>
            </a:r>
          </a:p>
          <a:p>
            <a:r>
              <a:rPr lang="en-US" b="1" dirty="0"/>
              <a:t>“</a:t>
            </a:r>
            <a:r>
              <a:rPr lang="en-US" dirty="0"/>
              <a:t>Go exactly through every point smoothly.”</a:t>
            </a:r>
          </a:p>
          <a:p>
            <a:pPr lvl="0"/>
            <a:r>
              <a:rPr lang="en-US" dirty="0"/>
              <a:t>Cubic spline → interpolates points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18FFC-9E1B-45B3-B922-20FCF52B8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497146"/>
          </a:xfrm>
        </p:spPr>
        <p:txBody>
          <a:bodyPr>
            <a:normAutofit/>
          </a:bodyPr>
          <a:lstStyle/>
          <a:p>
            <a:r>
              <a:rPr lang="en-US" b="1" dirty="0"/>
              <a:t>B-Splines</a:t>
            </a:r>
          </a:p>
          <a:p>
            <a:pPr lvl="1"/>
            <a:r>
              <a:rPr lang="en-US" dirty="0"/>
              <a:t>Autonomous vehicles </a:t>
            </a:r>
          </a:p>
          <a:p>
            <a:pPr lvl="1"/>
            <a:r>
              <a:rPr lang="en-US" dirty="0"/>
              <a:t>Drone flight paths </a:t>
            </a:r>
          </a:p>
          <a:p>
            <a:pPr lvl="1"/>
            <a:r>
              <a:rPr lang="en-US" dirty="0"/>
              <a:t>Animation and smooth navigation </a:t>
            </a:r>
          </a:p>
          <a:p>
            <a:r>
              <a:rPr lang="en-US" dirty="0"/>
              <a:t>Follow the general direction of points with maximum smoothness.”</a:t>
            </a:r>
          </a:p>
          <a:p>
            <a:r>
              <a:rPr lang="en-US" dirty="0"/>
              <a:t>B-spline → approximates points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17C9B0-72DA-4FA3-8AC6-76F1A07427D5}"/>
              </a:ext>
            </a:extLst>
          </p:cNvPr>
          <p:cNvSpPr/>
          <p:nvPr/>
        </p:nvSpPr>
        <p:spPr>
          <a:xfrm>
            <a:off x="3125751" y="5723401"/>
            <a:ext cx="56372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200" dirty="0"/>
              <a:t>Both ensure </a:t>
            </a:r>
            <a:r>
              <a:rPr lang="en-US" sz="3200" b="1" dirty="0"/>
              <a:t>smooth trajectories</a:t>
            </a:r>
            <a:endParaRPr lang="en-US" sz="32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BF9E73-9F24-48CC-898C-68D813FA8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0D97-4827-48FD-9368-D68677039ED2}" type="datetime1">
              <a:rPr lang="en-US" smtClean="0"/>
              <a:t>4/12/2026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14D1A2F-7ABC-42F3-AA7F-B92F376A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3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Trajectory Architecture</a:t>
            </a:r>
            <a:r>
              <a:rPr lang="en-US" dirty="0"/>
              <a:t> (planning pipeline)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Planner → Generator → Controller</a:t>
            </a:r>
          </a:p>
          <a:p>
            <a:r>
              <a:rPr sz="3200" dirty="0"/>
              <a:t>Ensures smooth execution</a:t>
            </a:r>
            <a:endParaRPr lang="en-US" sz="3200" dirty="0"/>
          </a:p>
          <a:p>
            <a:pPr marL="514350" lvl="0" indent="-514350">
              <a:buFont typeface="+mj-lt"/>
              <a:buAutoNum type="arabicPeriod"/>
            </a:pPr>
            <a:r>
              <a:rPr lang="en-US" sz="3200" dirty="0"/>
              <a:t>Path planning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200" dirty="0"/>
              <a:t>Time assignment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200" dirty="0"/>
              <a:t>Trajectory generation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Control execution</a:t>
            </a:r>
            <a:endParaRPr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9C522-CDCE-44EA-94AB-7DBD4D88D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5053-6A8C-4620-8A8C-58CC104FF01E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7752C-F2B7-4805-B4E1-1E6D83D7E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54D41-A070-453E-8A49-4B3AB25F2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of trajectory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65915-9226-4BF6-9269-CFB2875338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Trajectory planning is used in:</a:t>
            </a:r>
          </a:p>
          <a:p>
            <a:pPr lvl="1"/>
            <a:r>
              <a:rPr lang="en-US" dirty="0"/>
              <a:t>robotic arms </a:t>
            </a:r>
          </a:p>
          <a:p>
            <a:pPr lvl="1"/>
            <a:r>
              <a:rPr lang="en-US" dirty="0"/>
              <a:t>mobile robots </a:t>
            </a:r>
          </a:p>
          <a:p>
            <a:pPr lvl="1"/>
            <a:r>
              <a:rPr lang="en-US" dirty="0"/>
              <a:t>drones </a:t>
            </a:r>
          </a:p>
          <a:p>
            <a:pPr lvl="1"/>
            <a:r>
              <a:rPr lang="en-US" dirty="0"/>
              <a:t>autonomous vehicles </a:t>
            </a:r>
          </a:p>
          <a:p>
            <a:r>
              <a:rPr lang="en-US" dirty="0"/>
              <a:t>Frameworks like:  ROS </a:t>
            </a:r>
            <a:r>
              <a:rPr lang="en-US" dirty="0" err="1"/>
              <a:t>MoveIt</a:t>
            </a:r>
            <a:endParaRPr lang="en-US" dirty="0"/>
          </a:p>
          <a:p>
            <a:pPr lvl="1"/>
            <a:r>
              <a:rPr lang="en-US" dirty="0"/>
              <a:t>Motion planning framework</a:t>
            </a:r>
          </a:p>
          <a:p>
            <a:pPr lvl="1"/>
            <a:r>
              <a:rPr lang="en-US" dirty="0"/>
              <a:t>Uses RRT/PRM</a:t>
            </a:r>
          </a:p>
          <a:p>
            <a:pPr lvl="1"/>
            <a:r>
              <a:rPr lang="en-US" dirty="0"/>
              <a:t>Handles Inverse Kinematics and trajectories</a:t>
            </a:r>
          </a:p>
          <a:p>
            <a:r>
              <a:rPr lang="en-US" b="1" dirty="0"/>
              <a:t>Trajectory planning tells the robot not just where to go, but how fast and how smoothly to get there.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54218-2048-4F93-89F2-94424B64AF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Always remember</a:t>
            </a:r>
          </a:p>
          <a:p>
            <a:pPr lvl="0"/>
            <a:r>
              <a:rPr lang="en-US" dirty="0"/>
              <a:t>q(t) defines motion </a:t>
            </a:r>
          </a:p>
          <a:p>
            <a:pPr lvl="0"/>
            <a:r>
              <a:rPr lang="en-US" dirty="0"/>
              <a:t>Cubic → position + velocity </a:t>
            </a:r>
          </a:p>
          <a:p>
            <a:pPr lvl="0"/>
            <a:r>
              <a:rPr lang="en-US" dirty="0" err="1"/>
              <a:t>Quintic</a:t>
            </a:r>
            <a:r>
              <a:rPr lang="en-US" dirty="0"/>
              <a:t> → position + velocity + acceleration </a:t>
            </a:r>
          </a:p>
          <a:p>
            <a:pPr lvl="0"/>
            <a:r>
              <a:rPr lang="en-US" dirty="0"/>
              <a:t>LSPB → practical velocity profile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A1A1D-A4FC-4C9F-8991-41F194F5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18A-E13F-4822-99DC-AE840B240A8D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61FD2-7544-4A13-B2AC-AE1D8D6B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1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Obstacle Avoidance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Obstacle avoidance</a:t>
            </a:r>
          </a:p>
          <a:p>
            <a:r>
              <a:rPr lang="en-US" dirty="0"/>
              <a:t>Ensures that a robot:</a:t>
            </a:r>
          </a:p>
          <a:p>
            <a:pPr lvl="1"/>
            <a:r>
              <a:rPr lang="en-US" dirty="0"/>
              <a:t>Moves from </a:t>
            </a:r>
            <a:r>
              <a:rPr lang="en-US" b="1" dirty="0"/>
              <a:t>start → goal </a:t>
            </a:r>
          </a:p>
          <a:p>
            <a:pPr lvl="1"/>
            <a:r>
              <a:rPr lang="en-US" dirty="0"/>
              <a:t>Without colliding with obstacles</a:t>
            </a:r>
          </a:p>
          <a:p>
            <a:r>
              <a:rPr lang="en-US" b="1" dirty="0"/>
              <a:t>Key Idea - </a:t>
            </a:r>
            <a:r>
              <a:rPr lang="en-US" dirty="0"/>
              <a:t>“Every motion must be checked for safety before execution.”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C3EC05-521B-4ECE-B68F-92C04C448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1286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Configuration Space (C-Space)</a:t>
            </a:r>
          </a:p>
          <a:p>
            <a:r>
              <a:rPr lang="en-US" dirty="0"/>
              <a:t>Instead of thinking about the robot in physical space</a:t>
            </a:r>
          </a:p>
          <a:p>
            <a:pPr lvl="1"/>
            <a:r>
              <a:rPr lang="en-US" dirty="0"/>
              <a:t>Represent robot as a point in configuration space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A 2D robot → position (x, y) </a:t>
            </a:r>
          </a:p>
          <a:p>
            <a:pPr lvl="1"/>
            <a:r>
              <a:rPr lang="en-US" dirty="0"/>
              <a:t>A robotic arm → joint angles  (θ</a:t>
            </a:r>
            <a:r>
              <a:rPr lang="en-US" baseline="-25000" dirty="0"/>
              <a:t>1</a:t>
            </a:r>
            <a:r>
              <a:rPr lang="en-US" dirty="0"/>
              <a:t>​, θ</a:t>
            </a:r>
            <a:r>
              <a:rPr lang="en-US" baseline="-25000" dirty="0"/>
              <a:t>2</a:t>
            </a:r>
            <a:r>
              <a:rPr lang="en-US" dirty="0"/>
              <a:t>​, …) </a:t>
            </a:r>
          </a:p>
          <a:p>
            <a:r>
              <a:rPr lang="en-US" b="1" dirty="0"/>
              <a:t>Important</a:t>
            </a:r>
          </a:p>
          <a:p>
            <a:pPr lvl="1"/>
            <a:r>
              <a:rPr lang="en-US" dirty="0"/>
              <a:t>Obstacles become C-obstacles </a:t>
            </a:r>
          </a:p>
          <a:p>
            <a:pPr lvl="1"/>
            <a:r>
              <a:rPr lang="en-US" dirty="0"/>
              <a:t>Free space = valid region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D2A0B-426F-4401-846F-7D8D20851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B8B50-7E8D-4E39-B2AB-B1F538865636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2EB8F-A9F9-46F2-93FE-2E14AB37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15C8-1936-4C52-8DCB-BA9E98226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Collision Checking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F76E4-C453-46F0-BC15-3A342B119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245994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Determines Whether a robot configuration or motion is </a:t>
            </a:r>
            <a:r>
              <a:rPr lang="en-US" b="1" dirty="0"/>
              <a:t>collision-free</a:t>
            </a:r>
            <a:endParaRPr lang="en-US" dirty="0"/>
          </a:p>
          <a:p>
            <a:r>
              <a:rPr lang="en-US" b="1" dirty="0"/>
              <a:t>Types of Collision Checking</a:t>
            </a:r>
          </a:p>
          <a:p>
            <a:pPr marL="0" indent="0">
              <a:buNone/>
            </a:pPr>
            <a:r>
              <a:rPr lang="en-US" b="1" dirty="0"/>
              <a:t>1. Point Collision Check</a:t>
            </a:r>
          </a:p>
          <a:p>
            <a:pPr lvl="1"/>
            <a:r>
              <a:rPr lang="en-US" dirty="0"/>
              <a:t>Check a single configuration: q = (x, y) </a:t>
            </a:r>
          </a:p>
          <a:p>
            <a:pPr lvl="1"/>
            <a:r>
              <a:rPr lang="en-US" dirty="0"/>
              <a:t>Is it inside obstacle? → ❌ collision </a:t>
            </a:r>
          </a:p>
          <a:p>
            <a:pPr lvl="1"/>
            <a:r>
              <a:rPr lang="en-US" dirty="0"/>
              <a:t>Outside? → ✅ safe </a:t>
            </a:r>
          </a:p>
          <a:p>
            <a:pPr marL="0" indent="0">
              <a:buNone/>
            </a:pPr>
            <a:r>
              <a:rPr lang="en-US" b="1" dirty="0"/>
              <a:t>2. Path Collision Check</a:t>
            </a:r>
          </a:p>
          <a:p>
            <a:r>
              <a:rPr lang="en-US" dirty="0"/>
              <a:t>Check motion between two points: q</a:t>
            </a:r>
            <a:r>
              <a:rPr lang="en-US" baseline="-25000" dirty="0"/>
              <a:t>1 </a:t>
            </a:r>
            <a:r>
              <a:rPr lang="en-US" dirty="0"/>
              <a:t>​→ q</a:t>
            </a:r>
            <a:r>
              <a:rPr lang="en-US" baseline="-25000" dirty="0"/>
              <a:t>2</a:t>
            </a:r>
            <a:r>
              <a:rPr lang="en-US" dirty="0"/>
              <a:t> </a:t>
            </a:r>
          </a:p>
          <a:p>
            <a:r>
              <a:rPr lang="en-US" b="1" dirty="0"/>
              <a:t>Method:</a:t>
            </a:r>
          </a:p>
          <a:p>
            <a:pPr lvl="1"/>
            <a:r>
              <a:rPr lang="en-US" dirty="0"/>
              <a:t>Divide path into small segments </a:t>
            </a:r>
          </a:p>
          <a:p>
            <a:pPr lvl="1"/>
            <a:r>
              <a:rPr lang="en-US" dirty="0"/>
              <a:t>Check each segment </a:t>
            </a:r>
          </a:p>
          <a:p>
            <a:endParaRPr lang="en-US" dirty="0"/>
          </a:p>
        </p:txBody>
      </p:sp>
      <p:pic>
        <p:nvPicPr>
          <p:cNvPr id="6" name="Content Placeholder 5" descr="https://images.openai.com/static-rsc-4/7INW1pfKsAzES5w28UbgaGy7AWW7XsFHsxJVYDUvAIyiFsGNLHORlha33lq6RktQTDi4P88DBOeeK2gTr1J7bOyn5lOZfESlbzqLqHzKnq-beJBjbKu65ce--s53Q1RFMjTuu3tw5ZfuN-YOmQp3xgtO4ImhRQ4FL0X7JQ8wVb6WLn7tQgV65CJ3sbqWKLKm?purpose=fullsize">
            <a:extLst>
              <a:ext uri="{FF2B5EF4-FFF2-40B4-BE49-F238E27FC236}">
                <a16:creationId xmlns:a16="http://schemas.microsoft.com/office/drawing/2014/main" id="{6AD8934C-F289-46EC-AA6A-909E47DDC9B8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218" y="378067"/>
            <a:ext cx="1724571" cy="26252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D82B29-8642-4718-80C4-A56C41E574FC}"/>
              </a:ext>
            </a:extLst>
          </p:cNvPr>
          <p:cNvSpPr/>
          <p:nvPr/>
        </p:nvSpPr>
        <p:spPr>
          <a:xfrm>
            <a:off x="7535755" y="4274134"/>
            <a:ext cx="4379495" cy="1902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b="1" dirty="0">
                <a:latin typeface="Arial" panose="020B0604020202020204" pitchFamily="34" charset="0"/>
              </a:rPr>
              <a:t>Algorithms Used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Bounding boxes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Mesh intersection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Distance threshold methods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4910E11-7726-4A21-B450-2B493A3C8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5AE5-34B4-419A-83DB-794A1B5F294F}" type="datetime1">
              <a:rPr lang="en-US" smtClean="0"/>
              <a:t>4/12/2026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E5CF04-398F-43E5-872A-AD83619C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76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741F-9ED2-405A-86D0-04FDB0B8E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Distance Fields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654AE-2C7C-4735-AA20-46F11D7674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distance field</a:t>
            </a:r>
            <a:r>
              <a:rPr lang="en-US" dirty="0"/>
              <a:t> assigns the distance from each point to the nearest obstacle</a:t>
            </a:r>
          </a:p>
          <a:p>
            <a:r>
              <a:rPr lang="en-US" dirty="0"/>
              <a:t>Mathematical Form d(x, y) = distance to nearest obstacle   </a:t>
            </a:r>
          </a:p>
          <a:p>
            <a:r>
              <a:rPr lang="en-US" dirty="0"/>
              <a:t>Types</a:t>
            </a:r>
          </a:p>
          <a:p>
            <a:pPr marL="0" indent="0">
              <a:buNone/>
            </a:pPr>
            <a:r>
              <a:rPr lang="en-US" dirty="0"/>
              <a:t>1. Unsigned Distance Field</a:t>
            </a:r>
          </a:p>
          <a:p>
            <a:pPr lvl="1"/>
            <a:r>
              <a:rPr lang="en-US" sz="2600" dirty="0"/>
              <a:t>Only gives distance </a:t>
            </a:r>
          </a:p>
          <a:p>
            <a:pPr lvl="1"/>
            <a:r>
              <a:rPr lang="en-US" sz="2600" dirty="0"/>
              <a:t>Always positive </a:t>
            </a:r>
          </a:p>
          <a:p>
            <a:pPr marL="0" indent="0">
              <a:buNone/>
            </a:pPr>
            <a:r>
              <a:rPr lang="en-US" dirty="0"/>
              <a:t>2. Signed Distance Field (SDF) d(x) = {+outside obstacle−inside obstacle​}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4AE87-CD8D-4976-95C7-2493A85E1E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Why Distance Fields Are Useful</a:t>
            </a:r>
          </a:p>
          <a:p>
            <a:r>
              <a:rPr lang="en-US" dirty="0"/>
              <a:t>They provide:</a:t>
            </a:r>
          </a:p>
          <a:p>
            <a:pPr lvl="0"/>
            <a:r>
              <a:rPr lang="en-US" dirty="0"/>
              <a:t>Clearance information </a:t>
            </a:r>
          </a:p>
          <a:p>
            <a:pPr lvl="1"/>
            <a:r>
              <a:rPr lang="en-US" sz="2600" dirty="0"/>
              <a:t>Smooth gradients </a:t>
            </a:r>
          </a:p>
          <a:p>
            <a:pPr lvl="1"/>
            <a:r>
              <a:rPr lang="en-US" sz="2600" dirty="0"/>
              <a:t>Safer paths </a:t>
            </a:r>
          </a:p>
          <a:p>
            <a:r>
              <a:rPr lang="en-US" b="1" dirty="0"/>
              <a:t>Example : </a:t>
            </a:r>
            <a:r>
              <a:rPr lang="en-US" dirty="0"/>
              <a:t>Obstacle at center:</a:t>
            </a:r>
          </a:p>
          <a:p>
            <a:pPr lvl="1"/>
            <a:r>
              <a:rPr lang="en-US" sz="2600" dirty="0"/>
              <a:t>Point near obstacle → distance = small </a:t>
            </a:r>
          </a:p>
          <a:p>
            <a:pPr lvl="1"/>
            <a:r>
              <a:rPr lang="en-US" sz="2600" dirty="0"/>
              <a:t>Far point → distance = large </a:t>
            </a:r>
          </a:p>
          <a:p>
            <a:r>
              <a:rPr lang="en-US" dirty="0"/>
              <a:t>Use in Safety - Robot should maintain d(x) &gt; </a:t>
            </a:r>
            <a:r>
              <a:rPr lang="en-US" dirty="0" err="1"/>
              <a:t>dsafe</a:t>
            </a:r>
            <a:r>
              <a:rPr lang="en-US" dirty="0"/>
              <a:t>   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EB6DF-AD51-40CF-926A-16CD380CB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830D0-B062-41E5-BEDE-0FFAF5992611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4BA95-9D49-4831-982F-90BBC61C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3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7DAC-1572-4406-B117-CAF86DBB5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Distance Fields in Motion Planning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C599A-6798-4CAE-95F4-0827EB6992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 </a:t>
            </a:r>
            <a:r>
              <a:rPr lang="en-US" b="1" dirty="0"/>
              <a:t>Use Cases</a:t>
            </a:r>
          </a:p>
          <a:p>
            <a:pPr lvl="1"/>
            <a:r>
              <a:rPr lang="en-US" dirty="0"/>
              <a:t>Collision checking </a:t>
            </a:r>
          </a:p>
          <a:p>
            <a:pPr lvl="1"/>
            <a:r>
              <a:rPr lang="en-US" dirty="0"/>
              <a:t>Path optimization </a:t>
            </a:r>
          </a:p>
          <a:p>
            <a:pPr lvl="1"/>
            <a:r>
              <a:rPr lang="en-US" dirty="0"/>
              <a:t>Gradient-based planning </a:t>
            </a:r>
          </a:p>
          <a:p>
            <a:r>
              <a:rPr lang="en-US" b="1" dirty="0"/>
              <a:t>Example - </a:t>
            </a:r>
            <a:r>
              <a:rPr lang="en-US" dirty="0"/>
              <a:t>Robot prefers path:</a:t>
            </a:r>
          </a:p>
          <a:p>
            <a:pPr lvl="1"/>
            <a:r>
              <a:rPr lang="en-US" dirty="0"/>
              <a:t>Far from obstacles</a:t>
            </a:r>
          </a:p>
          <a:p>
            <a:pPr lvl="1"/>
            <a:r>
              <a:rPr lang="en-US" dirty="0"/>
              <a:t>Smooth</a:t>
            </a:r>
          </a:p>
          <a:p>
            <a:endParaRPr lang="en-US" dirty="0"/>
          </a:p>
        </p:txBody>
      </p:sp>
      <p:pic>
        <p:nvPicPr>
          <p:cNvPr id="6" name="Content Placeholder 5" descr="https://images.openai.com/static-rsc-4/MqZlBJp4Q3cat2XipWn-VB5Z1mc7rrE83pZdfB07rP3vvVMEIeoW3A4VRULUfqojGHFZNyyP0JYoHD-I-ys7OKtNjuCVJWL_Rcwe-6RgTVZj-ivEqbc3pjX0ffDcoEgEWEqSjig9o6WGhAe6MT4Ba1y94AuWIrypS7SeH80551ggxrHSHtBh8lnoFJlZobFE?purpose=fullsize">
            <a:extLst>
              <a:ext uri="{FF2B5EF4-FFF2-40B4-BE49-F238E27FC236}">
                <a16:creationId xmlns:a16="http://schemas.microsoft.com/office/drawing/2014/main" id="{3AB269F3-AC1C-4114-B871-1297B795CB7C}"/>
              </a:ext>
            </a:extLst>
          </p:cNvPr>
          <p:cNvPicPr>
            <a:picLocks noGrp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8"/>
          <a:stretch/>
        </p:blipFill>
        <p:spPr bwMode="auto">
          <a:xfrm>
            <a:off x="5736657" y="3429000"/>
            <a:ext cx="6387164" cy="29309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https://images.openai.com/static-rsc-4/r9t7qd9wRTn7A1N6IFKkFBs2JocQNPnn6DZyXyZRJPiqMROTVmhBBzKNQ4oJm_g2gB1tp4TTD5oLisPTEgeRnLj3phou1HAV4cjrHnPd15VUC5pJhzpkNxwlra-T7S1zUdCWQ6JUgLC3F7dBqJlnHSLbijyUYGDEgWUOkAJI3cgUAhOrq7IqFX9Q2MUr_1r5?purpose=fullsize">
            <a:extLst>
              <a:ext uri="{FF2B5EF4-FFF2-40B4-BE49-F238E27FC236}">
                <a16:creationId xmlns:a16="http://schemas.microsoft.com/office/drawing/2014/main" id="{0E3DC745-6068-471F-91E9-DAE5EA01592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035" y="1027906"/>
            <a:ext cx="4102100" cy="212915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C181646-DBAB-4F1A-929F-7E6446B6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5CCC3-ECAE-418E-B8E6-301B476907B3}" type="datetime1">
              <a:rPr lang="en-US" smtClean="0"/>
              <a:t>4/12/2026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FB1670-303B-4710-915B-0D8A0446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514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F8814-5A9B-4B78-B0A7-48176A7CB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in PRM (Probabilistic Roadmap)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B8AE2-60D0-426D-9B22-4818DADCC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How PRM Uses Collision Checking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Sample random points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Keep only collision-free points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Connect nodes if path is collision-free </a:t>
            </a:r>
            <a:endParaRPr lang="en-US" dirty="0"/>
          </a:p>
          <a:p>
            <a:r>
              <a:rPr lang="en-US" b="1" dirty="0"/>
              <a:t>With Distance Fields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Prefer nodes with large clearance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Avoid narrow passages </a:t>
            </a:r>
          </a:p>
          <a:p>
            <a:r>
              <a:rPr lang="en-US" b="1" dirty="0"/>
              <a:t>Example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Two nodes connected only if safe path exists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Distance field ensures safer connections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03133-0F60-4EF9-AC89-5345F407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F523-B096-4B5A-9E90-9B633F2BBC7F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F9CE98-7572-4363-8110-0B33A72F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022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C092B-8861-4886-B0D2-832643EA2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in RRT (Rapidly-Exploring Random Tree)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BAEC6-5793-4992-ACD4-82A48C22E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 </a:t>
            </a:r>
            <a:r>
              <a:rPr lang="en-US" b="1" dirty="0"/>
              <a:t> How RRT Uses Collision Checking</a:t>
            </a:r>
          </a:p>
          <a:p>
            <a:pPr lvl="1"/>
            <a:r>
              <a:rPr lang="en-US" sz="2800" dirty="0"/>
              <a:t>Every step: </a:t>
            </a:r>
            <a:r>
              <a:rPr lang="en-US" sz="2800" dirty="0" err="1"/>
              <a:t>q</a:t>
            </a:r>
            <a:r>
              <a:rPr lang="en-US" sz="2800" baseline="-25000" dirty="0" err="1"/>
              <a:t>near</a:t>
            </a:r>
            <a:r>
              <a:rPr lang="en-US" sz="2800" dirty="0"/>
              <a:t> ​→ </a:t>
            </a:r>
            <a:r>
              <a:rPr lang="en-US" sz="2800" dirty="0" err="1"/>
              <a:t>q</a:t>
            </a:r>
            <a:r>
              <a:rPr lang="en-US" sz="2800" baseline="-25000" dirty="0" err="1"/>
              <a:t>new</a:t>
            </a:r>
            <a:r>
              <a:rPr lang="en-US" sz="2800" dirty="0"/>
              <a:t>​ </a:t>
            </a:r>
          </a:p>
          <a:p>
            <a:pPr lvl="1"/>
            <a:r>
              <a:rPr lang="en-US" sz="2800" dirty="0"/>
              <a:t>Must be checked for collision</a:t>
            </a:r>
          </a:p>
          <a:p>
            <a:r>
              <a:rPr lang="en-US" b="1" dirty="0"/>
              <a:t>With Distance Fields</a:t>
            </a:r>
          </a:p>
          <a:p>
            <a:pPr lvl="1"/>
            <a:r>
              <a:rPr lang="en-US" sz="2800" dirty="0"/>
              <a:t>Guide tree growth away from obstacles </a:t>
            </a:r>
          </a:p>
          <a:p>
            <a:pPr lvl="1"/>
            <a:r>
              <a:rPr lang="en-US" sz="2800" dirty="0"/>
              <a:t>Improve safety </a:t>
            </a:r>
          </a:p>
          <a:p>
            <a:r>
              <a:rPr lang="en-US" b="1" dirty="0"/>
              <a:t>Example  - </a:t>
            </a:r>
            <a:r>
              <a:rPr lang="en-US" dirty="0"/>
              <a:t>Instead of random growth, bias toward safe regions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EA6EC-BA2B-461D-B2BA-D290B7BB1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E2872-CDD6-4BB8-A392-4987423A8AB5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22E50-72F6-477E-A19F-9F3CBA12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250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6715C-A413-42C4-BC33-AB6AA91C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9E41C-9540-4165-8429-FEA5A03F8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667"/>
            <a:ext cx="10515600" cy="47548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Collision checking = YES/NO decision</a:t>
            </a:r>
          </a:p>
          <a:p>
            <a:r>
              <a:rPr lang="en-US" dirty="0"/>
              <a:t> Distance field = HOW SAFE decision</a:t>
            </a:r>
          </a:p>
          <a:p>
            <a:r>
              <a:rPr lang="en-US" dirty="0"/>
              <a:t>RRT &amp; PRM rely heavily on: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fast collision detection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efficient distance computation </a:t>
            </a:r>
          </a:p>
          <a:p>
            <a:pPr marL="0" indent="0">
              <a:buNone/>
            </a:pPr>
            <a:r>
              <a:rPr lang="en-US" b="1" dirty="0"/>
              <a:t>Intuition - “</a:t>
            </a:r>
            <a:r>
              <a:rPr lang="en-US" dirty="0"/>
              <a:t>Collision checking prevents crashes, distance fields keep the robot safely away from danger.”</a:t>
            </a:r>
          </a:p>
          <a:p>
            <a:r>
              <a:rPr lang="en-US" dirty="0"/>
              <a:t>Facts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Collision checking → verifies path validity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Distance field → measures clearance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Used in RRT/PRM for safe planning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D740B-07B9-482B-A861-83353B3C8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620C5-A19A-4FCB-ABAF-6538871F05BA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5D316-3B3C-4BCD-A14F-B59BB31E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665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705952" cy="4351338"/>
          </a:xfrm>
        </p:spPr>
        <p:txBody>
          <a:bodyPr>
            <a:normAutofit/>
          </a:bodyPr>
          <a:lstStyle/>
          <a:p>
            <a:r>
              <a:rPr sz="3200" dirty="0"/>
              <a:t>Path → where</a:t>
            </a:r>
          </a:p>
          <a:p>
            <a:r>
              <a:rPr sz="3200" dirty="0"/>
              <a:t>Trajectory → how fast</a:t>
            </a:r>
          </a:p>
          <a:p>
            <a:r>
              <a:rPr sz="3200" dirty="0"/>
              <a:t>Combined for real robot motion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64B82-CB70-4346-AC38-4536803B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0575-D1E0-4E31-BAE2-94D9147BD42C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641660-0389-42B6-A466-E47AFA8EB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 descr="https://images.openai.com/static-rsc-4/tF97eChN7oS6IoRDUIwsa71muN3gja20757axqZITnn1JZO0sXmGVqwOQlz7UYqdGtMDdiNljGb_R7zpai6MLlO3cP5D9jYFJ8-o9F9AwbV6ybNhkQmBJW5p7aaLWBZp_VPe_O86fugL7cCa4Vuq9V9T158lAFnyarOFbh2THfzaEhPvd7PGW2L9fNpwU11j?purpose=fullsize">
            <a:extLst>
              <a:ext uri="{FF2B5EF4-FFF2-40B4-BE49-F238E27FC236}">
                <a16:creationId xmlns:a16="http://schemas.microsoft.com/office/drawing/2014/main" id="{42077A3C-C03D-4E63-AB2D-5E183185424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19200"/>
            <a:ext cx="5748892" cy="513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Siciliano Robotics</a:t>
            </a:r>
          </a:p>
          <a:p>
            <a:r>
              <a:rPr dirty="0"/>
              <a:t>LaValle Planning Algorithms</a:t>
            </a:r>
          </a:p>
          <a:p>
            <a:r>
              <a:rPr dirty="0"/>
              <a:t>OMPL, </a:t>
            </a:r>
            <a:r>
              <a:rPr dirty="0" err="1"/>
              <a:t>MoveIt</a:t>
            </a:r>
            <a:r>
              <a:rPr dirty="0"/>
              <a:t>, </a:t>
            </a:r>
            <a:r>
              <a:rPr dirty="0" err="1"/>
              <a:t>PyBullet</a:t>
            </a:r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/>
              <a:t>Understanding planning is mastering robotics motion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68B19-D021-49C3-A2E6-6899713B8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4C753-545C-411B-A38A-AF4417DE67B0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B48CB0-E573-451C-BD69-216EC2897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EC06E-2DDE-4681-9AB7-15D85AF0B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5D68-1D93-48DC-B57A-0DAEB568B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1. Conceptual Understanding &amp; Distinction</a:t>
            </a:r>
          </a:p>
          <a:p>
            <a:pPr lvl="1"/>
            <a:r>
              <a:rPr lang="en-US" dirty="0"/>
              <a:t>How would you clearly distinguish between </a:t>
            </a:r>
            <a:r>
              <a:rPr lang="en-US" i="1" dirty="0"/>
              <a:t>path planning</a:t>
            </a:r>
            <a:r>
              <a:rPr lang="en-US" dirty="0"/>
              <a:t> and </a:t>
            </a:r>
            <a:r>
              <a:rPr lang="en-US" i="1" dirty="0"/>
              <a:t>trajectory generation</a:t>
            </a:r>
            <a:r>
              <a:rPr lang="en-US" dirty="0"/>
              <a:t> in a real robotic system? Can a robot operate effectively using only one of them? Why or why not? </a:t>
            </a:r>
          </a:p>
          <a:p>
            <a:pPr lvl="1"/>
            <a:r>
              <a:rPr lang="en-US" dirty="0"/>
              <a:t>Why is it insufficient to treat a planned path as directly executable by a robot without trajectory considerations? </a:t>
            </a:r>
          </a:p>
          <a:p>
            <a:pPr lvl="1"/>
            <a:r>
              <a:rPr lang="en-US" dirty="0"/>
              <a:t>In what situations might a “shortest path” be a poor choice for robot navigation? </a:t>
            </a:r>
          </a:p>
          <a:p>
            <a:pPr marL="0" indent="0">
              <a:buNone/>
            </a:pPr>
            <a:r>
              <a:rPr lang="en-US" b="1" dirty="0"/>
              <a:t>2. Representation of the Environment</a:t>
            </a:r>
          </a:p>
          <a:p>
            <a:pPr lvl="1"/>
            <a:r>
              <a:rPr lang="en-US" dirty="0"/>
              <a:t>What are the trade-offs between grid-based, graph-based, and continuous representations in path planning? </a:t>
            </a:r>
          </a:p>
          <a:p>
            <a:pPr lvl="1"/>
            <a:r>
              <a:rPr lang="en-US" dirty="0"/>
              <a:t>How does the choice of environment representation affect computational efficiency and optimality of the solution? </a:t>
            </a:r>
          </a:p>
          <a:p>
            <a:pPr lvl="1"/>
            <a:r>
              <a:rPr lang="en-US" dirty="0"/>
              <a:t>In dynamic environments, what limitations arise from static map-based planning methods? </a:t>
            </a:r>
          </a:p>
          <a:p>
            <a:pPr marL="0" indent="0">
              <a:buNone/>
            </a:pPr>
            <a:r>
              <a:rPr lang="en-US" b="1" dirty="0"/>
              <a:t>3. Algorithmic Reasoning</a:t>
            </a:r>
          </a:p>
          <a:p>
            <a:pPr lvl="1"/>
            <a:r>
              <a:rPr lang="en-US" dirty="0"/>
              <a:t>Dijkstra’s algorithm guarantees optimality—why is it still not always preferred in real-time robotic applications? </a:t>
            </a:r>
          </a:p>
          <a:p>
            <a:pPr lvl="1"/>
            <a:r>
              <a:rPr lang="en-US" dirty="0"/>
              <a:t>How does A* improve upon Dijkstra’s algorithm, and under what conditions does it degrade to Dijkstra’s behavior? </a:t>
            </a:r>
          </a:p>
          <a:p>
            <a:pPr lvl="1"/>
            <a:r>
              <a:rPr lang="en-US" dirty="0"/>
              <a:t>What are the advantages and weaknesses of sampling-based methods like RRT and PRM in high-dimensional spaces? </a:t>
            </a:r>
          </a:p>
          <a:p>
            <a:pPr marL="0" indent="0">
              <a:buNone/>
            </a:pPr>
            <a:r>
              <a:rPr lang="en-US" b="1" dirty="0"/>
              <a:t>4. Constraints and Real-World Feasibility</a:t>
            </a:r>
          </a:p>
          <a:p>
            <a:pPr lvl="1"/>
            <a:r>
              <a:rPr lang="en-US" dirty="0"/>
              <a:t>Why must trajectory planning consider velocity, acceleration, and jerk constraints even if the path is collision-free? </a:t>
            </a:r>
          </a:p>
          <a:p>
            <a:pPr lvl="1"/>
            <a:r>
              <a:rPr lang="en-US" dirty="0"/>
              <a:t>What could go wrong if a robot follows a path that violates its dynamic constraints? </a:t>
            </a:r>
          </a:p>
          <a:p>
            <a:pPr lvl="1"/>
            <a:r>
              <a:rPr lang="en-US" dirty="0"/>
              <a:t>How do physical constraints of different robots (e.g., drones vs wheeled robots) influence trajectory design?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A9F8-3304-4EF8-A33A-55EB25B4F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375D-2DC3-4A7C-BD54-C08DB0054FFD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DB79A-3232-4E88-AC76-5CF8AD64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8288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EC06E-2DDE-4681-9AB7-15D85AF0B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5D68-1D93-48DC-B57A-0DAEB568B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5. Optimization and Trade-offs</a:t>
            </a:r>
          </a:p>
          <a:p>
            <a:pPr lvl="1"/>
            <a:r>
              <a:rPr lang="en-US" dirty="0"/>
              <a:t>Is the “shortest path” always the “best path”? What other cost functions might be more realistic? </a:t>
            </a:r>
          </a:p>
          <a:p>
            <a:pPr lvl="1"/>
            <a:r>
              <a:rPr lang="en-US" dirty="0"/>
              <a:t>How do we balance computational efficiency vs optimality in real-time path planning systems? </a:t>
            </a:r>
          </a:p>
          <a:p>
            <a:pPr lvl="1"/>
            <a:r>
              <a:rPr lang="en-US" dirty="0"/>
              <a:t>When would you prefer a suboptimal but fast solution over an optimal but slow solution? </a:t>
            </a:r>
          </a:p>
          <a:p>
            <a:pPr marL="0" indent="0">
              <a:buNone/>
            </a:pPr>
            <a:r>
              <a:rPr lang="en-US" b="1" dirty="0"/>
              <a:t>6. Uncertainty and Robustness</a:t>
            </a:r>
          </a:p>
          <a:p>
            <a:pPr lvl="1"/>
            <a:r>
              <a:rPr lang="en-US" dirty="0"/>
              <a:t>How should path planning algorithms account for uncertainty in sensor data and environmental perception? </a:t>
            </a:r>
          </a:p>
          <a:p>
            <a:pPr lvl="1"/>
            <a:r>
              <a:rPr lang="en-US" dirty="0"/>
              <a:t>What are the risks of assuming perfect map knowledge in real-world navigation? </a:t>
            </a:r>
          </a:p>
          <a:p>
            <a:pPr lvl="1"/>
            <a:r>
              <a:rPr lang="en-US" dirty="0"/>
              <a:t>How can probabilistic approaches improve robustness in uncertain environments? </a:t>
            </a:r>
          </a:p>
          <a:p>
            <a:pPr marL="0" indent="0">
              <a:buNone/>
            </a:pPr>
            <a:r>
              <a:rPr lang="en-US" b="1" dirty="0"/>
              <a:t>7. Dynamic and Real-Time Planning</a:t>
            </a:r>
          </a:p>
          <a:p>
            <a:pPr lvl="1"/>
            <a:r>
              <a:rPr lang="en-US" dirty="0"/>
              <a:t>Why is re-planning necessary in dynamic environments, and what are the computational challenges involved? </a:t>
            </a:r>
          </a:p>
          <a:p>
            <a:pPr lvl="1"/>
            <a:r>
              <a:rPr lang="en-US" dirty="0"/>
              <a:t>How do local planners complement global planners in autonomous navigation systems? </a:t>
            </a:r>
          </a:p>
          <a:p>
            <a:pPr lvl="1"/>
            <a:r>
              <a:rPr lang="en-US" dirty="0"/>
              <a:t>Can a purely global planner work effectively in real-time obstacle-rich environments? Defend your answer. </a:t>
            </a:r>
          </a:p>
          <a:p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A9F8-3304-4EF8-A33A-55EB25B4F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375D-2DC3-4A7C-BD54-C08DB0054FFD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DB79A-3232-4E88-AC76-5CF8AD64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341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EC06E-2DDE-4681-9AB7-15D85AF0B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5D68-1D93-48DC-B57A-0DAEB568B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8. Trajectory Smoothness and Control</a:t>
            </a:r>
          </a:p>
          <a:p>
            <a:pPr lvl="1"/>
            <a:r>
              <a:rPr lang="en-US" dirty="0"/>
              <a:t>Why is jerk minimization important in trajectory generation for precision robotics? </a:t>
            </a:r>
          </a:p>
          <a:p>
            <a:pPr lvl="1"/>
            <a:r>
              <a:rPr lang="en-US" dirty="0"/>
              <a:t>How does trajectory smoothness affect mechanical wear and energy efficiency? </a:t>
            </a:r>
          </a:p>
          <a:p>
            <a:pPr lvl="1"/>
            <a:r>
              <a:rPr lang="en-US" dirty="0"/>
              <a:t>What are the consequences of abrupt changes in velocity or acceleration in robotic motion? </a:t>
            </a:r>
          </a:p>
          <a:p>
            <a:pPr marL="0" indent="0">
              <a:buNone/>
            </a:pPr>
            <a:r>
              <a:rPr lang="en-US" b="1" dirty="0"/>
              <a:t>9. Comparative Thinking</a:t>
            </a:r>
          </a:p>
          <a:p>
            <a:pPr lvl="1"/>
            <a:r>
              <a:rPr lang="en-US" dirty="0"/>
              <a:t>Compare grid-based planning vs sampling-based planning in terms of scalability and accuracy. </a:t>
            </a:r>
          </a:p>
          <a:p>
            <a:pPr lvl="1"/>
            <a:r>
              <a:rPr lang="en-US" dirty="0"/>
              <a:t>Compare deterministic vs probabilistic path planning approaches. Which is more suitable for unknown environments and why? </a:t>
            </a:r>
          </a:p>
          <a:p>
            <a:pPr lvl="1"/>
            <a:r>
              <a:rPr lang="en-US" dirty="0"/>
              <a:t>How do classical planning methods compare with learning-based approaches in modern robotics? </a:t>
            </a:r>
          </a:p>
          <a:p>
            <a:pPr marL="0" indent="0">
              <a:buNone/>
            </a:pPr>
            <a:r>
              <a:rPr lang="en-US" b="1" dirty="0"/>
              <a:t>10. Design and Synthesis Questions</a:t>
            </a:r>
          </a:p>
          <a:p>
            <a:pPr lvl="1"/>
            <a:r>
              <a:rPr lang="en-US" dirty="0"/>
              <a:t>Design a path planning system for a warehouse robot that must avoid humans, optimize delivery time, and minimize energy use. What components would you include? </a:t>
            </a:r>
          </a:p>
          <a:p>
            <a:pPr lvl="1"/>
            <a:r>
              <a:rPr lang="en-US" dirty="0"/>
              <a:t>If you were to design a planner for a self-driving car in Kampala traffic conditions, what key challenges would you prioritize? </a:t>
            </a:r>
          </a:p>
          <a:p>
            <a:pPr lvl="1"/>
            <a:r>
              <a:rPr lang="en-US" dirty="0"/>
              <a:t>Propose an improvement to RRT that could make it more suitable for real-time autonomous drone navigation.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A9F8-3304-4EF8-A33A-55EB25B4F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375D-2DC3-4A7C-BD54-C08DB0054FFD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DB79A-3232-4E88-AC76-5CF8AD64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51AC-500D-4A24-A934-83C91A09B10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4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3265</Words>
  <Application>Microsoft Office PowerPoint</Application>
  <PresentationFormat>Widescreen</PresentationFormat>
  <Paragraphs>603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Calibri Light</vt:lpstr>
      <vt:lpstr>Cambria Math</vt:lpstr>
      <vt:lpstr>Symbol</vt:lpstr>
      <vt:lpstr>Wingdings</vt:lpstr>
      <vt:lpstr>Office Theme</vt:lpstr>
      <vt:lpstr>Trajectory</vt:lpstr>
      <vt:lpstr>Path Planning in Robotics</vt:lpstr>
      <vt:lpstr>Path vs Trajectory</vt:lpstr>
      <vt:lpstr>Trajectory </vt:lpstr>
      <vt:lpstr>Joint vs Cartesian Space</vt:lpstr>
      <vt:lpstr>Types of trajectory</vt:lpstr>
      <vt:lpstr>Trajectory Requirements </vt:lpstr>
      <vt:lpstr>Polynomial Trajectories - Cubic Trajectory</vt:lpstr>
      <vt:lpstr>Cubic Trajectory</vt:lpstr>
      <vt:lpstr>Cubic Trajectory - Solving for Coefficients</vt:lpstr>
      <vt:lpstr>Cubic Trajectory - Solving for Coefficients</vt:lpstr>
      <vt:lpstr>Worked example</vt:lpstr>
      <vt:lpstr>Quintic Trajectories in Robotics</vt:lpstr>
      <vt:lpstr>Why Quintic Trajectories?</vt:lpstr>
      <vt:lpstr>Boundary Conditions</vt:lpstr>
      <vt:lpstr>Acceleration constraints</vt:lpstr>
      <vt:lpstr>Jerk Control</vt:lpstr>
      <vt:lpstr>Comparison</vt:lpstr>
      <vt:lpstr>Applications</vt:lpstr>
      <vt:lpstr>Applications</vt:lpstr>
      <vt:lpstr>Advantages and limitations</vt:lpstr>
      <vt:lpstr>Quintic trajectories</vt:lpstr>
      <vt:lpstr>Linear Segment with Parabolic Blend (LSPB)  Trajectory</vt:lpstr>
      <vt:lpstr>Example - LSPB  Trajectory</vt:lpstr>
      <vt:lpstr>Multi-Point Trajectory (Spline)</vt:lpstr>
      <vt:lpstr>S-Curve Profile</vt:lpstr>
      <vt:lpstr>Cubic Spline Example</vt:lpstr>
      <vt:lpstr>Cubic spline</vt:lpstr>
      <vt:lpstr>Conditions for cubic spline</vt:lpstr>
      <vt:lpstr>Conditions for cubic spline</vt:lpstr>
      <vt:lpstr>B-Splines (Basis Splines)</vt:lpstr>
      <vt:lpstr>Example (B-Spline) </vt:lpstr>
      <vt:lpstr>Cubic Spline vs B-Spline </vt:lpstr>
      <vt:lpstr>Robotics Application </vt:lpstr>
      <vt:lpstr>Trajectory Architecture (planning pipeline)</vt:lpstr>
      <vt:lpstr>Applications of trajectory</vt:lpstr>
      <vt:lpstr>Obstacle Avoidance</vt:lpstr>
      <vt:lpstr>Collision Checking</vt:lpstr>
      <vt:lpstr>Distance Fields </vt:lpstr>
      <vt:lpstr>Distance Fields in Motion Planning </vt:lpstr>
      <vt:lpstr>Use in PRM (Probabilistic Roadmap)</vt:lpstr>
      <vt:lpstr>Use in RRT (Rapidly-Exploring Random Tree)</vt:lpstr>
      <vt:lpstr>Key Insights</vt:lpstr>
      <vt:lpstr>Summary</vt:lpstr>
      <vt:lpstr>Further Reading</vt:lpstr>
      <vt:lpstr>Reflection questions</vt:lpstr>
      <vt:lpstr>Reflection questions</vt:lpstr>
      <vt:lpstr>Reflection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DSI</dc:creator>
  <cp:lastModifiedBy>DSI</cp:lastModifiedBy>
  <cp:revision>31</cp:revision>
  <dcterms:created xsi:type="dcterms:W3CDTF">2026-03-25T07:27:09Z</dcterms:created>
  <dcterms:modified xsi:type="dcterms:W3CDTF">2026-04-13T07:31:14Z</dcterms:modified>
</cp:coreProperties>
</file>