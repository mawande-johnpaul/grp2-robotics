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44"/>
  </p:notesMasterIdLst>
  <p:sldIdLst>
    <p:sldId id="315" r:id="rId2"/>
    <p:sldId id="282" r:id="rId3"/>
    <p:sldId id="256" r:id="rId4"/>
    <p:sldId id="258" r:id="rId5"/>
    <p:sldId id="283" r:id="rId6"/>
    <p:sldId id="259" r:id="rId7"/>
    <p:sldId id="284" r:id="rId8"/>
    <p:sldId id="260" r:id="rId9"/>
    <p:sldId id="285" r:id="rId10"/>
    <p:sldId id="286" r:id="rId11"/>
    <p:sldId id="287" r:id="rId12"/>
    <p:sldId id="288" r:id="rId13"/>
    <p:sldId id="289" r:id="rId14"/>
    <p:sldId id="290" r:id="rId15"/>
    <p:sldId id="299" r:id="rId16"/>
    <p:sldId id="300" r:id="rId17"/>
    <p:sldId id="298" r:id="rId18"/>
    <p:sldId id="261" r:id="rId19"/>
    <p:sldId id="291" r:id="rId20"/>
    <p:sldId id="292" r:id="rId21"/>
    <p:sldId id="293" r:id="rId22"/>
    <p:sldId id="294" r:id="rId23"/>
    <p:sldId id="295" r:id="rId24"/>
    <p:sldId id="301" r:id="rId25"/>
    <p:sldId id="302" r:id="rId26"/>
    <p:sldId id="316" r:id="rId27"/>
    <p:sldId id="319" r:id="rId28"/>
    <p:sldId id="303" r:id="rId29"/>
    <p:sldId id="304" r:id="rId30"/>
    <p:sldId id="305" r:id="rId31"/>
    <p:sldId id="306" r:id="rId32"/>
    <p:sldId id="262" r:id="rId33"/>
    <p:sldId id="308" r:id="rId34"/>
    <p:sldId id="311" r:id="rId35"/>
    <p:sldId id="310" r:id="rId36"/>
    <p:sldId id="296" r:id="rId37"/>
    <p:sldId id="317" r:id="rId38"/>
    <p:sldId id="312" r:id="rId39"/>
    <p:sldId id="313" r:id="rId40"/>
    <p:sldId id="297" r:id="rId41"/>
    <p:sldId id="318" r:id="rId42"/>
    <p:sldId id="263" r:id="rId4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1056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B6B9C9-5386-441F-B9D1-43DA24CCAC15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A392E6-B012-436D-BE5C-E5656DE3C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749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1DA04-4013-46F5-A596-9E8B1BABC27B}" type="datetime1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FE50D-69FE-43E5-9B44-FD3C1864D238}" type="datetime1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CCB9F-3072-4856-9C9A-164EFC2A050C}" type="datetime1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8A3F5-641B-4F8C-A56D-2C8EC6803FF5}" type="datetime1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3F82E-D327-4816-BEAE-C5C368AEA857}" type="datetime1">
              <a:rPr lang="en-US" smtClean="0"/>
              <a:t>3/21/2026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BF4D3-EE55-4DD6-89F3-89A2AC876639}" type="datetime1">
              <a:rPr lang="en-US" smtClean="0"/>
              <a:t>3/21/2026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9AB25-8933-4FA7-A3F2-5C76DF209983}" type="datetime1">
              <a:rPr lang="en-US" smtClean="0"/>
              <a:t>3/21/2026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31EE2-E039-4145-B0B0-1942A57C684A}" type="datetime1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B20D9-B88B-4E05-A734-B9CD0F5B3166}" type="datetime1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3597E-185E-4420-AB70-A355C33823B2}" type="datetime1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B73CF-7D58-41E1-91DA-E8F22E339F8F}" type="datetime1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2ABF0F-CCB7-4E97-A8E7-6D559907A60F}" type="datetime1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AD580-E573-42E1-8045-13B3B4567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The Programmer's Mental Model of a Motor</a:t>
            </a:r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AA61A09-BB57-40C8-9AF2-CB341187C887}"/>
              </a:ext>
            </a:extLst>
          </p:cNvPr>
          <p:cNvGrpSpPr/>
          <p:nvPr/>
        </p:nvGrpSpPr>
        <p:grpSpPr>
          <a:xfrm>
            <a:off x="749300" y="1417638"/>
            <a:ext cx="3952875" cy="4854855"/>
            <a:chOff x="4864100" y="1271308"/>
            <a:chExt cx="3952875" cy="485485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C9EFCFA-F1EA-4B20-9FA0-DF9332AF8AEC}"/>
                </a:ext>
              </a:extLst>
            </p:cNvPr>
            <p:cNvSpPr/>
            <p:nvPr/>
          </p:nvSpPr>
          <p:spPr>
            <a:xfrm>
              <a:off x="4905375" y="1916992"/>
              <a:ext cx="3911600" cy="1143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b="1" dirty="0"/>
                <a:t>PWM Amplifier (H-Bridge)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F02F8A7-6451-4BCD-A174-2119699CD6C6}"/>
                </a:ext>
              </a:extLst>
            </p:cNvPr>
            <p:cNvSpPr txBox="1"/>
            <p:nvPr/>
          </p:nvSpPr>
          <p:spPr>
            <a:xfrm>
              <a:off x="6070600" y="1271308"/>
              <a:ext cx="1473200" cy="36933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b="1"/>
                <a:t>YOUR CODE</a:t>
              </a:r>
              <a:endParaRPr 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1DB860E-549B-4E45-BF5A-C7B801C2B08F}"/>
                </a:ext>
              </a:extLst>
            </p:cNvPr>
            <p:cNvSpPr txBox="1"/>
            <p:nvPr/>
          </p:nvSpPr>
          <p:spPr>
            <a:xfrm>
              <a:off x="4905375" y="2425204"/>
              <a:ext cx="1136650" cy="64633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b="1" dirty="0"/>
                <a:t>Forward command</a:t>
              </a:r>
              <a:endParaRPr 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532DC5A-B59E-402B-B944-DF99F2E84406}"/>
                </a:ext>
              </a:extLst>
            </p:cNvPr>
            <p:cNvSpPr txBox="1"/>
            <p:nvPr/>
          </p:nvSpPr>
          <p:spPr>
            <a:xfrm>
              <a:off x="4864100" y="5479832"/>
              <a:ext cx="3886200" cy="64633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YOUR CODE (AGAIN)                    </a:t>
              </a:r>
            </a:p>
            <a:p>
              <a:pPr algn="ctr"/>
              <a:r>
                <a:rPr lang="en-US" b="1" dirty="0"/>
                <a:t>Read encoder, compute next command</a:t>
              </a:r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7B68E61-0326-4076-9D93-E030CE18B664}"/>
                </a:ext>
              </a:extLst>
            </p:cNvPr>
            <p:cNvSpPr txBox="1"/>
            <p:nvPr/>
          </p:nvSpPr>
          <p:spPr>
            <a:xfrm>
              <a:off x="4914900" y="4536026"/>
              <a:ext cx="3784600" cy="64633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    ENCODER                         </a:t>
              </a:r>
            </a:p>
            <a:p>
              <a:pPr algn="ctr"/>
              <a:r>
                <a:rPr lang="en-US" b="1" dirty="0"/>
                <a:t>Output: Position pulses (A, B phases)</a:t>
              </a:r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001E48C-D619-4E59-9D5B-A01BDD190428}"/>
                </a:ext>
              </a:extLst>
            </p:cNvPr>
            <p:cNvSpPr txBox="1"/>
            <p:nvPr/>
          </p:nvSpPr>
          <p:spPr>
            <a:xfrm>
              <a:off x="5556250" y="3336344"/>
              <a:ext cx="2609850" cy="92333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DC MOTOR                        </a:t>
              </a:r>
            </a:p>
            <a:p>
              <a:pPr algn="ctr"/>
              <a:r>
                <a:rPr lang="en-US" b="1" dirty="0"/>
                <a:t>Input: Voltage (via PWM)   </a:t>
              </a:r>
            </a:p>
            <a:p>
              <a:pPr algn="ctr"/>
              <a:r>
                <a:rPr lang="en-US" b="1" dirty="0"/>
                <a:t>Output: Torque + Speed</a:t>
              </a:r>
              <a:endParaRPr 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1B1B9D9-77DB-4D69-83AE-DBD13CD24EC4}"/>
                </a:ext>
              </a:extLst>
            </p:cNvPr>
            <p:cNvSpPr txBox="1"/>
            <p:nvPr/>
          </p:nvSpPr>
          <p:spPr>
            <a:xfrm>
              <a:off x="6292850" y="2425203"/>
              <a:ext cx="1136650" cy="64633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b="1" dirty="0"/>
                <a:t>Reverse command</a:t>
              </a:r>
              <a:endParaRPr 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3591782-BFC3-41FF-8A35-B3BAB00BE906}"/>
                </a:ext>
              </a:extLst>
            </p:cNvPr>
            <p:cNvSpPr txBox="1"/>
            <p:nvPr/>
          </p:nvSpPr>
          <p:spPr>
            <a:xfrm>
              <a:off x="7680325" y="2413661"/>
              <a:ext cx="1136650" cy="64633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b="1" dirty="0"/>
                <a:t>Brake  command</a:t>
              </a:r>
              <a:endParaRPr lang="en-US" dirty="0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88584720-6A61-487E-9036-2EF04854FA98}"/>
                </a:ext>
              </a:extLst>
            </p:cNvPr>
            <p:cNvCxnSpPr>
              <a:stCxn id="9" idx="2"/>
              <a:endCxn id="8" idx="0"/>
            </p:cNvCxnSpPr>
            <p:nvPr/>
          </p:nvCxnSpPr>
          <p:spPr>
            <a:xfrm>
              <a:off x="6861175" y="3071534"/>
              <a:ext cx="0" cy="26481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3B3E0C3F-75F9-4896-9A6A-4B5E52588F74}"/>
                </a:ext>
              </a:extLst>
            </p:cNvPr>
            <p:cNvCxnSpPr/>
            <p:nvPr/>
          </p:nvCxnSpPr>
          <p:spPr>
            <a:xfrm>
              <a:off x="6832600" y="1652182"/>
              <a:ext cx="0" cy="26481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71827872-BB01-48DA-B67E-0813342CF86D}"/>
                </a:ext>
              </a:extLst>
            </p:cNvPr>
            <p:cNvCxnSpPr/>
            <p:nvPr/>
          </p:nvCxnSpPr>
          <p:spPr>
            <a:xfrm>
              <a:off x="6861175" y="5182357"/>
              <a:ext cx="0" cy="26481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89E6028-AA6D-4633-A9EB-3D285BAD3056}"/>
                </a:ext>
              </a:extLst>
            </p:cNvPr>
            <p:cNvCxnSpPr/>
            <p:nvPr/>
          </p:nvCxnSpPr>
          <p:spPr>
            <a:xfrm>
              <a:off x="6861175" y="4259674"/>
              <a:ext cx="0" cy="26481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8223CEBF-B161-42E2-93F3-AB82F7B0576D}"/>
              </a:ext>
            </a:extLst>
          </p:cNvPr>
          <p:cNvSpPr/>
          <p:nvPr/>
        </p:nvSpPr>
        <p:spPr>
          <a:xfrm>
            <a:off x="4837176" y="1872941"/>
            <a:ext cx="4041647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 robotics applications, bi-directional control of motor speed is necessary.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This requires a Pulse width modulation (PWM) amplifier to be bipolar, allowing for both forward and backward rotations.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DC motors and PWM amplifiers, are the two most important components involved in a robot power train.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Encoder </a:t>
            </a:r>
          </a:p>
        </p:txBody>
      </p:sp>
      <p:sp>
        <p:nvSpPr>
          <p:cNvPr id="23" name="Date Placeholder 22">
            <a:extLst>
              <a:ext uri="{FF2B5EF4-FFF2-40B4-BE49-F238E27FC236}">
                <a16:creationId xmlns:a16="http://schemas.microsoft.com/office/drawing/2014/main" id="{A412E0A6-D448-4134-BE85-253483610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91B1B-E0AC-4E49-8D3A-99679EB32BB0}" type="datetime1">
              <a:rPr lang="en-US" smtClean="0"/>
              <a:t>3/23/2026</a:t>
            </a:fld>
            <a:endParaRPr lang="en-US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1B0193E8-CF74-4BDB-ABDE-DC2032FDF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879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7AA7E67-21FF-4D34-B665-BAC7CD3DCE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Path Planning in Robotics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64531E8-01D9-4636-A937-3F2F722290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599" y="3886200"/>
            <a:ext cx="6796355" cy="1752600"/>
          </a:xfrm>
        </p:spPr>
        <p:txBody>
          <a:bodyPr/>
          <a:lstStyle/>
          <a:p>
            <a:r>
              <a:rPr lang="en-US" dirty="0"/>
              <a:t>From Geometric Paths to Time‑Optimal Trajectories</a:t>
            </a:r>
          </a:p>
        </p:txBody>
      </p:sp>
    </p:spTree>
    <p:extLst>
      <p:ext uri="{BB962C8B-B14F-4D97-AF65-F5344CB8AC3E}">
        <p14:creationId xmlns:p14="http://schemas.microsoft.com/office/powerpoint/2010/main" val="3952222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Path Planning in Robotics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Path planning</a:t>
            </a:r>
            <a:r>
              <a:rPr lang="en-US" dirty="0"/>
              <a:t> is the process of determining a </a:t>
            </a:r>
            <a:r>
              <a:rPr lang="en-US" b="1" dirty="0"/>
              <a:t>collision-free route</a:t>
            </a:r>
            <a:r>
              <a:rPr lang="en-US" dirty="0"/>
              <a:t> from a start position to a goal position.</a:t>
            </a:r>
          </a:p>
          <a:p>
            <a:r>
              <a:rPr lang="en-US" b="1" dirty="0"/>
              <a:t>Key Idea</a:t>
            </a:r>
          </a:p>
          <a:p>
            <a:pPr lvl="1"/>
            <a:r>
              <a:rPr lang="en-US" dirty="0"/>
              <a:t>Find </a:t>
            </a:r>
            <a:r>
              <a:rPr lang="en-US" i="1" dirty="0"/>
              <a:t>where to move</a:t>
            </a:r>
            <a:r>
              <a:rPr lang="en-US" dirty="0"/>
              <a:t> (geometry) </a:t>
            </a:r>
          </a:p>
          <a:p>
            <a:pPr lvl="1"/>
            <a:r>
              <a:rPr lang="en-US" dirty="0"/>
              <a:t>Not necessarily </a:t>
            </a:r>
            <a:r>
              <a:rPr lang="en-US" i="1" dirty="0"/>
              <a:t>how fast</a:t>
            </a:r>
            <a:r>
              <a:rPr lang="en-US" dirty="0"/>
              <a:t> (that’s trajectory planning)</a:t>
            </a:r>
          </a:p>
          <a:p>
            <a:r>
              <a:rPr lang="en-US" dirty="0"/>
              <a:t>Path - geometric route (no time)</a:t>
            </a:r>
          </a:p>
          <a:p>
            <a:r>
              <a:rPr lang="en-US" dirty="0"/>
              <a:t>Trajectory - path + timing</a:t>
            </a:r>
          </a:p>
          <a:p>
            <a:r>
              <a:rPr lang="en-US" dirty="0"/>
              <a:t>Important - planning vs execution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31795-1C1F-4B42-8CBC-C8780E62B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8317F-1087-4F39-9288-94E92A926096}" type="datetime1">
              <a:rPr lang="en-US" smtClean="0"/>
              <a:t>3/21/2026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A6B215-C6CE-46F8-996A-486B55A3E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Path vs Trajectory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25366"/>
                <a:ext cx="8229600" cy="5085708"/>
              </a:xfrm>
            </p:spPr>
            <p:txBody>
              <a:bodyPr>
                <a:normAutofit/>
              </a:bodyPr>
              <a:lstStyle/>
              <a:p>
                <a:r>
                  <a:rPr lang="en-US" sz="2800" dirty="0"/>
                  <a:t>Path - geometric route (no time)</a:t>
                </a:r>
              </a:p>
              <a:p>
                <a:r>
                  <a:rPr lang="en-US" sz="2800" dirty="0"/>
                  <a:t>Trajectory - path + timing. The position of the robot as a function of time q(t) where q is robot position and t is time</a:t>
                </a:r>
              </a:p>
              <a:p>
                <a:r>
                  <a:rPr lang="en-US" sz="2800" dirty="0"/>
                  <a:t>The robot’s position is defined for every moment in time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8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80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(time zero to time final)</a:t>
                </a:r>
                <a:endParaRPr sz="28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25366"/>
                <a:ext cx="8229600" cy="5085708"/>
              </a:xfrm>
              <a:blipFill>
                <a:blip r:embed="rId2"/>
                <a:stretch>
                  <a:fillRect l="-1333" t="-1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8FF4B08-80CD-46D1-A3DA-E5C4D83E69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1549768"/>
              </p:ext>
            </p:extLst>
          </p:nvPr>
        </p:nvGraphicFramePr>
        <p:xfrm>
          <a:off x="650696" y="4166906"/>
          <a:ext cx="8036104" cy="231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24173">
                  <a:extLst>
                    <a:ext uri="{9D8B030D-6E8A-4147-A177-3AD203B41FA5}">
                      <a16:colId xmlns:a16="http://schemas.microsoft.com/office/drawing/2014/main" val="4117156033"/>
                    </a:ext>
                  </a:extLst>
                </a:gridCol>
                <a:gridCol w="3569800">
                  <a:extLst>
                    <a:ext uri="{9D8B030D-6E8A-4147-A177-3AD203B41FA5}">
                      <a16:colId xmlns:a16="http://schemas.microsoft.com/office/drawing/2014/main" val="3965245517"/>
                    </a:ext>
                  </a:extLst>
                </a:gridCol>
                <a:gridCol w="2842131">
                  <a:extLst>
                    <a:ext uri="{9D8B030D-6E8A-4147-A177-3AD203B41FA5}">
                      <a16:colId xmlns:a16="http://schemas.microsoft.com/office/drawing/2014/main" val="924778399"/>
                    </a:ext>
                  </a:extLst>
                </a:gridCol>
              </a:tblGrid>
              <a:tr h="586498">
                <a:tc>
                  <a:txBody>
                    <a:bodyPr/>
                    <a:lstStyle/>
                    <a:p>
                      <a:pPr marL="0" marR="0">
                        <a:lnSpc>
                          <a:spcPct val="16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effectLst/>
                        </a:rPr>
                        <a:t>Term</a:t>
                      </a:r>
                      <a:endParaRPr lang="en-US" sz="28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6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>
                          <a:effectLst/>
                        </a:rPr>
                        <a:t>Definition</a:t>
                      </a:r>
                      <a:endParaRPr lang="en-US" sz="2800" b="1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6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effectLst/>
                        </a:rPr>
                        <a:t>Parameters</a:t>
                      </a:r>
                      <a:endParaRPr lang="en-US" sz="28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01608256"/>
                  </a:ext>
                </a:extLst>
              </a:tr>
              <a:tr h="616862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Path</a:t>
                      </a:r>
                      <a:endParaRPr lang="en-US" sz="2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Geometric locus of points (no time)</a:t>
                      </a:r>
                      <a:endParaRPr lang="en-US" sz="2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q(s), s∈[0,1]</a:t>
                      </a:r>
                      <a:endParaRPr lang="en-US" sz="2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40794436"/>
                  </a:ext>
                </a:extLst>
              </a:tr>
              <a:tr h="848344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Trajectory</a:t>
                      </a:r>
                      <a:endParaRPr lang="en-US" sz="2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Path</a:t>
                      </a:r>
                      <a:r>
                        <a:rPr lang="en-US" sz="2800" dirty="0"/>
                        <a:t> + time + velocity + acceleration</a:t>
                      </a:r>
                      <a:endParaRPr lang="en-US" sz="2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q(t), velocity, acceleration</a:t>
                      </a:r>
                      <a:endParaRPr lang="en-US" sz="2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3629227"/>
                  </a:ext>
                </a:extLst>
              </a:tr>
            </a:tbl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8A235F-75AE-4212-B50C-845939948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E2A71-6959-421A-B3D5-B60AE44A738B}" type="datetime1">
              <a:rPr lang="en-US" smtClean="0"/>
              <a:t>3/21/2026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786B8-4E3C-412C-8E21-A0CA2B728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D8EF9-671C-4235-B235-F4A08B018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Planning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5351601-D476-47EE-A85A-F04151A833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5270001"/>
              </p:ext>
            </p:extLst>
          </p:nvPr>
        </p:nvGraphicFramePr>
        <p:xfrm>
          <a:off x="724328" y="2116574"/>
          <a:ext cx="8039528" cy="38709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287073">
                  <a:extLst>
                    <a:ext uri="{9D8B030D-6E8A-4147-A177-3AD203B41FA5}">
                      <a16:colId xmlns:a16="http://schemas.microsoft.com/office/drawing/2014/main" val="2461934819"/>
                    </a:ext>
                  </a:extLst>
                </a:gridCol>
                <a:gridCol w="4752455">
                  <a:extLst>
                    <a:ext uri="{9D8B030D-6E8A-4147-A177-3AD203B41FA5}">
                      <a16:colId xmlns:a16="http://schemas.microsoft.com/office/drawing/2014/main" val="19371150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3200" b="1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3200" b="1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13915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3200" dirty="0"/>
                        <a:t>Global Planning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Uses full map knowledge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33825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3200"/>
                        <a:t>Local Planning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Reacts to environment in real-time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6149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3200"/>
                        <a:t>Static Planning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Environment does not change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6451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3200"/>
                        <a:t>Dynamic Planning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Environment changes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5444664"/>
                  </a:ext>
                </a:extLst>
              </a:tr>
            </a:tbl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8D3A95-37FA-4661-B750-2846B80DD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45DD2-64F9-4540-828F-167CF39A2BB9}" type="datetime1">
              <a:rPr lang="en-US" smtClean="0"/>
              <a:t>3/21/2026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54DF7-4732-4766-95B9-9FC977EAA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207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Configuration Space (C-Space)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A robot is represented as a </a:t>
                </a:r>
                <a:r>
                  <a:rPr lang="en-US" b="1" dirty="0"/>
                  <a:t>single point in an abstract space</a:t>
                </a:r>
                <a:r>
                  <a:rPr lang="en-US" dirty="0"/>
                  <a:t>.</a:t>
                </a:r>
              </a:p>
              <a:p>
                <a:r>
                  <a:rPr lang="en-US" b="1" dirty="0"/>
                  <a:t>Key Concepts</a:t>
                </a:r>
              </a:p>
              <a:p>
                <a:pPr lvl="1"/>
                <a:r>
                  <a:rPr lang="en-US" b="1" dirty="0"/>
                  <a:t>Degree of freedom (DOF) </a:t>
                </a:r>
                <a:r>
                  <a:rPr lang="en-US" dirty="0"/>
                  <a:t>defines dimensions. Each DOF = one dimension </a:t>
                </a:r>
              </a:p>
              <a:p>
                <a:pPr lvl="1"/>
                <a:r>
                  <a:rPr lang="en-US" dirty="0"/>
                  <a:t>Obstacles become </a:t>
                </a:r>
                <a:r>
                  <a:rPr lang="en-US" b="1" dirty="0"/>
                  <a:t>C-obstacles</a:t>
                </a:r>
                <a:endParaRPr lang="en-US" dirty="0"/>
              </a:p>
              <a:p>
                <a:r>
                  <a:rPr lang="en-US" b="1" dirty="0"/>
                  <a:t>In 2-DOF Robot Arm, </a:t>
                </a:r>
                <a:r>
                  <a:rPr lang="en-US" dirty="0"/>
                  <a:t>C=(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θ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,</a:t>
                </a:r>
                <a:r>
                  <a:rPr lang="ar-A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θ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). Instead of planning in physical space → plan in </a:t>
                </a:r>
                <a:r>
                  <a:rPr lang="en-US" b="1" dirty="0"/>
                  <a:t>joint space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2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385AC-DBC8-46AC-B619-03577A367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D7A6-5E2B-47DE-A76C-B5AA89E459D1}" type="datetime1">
              <a:rPr lang="en-US" smtClean="0"/>
              <a:t>3/21/2026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E3A6EC-CD08-429F-998D-C82E4EF8E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5D913-3D4A-4CF9-9017-E2C5FB698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(Goal) Formulation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6A5E87-2BB0-431F-9029-0DB3AA4984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q(s) is a path that describes how the robot moves from start to goal.</a:t>
                </a:r>
              </a:p>
              <a:p>
                <a:r>
                  <a:rPr lang="en-US" dirty="0"/>
                  <a:t>Goal -  Find q(s) such that: </a:t>
                </a:r>
              </a:p>
              <a:p>
                <a:pPr lvl="1"/>
                <a:r>
                  <a:rPr lang="en-US" dirty="0"/>
                  <a:t>Start q(0)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𝑠𝑡𝑎𝑟𝑡</m:t>
                        </m:r>
                      </m:sub>
                    </m:sSub>
                  </m:oMath>
                </a14:m>
                <a:r>
                  <a:rPr lang="en-US" dirty="0"/>
                  <a:t>, robot at starting position</a:t>
                </a:r>
              </a:p>
              <a:p>
                <a:pPr lvl="1"/>
                <a:r>
                  <a:rPr lang="en-US" dirty="0"/>
                  <a:t>Goal: q(1)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𝑔𝑜𝑎𝑙</m:t>
                        </m:r>
                      </m:sub>
                    </m:sSub>
                  </m:oMath>
                </a14:m>
                <a:r>
                  <a:rPr lang="en-US" dirty="0"/>
                  <a:t>, robot at goal position</a:t>
                </a:r>
              </a:p>
              <a:p>
                <a:r>
                  <a:rPr lang="en-US" dirty="0"/>
                  <a:t>Collision-free - q(s) ∉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𝑜𝑏𝑠𝑡𝑎𝑐𝑙𝑒</m:t>
                        </m:r>
                      </m:sub>
                    </m:sSub>
                  </m:oMath>
                </a14:m>
                <a:r>
                  <a:rPr lang="en-US" dirty="0"/>
                  <a:t>, robot must not pass through an obstacle.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6A5E87-2BB0-431F-9029-0DB3AA4984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8E163-3366-4686-9043-091D06C14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E1B8A-0CBE-4C82-99D7-82FBC84FC9CE}" type="datetime1">
              <a:rPr lang="en-US" smtClean="0"/>
              <a:t>3/21/2026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7791F5-D78D-4015-9CDF-161B7B72C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340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Graph-Based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 </a:t>
            </a:r>
            <a:r>
              <a:rPr lang="en-US" dirty="0"/>
              <a:t>Convert space into a </a:t>
            </a:r>
            <a:r>
              <a:rPr lang="en-US" b="1" dirty="0"/>
              <a:t>graph - </a:t>
            </a:r>
            <a:r>
              <a:rPr lang="en-US" dirty="0"/>
              <a:t>Nodes = positions and Edges = valid paths</a:t>
            </a:r>
          </a:p>
          <a:p>
            <a:r>
              <a:rPr dirty="0"/>
              <a:t>Visibility Graph</a:t>
            </a:r>
            <a:r>
              <a:rPr lang="en-US" dirty="0"/>
              <a:t> </a:t>
            </a:r>
          </a:p>
          <a:p>
            <a:pPr lvl="1"/>
            <a:r>
              <a:rPr lang="en-US" dirty="0">
                <a:cs typeface="Arial" panose="020B0604020202020204" pitchFamily="34" charset="0"/>
              </a:rPr>
              <a:t>Connect all vertices of obstacles; optimal for polygonal obstacles.</a:t>
            </a:r>
            <a:r>
              <a:rPr lang="en-US" altLang="en-US" dirty="0">
                <a:cs typeface="Arial" panose="020B0604020202020204" pitchFamily="34" charset="0"/>
              </a:rPr>
              <a:t> </a:t>
            </a:r>
            <a:r>
              <a:rPr lang="en-US" altLang="en-US" dirty="0"/>
              <a:t>Produces  shortest path. Not safe since the path is too close to obstacles </a:t>
            </a:r>
            <a:endParaRPr dirty="0"/>
          </a:p>
          <a:p>
            <a:r>
              <a:rPr dirty="0"/>
              <a:t>Voronoi Diagram</a:t>
            </a:r>
            <a:endParaRPr lang="en-US" dirty="0"/>
          </a:p>
          <a:p>
            <a:pPr lvl="1"/>
            <a:r>
              <a:rPr lang="en-US" dirty="0"/>
              <a:t>m</a:t>
            </a:r>
            <a:r>
              <a:rPr lang="en-US" altLang="en-US" dirty="0"/>
              <a:t>aximizes distance from obstacles. Safe but not shortest</a:t>
            </a:r>
            <a:endParaRPr dirty="0"/>
          </a:p>
          <a:p>
            <a:r>
              <a:rPr dirty="0"/>
              <a:t>Cell Decomposition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d</a:t>
            </a:r>
            <a:r>
              <a:rPr lang="en-US" altLang="en-US" dirty="0"/>
              <a:t>ivide space into regions</a:t>
            </a:r>
            <a:r>
              <a:rPr lang="en-US" dirty="0"/>
              <a:t> (simple cells), search adjacency graph</a:t>
            </a:r>
            <a:endParaRPr dirty="0"/>
          </a:p>
          <a:p>
            <a:pPr lvl="0"/>
            <a:r>
              <a:rPr dirty="0"/>
              <a:t>Search: </a:t>
            </a:r>
            <a:r>
              <a:rPr lang="en-US" dirty="0"/>
              <a:t>Dijkstra – weighted graph, guarantees shortest path and A* – heuristic‑guided, faster for many problems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2CE8896-B71A-439D-967A-48221DB242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6544DE5-1D29-4A19-97FA-BF94B8179E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6E6D7E2-F9E1-4D7A-A7E1-BDE596D007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73220D5-745B-4100-B23E-118AEE17A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5FEFE-9DD8-4609-9893-CAC493FC0F59}" type="datetime1">
              <a:rPr lang="en-US" smtClean="0"/>
              <a:t>3/21/2026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B3A1F2-B29D-4EDB-AED8-3F8D54785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76E9F52-6305-43B5-81E2-F38D0408990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485" r="4091"/>
          <a:stretch/>
        </p:blipFill>
        <p:spPr>
          <a:xfrm>
            <a:off x="4781766" y="1809240"/>
            <a:ext cx="4175589" cy="272266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0B2D324-2DF6-4CFA-8CC0-7F6725449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based - Visibility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679A0-713D-4415-8C49-4FDE1F84BB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6645" y="1600201"/>
            <a:ext cx="4595121" cy="391702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If you can draw a straight line without hitting an obstacle, connect the points.</a:t>
            </a:r>
          </a:p>
          <a:p>
            <a:r>
              <a:rPr lang="en-US" dirty="0"/>
              <a:t>Given – start (1,1), goal(9,9), obstacle vertices A(4,4), B (6,4) C(6,6) and D(4,6)</a:t>
            </a:r>
          </a:p>
          <a:p>
            <a:r>
              <a:rPr lang="en-US" dirty="0"/>
              <a:t>Exercise. Plot the points in a graph and identify the paths between start and goal.</a:t>
            </a:r>
          </a:p>
          <a:p>
            <a:pPr lvl="1"/>
            <a:r>
              <a:rPr lang="en-US" dirty="0"/>
              <a:t>Identify the shortest path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AEEF82-0CCC-4719-A5C5-E970E702BB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249" y="5474791"/>
            <a:ext cx="4156941" cy="5603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BC56CD0-C867-4A43-B02F-A8A054431CBB}"/>
              </a:ext>
            </a:extLst>
          </p:cNvPr>
          <p:cNvSpPr txBox="1"/>
          <p:nvPr/>
        </p:nvSpPr>
        <p:spPr>
          <a:xfrm>
            <a:off x="829937" y="5521199"/>
            <a:ext cx="35137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Use </a:t>
            </a:r>
            <a:r>
              <a:rPr lang="en-US" sz="2800" dirty="0" err="1"/>
              <a:t>Eucladian</a:t>
            </a:r>
            <a:r>
              <a:rPr lang="en-US" sz="2800" dirty="0"/>
              <a:t> distance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A9AD2EB-59E3-4720-A18F-F9E856060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47288-DB63-4C25-A2E4-3D2B862216C9}" type="datetime1">
              <a:rPr lang="en-US" smtClean="0"/>
              <a:t>3/21/2026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A3675D-FC05-46BF-93A5-F9F181F78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998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B3A301F-A3DD-4306-99BB-D0BC8DABE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563" y="274638"/>
            <a:ext cx="8702211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Why Visibility Graph Gives Shortest Path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B16973-32F7-4E67-B240-19D2C9AF6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It connects </a:t>
            </a:r>
            <a:r>
              <a:rPr lang="en-US" b="1" dirty="0"/>
              <a:t>all straight-line possibilities</a:t>
            </a:r>
            <a:r>
              <a:rPr lang="en-US" dirty="0"/>
              <a:t> </a:t>
            </a:r>
          </a:p>
          <a:p>
            <a:r>
              <a:rPr lang="en-US" dirty="0"/>
              <a:t>The shortest path lies along,  straight lines and obstacle edges</a:t>
            </a:r>
          </a:p>
          <a:p>
            <a:r>
              <a:rPr lang="en-US" dirty="0"/>
              <a:t>Visibility is not save because, visibility graph paths</a:t>
            </a:r>
          </a:p>
          <a:p>
            <a:pPr lvl="1"/>
            <a:r>
              <a:rPr lang="en-US" dirty="0"/>
              <a:t>pass </a:t>
            </a:r>
            <a:r>
              <a:rPr lang="en-US" b="1" dirty="0"/>
              <a:t>very close to obstacles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sometimes </a:t>
            </a:r>
            <a:r>
              <a:rPr lang="en-US" b="1" dirty="0"/>
              <a:t>touch corners</a:t>
            </a:r>
            <a:r>
              <a:rPr lang="en-US" dirty="0"/>
              <a:t> </a:t>
            </a:r>
          </a:p>
          <a:p>
            <a:r>
              <a:rPr lang="en-US" dirty="0"/>
              <a:t>Risky in real robots due to:</a:t>
            </a:r>
          </a:p>
          <a:p>
            <a:pPr lvl="1"/>
            <a:r>
              <a:rPr lang="en-US" dirty="0"/>
              <a:t>sensor noise </a:t>
            </a:r>
          </a:p>
          <a:p>
            <a:pPr lvl="1"/>
            <a:r>
              <a:rPr lang="en-US" dirty="0"/>
              <a:t>control errors</a:t>
            </a:r>
          </a:p>
          <a:p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8641979-896D-4E09-B897-EE9E752FB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8BF4F-2E04-4F9F-8017-BE28DA27EDCD}" type="datetime1">
              <a:rPr lang="en-US" smtClean="0"/>
              <a:t>3/21/2026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0184B6-9091-40F6-9369-1339FDEFA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82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0AF35-D364-464C-8328-176C6782A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Graph based - Voronoi Diagram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D068993-A004-46E7-92B1-D6CB6D29C6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0" y="1828862"/>
            <a:ext cx="4005879" cy="305412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531E94B-6A9E-468F-8224-93353D4D11C4}"/>
              </a:ext>
            </a:extLst>
          </p:cNvPr>
          <p:cNvSpPr/>
          <p:nvPr/>
        </p:nvSpPr>
        <p:spPr>
          <a:xfrm>
            <a:off x="251822" y="1561672"/>
            <a:ext cx="4320178" cy="46782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A </a:t>
            </a:r>
            <a:r>
              <a:rPr lang="en-US" sz="2000" b="1" dirty="0"/>
              <a:t>Voronoi Diagram</a:t>
            </a:r>
            <a:r>
              <a:rPr lang="en-US" sz="2000" dirty="0"/>
              <a:t> divides space such that Every point on a Voronoi edge is </a:t>
            </a:r>
            <a:r>
              <a:rPr lang="en-US" sz="2000" b="1" dirty="0"/>
              <a:t>equidistant from the nearest obstacles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Move along paths that are as far away from obstacles as possible.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The lines (edges) run </a:t>
            </a:r>
            <a:r>
              <a:rPr lang="en-US" altLang="en-US" sz="2000" b="1" dirty="0">
                <a:latin typeface="Arial" panose="020B0604020202020204" pitchFamily="34" charset="0"/>
              </a:rPr>
              <a:t>between obstacles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These lines form a </a:t>
            </a:r>
            <a:r>
              <a:rPr lang="en-US" altLang="en-US" sz="2000" b="1" dirty="0">
                <a:latin typeface="Arial" panose="020B0604020202020204" pitchFamily="34" charset="0"/>
              </a:rPr>
              <a:t>safe roadmap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b="1" dirty="0">
              <a:latin typeface="Arial" panose="020B0604020202020204" pitchFamily="34" charset="0"/>
            </a:endParaRPr>
          </a:p>
          <a:p>
            <a:r>
              <a:rPr lang="en-US" altLang="en-US" sz="2000" b="1" dirty="0">
                <a:latin typeface="Arial" panose="020B0604020202020204" pitchFamily="34" charset="0"/>
              </a:rPr>
              <a:t>Given that </a:t>
            </a:r>
            <a:r>
              <a:rPr lang="en-US" sz="2000" dirty="0"/>
              <a:t>Start: S=(1,1), Goal: G=(9,9), Two obstacles: Obstacle 1 at (4,5), Obstacle 2 at (6,5). 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</a:p>
          <a:p>
            <a:r>
              <a:rPr lang="en-US" altLang="en-US" sz="2000" dirty="0">
                <a:latin typeface="Arial" panose="020B0604020202020204" pitchFamily="34" charset="0"/>
              </a:rPr>
              <a:t>Calculate the midpoint between the obstacles x = (4+6)/2 = 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181CE3-4C4B-4BB6-A457-3BCCD792E3E9}"/>
              </a:ext>
            </a:extLst>
          </p:cNvPr>
          <p:cNvSpPr/>
          <p:nvPr/>
        </p:nvSpPr>
        <p:spPr>
          <a:xfrm>
            <a:off x="5315768" y="4869878"/>
            <a:ext cx="20912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from Howie </a:t>
            </a:r>
            <a:r>
              <a:rPr lang="en-US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Choset</a:t>
            </a:r>
            <a:endParaRPr lang="en-US" b="1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C3AE11E-83B2-4B73-9AA5-13F270705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41973-F583-4860-BB13-25847B9A53CD}" type="datetime1">
              <a:rPr lang="en-US" smtClean="0"/>
              <a:t>3/21/2026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305E0B-991D-49F9-9979-76EA624DD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0566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6D04E-F361-4651-BD5E-D17509B4E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based - Voronoi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38DCF-48BC-470A-9A25-0EAEEBA218F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en-US" b="1" dirty="0">
                <a:latin typeface="Arial" panose="020B0604020202020204" pitchFamily="34" charset="0"/>
              </a:rPr>
              <a:t>Given that </a:t>
            </a:r>
            <a:r>
              <a:rPr lang="en-US" dirty="0"/>
              <a:t>Start S=(1,1), goal G=(9,9), two obstacles, Obstacle 1 at (4,5), Obstacle 2 at (6,5). 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Calculate the midpoint between the obstacles x = (4+6)/2 = 5, which is the Voronoi edge.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Voronoi condition is distance to obstacle 1 and obstacle two are the same.</a:t>
            </a:r>
          </a:p>
          <a:p>
            <a:pPr marL="0" indent="0">
              <a:buNone/>
            </a:pPr>
            <a:r>
              <a:rPr lang="en-US" b="1" dirty="0"/>
              <a:t>Constructing the Voronoi Path</a:t>
            </a:r>
          </a:p>
          <a:p>
            <a:pPr marL="0" indent="0">
              <a:buNone/>
            </a:pPr>
            <a:r>
              <a:rPr lang="en-US" b="1" dirty="0"/>
              <a:t>Step 1. </a:t>
            </a:r>
            <a:r>
              <a:rPr lang="en-US" dirty="0"/>
              <a:t>Build Voronoi edges</a:t>
            </a:r>
          </a:p>
          <a:p>
            <a:pPr lvl="1"/>
            <a:r>
              <a:rPr lang="en-US" dirty="0"/>
              <a:t>The vertical line x=5 forms a </a:t>
            </a:r>
            <a:r>
              <a:rPr lang="en-US" b="1" dirty="0"/>
              <a:t>safe corridor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84F8FD-4300-4248-9286-D03E883453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199" y="1600200"/>
            <a:ext cx="4382785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Step 2. </a:t>
            </a:r>
            <a:r>
              <a:rPr lang="en-US" dirty="0"/>
              <a:t>Connect Start to Voronoi</a:t>
            </a:r>
          </a:p>
          <a:p>
            <a:r>
              <a:rPr lang="en-US" dirty="0"/>
              <a:t>From S=(1,1)  </a:t>
            </a:r>
          </a:p>
          <a:p>
            <a:pPr lvl="1"/>
            <a:r>
              <a:rPr lang="en-US" dirty="0"/>
              <a:t>Move toward the nearest Voronoi edge </a:t>
            </a:r>
          </a:p>
          <a:p>
            <a:pPr lvl="1"/>
            <a:r>
              <a:rPr lang="en-US" dirty="0"/>
              <a:t>Connect to point (5,3) between start S and mid point x=5</a:t>
            </a:r>
          </a:p>
          <a:p>
            <a:pPr marL="0" indent="0">
              <a:buNone/>
            </a:pPr>
            <a:r>
              <a:rPr lang="en-US" b="1" dirty="0"/>
              <a:t>Step 3. </a:t>
            </a:r>
            <a:r>
              <a:rPr lang="en-US" dirty="0"/>
              <a:t>Follow Voronoi edge</a:t>
            </a:r>
          </a:p>
          <a:p>
            <a:pPr lvl="1"/>
            <a:r>
              <a:rPr lang="en-US" dirty="0"/>
              <a:t>Move along x=5</a:t>
            </a:r>
          </a:p>
          <a:p>
            <a:pPr marL="0" indent="0">
              <a:buNone/>
            </a:pPr>
            <a:r>
              <a:rPr lang="en-US" b="1" dirty="0"/>
              <a:t>Step 4. </a:t>
            </a:r>
            <a:r>
              <a:rPr lang="en-US" dirty="0"/>
              <a:t>Connect to Goal</a:t>
            </a:r>
          </a:p>
          <a:p>
            <a:pPr lvl="1"/>
            <a:r>
              <a:rPr lang="en-US" dirty="0"/>
              <a:t>Leave Voronoi at (5,7)</a:t>
            </a:r>
          </a:p>
          <a:p>
            <a:pPr lvl="1"/>
            <a:r>
              <a:rPr lang="en-US" dirty="0"/>
              <a:t>Move to G=(9,9)G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The final path is. S→(5,3)→(5,7)→G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975E03-3974-44D0-8514-50CA83965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4D135-62C5-4D74-9BC3-3B32862D04F5}" type="datetime1">
              <a:rPr lang="en-US" smtClean="0"/>
              <a:t>3/21/2026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A89C24-CF84-4CAA-9031-20CDD4E68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9121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EE8079B-3B57-489E-BDD5-9A6D4AE3C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based - Voronoi Algorithm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21BADF6-6C32-4276-BF42-FBEC3C0540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417638"/>
            <a:ext cx="4038600" cy="3275353"/>
          </a:xfrm>
        </p:spPr>
        <p:txBody>
          <a:bodyPr/>
          <a:lstStyle/>
          <a:p>
            <a:pPr marL="514350" lvl="0" indent="-51435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</a:rPr>
              <a:t>Add start and goal to the graph </a:t>
            </a:r>
          </a:p>
          <a:p>
            <a:pPr marL="514350" lvl="0" indent="-51435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</a:rPr>
              <a:t>Connect them to nearest Voronoi nodes </a:t>
            </a:r>
          </a:p>
          <a:p>
            <a:pPr marL="514350" lvl="0" indent="-51435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</a:rPr>
              <a:t>Use shortest path search (A*) </a:t>
            </a:r>
          </a:p>
          <a:p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ADCFBC-363C-4741-AD37-D9036F4B1379}"/>
              </a:ext>
            </a:extLst>
          </p:cNvPr>
          <p:cNvSpPr/>
          <p:nvPr/>
        </p:nvSpPr>
        <p:spPr>
          <a:xfrm>
            <a:off x="353602" y="4692991"/>
            <a:ext cx="858919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Intuition</a:t>
            </a:r>
            <a:r>
              <a:rPr lang="en-US" sz="2800" dirty="0"/>
              <a:t> Pick a safe point on the Voronoi line that the robot can reach without hitting obstacles. (5,3) is a convenient, safe connection point chosen on the Voronoi edge, not a fixed formula output.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FA9A96F-5C0A-46CF-BF71-84499B4D2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993" y="1286232"/>
            <a:ext cx="3767619" cy="281281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7769054-50E7-434E-B88C-B0AFD6A7B621}"/>
              </a:ext>
            </a:extLst>
          </p:cNvPr>
          <p:cNvSpPr/>
          <p:nvPr/>
        </p:nvSpPr>
        <p:spPr>
          <a:xfrm>
            <a:off x="807219" y="4129426"/>
            <a:ext cx="34591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b="1" dirty="0">
                <a:solidFill>
                  <a:srgbClr val="000000"/>
                </a:solidFill>
                <a:latin typeface="Times New Roman" panose="02020603050405020304" pitchFamily="18" charset="0"/>
              </a:rPr>
              <a:t>from Philippe Cheng, MIT, 2001)</a:t>
            </a:r>
            <a:endParaRPr lang="en-US" b="1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37335571-0823-45D2-A0CA-1ACF1397A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8FA3F-09B3-490E-9FDE-EE99274A68AB}" type="datetime1">
              <a:rPr lang="en-US" smtClean="0"/>
              <a:t>3/21/2026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43E4C04-57AA-4DEB-8DAA-E0801D925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6629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71CFF7-E783-4FD4-92DE-085829BAE8D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325719" y="1763945"/>
            <a:ext cx="4818281" cy="36137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2EB236E-CF57-4632-8F69-781E76501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Graph based - Cell Decomposition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3AF3B-608F-44C4-993E-991A68B354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7402" y="1600200"/>
            <a:ext cx="4438436" cy="4903342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Divide the free space into simple regions (cells), then move from one cell to another.</a:t>
            </a:r>
          </a:p>
          <a:p>
            <a:r>
              <a:rPr lang="en-US" sz="2400" b="1" dirty="0"/>
              <a:t>Algorithm</a:t>
            </a:r>
          </a:p>
          <a:p>
            <a:pPr marL="365760" indent="-365760">
              <a:buFont typeface="+mj-lt"/>
              <a:buAutoNum type="arabicPeriod"/>
            </a:pPr>
            <a:r>
              <a:rPr lang="en-US" sz="2400" dirty="0"/>
              <a:t>Split space into non-overlapping regions (cells) </a:t>
            </a:r>
          </a:p>
          <a:p>
            <a:pPr marL="365760" indent="-365760">
              <a:buFont typeface="+mj-lt"/>
              <a:buAutoNum type="arabicPeriod"/>
            </a:pPr>
            <a:r>
              <a:rPr lang="en-US" sz="2400" dirty="0"/>
              <a:t>Identify which cells are free (no obstacles) </a:t>
            </a:r>
          </a:p>
          <a:p>
            <a:pPr marL="365760" indent="-365760">
              <a:buFont typeface="+mj-lt"/>
              <a:buAutoNum type="arabicPeriod"/>
            </a:pPr>
            <a:r>
              <a:rPr lang="en-US" sz="2400" dirty="0"/>
              <a:t>Build a graph of connected cells </a:t>
            </a:r>
          </a:p>
          <a:p>
            <a:pPr marL="365760" indent="-365760">
              <a:buFont typeface="+mj-lt"/>
              <a:buAutoNum type="arabicPeriod"/>
            </a:pPr>
            <a:r>
              <a:rPr lang="en-US" sz="2400" dirty="0"/>
              <a:t>Find a path through the cells, Use algorithms like: A*, BFS, Dijkstra.</a:t>
            </a:r>
          </a:p>
          <a:p>
            <a:pPr marL="365760" indent="-365760">
              <a:buFont typeface="+mj-lt"/>
              <a:buAutoNum type="arabicPeriod"/>
            </a:pPr>
            <a:r>
              <a:rPr lang="en-US" sz="2400" dirty="0"/>
              <a:t>Convert Cell Path to Real Path. Move from center to center or boundary to boundary </a:t>
            </a:r>
            <a:endParaRPr lang="en-US" sz="8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9C1450E-FD2A-4BD0-A068-EF709BF16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C7A63-3F12-4919-B883-E4B1357A6D3C}" type="datetime1">
              <a:rPr lang="en-US" smtClean="0"/>
              <a:t>3/21/2026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0877A-2F41-40D7-AD15-7570AB44D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2180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2D485-B6B2-4D70-AE59-0152AAD37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Dijkstra’s Algorithm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7FC7B-2C19-41F6-ACEF-96E2D2FC98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Finds the shortest path from a source node to all other nodes in a weighted graph (weights are non-negative).</a:t>
            </a:r>
          </a:p>
          <a:p>
            <a:pPr lvl="1"/>
            <a:r>
              <a:rPr lang="en-US" dirty="0"/>
              <a:t>Works only with non-negative edge weights. </a:t>
            </a:r>
          </a:p>
          <a:p>
            <a:pPr lvl="1"/>
            <a:r>
              <a:rPr lang="en-US" dirty="0"/>
              <a:t>Guarantees the shortest path. </a:t>
            </a:r>
          </a:p>
          <a:p>
            <a:pPr lvl="1"/>
            <a:r>
              <a:rPr lang="en-US" dirty="0"/>
              <a:t>Uses a greedy approach, always selects the node with the smallest known distance that hasn’t been visited yet. </a:t>
            </a:r>
          </a:p>
          <a:p>
            <a:pPr lvl="1"/>
            <a:r>
              <a:rPr lang="en-US" dirty="0"/>
              <a:t>Maintains a distance table for the shortest known distance from the source to each node.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4EC631-012F-423B-9159-D1A435C44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750BB-97C5-4129-9273-06042BA5FCAA}" type="datetime1">
              <a:rPr lang="en-US" smtClean="0"/>
              <a:t>3/21/2026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8F2024-4C97-4951-A8CE-8611D58BD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9714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7AA7B-C911-416C-A8FF-2A4571195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Dijkstra’s Algorithm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B0259-CC34-41D4-827F-74EBAA7E47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Steps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sz="4000" dirty="0"/>
              <a:t>Assign every node a tentative distance value: 0 for the source, ∞ for all others.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4000" dirty="0"/>
              <a:t>Set the source node as current.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4000" dirty="0"/>
              <a:t>For the current node, consider all unvisited neighbors. Calculate tentative distances through the current node.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4000" dirty="0"/>
              <a:t>If the calculated distance is less than the current recorded distance, update it.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4000" dirty="0"/>
              <a:t>Mark the current node as visited (we now know the shortest distance to it).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4000" dirty="0"/>
              <a:t>If there are unvisited nodes left, select the unvisited node with the smallest tentative distance as the new current node.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4000" dirty="0"/>
              <a:t>Repeat steps 3–6 until all nodes are visited.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F15DA3-6EB0-4F3A-8503-2CAF55DBD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AA68D-B223-4DDA-8451-A09C956A3143}" type="datetime1">
              <a:rPr lang="en-US" smtClean="0"/>
              <a:t>3/21/2026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D192FE-BE5D-4FD6-B128-D9162E3BA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7514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D1069-13D2-46C6-9BEC-F8706ECD8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058"/>
            <a:ext cx="8229600" cy="578117"/>
          </a:xfrm>
        </p:spPr>
        <p:txBody>
          <a:bodyPr>
            <a:normAutofit fontScale="90000"/>
          </a:bodyPr>
          <a:lstStyle/>
          <a:p>
            <a:r>
              <a:rPr lang="en-US" dirty="0"/>
              <a:t>Dijkstra’s Algorithm Pseudocode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315FB-55A0-4A42-A390-B8963DC193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06348"/>
            <a:ext cx="8229600" cy="592048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Algorithm Dijkstra(Graph, source)</a:t>
            </a:r>
          </a:p>
          <a:p>
            <a:pPr marL="0" indent="0">
              <a:buNone/>
            </a:pPr>
            <a:r>
              <a:rPr lang="en-US" sz="1800" dirty="0"/>
              <a:t>    Input: Graph with nodes and weighted edges, source node</a:t>
            </a:r>
          </a:p>
          <a:p>
            <a:pPr marL="0" indent="0">
              <a:buNone/>
            </a:pPr>
            <a:r>
              <a:rPr lang="en-US" sz="1800" dirty="0"/>
              <a:t>    Output: Shortest distance from source to all other nodes</a:t>
            </a:r>
          </a:p>
          <a:p>
            <a:pPr marL="0" indent="0">
              <a:buNone/>
            </a:pPr>
            <a:r>
              <a:rPr lang="en-US" sz="1800" dirty="0"/>
              <a:t>    1. Create a set of unvisited nodes, Unvisited = all nodes in Graph</a:t>
            </a:r>
          </a:p>
          <a:p>
            <a:pPr marL="0" indent="0">
              <a:buNone/>
            </a:pPr>
            <a:r>
              <a:rPr lang="en-US" sz="1800" dirty="0"/>
              <a:t>    2. For each node n in Graph</a:t>
            </a:r>
          </a:p>
          <a:p>
            <a:pPr marL="0" indent="0">
              <a:buNone/>
            </a:pPr>
            <a:r>
              <a:rPr lang="en-US" sz="1800" dirty="0"/>
              <a:t>           distance[n] = ∞       // tentative distance</a:t>
            </a:r>
          </a:p>
          <a:p>
            <a:pPr marL="0" indent="0">
              <a:buNone/>
            </a:pPr>
            <a:r>
              <a:rPr lang="en-US" sz="1800" dirty="0"/>
              <a:t>           previous[n] = undefined  // to store the path</a:t>
            </a:r>
          </a:p>
          <a:p>
            <a:pPr marL="0" indent="0">
              <a:buNone/>
            </a:pPr>
            <a:r>
              <a:rPr lang="en-US" sz="1800" dirty="0"/>
              <a:t>    3. distance[source] = 0      // distance to itself is 0</a:t>
            </a:r>
          </a:p>
          <a:p>
            <a:pPr marL="0" indent="0">
              <a:buNone/>
            </a:pPr>
            <a:r>
              <a:rPr lang="en-US" sz="1800" dirty="0"/>
              <a:t>    4. While Unvisited is not empty</a:t>
            </a:r>
          </a:p>
          <a:p>
            <a:pPr marL="0" indent="0">
              <a:buNone/>
            </a:pPr>
            <a:r>
              <a:rPr lang="en-US" sz="1800" dirty="0"/>
              <a:t>        a. current = node in Unvisited with smallest distance</a:t>
            </a:r>
          </a:p>
          <a:p>
            <a:pPr marL="0" indent="0">
              <a:buNone/>
            </a:pPr>
            <a:r>
              <a:rPr lang="en-US" sz="1800" dirty="0"/>
              <a:t>        b. For each neighbor n of current that is in Unvisited:</a:t>
            </a:r>
          </a:p>
          <a:p>
            <a:pPr marL="0" indent="0">
              <a:buNone/>
            </a:pPr>
            <a:r>
              <a:rPr lang="en-US" sz="1800" dirty="0"/>
              <a:t>            </a:t>
            </a:r>
            <a:r>
              <a:rPr lang="en-US" sz="1800" dirty="0" err="1"/>
              <a:t>i</a:t>
            </a:r>
            <a:r>
              <a:rPr lang="en-US" sz="1800" dirty="0"/>
              <a:t>. alt = distance[current] + weight(current, n)</a:t>
            </a:r>
          </a:p>
          <a:p>
            <a:pPr marL="0" indent="0">
              <a:buNone/>
            </a:pPr>
            <a:r>
              <a:rPr lang="en-US" sz="1800" dirty="0"/>
              <a:t>            ii. If alt &lt; distance[n]</a:t>
            </a:r>
          </a:p>
          <a:p>
            <a:pPr marL="0" indent="0">
              <a:buNone/>
            </a:pPr>
            <a:r>
              <a:rPr lang="en-US" sz="1800" dirty="0"/>
              <a:t>                    distance[n] = alt</a:t>
            </a:r>
          </a:p>
          <a:p>
            <a:pPr marL="0" indent="0">
              <a:buNone/>
            </a:pPr>
            <a:r>
              <a:rPr lang="en-US" sz="1800" dirty="0"/>
              <a:t>                    previous[n] = current</a:t>
            </a:r>
          </a:p>
          <a:p>
            <a:pPr marL="0" indent="0">
              <a:buNone/>
            </a:pPr>
            <a:r>
              <a:rPr lang="en-US" sz="1800" dirty="0"/>
              <a:t>        c. Remove current from Unvisited</a:t>
            </a:r>
          </a:p>
          <a:p>
            <a:pPr marL="0" indent="0">
              <a:buNone/>
            </a:pPr>
            <a:r>
              <a:rPr lang="en-US" sz="1800" dirty="0"/>
              <a:t>    5. Return</a:t>
            </a:r>
          </a:p>
          <a:p>
            <a:pPr marL="0" indent="0">
              <a:buNone/>
            </a:pPr>
            <a:r>
              <a:rPr lang="en-US" sz="1800" dirty="0"/>
              <a:t> distance[], previous[]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572C7-EDDC-4A72-B182-DB5C5389E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D2BE0-89A3-4F6F-A356-3C6E6E95AC0D}" type="datetime1">
              <a:rPr lang="en-US" smtClean="0"/>
              <a:t>3/21/2026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AF078A-DDFE-4804-889A-D445E7913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9454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A*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A* (A-star) is a search algorithm used to find the shortest path from a start point to a goal while avoiding obstacles.</a:t>
            </a:r>
          </a:p>
          <a:p>
            <a:r>
              <a:rPr lang="en-US" dirty="0"/>
              <a:t>Always move in the direction that looks cheapest AND closest to the goal.</a:t>
            </a:r>
          </a:p>
          <a:p>
            <a:r>
              <a:rPr dirty="0"/>
              <a:t>f(n) = g(n) + h(n)</a:t>
            </a:r>
            <a:r>
              <a:rPr lang="en-US" dirty="0"/>
              <a:t>, where </a:t>
            </a:r>
          </a:p>
          <a:p>
            <a:pPr lvl="1"/>
            <a:r>
              <a:rPr lang="en-US" dirty="0"/>
              <a:t>g(n) is cost from </a:t>
            </a:r>
            <a:r>
              <a:rPr lang="en-US" b="1" dirty="0"/>
              <a:t>start → current node</a:t>
            </a:r>
          </a:p>
          <a:p>
            <a:pPr lvl="1"/>
            <a:r>
              <a:rPr lang="en-US" dirty="0"/>
              <a:t> h(n) is estimated cost from </a:t>
            </a:r>
            <a:r>
              <a:rPr lang="en-US" b="1" dirty="0"/>
              <a:t>current → goal</a:t>
            </a:r>
            <a:r>
              <a:rPr lang="en-US" dirty="0"/>
              <a:t> (heuristic - shortcut that is usually good enough)</a:t>
            </a:r>
          </a:p>
          <a:p>
            <a:pPr lvl="1"/>
            <a:r>
              <a:rPr lang="en-US" dirty="0"/>
              <a:t>Total estimated cost</a:t>
            </a:r>
            <a:endParaRPr dirty="0"/>
          </a:p>
          <a:p>
            <a:r>
              <a:rPr lang="en-US" dirty="0"/>
              <a:t>A* chooses the node with the </a:t>
            </a:r>
            <a:r>
              <a:rPr lang="en-US" b="1" dirty="0"/>
              <a:t>smallest f(n)</a:t>
            </a:r>
            <a:endParaRPr lang="en-US" dirty="0"/>
          </a:p>
          <a:p>
            <a:r>
              <a:rPr dirty="0"/>
              <a:t>Heuristic must be admissible</a:t>
            </a:r>
          </a:p>
          <a:p>
            <a:r>
              <a:rPr dirty="0"/>
              <a:t>Efficient shortest path search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FC1ED8-6233-49AE-B1C3-E6733FB57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0E81-665A-4FB2-AE8F-372B3B777747}" type="datetime1">
              <a:rPr lang="en-US" smtClean="0"/>
              <a:t>3/21/2026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2986FD-5DC9-4543-8ADD-C4A2706AF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3CD07-0625-4A96-8615-1566F0F40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How A* Works (Step-by-Step)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89C0D-B526-4B8F-95A0-5DDEFC54B6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Step 1. Initialize</a:t>
            </a:r>
          </a:p>
          <a:p>
            <a:pPr lvl="1"/>
            <a:r>
              <a:rPr lang="en-US" dirty="0"/>
              <a:t>Put </a:t>
            </a:r>
            <a:r>
              <a:rPr lang="en-US" b="1" dirty="0"/>
              <a:t>start node</a:t>
            </a:r>
            <a:r>
              <a:rPr lang="en-US" dirty="0"/>
              <a:t> in OPEN list </a:t>
            </a:r>
          </a:p>
          <a:p>
            <a:pPr lvl="1"/>
            <a:r>
              <a:rPr lang="en-US" dirty="0"/>
              <a:t>CLOSED list = empty</a:t>
            </a:r>
          </a:p>
          <a:p>
            <a:pPr marL="0" indent="0">
              <a:buNone/>
            </a:pPr>
            <a:r>
              <a:rPr lang="en-US" b="1" dirty="0"/>
              <a:t>Step 2. Repeat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Pick node with </a:t>
            </a:r>
            <a:r>
              <a:rPr lang="en-US" b="1" dirty="0"/>
              <a:t>lowest f(n)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Move it to CLOSED list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Expand its neighbors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Update costs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Add neighbors to OPEN list</a:t>
            </a:r>
          </a:p>
          <a:p>
            <a:pPr marL="0" indent="0">
              <a:buNone/>
            </a:pPr>
            <a:r>
              <a:rPr lang="en-US" b="1" dirty="0"/>
              <a:t>Step 3. Stop</a:t>
            </a:r>
          </a:p>
          <a:p>
            <a:pPr lvl="1"/>
            <a:r>
              <a:rPr lang="en-US" dirty="0"/>
              <a:t>When the </a:t>
            </a:r>
            <a:r>
              <a:rPr lang="en-US" b="1" dirty="0"/>
              <a:t>goal node is reached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0105D9-6FC7-4C2B-B527-939FE3310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B1F68-C449-4013-A7D7-DE96C07BAC64}" type="datetime1">
              <a:rPr lang="en-US" smtClean="0"/>
              <a:t>3/21/2026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3CD80F-77C2-442B-B322-FD55FBE0B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6405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D4FA4-EBC8-4FC1-9A1E-B7E5780A9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Example, Grid-Based Robot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C0395-632D-4734-ABFC-07E8CBA19CF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 = Start (0,0), G = Goal (4,4), X = Obstacle</a:t>
            </a:r>
          </a:p>
          <a:p>
            <a:pPr marL="0" indent="0">
              <a:buNone/>
            </a:pPr>
            <a:r>
              <a:rPr lang="en-US" sz="2400" dirty="0"/>
              <a:t>S  .   .   .  .</a:t>
            </a:r>
            <a:br>
              <a:rPr lang="en-US" sz="2400" dirty="0"/>
            </a:br>
            <a:r>
              <a:rPr lang="en-US" sz="2400" dirty="0"/>
              <a:t>.  X  </a:t>
            </a:r>
            <a:r>
              <a:rPr lang="en-US" sz="2400" dirty="0" err="1"/>
              <a:t>X</a:t>
            </a:r>
            <a:r>
              <a:rPr lang="en-US" sz="2400" dirty="0"/>
              <a:t>  .   .</a:t>
            </a:r>
            <a:br>
              <a:rPr lang="en-US" sz="2400" dirty="0"/>
            </a:br>
            <a:r>
              <a:rPr lang="en-US" sz="2400" dirty="0"/>
              <a:t>.   .   .   X .</a:t>
            </a:r>
            <a:br>
              <a:rPr lang="en-US" sz="2400" dirty="0"/>
            </a:br>
            <a:r>
              <a:rPr lang="en-US" sz="2400" dirty="0"/>
              <a:t>.  X   .   .  .</a:t>
            </a:r>
            <a:br>
              <a:rPr lang="en-US" sz="2400" dirty="0"/>
            </a:br>
            <a:r>
              <a:rPr lang="en-US" sz="2400" dirty="0"/>
              <a:t>.   .   .   .  G</a:t>
            </a:r>
          </a:p>
          <a:p>
            <a:r>
              <a:rPr lang="en-US" sz="2800" dirty="0"/>
              <a:t>h(n) = ∣</a:t>
            </a:r>
            <a:r>
              <a:rPr lang="en-US" sz="2800" dirty="0" err="1"/>
              <a:t>xgoal</a:t>
            </a:r>
            <a:r>
              <a:rPr lang="en-US" sz="2800" dirty="0"/>
              <a:t>​−x∣ + ∣</a:t>
            </a:r>
            <a:r>
              <a:rPr lang="en-US" sz="2800" dirty="0" err="1"/>
              <a:t>ygoal</a:t>
            </a:r>
            <a:r>
              <a:rPr lang="en-US" sz="2800" dirty="0"/>
              <a:t> ​− y∣, called </a:t>
            </a:r>
            <a:r>
              <a:rPr lang="en-US" sz="2800" b="1" dirty="0"/>
              <a:t>Manhattan distance</a:t>
            </a:r>
          </a:p>
          <a:p>
            <a:endParaRPr lang="en-US" sz="2800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632133-D920-42AE-84B3-C9B6D55F76D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Initially, g=0, </a:t>
            </a:r>
          </a:p>
          <a:p>
            <a:pPr lvl="1"/>
            <a:r>
              <a:rPr lang="en-US" dirty="0"/>
              <a:t> h(n)= (4-0)+(4-0)=8</a:t>
            </a:r>
          </a:p>
          <a:p>
            <a:pPr lvl="1"/>
            <a:r>
              <a:rPr lang="en-US" dirty="0"/>
              <a:t> f(n) = 0 + 8 = 8</a:t>
            </a:r>
          </a:p>
          <a:p>
            <a:r>
              <a:rPr lang="en-US" dirty="0"/>
              <a:t>Expand neighbor from (0,0) to (1,0) and (0,1)</a:t>
            </a:r>
          </a:p>
          <a:p>
            <a:r>
              <a:rPr lang="en-US" dirty="0"/>
              <a:t>Node (1,0), g=1</a:t>
            </a:r>
          </a:p>
          <a:p>
            <a:pPr lvl="1"/>
            <a:r>
              <a:rPr lang="en-US" dirty="0"/>
              <a:t>h(n)= (4-1)+(4-0)=7</a:t>
            </a:r>
          </a:p>
          <a:p>
            <a:pPr lvl="1"/>
            <a:r>
              <a:rPr lang="en-US" dirty="0"/>
              <a:t> f(n) = 1 + 7 = 8</a:t>
            </a:r>
          </a:p>
          <a:p>
            <a:r>
              <a:rPr lang="en-US" dirty="0"/>
              <a:t>Node (1,0), g=1 (moved one step from 0,0 to 0,1</a:t>
            </a:r>
          </a:p>
          <a:p>
            <a:pPr lvl="1"/>
            <a:r>
              <a:rPr lang="en-US" dirty="0"/>
              <a:t>h(n)= (4-0)+(4-1)=7</a:t>
            </a:r>
          </a:p>
          <a:p>
            <a:pPr lvl="1"/>
            <a:r>
              <a:rPr lang="en-US" dirty="0"/>
              <a:t> f(n) = 1 + 7 = 8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B0DE2A-72CD-468D-88B9-36E92802F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2CE7C-A211-4336-9CC1-C1BD4845519E}" type="datetime1">
              <a:rPr lang="en-US" smtClean="0"/>
              <a:t>3/21/2026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DA38F-6E69-442C-B416-B58D18B19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1656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FE28DB0-7656-4440-A9B4-7C25C31D1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A* is Powerful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1AD542-CB7A-43DA-8339-F9774E0EE9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It combines:</a:t>
            </a:r>
          </a:p>
          <a:p>
            <a:pPr lvl="1"/>
            <a:r>
              <a:rPr lang="en-US" b="1" dirty="0"/>
              <a:t>Dijkstra</a:t>
            </a:r>
            <a:r>
              <a:rPr lang="en-US" dirty="0"/>
              <a:t> → shortest path </a:t>
            </a:r>
          </a:p>
          <a:p>
            <a:pPr lvl="1"/>
            <a:r>
              <a:rPr lang="en-US" b="1" dirty="0"/>
              <a:t>Greedy search</a:t>
            </a:r>
            <a:r>
              <a:rPr lang="en-US" dirty="0"/>
              <a:t> → goal-directed</a:t>
            </a:r>
          </a:p>
          <a:p>
            <a:r>
              <a:rPr lang="en-US" b="1" dirty="0"/>
              <a:t>Heuristic Importance</a:t>
            </a:r>
          </a:p>
          <a:p>
            <a:r>
              <a:rPr lang="en-US" b="1" dirty="0"/>
              <a:t>Good heuristic- </a:t>
            </a:r>
            <a:r>
              <a:rPr lang="en-US" dirty="0"/>
              <a:t>speeds up search and gives optimal path </a:t>
            </a:r>
          </a:p>
          <a:p>
            <a:r>
              <a:rPr lang="en-US" b="1" dirty="0"/>
              <a:t>Bad heuristic- </a:t>
            </a:r>
            <a:r>
              <a:rPr lang="en-US" dirty="0"/>
              <a:t>slows down and may give wrong path</a:t>
            </a:r>
          </a:p>
          <a:p>
            <a:r>
              <a:rPr lang="en-US" b="1" dirty="0"/>
              <a:t>Condition - </a:t>
            </a:r>
            <a:r>
              <a:rPr lang="en-US" dirty="0"/>
              <a:t>h(n)≤true cost, called </a:t>
            </a:r>
            <a:r>
              <a:rPr lang="en-US" b="1" dirty="0"/>
              <a:t>admissible heuristic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D23520-A1CE-4610-8190-82A3580F3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62CF8-700F-4F47-AF03-83AD7593AA31}" type="datetime1">
              <a:rPr lang="en-US" smtClean="0"/>
              <a:t>3/21/2026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E0F7F36-32A3-4357-AB90-281298915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1233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40E42-2E3D-4B0C-BC80-C6D061005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10788-1F7A-4E46-ACCE-CAC739D27D9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err="1"/>
              <a:t>open_list</a:t>
            </a:r>
            <a:r>
              <a:rPr lang="en-US" dirty="0"/>
              <a:t> = [start]</a:t>
            </a:r>
          </a:p>
          <a:p>
            <a:pPr marL="0" indent="0">
              <a:buNone/>
            </a:pPr>
            <a:r>
              <a:rPr lang="en-US" dirty="0" err="1"/>
              <a:t>closed_list</a:t>
            </a:r>
            <a:r>
              <a:rPr lang="en-US" dirty="0"/>
              <a:t> = []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while </a:t>
            </a:r>
            <a:r>
              <a:rPr lang="en-US" dirty="0" err="1"/>
              <a:t>open_list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current = </a:t>
            </a:r>
            <a:r>
              <a:rPr lang="en-US" dirty="0" err="1"/>
              <a:t>node_with_lowest_f</a:t>
            </a:r>
            <a:r>
              <a:rPr lang="en-US" dirty="0"/>
              <a:t>()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if current == goal:</a:t>
            </a:r>
          </a:p>
          <a:p>
            <a:pPr marL="0" indent="0">
              <a:buNone/>
            </a:pPr>
            <a:r>
              <a:rPr lang="en-US" dirty="0"/>
              <a:t>        return path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move current to </a:t>
            </a:r>
            <a:r>
              <a:rPr lang="en-US" dirty="0" err="1"/>
              <a:t>closed_list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for neighbor in neighbors:</a:t>
            </a:r>
          </a:p>
          <a:p>
            <a:pPr marL="0" indent="0">
              <a:buNone/>
            </a:pPr>
            <a:r>
              <a:rPr lang="en-US" dirty="0"/>
              <a:t>        compute g, h, f</a:t>
            </a:r>
          </a:p>
          <a:p>
            <a:pPr marL="0" indent="0">
              <a:buNone/>
            </a:pPr>
            <a:r>
              <a:rPr lang="en-US" dirty="0"/>
              <a:t>        update parent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F3D883-5BDD-4A5F-98D2-0BFDB079817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Robotics Applications</a:t>
            </a:r>
          </a:p>
          <a:p>
            <a:r>
              <a:rPr lang="en-US" sz="4000" dirty="0"/>
              <a:t>A* is used in:</a:t>
            </a:r>
          </a:p>
          <a:p>
            <a:r>
              <a:rPr lang="en-US" sz="4000" dirty="0"/>
              <a:t>mobile robot navigation </a:t>
            </a:r>
          </a:p>
          <a:p>
            <a:r>
              <a:rPr lang="en-US" sz="4000" dirty="0"/>
              <a:t>autonomous vehicles </a:t>
            </a:r>
          </a:p>
          <a:p>
            <a:r>
              <a:rPr lang="en-US" sz="4000" dirty="0"/>
              <a:t>game AI </a:t>
            </a:r>
          </a:p>
          <a:p>
            <a:r>
              <a:rPr lang="en-US" sz="4000" dirty="0"/>
              <a:t>warehouse robots</a:t>
            </a:r>
          </a:p>
          <a:p>
            <a:endParaRPr lang="en-US" sz="4000" dirty="0"/>
          </a:p>
          <a:p>
            <a:pPr marL="0" indent="0">
              <a:buNone/>
            </a:pPr>
            <a:r>
              <a:rPr lang="en-US" sz="4000" b="1" dirty="0"/>
              <a:t>Intuition</a:t>
            </a:r>
            <a:r>
              <a:rPr lang="en-US" sz="4000" dirty="0"/>
              <a:t>: A* finds the shortest path by balancing cost so far and estimated distance to the goal.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0A75C3-0F82-49BA-93B6-578A20BC0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8B80C-3415-40C1-8D8F-FB28AECFA9B3}" type="datetime1">
              <a:rPr lang="en-US" smtClean="0"/>
              <a:t>3/21/2026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F8C68C-8AF0-403D-8B16-7D7B9F785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8948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1DAA153-42F8-4B87-B22E-84A50393A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A* Algorithm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2BAE82D-C563-49F1-91CC-64933AA7CB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Advantages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D890078-30E9-4C89-9E8E-5DA851EF8AC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800" dirty="0"/>
              <a:t>Finds </a:t>
            </a:r>
            <a:r>
              <a:rPr lang="en-US" sz="2800" b="1" dirty="0"/>
              <a:t>optimal path</a:t>
            </a:r>
          </a:p>
          <a:p>
            <a:r>
              <a:rPr lang="en-US" sz="2800" dirty="0"/>
              <a:t>Efficient with good heuristic</a:t>
            </a:r>
          </a:p>
          <a:p>
            <a:r>
              <a:rPr lang="en-US" sz="2800" dirty="0"/>
              <a:t>Widely used</a:t>
            </a:r>
          </a:p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02C140F-2769-4F80-9776-583C467CA5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Disadvantages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ED030D2-D544-4E69-8255-EA9517ACDC6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sz="2800" dirty="0"/>
              <a:t>Can be slow in large spaces</a:t>
            </a:r>
          </a:p>
          <a:p>
            <a:r>
              <a:rPr lang="en-US" sz="2800" dirty="0"/>
              <a:t> Needs good heuristic</a:t>
            </a:r>
          </a:p>
          <a:p>
            <a:r>
              <a:rPr lang="en-US" sz="2800" dirty="0"/>
              <a:t>High memory usage</a:t>
            </a:r>
          </a:p>
          <a:p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B23C916-AFF4-48A3-95C6-4F5E7246F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B551B-E83B-45A4-BB81-0FE4C7BF3FCD}" type="datetime1">
              <a:rPr lang="en-US" smtClean="0"/>
              <a:t>3/21/2026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DD2C875-3AB5-4E4F-8F71-1BAE7EB77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307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DFF9A45E-7344-401E-BC12-F7DCFAE29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BFS </a:t>
            </a:r>
            <a:r>
              <a:rPr lang="en-US" dirty="0"/>
              <a:t>(Breadth-First Search)</a:t>
            </a:r>
            <a:r>
              <a:rPr lang="en-US" b="1" dirty="0"/>
              <a:t> in Path Planning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5BCB35B-DE7B-46B6-879F-D17D6E00F9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Purpose</a:t>
            </a:r>
            <a:endParaRPr lang="en-US" dirty="0"/>
          </a:p>
          <a:p>
            <a:pPr lvl="1"/>
            <a:r>
              <a:rPr lang="en-US" dirty="0"/>
              <a:t>BFS is used to find the </a:t>
            </a:r>
            <a:r>
              <a:rPr lang="en-US" b="1" dirty="0"/>
              <a:t>shortest path in an unweighted graph or grid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Guarantees the </a:t>
            </a:r>
            <a:r>
              <a:rPr lang="en-US" b="1" dirty="0"/>
              <a:t>minimum number of steps</a:t>
            </a:r>
            <a:r>
              <a:rPr lang="en-US" dirty="0"/>
              <a:t> (not necessarily the shortest in distance if edges have weights). </a:t>
            </a:r>
          </a:p>
          <a:p>
            <a:pPr lvl="1"/>
            <a:r>
              <a:rPr lang="en-US" dirty="0"/>
              <a:t>Explores nodes </a:t>
            </a:r>
            <a:r>
              <a:rPr lang="en-US" b="1" dirty="0"/>
              <a:t>level by level</a:t>
            </a:r>
            <a:r>
              <a:rPr lang="en-US" dirty="0"/>
              <a:t> (all nodes at distance 1, then distance 2, etc.). </a:t>
            </a:r>
          </a:p>
          <a:p>
            <a:r>
              <a:rPr lang="en-US" b="1" dirty="0"/>
              <a:t>Key points for robotics</a:t>
            </a:r>
            <a:endParaRPr lang="en-US" dirty="0"/>
          </a:p>
          <a:p>
            <a:pPr lvl="1"/>
            <a:r>
              <a:rPr lang="en-US" dirty="0"/>
              <a:t>Grid-based maps are common (cells = nodes). </a:t>
            </a:r>
          </a:p>
          <a:p>
            <a:pPr lvl="1"/>
            <a:r>
              <a:rPr lang="en-US" dirty="0"/>
              <a:t>Obstacles are blocked cells. </a:t>
            </a:r>
          </a:p>
          <a:p>
            <a:pPr lvl="1"/>
            <a:r>
              <a:rPr lang="en-US" dirty="0"/>
              <a:t>BFS finds the </a:t>
            </a:r>
            <a:r>
              <a:rPr lang="en-US" b="1" dirty="0"/>
              <a:t>safest and shortest route in terms of steps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Often used in </a:t>
            </a:r>
            <a:r>
              <a:rPr lang="en-US" b="1" dirty="0"/>
              <a:t>discrete environments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50A908-3109-4B47-817E-8F12B18DB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3F82E-D327-4816-BEAE-C5C368AEA857}" type="datetime1">
              <a:rPr lang="en-US" smtClean="0"/>
              <a:t>3/21/2026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776AED-92AC-449C-8D00-A3DFEFEBA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2503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2231B-55B1-4190-9F68-7AB374625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Algorithm Steps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A120E-A07C-4D90-8121-7127D4B46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Initialize a </a:t>
            </a:r>
            <a:r>
              <a:rPr lang="en-US" b="1" dirty="0"/>
              <a:t>queue</a:t>
            </a:r>
            <a:r>
              <a:rPr lang="en-US" dirty="0"/>
              <a:t> and add the </a:t>
            </a:r>
            <a:r>
              <a:rPr lang="en-US" b="1" dirty="0"/>
              <a:t>start node</a:t>
            </a:r>
            <a:r>
              <a:rPr lang="en-US" dirty="0"/>
              <a:t>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Mark the start node as visited.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While the queue is not empty</a:t>
            </a:r>
            <a:br>
              <a:rPr lang="en-US" dirty="0"/>
            </a:br>
            <a:r>
              <a:rPr lang="en-US" dirty="0"/>
              <a:t>a. Remove the front node from the queue (current node).</a:t>
            </a:r>
            <a:br>
              <a:rPr lang="en-US" dirty="0"/>
            </a:br>
            <a:r>
              <a:rPr lang="en-US" dirty="0"/>
              <a:t>b. For each </a:t>
            </a:r>
            <a:r>
              <a:rPr lang="en-US" b="1" dirty="0"/>
              <a:t>neighbor</a:t>
            </a:r>
            <a:r>
              <a:rPr lang="en-US" dirty="0"/>
              <a:t> of the current node (up, down, left, right in a grid)</a:t>
            </a:r>
            <a:br>
              <a:rPr lang="en-US" dirty="0"/>
            </a:br>
            <a:r>
              <a:rPr lang="en-US" dirty="0"/>
              <a:t>- If the neighbor is </a:t>
            </a:r>
            <a:r>
              <a:rPr lang="en-US" b="1" dirty="0"/>
              <a:t>walkable</a:t>
            </a:r>
            <a:r>
              <a:rPr lang="en-US" dirty="0"/>
              <a:t> and </a:t>
            </a:r>
            <a:r>
              <a:rPr lang="en-US" b="1" dirty="0"/>
              <a:t>not visited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- Mark it as visited.</a:t>
            </a:r>
            <a:br>
              <a:rPr lang="en-US" dirty="0"/>
            </a:br>
            <a:r>
              <a:rPr lang="en-US" dirty="0"/>
              <a:t>- Store its </a:t>
            </a:r>
            <a:r>
              <a:rPr lang="en-US" b="1" dirty="0"/>
              <a:t>parent</a:t>
            </a:r>
            <a:r>
              <a:rPr lang="en-US" dirty="0"/>
              <a:t> (to reconstruct path).</a:t>
            </a:r>
            <a:br>
              <a:rPr lang="en-US" dirty="0"/>
            </a:br>
            <a:r>
              <a:rPr lang="en-US" dirty="0"/>
              <a:t>- Add it to the queue.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If the </a:t>
            </a:r>
            <a:r>
              <a:rPr lang="en-US" b="1" dirty="0"/>
              <a:t>goal node</a:t>
            </a:r>
            <a:r>
              <a:rPr lang="en-US" dirty="0"/>
              <a:t> is reached, reconstruct the path using the parents.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BC311B-7D73-4572-8501-CA3E77E8F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FE50D-69FE-43E5-9B44-FD3C1864D238}" type="datetime1">
              <a:rPr lang="en-US" smtClean="0"/>
              <a:t>3/21/2026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B0704F-A6F3-4622-ABDF-91A4A761A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1636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8A3E9-86A2-462C-AF9A-3243751C3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Sampling-Based Path Planning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3BD34-C50A-4843-A854-3C84C90B78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Instead of explicitly modeling all free space, we, sampling based path planning</a:t>
            </a:r>
          </a:p>
          <a:p>
            <a:pPr lvl="1"/>
            <a:r>
              <a:rPr lang="en-US" dirty="0"/>
              <a:t>Randomly sample configurations </a:t>
            </a:r>
          </a:p>
          <a:p>
            <a:pPr lvl="1"/>
            <a:r>
              <a:rPr lang="en-US" dirty="0"/>
              <a:t>Keep only collision-free samples </a:t>
            </a:r>
          </a:p>
          <a:p>
            <a:pPr lvl="1"/>
            <a:r>
              <a:rPr lang="en-US" dirty="0"/>
              <a:t>Connect them to form a graph or tree </a:t>
            </a:r>
          </a:p>
          <a:p>
            <a:pPr lvl="1"/>
            <a:r>
              <a:rPr lang="en-US" dirty="0"/>
              <a:t>Search for a path</a:t>
            </a:r>
          </a:p>
          <a:p>
            <a:r>
              <a:rPr lang="en-US" dirty="0"/>
              <a:t>Don’t map everything, just explore enough of the space to find a path</a:t>
            </a:r>
          </a:p>
          <a:p>
            <a:r>
              <a:rPr lang="en-US" dirty="0"/>
              <a:t>There are two Sampling-Based Methods</a:t>
            </a:r>
          </a:p>
          <a:p>
            <a:pPr lvl="1"/>
            <a:r>
              <a:rPr lang="en-US" dirty="0"/>
              <a:t>Rapidly-Exploring Random Tree (RRT)</a:t>
            </a:r>
          </a:p>
          <a:p>
            <a:pPr lvl="1"/>
            <a:r>
              <a:rPr lang="en-US" dirty="0"/>
              <a:t>Probabilistic Roadmap (PRM)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C2ECA-6774-403C-92A6-F7E4CBD07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FE50D-69FE-43E5-9B44-FD3C1864D238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669A40-8DBB-4A17-AAA6-03380C484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0375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87170-81D4-44DB-BD75-1D18103C7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74" y="274638"/>
            <a:ext cx="8335926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Rapidly-Exploring Random Trees (RRT)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49CC49-193A-4802-B04F-669B711A4B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Grow a tree from the start toward random samples</a:t>
                </a:r>
              </a:p>
              <a:p>
                <a:r>
                  <a:rPr lang="en-US" b="1" dirty="0"/>
                  <a:t>Steps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Start from </a:t>
                </a:r>
                <a:r>
                  <a:rPr lang="en-US" dirty="0" err="1"/>
                  <a:t>qstart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𝑠𝑡𝑎𝑟𝑡</m:t>
                        </m:r>
                      </m:sub>
                    </m:sSub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𝑟𝑎𝑛𝑑</m:t>
                        </m:r>
                      </m:sub>
                    </m:sSub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Find nearest node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Extend toward sample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Add node if safe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49CC49-193A-4802-B04F-669B711A4B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926" t="-2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30C8A-790F-4FF2-81D8-B551A9A3C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FE50D-69FE-43E5-9B44-FD3C1864D238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9511BA-5CC3-4EF9-A08A-AAC018B5D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3179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0A6CF-BFA3-45C5-9E95-359B1B11A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609" y="274638"/>
            <a:ext cx="8357191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Rapidly-Exploring Random Trees (RRT)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3BB16-4D6B-4129-B859-E7F739263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Rapidly-Exploring Random Trees (RRT)</a:t>
            </a:r>
            <a:r>
              <a:rPr lang="en-US" dirty="0"/>
              <a:t> are fundamental for motion planning in robotics, especially for </a:t>
            </a:r>
            <a:r>
              <a:rPr lang="en-US" b="1" dirty="0"/>
              <a:t>high-dimensional systems</a:t>
            </a:r>
            <a:r>
              <a:rPr lang="en-US" dirty="0"/>
              <a:t> like robot arms</a:t>
            </a:r>
          </a:p>
          <a:p>
            <a:r>
              <a:rPr lang="en-US" dirty="0"/>
              <a:t>RRT is a </a:t>
            </a:r>
            <a:r>
              <a:rPr lang="en-US" b="1" dirty="0"/>
              <a:t>sampling-based path planning algorithm</a:t>
            </a:r>
            <a:r>
              <a:rPr lang="en-US" dirty="0"/>
              <a:t> that builds a tree by:</a:t>
            </a:r>
          </a:p>
          <a:p>
            <a:pPr lvl="1"/>
            <a:r>
              <a:rPr lang="en-US" dirty="0"/>
              <a:t>Randomly sampling points in space </a:t>
            </a:r>
          </a:p>
          <a:p>
            <a:pPr lvl="1"/>
            <a:r>
              <a:rPr lang="en-US" dirty="0"/>
              <a:t>Connecting them to the nearest existing node </a:t>
            </a:r>
          </a:p>
          <a:p>
            <a:pPr lvl="1"/>
            <a:r>
              <a:rPr lang="en-US" dirty="0"/>
              <a:t>Growing toward unexplored regions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0348F0-1078-45B2-A34E-7C65C11BD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FE50D-69FE-43E5-9B44-FD3C1864D238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7EF580-E941-4FE6-ADDD-29628D2E2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2328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09D14-D225-4160-8657-79CD385C3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Rapidly-Exploring Random Trees </a:t>
            </a:r>
            <a:r>
              <a:rPr lang="en-US" dirty="0"/>
              <a:t>RRT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D2617-6C20-468B-AEEC-F21234FA6E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977" y="1600200"/>
            <a:ext cx="4603897" cy="452596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Grow a tree from the start by randomly exploring the space until you reach the goal.</a:t>
            </a:r>
          </a:p>
          <a:p>
            <a:r>
              <a:rPr lang="en-US" dirty="0"/>
              <a:t>RRT algorithm is a single-query method that quickly generates a route by finding the destination while expanding the roadmap from the starting point.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24D9E7-3794-4CF9-A878-26253EFD7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FE50D-69FE-43E5-9B44-FD3C1864D238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62CBF6-6C51-4045-8E3E-18E5F86E9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29B48C-4F54-4AC5-87FC-02E0135A0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9880" y="1600200"/>
            <a:ext cx="4067808" cy="3194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3213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66A8C-464F-4363-ACB5-604C5514F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FE50D-69FE-43E5-9B44-FD3C1864D238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999418-6BE8-4F97-B73D-990058004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30</a:t>
            </a:fld>
            <a:endParaRPr lang="en-US"/>
          </a:p>
        </p:txBody>
      </p:sp>
      <p:pic>
        <p:nvPicPr>
          <p:cNvPr id="8194" name="Picture 2" descr="PPT - Parallel, Probabilistic Path Planning PowerPoint Presentation, free download - ID:6851629">
            <a:extLst>
              <a:ext uri="{FF2B5EF4-FFF2-40B4-BE49-F238E27FC236}">
                <a16:creationId xmlns:a16="http://schemas.microsoft.com/office/drawing/2014/main" id="{911244E1-D80C-4770-B3A9-D2136C6A31B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282" y="170123"/>
            <a:ext cx="8337132" cy="6252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74888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A50F4E9-8E3E-4359-A803-BEE6777D74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9702" y="274850"/>
            <a:ext cx="5929971" cy="658315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B93C2E-C81D-45F8-8B41-055BA7F58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FE50D-69FE-43E5-9B44-FD3C1864D238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BEFA76-64B4-4CE1-883D-89EACD8B3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9407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Sampling-Based Planning (RRT)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Rapidly‑exploring Random Tree (RRT)</a:t>
            </a:r>
          </a:p>
          <a:p>
            <a:pPr lvl="0"/>
            <a:r>
              <a:rPr lang="en-US" dirty="0"/>
              <a:t>Grow a tree by randomly sampling configurations and extending toward them.</a:t>
            </a:r>
          </a:p>
          <a:p>
            <a:r>
              <a:rPr lang="en-US" dirty="0"/>
              <a:t>Properties</a:t>
            </a:r>
          </a:p>
          <a:p>
            <a:pPr lvl="1"/>
            <a:r>
              <a:rPr lang="en-US" dirty="0"/>
              <a:t>Probabilistically complete</a:t>
            </a:r>
          </a:p>
          <a:p>
            <a:pPr lvl="1"/>
            <a:r>
              <a:rPr lang="en-US" dirty="0"/>
              <a:t>Random sampling + tree expansion</a:t>
            </a:r>
          </a:p>
          <a:p>
            <a:pPr lvl="1"/>
            <a:r>
              <a:rPr lang="en-US" dirty="0"/>
              <a:t>Variants: RRT*, Informed RRT for optimality</a:t>
            </a:r>
          </a:p>
          <a:p>
            <a:r>
              <a:rPr dirty="0"/>
              <a:t>Good for high-dimensional spaces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8A8CA-63E4-4F55-89CB-C4D922304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C5397-04CD-4733-8894-0620C932CE91}" type="datetime1">
              <a:rPr lang="en-US" smtClean="0"/>
              <a:t>3/21/2026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EBDD2C-16C5-4F1A-BA0A-DE64F5BE3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44F25-F93C-42BF-8C61-2400F5880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RRT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58125-F620-4173-959C-BEF950ACE1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altLang="en-US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Every node is connected to another node called a “parent”, and the start point becomes the root. 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en-US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sample node (</a:t>
            </a:r>
            <a:r>
              <a:rPr lang="en-US" altLang="en-US" sz="3600" dirty="0">
                <a:solidFill>
                  <a:srgbClr val="222222"/>
                </a:solidFill>
                <a:latin typeface="GyrePagellaMathJax_Normal"/>
                <a:cs typeface="Arial" panose="020B0604020202020204" pitchFamily="34" charset="0"/>
              </a:rPr>
              <a:t>𝑞</a:t>
            </a:r>
            <a:r>
              <a:rPr lang="en-US" altLang="en-US" sz="2200" dirty="0">
                <a:solidFill>
                  <a:srgbClr val="222222"/>
                </a:solidFill>
                <a:latin typeface="GyrePagellaMathJax_Normal"/>
                <a:cs typeface="Arial" panose="020B0604020202020204" pitchFamily="34" charset="0"/>
              </a:rPr>
              <a:t>𝑟𝑎𝑛𝑑</a:t>
            </a:r>
            <a:r>
              <a:rPr lang="en-US" altLang="en-US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is generated, and the closest node (</a:t>
            </a:r>
            <a:r>
              <a:rPr lang="en-US" altLang="en-US" sz="3600" dirty="0">
                <a:solidFill>
                  <a:srgbClr val="222222"/>
                </a:solidFill>
                <a:latin typeface="GyrePagellaMathJax_Normal"/>
                <a:cs typeface="Arial" panose="020B0604020202020204" pitchFamily="34" charset="0"/>
              </a:rPr>
              <a:t>𝑞</a:t>
            </a:r>
            <a:r>
              <a:rPr lang="en-US" altLang="en-US" sz="2200" dirty="0">
                <a:solidFill>
                  <a:srgbClr val="222222"/>
                </a:solidFill>
                <a:latin typeface="GyrePagellaMathJax_Normal"/>
                <a:cs typeface="Arial" panose="020B0604020202020204" pitchFamily="34" charset="0"/>
              </a:rPr>
              <a:t>𝑛𝑒𝑎𝑟</a:t>
            </a:r>
            <a:r>
              <a:rPr lang="en-US" altLang="en-US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from </a:t>
            </a:r>
            <a:r>
              <a:rPr lang="en-US" altLang="en-US" sz="3600" dirty="0">
                <a:solidFill>
                  <a:srgbClr val="222222"/>
                </a:solidFill>
                <a:latin typeface="GyrePagellaMathJax_Normal"/>
                <a:cs typeface="Arial" panose="020B0604020202020204" pitchFamily="34" charset="0"/>
              </a:rPr>
              <a:t>𝑞</a:t>
            </a:r>
            <a:r>
              <a:rPr lang="en-US" altLang="en-US" sz="2200" dirty="0">
                <a:solidFill>
                  <a:srgbClr val="222222"/>
                </a:solidFill>
                <a:latin typeface="GyrePagellaMathJax_Normal"/>
                <a:cs typeface="Arial" panose="020B0604020202020204" pitchFamily="34" charset="0"/>
              </a:rPr>
              <a:t>𝑟𝑎𝑛𝑑</a:t>
            </a:r>
            <a:r>
              <a:rPr lang="en-US" altLang="en-US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is found in the tree (a). 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en-US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node separated by distance (</a:t>
            </a:r>
            <a:r>
              <a:rPr lang="en-US" altLang="en-US" sz="3600" dirty="0">
                <a:solidFill>
                  <a:srgbClr val="222222"/>
                </a:solidFill>
                <a:latin typeface="GyrePagellaMathJax_Normal"/>
                <a:cs typeface="Arial" panose="020B0604020202020204" pitchFamily="34" charset="0"/>
              </a:rPr>
              <a:t>𝑟</a:t>
            </a:r>
            <a:r>
              <a:rPr lang="en-US" altLang="en-US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on a straight line connected from </a:t>
            </a:r>
            <a:r>
              <a:rPr lang="en-US" altLang="en-US" sz="3600" dirty="0">
                <a:solidFill>
                  <a:srgbClr val="222222"/>
                </a:solidFill>
                <a:latin typeface="GyrePagellaMathJax_Normal"/>
                <a:cs typeface="Arial" panose="020B0604020202020204" pitchFamily="34" charset="0"/>
              </a:rPr>
              <a:t>𝑞</a:t>
            </a:r>
            <a:r>
              <a:rPr lang="en-US" altLang="en-US" sz="2200" dirty="0">
                <a:solidFill>
                  <a:srgbClr val="222222"/>
                </a:solidFill>
                <a:latin typeface="GyrePagellaMathJax_Normal"/>
                <a:cs typeface="Arial" panose="020B0604020202020204" pitchFamily="34" charset="0"/>
              </a:rPr>
              <a:t>𝑛𝑒𝑎𝑟</a:t>
            </a:r>
            <a:r>
              <a:rPr lang="en-US" altLang="en-US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to </a:t>
            </a:r>
            <a:r>
              <a:rPr lang="en-US" altLang="en-US" sz="3600" dirty="0">
                <a:solidFill>
                  <a:srgbClr val="222222"/>
                </a:solidFill>
                <a:latin typeface="GyrePagellaMathJax_Normal"/>
                <a:cs typeface="Arial" panose="020B0604020202020204" pitchFamily="34" charset="0"/>
              </a:rPr>
              <a:t>𝑞</a:t>
            </a:r>
            <a:r>
              <a:rPr lang="en-US" altLang="en-US" sz="2200" dirty="0">
                <a:solidFill>
                  <a:srgbClr val="222222"/>
                </a:solidFill>
                <a:latin typeface="GyrePagellaMathJax_Normal"/>
                <a:cs typeface="Arial" panose="020B0604020202020204" pitchFamily="34" charset="0"/>
              </a:rPr>
              <a:t>𝑟𝑎𝑛𝑑</a:t>
            </a:r>
            <a:r>
              <a:rPr lang="en-US" altLang="en-US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is generated as a new node (</a:t>
            </a:r>
            <a:r>
              <a:rPr lang="en-US" altLang="en-US" sz="3600" dirty="0">
                <a:solidFill>
                  <a:srgbClr val="222222"/>
                </a:solidFill>
                <a:latin typeface="GyrePagellaMathJax_Normal"/>
                <a:cs typeface="Arial" panose="020B0604020202020204" pitchFamily="34" charset="0"/>
              </a:rPr>
              <a:t>𝑞</a:t>
            </a:r>
            <a:r>
              <a:rPr lang="en-US" altLang="en-US" sz="2200" dirty="0">
                <a:solidFill>
                  <a:srgbClr val="222222"/>
                </a:solidFill>
                <a:latin typeface="GyrePagellaMathJax_Normal"/>
                <a:cs typeface="Arial" panose="020B0604020202020204" pitchFamily="34" charset="0"/>
              </a:rPr>
              <a:t>𝑛𝑒𝑤</a:t>
            </a:r>
            <a:r>
              <a:rPr lang="en-US" altLang="en-US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(b). </a:t>
            </a:r>
          </a:p>
          <a:p>
            <a:pPr marL="742950" indent="-742950">
              <a:buFont typeface="+mj-lt"/>
              <a:buAutoNum type="arabicPeriod"/>
            </a:pPr>
            <a:r>
              <a:rPr lang="en-US" altLang="en-US" sz="3600" dirty="0">
                <a:solidFill>
                  <a:srgbClr val="222222"/>
                </a:solidFill>
                <a:latin typeface="GyrePagellaMathJax_Normal"/>
                <a:cs typeface="Arial" panose="020B0604020202020204" pitchFamily="34" charset="0"/>
              </a:rPr>
              <a:t>𝑞</a:t>
            </a:r>
            <a:r>
              <a:rPr lang="en-US" altLang="en-US" sz="2200" dirty="0">
                <a:solidFill>
                  <a:srgbClr val="222222"/>
                </a:solidFill>
                <a:latin typeface="GyrePagellaMathJax_Normal"/>
                <a:cs typeface="Arial" panose="020B0604020202020204" pitchFamily="34" charset="0"/>
              </a:rPr>
              <a:t>𝑛𝑒𝑤</a:t>
            </a:r>
            <a:r>
              <a:rPr lang="en-US" altLang="en-US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is then added to the tree if a straight line from </a:t>
            </a:r>
            <a:r>
              <a:rPr lang="en-US" altLang="en-US" sz="3600" dirty="0">
                <a:solidFill>
                  <a:srgbClr val="222222"/>
                </a:solidFill>
                <a:latin typeface="GyrePagellaMathJax_Normal"/>
                <a:cs typeface="Arial" panose="020B0604020202020204" pitchFamily="34" charset="0"/>
              </a:rPr>
              <a:t>𝑞</a:t>
            </a:r>
            <a:r>
              <a:rPr lang="en-US" altLang="en-US" sz="2200" dirty="0">
                <a:solidFill>
                  <a:srgbClr val="222222"/>
                </a:solidFill>
                <a:latin typeface="GyrePagellaMathJax_Normal"/>
                <a:cs typeface="Arial" panose="020B0604020202020204" pitchFamily="34" charset="0"/>
              </a:rPr>
              <a:t>𝑛𝑒𝑎𝑟</a:t>
            </a:r>
            <a:r>
              <a:rPr lang="en-US" altLang="en-US" sz="22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US" altLang="en-US" sz="3600" dirty="0">
                <a:solidFill>
                  <a:srgbClr val="222222"/>
                </a:solidFill>
                <a:latin typeface="GyrePagellaMathJax_Normal"/>
                <a:cs typeface="Arial" panose="020B0604020202020204" pitchFamily="34" charset="0"/>
              </a:rPr>
              <a:t>𝑞</a:t>
            </a:r>
            <a:r>
              <a:rPr lang="en-US" altLang="en-US" sz="2200" dirty="0">
                <a:solidFill>
                  <a:srgbClr val="222222"/>
                </a:solidFill>
                <a:latin typeface="GyrePagellaMathJax_Normal"/>
                <a:cs typeface="Arial" panose="020B0604020202020204" pitchFamily="34" charset="0"/>
              </a:rPr>
              <a:t>𝑛𝑒𝑤</a:t>
            </a:r>
            <a:r>
              <a:rPr lang="en-US" altLang="en-US" sz="22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8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does not collide with an obstacle. 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en-US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process is repeated (c). If the straight line from </a:t>
            </a:r>
            <a:r>
              <a:rPr lang="en-US" altLang="en-US" sz="3600" dirty="0">
                <a:solidFill>
                  <a:srgbClr val="222222"/>
                </a:solidFill>
                <a:latin typeface="GyrePagellaMathJax_Normal"/>
                <a:cs typeface="Arial" panose="020B0604020202020204" pitchFamily="34" charset="0"/>
              </a:rPr>
              <a:t>𝑞</a:t>
            </a:r>
            <a:r>
              <a:rPr lang="en-US" altLang="en-US" sz="2200" dirty="0">
                <a:solidFill>
                  <a:srgbClr val="222222"/>
                </a:solidFill>
                <a:latin typeface="GyrePagellaMathJax_Normal"/>
                <a:cs typeface="Arial" panose="020B0604020202020204" pitchFamily="34" charset="0"/>
              </a:rPr>
              <a:t>𝑛𝑒𝑎𝑟</a:t>
            </a:r>
            <a:r>
              <a:rPr lang="en-US" altLang="en-US" sz="22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US" altLang="en-US" i="1" dirty="0" err="1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n-US" altLang="en-US" i="1" baseline="-30000" dirty="0" err="1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</a:t>
            </a:r>
            <a:r>
              <a:rPr lang="en-US" altLang="en-US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collides with an obstacle in the tree-expanding step, the existing node </a:t>
            </a:r>
            <a:r>
              <a:rPr lang="en-US" altLang="en-US" sz="3600" dirty="0">
                <a:solidFill>
                  <a:srgbClr val="222222"/>
                </a:solidFill>
                <a:latin typeface="GyrePagellaMathJax_Normal"/>
                <a:cs typeface="Arial" panose="020B0604020202020204" pitchFamily="34" charset="0"/>
              </a:rPr>
              <a:t>𝑞</a:t>
            </a:r>
            <a:r>
              <a:rPr lang="en-US" altLang="en-US" sz="2200" dirty="0">
                <a:solidFill>
                  <a:srgbClr val="222222"/>
                </a:solidFill>
                <a:latin typeface="GyrePagellaMathJax_Normal"/>
                <a:cs typeface="Arial" panose="020B0604020202020204" pitchFamily="34" charset="0"/>
              </a:rPr>
              <a:t>𝑟𝑎𝑛𝑑</a:t>
            </a:r>
            <a:r>
              <a:rPr lang="en-US" altLang="en-US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is discarded (d), and a new node </a:t>
            </a:r>
            <a:r>
              <a:rPr lang="en-US" altLang="en-US" sz="3600" dirty="0">
                <a:solidFill>
                  <a:srgbClr val="222222"/>
                </a:solidFill>
                <a:latin typeface="GyrePagellaMathJax_Normal"/>
                <a:cs typeface="Arial" panose="020B0604020202020204" pitchFamily="34" charset="0"/>
              </a:rPr>
              <a:t>𝑞</a:t>
            </a:r>
            <a:r>
              <a:rPr lang="en-US" altLang="en-US" sz="2200" dirty="0">
                <a:solidFill>
                  <a:srgbClr val="222222"/>
                </a:solidFill>
                <a:latin typeface="GyrePagellaMathJax_Normal"/>
                <a:cs typeface="Arial" panose="020B0604020202020204" pitchFamily="34" charset="0"/>
              </a:rPr>
              <a:t>𝑟𝑎𝑛𝑑</a:t>
            </a:r>
            <a:r>
              <a:rPr lang="en-US" altLang="en-US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is generated. 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en-US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tree generation process is then repeated (e).</a:t>
            </a:r>
            <a:r>
              <a:rPr lang="en-US" altLang="en-US" sz="800" dirty="0"/>
              <a:t> </a:t>
            </a:r>
            <a:endParaRPr lang="en-US" altLang="en-US" sz="6600" dirty="0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B352C-04D6-427E-BBC9-220A6A23F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FE50D-69FE-43E5-9B44-FD3C1864D238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C1E29D-C90F-446D-BE75-C08456031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6840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DCE41A-FA17-4425-AB03-1CDC29D0F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FE50D-69FE-43E5-9B44-FD3C1864D238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30B627-5CFA-4883-8146-43B875921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34</a:t>
            </a:fld>
            <a:endParaRPr lang="en-US"/>
          </a:p>
        </p:txBody>
      </p:sp>
      <p:pic>
        <p:nvPicPr>
          <p:cNvPr id="11266" name="Picture 2" descr="Jmse 10 01800 g004">
            <a:extLst>
              <a:ext uri="{FF2B5EF4-FFF2-40B4-BE49-F238E27FC236}">
                <a16:creationId xmlns:a16="http://schemas.microsoft.com/office/drawing/2014/main" id="{80AAB859-132E-4B34-A49B-6492C0A1CE3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4856" y="83257"/>
            <a:ext cx="5438351" cy="6691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36BA4C-275E-40F5-9551-D65FCDFB1C8A}"/>
              </a:ext>
            </a:extLst>
          </p:cNvPr>
          <p:cNvSpPr txBox="1"/>
          <p:nvPr/>
        </p:nvSpPr>
        <p:spPr>
          <a:xfrm>
            <a:off x="283343" y="1222744"/>
            <a:ext cx="19749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RRT Algorithm</a:t>
            </a:r>
          </a:p>
        </p:txBody>
      </p:sp>
    </p:spTree>
    <p:extLst>
      <p:ext uri="{BB962C8B-B14F-4D97-AF65-F5344CB8AC3E}">
        <p14:creationId xmlns:p14="http://schemas.microsoft.com/office/powerpoint/2010/main" val="7553844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5EFB9-F003-43D2-B324-FA1754B60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RRT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EB4C9-43AF-4DAF-AB3B-D2C4B4C88A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b="1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Select a </a:t>
            </a:r>
            <a:r>
              <a:rPr lang="en-US" altLang="en-US" sz="3600" dirty="0">
                <a:solidFill>
                  <a:srgbClr val="222222"/>
                </a:solidFill>
                <a:latin typeface="GyrePagellaMathJax_Normal"/>
                <a:cs typeface="Arial" panose="020B0604020202020204" pitchFamily="34" charset="0"/>
              </a:rPr>
              <a:t>𝑞</a:t>
            </a:r>
            <a:r>
              <a:rPr lang="en-US" altLang="en-US" sz="1600" dirty="0">
                <a:solidFill>
                  <a:srgbClr val="222222"/>
                </a:solidFill>
                <a:latin typeface="GyrePagellaMathJax_Normal"/>
                <a:cs typeface="Arial" panose="020B0604020202020204" pitchFamily="34" charset="0"/>
              </a:rPr>
              <a:t>𝑟𝑎𝑛𝑑</a:t>
            </a:r>
            <a:r>
              <a:rPr lang="en-US" altLang="en-US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and </a:t>
            </a:r>
            <a:r>
              <a:rPr lang="en-US" altLang="en-US" sz="3600" dirty="0">
                <a:solidFill>
                  <a:srgbClr val="222222"/>
                </a:solidFill>
                <a:latin typeface="GyrePagellaMathJax_Normal"/>
                <a:cs typeface="Arial" panose="020B0604020202020204" pitchFamily="34" charset="0"/>
              </a:rPr>
              <a:t>𝑞</a:t>
            </a:r>
            <a:r>
              <a:rPr lang="en-US" altLang="en-US" sz="1600" dirty="0">
                <a:solidFill>
                  <a:srgbClr val="222222"/>
                </a:solidFill>
                <a:latin typeface="GyrePagellaMathJax_Normal"/>
                <a:cs typeface="Arial" panose="020B0604020202020204" pitchFamily="34" charset="0"/>
              </a:rPr>
              <a:t>𝑛𝑒𝑎𝑟</a:t>
            </a:r>
            <a:r>
              <a:rPr lang="en-US" altLang="en-US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</a:p>
          <a:p>
            <a:pPr marL="0" indent="0">
              <a:buNone/>
            </a:pPr>
            <a:r>
              <a:rPr lang="en-US" altLang="en-US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b="1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altLang="en-US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select a </a:t>
            </a:r>
            <a:r>
              <a:rPr lang="en-US" altLang="en-US" sz="3600" dirty="0">
                <a:solidFill>
                  <a:srgbClr val="222222"/>
                </a:solidFill>
                <a:latin typeface="GyrePagellaMathJax_Normal"/>
                <a:cs typeface="Arial" panose="020B0604020202020204" pitchFamily="34" charset="0"/>
              </a:rPr>
              <a:t>𝑞</a:t>
            </a:r>
            <a:r>
              <a:rPr lang="en-US" altLang="en-US" sz="1600" dirty="0">
                <a:solidFill>
                  <a:srgbClr val="222222"/>
                </a:solidFill>
                <a:latin typeface="GyrePagellaMathJax_Normal"/>
                <a:cs typeface="Arial" panose="020B0604020202020204" pitchFamily="34" charset="0"/>
              </a:rPr>
              <a:t>𝑛𝑒𝑎𝑟</a:t>
            </a:r>
            <a:r>
              <a:rPr lang="en-US" altLang="en-US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within distance </a:t>
            </a:r>
            <a:r>
              <a:rPr lang="en-US" altLang="en-US" sz="3600" dirty="0">
                <a:solidFill>
                  <a:srgbClr val="222222"/>
                </a:solidFill>
                <a:latin typeface="GyrePagellaMathJax_Normal"/>
                <a:cs typeface="Arial" panose="020B0604020202020204" pitchFamily="34" charset="0"/>
              </a:rPr>
              <a:t>𝑟</a:t>
            </a:r>
            <a:r>
              <a:rPr lang="en-US" altLang="en-US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</a:p>
          <a:p>
            <a:pPr marL="0" indent="0">
              <a:buNone/>
            </a:pPr>
            <a:r>
              <a:rPr lang="en-US" altLang="en-US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b="1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altLang="en-US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repeat ‘(a) and (b)’ process, (d) if collision occurs regenerate </a:t>
            </a:r>
            <a:r>
              <a:rPr lang="en-US" altLang="en-US" sz="3600" dirty="0">
                <a:solidFill>
                  <a:srgbClr val="222222"/>
                </a:solidFill>
                <a:latin typeface="GyrePagellaMathJax_Normal"/>
                <a:cs typeface="Arial" panose="020B0604020202020204" pitchFamily="34" charset="0"/>
              </a:rPr>
              <a:t>𝑞</a:t>
            </a:r>
            <a:r>
              <a:rPr lang="en-US" altLang="en-US" sz="1600" dirty="0">
                <a:solidFill>
                  <a:srgbClr val="222222"/>
                </a:solidFill>
                <a:latin typeface="GyrePagellaMathJax_Normal"/>
                <a:cs typeface="Arial" panose="020B0604020202020204" pitchFamily="34" charset="0"/>
              </a:rPr>
              <a:t>𝑟𝑎𝑛𝑑</a:t>
            </a:r>
            <a:r>
              <a:rPr lang="en-US" altLang="en-US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</a:p>
          <a:p>
            <a:pPr marL="0" indent="0">
              <a:buNone/>
            </a:pPr>
            <a:r>
              <a:rPr lang="en-US" altLang="en-US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b="1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altLang="en-US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regenerate </a:t>
            </a:r>
            <a:r>
              <a:rPr lang="en-US" altLang="en-US" sz="3600" dirty="0">
                <a:solidFill>
                  <a:srgbClr val="222222"/>
                </a:solidFill>
                <a:latin typeface="GyrePagellaMathJax_Normal"/>
                <a:cs typeface="Arial" panose="020B0604020202020204" pitchFamily="34" charset="0"/>
              </a:rPr>
              <a:t>𝑞</a:t>
            </a:r>
            <a:r>
              <a:rPr lang="en-US" altLang="en-US" sz="1600" dirty="0">
                <a:solidFill>
                  <a:srgbClr val="222222"/>
                </a:solidFill>
                <a:latin typeface="GyrePagellaMathJax_Normal"/>
                <a:cs typeface="Arial" panose="020B0604020202020204" pitchFamily="34" charset="0"/>
              </a:rPr>
              <a:t>𝑟𝑎𝑛𝑑</a:t>
            </a:r>
            <a:r>
              <a:rPr lang="en-US" altLang="en-US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without collision, and </a:t>
            </a:r>
          </a:p>
          <a:p>
            <a:pPr marL="0" indent="0">
              <a:buNone/>
            </a:pPr>
            <a:r>
              <a:rPr lang="en-US" altLang="en-US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b="1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altLang="en-US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repeat process to </a:t>
            </a:r>
            <a:r>
              <a:rPr lang="en-US" altLang="en-US" sz="3600" dirty="0">
                <a:solidFill>
                  <a:srgbClr val="222222"/>
                </a:solidFill>
                <a:latin typeface="GyrePagellaMathJax_Normal"/>
                <a:cs typeface="Arial" panose="020B0604020202020204" pitchFamily="34" charset="0"/>
              </a:rPr>
              <a:t>𝑞</a:t>
            </a:r>
            <a:r>
              <a:rPr lang="en-US" altLang="en-US" sz="1600" dirty="0">
                <a:solidFill>
                  <a:srgbClr val="222222"/>
                </a:solidFill>
                <a:latin typeface="GyrePagellaMathJax_Normal"/>
                <a:cs typeface="Arial" panose="020B0604020202020204" pitchFamily="34" charset="0"/>
              </a:rPr>
              <a:t>𝑔𝑜𝑎𝑙</a:t>
            </a:r>
            <a:r>
              <a:rPr lang="en-US" altLang="en-US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/>
              <a:t>Jang, D.-u., &amp; Kim, J.-s. (2022). Development of Ship Route-Planning Algorithm Based on Rapidly-Exploring Random Tree (RRT*) Using Designated Space. </a:t>
            </a:r>
            <a:r>
              <a:rPr lang="en-US" sz="1200" i="1" dirty="0"/>
              <a:t>Journal of Marine Science and Engineering</a:t>
            </a:r>
            <a:r>
              <a:rPr lang="en-US" sz="1200" dirty="0"/>
              <a:t>, </a:t>
            </a:r>
            <a:r>
              <a:rPr lang="en-US" sz="1200" i="1" dirty="0"/>
              <a:t>10</a:t>
            </a:r>
            <a:r>
              <a:rPr lang="en-US" sz="1200" dirty="0"/>
              <a:t>(12), 1800. https://doi.org/10.3390/jmse10121800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B4E4B-EE2E-4B58-A3EC-B8FAE714F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FE50D-69FE-43E5-9B44-FD3C1864D238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D44D0B-79C6-4904-B582-3951C852B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1823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9C935-7DEF-4145-AB19-CA5479845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Rapidly‑exploring Random Tree (RRT)</a:t>
            </a:r>
            <a:br>
              <a:rPr lang="en-US" dirty="0"/>
            </a:br>
            <a:r>
              <a:rPr lang="en-US" dirty="0"/>
              <a:t>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DB8F7-1D56-4536-821D-643D95EA0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RRT(start, goal, </a:t>
            </a:r>
            <a:r>
              <a:rPr lang="en-US" dirty="0" err="1"/>
              <a:t>max_iter</a:t>
            </a:r>
            <a:r>
              <a:rPr lang="en-US" dirty="0"/>
              <a:t>):</a:t>
            </a:r>
          </a:p>
          <a:p>
            <a:r>
              <a:rPr lang="en-US" dirty="0"/>
              <a:t>    tree = {start}</a:t>
            </a:r>
          </a:p>
          <a:p>
            <a:r>
              <a:rPr lang="en-US" dirty="0"/>
              <a:t>    for </a:t>
            </a:r>
            <a:r>
              <a:rPr lang="en-US" dirty="0" err="1"/>
              <a:t>i</a:t>
            </a:r>
            <a:r>
              <a:rPr lang="en-US" dirty="0"/>
              <a:t> in 1..max_iter:</a:t>
            </a:r>
          </a:p>
          <a:p>
            <a:r>
              <a:rPr lang="en-US" dirty="0"/>
              <a:t>        </a:t>
            </a:r>
            <a:r>
              <a:rPr lang="en-US" dirty="0" err="1"/>
              <a:t>q_rand</a:t>
            </a:r>
            <a:r>
              <a:rPr lang="en-US" dirty="0"/>
              <a:t> = </a:t>
            </a:r>
            <a:r>
              <a:rPr lang="en-US" dirty="0" err="1"/>
              <a:t>sample_configuration</a:t>
            </a:r>
            <a:r>
              <a:rPr lang="en-US" dirty="0"/>
              <a:t>()</a:t>
            </a:r>
          </a:p>
          <a:p>
            <a:r>
              <a:rPr lang="en-US" dirty="0"/>
              <a:t>        </a:t>
            </a:r>
            <a:r>
              <a:rPr lang="en-US" dirty="0" err="1"/>
              <a:t>q_near</a:t>
            </a:r>
            <a:r>
              <a:rPr lang="en-US" dirty="0"/>
              <a:t> = </a:t>
            </a:r>
            <a:r>
              <a:rPr lang="en-US" dirty="0" err="1"/>
              <a:t>nearest_neighbor</a:t>
            </a:r>
            <a:r>
              <a:rPr lang="en-US" dirty="0"/>
              <a:t>(tree, </a:t>
            </a:r>
            <a:r>
              <a:rPr lang="en-US" dirty="0" err="1"/>
              <a:t>q_rand</a:t>
            </a:r>
            <a:r>
              <a:rPr lang="en-US" dirty="0"/>
              <a:t>)</a:t>
            </a:r>
          </a:p>
          <a:p>
            <a:r>
              <a:rPr lang="en-US" dirty="0"/>
              <a:t>        </a:t>
            </a:r>
            <a:r>
              <a:rPr lang="en-US" dirty="0" err="1"/>
              <a:t>q_new</a:t>
            </a:r>
            <a:r>
              <a:rPr lang="en-US" dirty="0"/>
              <a:t> = steer(</a:t>
            </a:r>
            <a:r>
              <a:rPr lang="en-US" dirty="0" err="1"/>
              <a:t>q_near</a:t>
            </a:r>
            <a:r>
              <a:rPr lang="en-US" dirty="0"/>
              <a:t>, </a:t>
            </a:r>
            <a:r>
              <a:rPr lang="en-US" dirty="0" err="1"/>
              <a:t>q_rand</a:t>
            </a:r>
            <a:r>
              <a:rPr lang="en-US" dirty="0"/>
              <a:t>, </a:t>
            </a:r>
            <a:r>
              <a:rPr lang="en-US" dirty="0" err="1"/>
              <a:t>step_size</a:t>
            </a:r>
            <a:r>
              <a:rPr lang="en-US" dirty="0"/>
              <a:t>)</a:t>
            </a:r>
          </a:p>
          <a:p>
            <a:r>
              <a:rPr lang="en-US" dirty="0"/>
              <a:t>        if </a:t>
            </a:r>
            <a:r>
              <a:rPr lang="en-US" dirty="0" err="1"/>
              <a:t>collision_free</a:t>
            </a:r>
            <a:r>
              <a:rPr lang="en-US" dirty="0"/>
              <a:t>(</a:t>
            </a:r>
            <a:r>
              <a:rPr lang="en-US" dirty="0" err="1"/>
              <a:t>q_near</a:t>
            </a:r>
            <a:r>
              <a:rPr lang="en-US" dirty="0"/>
              <a:t>, </a:t>
            </a:r>
            <a:r>
              <a:rPr lang="en-US" dirty="0" err="1"/>
              <a:t>q_new</a:t>
            </a:r>
            <a:r>
              <a:rPr lang="en-US" dirty="0"/>
              <a:t>):</a:t>
            </a:r>
          </a:p>
          <a:p>
            <a:r>
              <a:rPr lang="en-US" dirty="0"/>
              <a:t>            </a:t>
            </a:r>
            <a:r>
              <a:rPr lang="en-US" dirty="0" err="1"/>
              <a:t>tree.add</a:t>
            </a:r>
            <a:r>
              <a:rPr lang="en-US" dirty="0"/>
              <a:t>(</a:t>
            </a:r>
            <a:r>
              <a:rPr lang="en-US" dirty="0" err="1"/>
              <a:t>q_new</a:t>
            </a:r>
            <a:r>
              <a:rPr lang="en-US" dirty="0"/>
              <a:t>)</a:t>
            </a:r>
          </a:p>
          <a:p>
            <a:r>
              <a:rPr lang="en-US" dirty="0"/>
              <a:t>            if distance(</a:t>
            </a:r>
            <a:r>
              <a:rPr lang="en-US" dirty="0" err="1"/>
              <a:t>q_new</a:t>
            </a:r>
            <a:r>
              <a:rPr lang="en-US" dirty="0"/>
              <a:t>, goal) &lt; threshold:</a:t>
            </a:r>
          </a:p>
          <a:p>
            <a:r>
              <a:rPr lang="en-US" dirty="0"/>
              <a:t>                return path</a:t>
            </a:r>
          </a:p>
          <a:p>
            <a:pPr marL="457200" lvl="1" indent="0">
              <a:buNone/>
            </a:pPr>
            <a:r>
              <a:rPr lang="en-US" altLang="en-US" dirty="0">
                <a:solidFill>
                  <a:srgbClr val="0F1115"/>
                </a:solidFill>
                <a:latin typeface="Menlo"/>
              </a:rPr>
              <a:t>	</a:t>
            </a:r>
            <a:r>
              <a:rPr lang="en-US" altLang="en-US" dirty="0" err="1">
                <a:solidFill>
                  <a:srgbClr val="0F1115"/>
                </a:solidFill>
                <a:latin typeface="Menlo"/>
              </a:rPr>
              <a:t>reurn</a:t>
            </a:r>
            <a:r>
              <a:rPr lang="en-US" altLang="en-US" dirty="0">
                <a:solidFill>
                  <a:srgbClr val="0F1115"/>
                </a:solidFill>
                <a:latin typeface="Menlo"/>
              </a:rPr>
              <a:t> failure</a:t>
            </a:r>
            <a:r>
              <a:rPr lang="en-US" altLang="en-US" sz="800" dirty="0"/>
              <a:t> </a:t>
            </a:r>
            <a:endParaRPr lang="en-US" altLang="en-US" sz="6000" dirty="0">
              <a:latin typeface="Arial" panose="020B0604020202020204" pitchFamily="34" charset="0"/>
            </a:endParaRPr>
          </a:p>
          <a:p>
            <a:pPr lvl="1"/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CB71B1-AE63-455E-88B3-F4B4BDF78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D3C17-42D1-4754-9C9D-6CE8909374F8}" type="datetime1">
              <a:rPr lang="en-US" smtClean="0"/>
              <a:t>3/21/2026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6E1EBB8-13B6-4826-9BBE-113A034D0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0474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86DC6-5ED1-44C9-AB54-5B218838C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Probabilistic Road Map (PRM)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341AB-DA36-4DB4-AB7B-9CC4ADF824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Build a </a:t>
            </a:r>
            <a:r>
              <a:rPr lang="en-US" b="1" dirty="0"/>
              <a:t>network (roadmap)</a:t>
            </a:r>
            <a:r>
              <a:rPr lang="en-US" dirty="0"/>
              <a:t> of random points, then search through it </a:t>
            </a:r>
          </a:p>
          <a:p>
            <a:r>
              <a:rPr lang="en-US" b="1" dirty="0"/>
              <a:t>Steps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Sample random points in free space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Keep collision-free points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Connect nearby points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Build a graph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Use A* or Dijkstra to find path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014CF-6C94-4A0F-A3EB-0C8911953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FE50D-69FE-43E5-9B44-FD3C1864D238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4E2C1E-06F8-405D-BA1C-DDCAAED10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9370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3C941-B191-44E4-97AA-2D4A9D455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Probabilistic Road Map (PRM)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AFFDB-8A00-488C-A38B-9E51C15582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The PRM is a network graph of the possible routes in each map based on free and occupied spaces.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First, the nodes are randomly generated in a space with obstacles (a).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Whether a node is in free space is checked using the multiple-query method, after which it is connected to the closest node at a certain distance (b)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Whether the edge that interconnects the nodes crosses an obstacle can then be determined (c)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roadmap is generated by repeating this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Process until all samples are passed and the optimal route is found (d)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1C8CAA-9D05-4F4D-8E5D-C28935DD5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FE50D-69FE-43E5-9B44-FD3C1864D238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A14F5B-4007-4A47-BAC7-C94AA2FE2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8128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AA07C3-EA71-491B-A4DB-E9E93D70F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FE50D-69FE-43E5-9B44-FD3C1864D238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BD6607-C123-4A89-B4E9-0733DFF79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39</a:t>
            </a:fld>
            <a:endParaRPr lang="en-US"/>
          </a:p>
        </p:txBody>
      </p:sp>
      <p:pic>
        <p:nvPicPr>
          <p:cNvPr id="12290" name="Picture 2" descr="Jmse 10 01800 g003">
            <a:extLst>
              <a:ext uri="{FF2B5EF4-FFF2-40B4-BE49-F238E27FC236}">
                <a16:creationId xmlns:a16="http://schemas.microsoft.com/office/drawing/2014/main" id="{29BC8ACA-933D-4726-BF2B-FF5C5EC8145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1963" y="339598"/>
            <a:ext cx="6996223" cy="6016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4AF009-6BF9-4DCA-96F0-E29406082722}"/>
              </a:ext>
            </a:extLst>
          </p:cNvPr>
          <p:cNvSpPr txBox="1"/>
          <p:nvPr/>
        </p:nvSpPr>
        <p:spPr>
          <a:xfrm>
            <a:off x="170121" y="1329070"/>
            <a:ext cx="171184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PRM algorithm</a:t>
            </a:r>
          </a:p>
        </p:txBody>
      </p:sp>
    </p:spTree>
    <p:extLst>
      <p:ext uri="{BB962C8B-B14F-4D97-AF65-F5344CB8AC3E}">
        <p14:creationId xmlns:p14="http://schemas.microsoft.com/office/powerpoint/2010/main" val="19002714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0C638-0B23-4AAE-B021-869638147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PRM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6B3A5-6A6D-4D52-BAE5-13174C1DB4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Two‑phase method</a:t>
            </a:r>
            <a:endParaRPr lang="en-US" sz="2800" dirty="0"/>
          </a:p>
          <a:p>
            <a:pPr lvl="0"/>
            <a:r>
              <a:rPr lang="en-US" dirty="0"/>
              <a:t>Construction phase</a:t>
            </a:r>
            <a:endParaRPr lang="en-US" sz="2800" dirty="0"/>
          </a:p>
          <a:p>
            <a:pPr lvl="1"/>
            <a:r>
              <a:rPr lang="en-US" dirty="0"/>
              <a:t>Randomly sample collision‑free configurations</a:t>
            </a:r>
            <a:endParaRPr lang="en-US" sz="2400" dirty="0"/>
          </a:p>
          <a:p>
            <a:pPr lvl="1"/>
            <a:r>
              <a:rPr lang="en-US" dirty="0"/>
              <a:t>Connect nearby samples with collision‑free local paths</a:t>
            </a:r>
            <a:endParaRPr lang="en-US" sz="2400" dirty="0"/>
          </a:p>
          <a:p>
            <a:pPr lvl="0"/>
            <a:r>
              <a:rPr lang="en-US" dirty="0"/>
              <a:t>Query phase</a:t>
            </a:r>
            <a:endParaRPr lang="en-US" sz="2800" dirty="0"/>
          </a:p>
          <a:p>
            <a:pPr lvl="1"/>
            <a:r>
              <a:rPr lang="en-US" dirty="0"/>
              <a:t>Connect start/goal to graph</a:t>
            </a:r>
            <a:endParaRPr lang="en-US" sz="2400" dirty="0"/>
          </a:p>
          <a:p>
            <a:pPr lvl="1"/>
            <a:r>
              <a:rPr lang="en-US" dirty="0"/>
              <a:t>Search for shortest path</a:t>
            </a:r>
            <a:endParaRPr lang="en-US" sz="2400" dirty="0"/>
          </a:p>
          <a:p>
            <a:r>
              <a:rPr lang="en-US" dirty="0"/>
              <a:t>Advantages</a:t>
            </a:r>
            <a:endParaRPr lang="en-US" sz="2800" dirty="0"/>
          </a:p>
          <a:p>
            <a:pPr lvl="1"/>
            <a:r>
              <a:rPr lang="en-US" dirty="0"/>
              <a:t>Precomputation for multiple queries</a:t>
            </a:r>
            <a:endParaRPr lang="en-US" sz="2400" dirty="0"/>
          </a:p>
          <a:p>
            <a:pPr lvl="1"/>
            <a:r>
              <a:rPr lang="en-US" dirty="0"/>
              <a:t>Works well in static environments</a:t>
            </a:r>
            <a:endParaRPr lang="en-US" sz="2400" dirty="0"/>
          </a:p>
          <a:p>
            <a:pPr lvl="1"/>
            <a:r>
              <a:rPr lang="en-US" dirty="0"/>
              <a:t>Trade‑off: Less efficient for single queries than RRT.</a:t>
            </a:r>
            <a:endParaRPr lang="en-US" sz="2400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58754-C740-4264-965A-0675E509F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A46B-4FF6-44AF-BA61-83CB8F2D9391}" type="datetime1">
              <a:rPr lang="en-US" smtClean="0"/>
              <a:t>3/21/2026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668DE7-B710-4DF1-AFDD-754C95DD0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7834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BAEE8D6-B2E0-4DDB-A855-3BB8FA3694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8949" y="980004"/>
            <a:ext cx="7193622" cy="47383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188A73-9700-45C5-A273-5BBF79987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AF7E52-236A-449E-8E44-E29D91F54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FE50D-69FE-43E5-9B44-FD3C1864D238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62589B-4E5D-4D4A-99B2-05C9C70EE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41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586323-FA5B-4EDA-981F-7748963A126A}"/>
              </a:ext>
            </a:extLst>
          </p:cNvPr>
          <p:cNvSpPr/>
          <p:nvPr/>
        </p:nvSpPr>
        <p:spPr>
          <a:xfrm>
            <a:off x="797442" y="5818559"/>
            <a:ext cx="804884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The learning process of typical PRM algorithm: (</a:t>
            </a:r>
            <a:r>
              <a:rPr lang="en-US" b="1" dirty="0">
                <a:solidFill>
                  <a:srgbClr val="222222"/>
                </a:solidFill>
                <a:latin typeface="Arial" panose="020B0604020202020204" pitchFamily="34" charset="0"/>
              </a:rPr>
              <a:t>a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) Obtaining free points; and (</a:t>
            </a:r>
            <a:r>
              <a:rPr lang="en-US" b="1" dirty="0">
                <a:solidFill>
                  <a:srgbClr val="222222"/>
                </a:solidFill>
                <a:latin typeface="Arial" panose="020B0604020202020204" pitchFamily="34" charset="0"/>
              </a:rPr>
              <a:t>b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) constructing collision-free line segments.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940770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Probabilistic Roadmaps (PRM)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Advantages</a:t>
            </a:r>
          </a:p>
          <a:p>
            <a:pPr lvl="1"/>
            <a:r>
              <a:rPr lang="en-US" dirty="0"/>
              <a:t>Good for </a:t>
            </a:r>
            <a:r>
              <a:rPr lang="en-US" b="1" dirty="0"/>
              <a:t>repeated queries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Efficient once roadmap is built </a:t>
            </a:r>
          </a:p>
          <a:p>
            <a:r>
              <a:rPr lang="en-US" b="1" dirty="0"/>
              <a:t>Disadvantages</a:t>
            </a:r>
          </a:p>
          <a:p>
            <a:pPr lvl="1"/>
            <a:r>
              <a:rPr lang="en-US" dirty="0"/>
              <a:t>Slow initial construction </a:t>
            </a:r>
          </a:p>
          <a:p>
            <a:pPr lvl="1"/>
            <a:r>
              <a:rPr lang="en-US" dirty="0"/>
              <a:t>Not ideal for single query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A5FD3F-343A-4BEA-8EBA-2CBC13A54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DC4B6-1ABD-4896-AEB0-9AE2729DF091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BE58B8-DD44-4434-87AB-027342E17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5901</TotalTime>
  <Words>3166</Words>
  <Application>Microsoft Office PowerPoint</Application>
  <PresentationFormat>On-screen Show (4:3)</PresentationFormat>
  <Paragraphs>438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9" baseType="lpstr">
      <vt:lpstr>Arial</vt:lpstr>
      <vt:lpstr>Calibri</vt:lpstr>
      <vt:lpstr>Cambria Math</vt:lpstr>
      <vt:lpstr>GyrePagellaMathJax_Normal</vt:lpstr>
      <vt:lpstr>Menlo</vt:lpstr>
      <vt:lpstr>Times New Roman</vt:lpstr>
      <vt:lpstr>Office Theme</vt:lpstr>
      <vt:lpstr>The Programmer's Mental Model of a Motor</vt:lpstr>
      <vt:lpstr>Path Planning in Robotics</vt:lpstr>
      <vt:lpstr>Path Planning in Robotics</vt:lpstr>
      <vt:lpstr>Path vs Trajectory</vt:lpstr>
      <vt:lpstr>Types of Planning</vt:lpstr>
      <vt:lpstr>Configuration Space (C-Space)</vt:lpstr>
      <vt:lpstr>Problem (Goal) Formulation</vt:lpstr>
      <vt:lpstr>Graph-Based Planning</vt:lpstr>
      <vt:lpstr>Graph based - Visibility Graph</vt:lpstr>
      <vt:lpstr>Why Visibility Graph Gives Shortest Path</vt:lpstr>
      <vt:lpstr>Graph based - Voronoi Diagram</vt:lpstr>
      <vt:lpstr>Graph based - Voronoi Diagram</vt:lpstr>
      <vt:lpstr>Graph based - Voronoi Algorithm</vt:lpstr>
      <vt:lpstr>Graph based - Cell Decomposition </vt:lpstr>
      <vt:lpstr>Dijkstra’s Algorithm</vt:lpstr>
      <vt:lpstr>Dijkstra’s Algorithm</vt:lpstr>
      <vt:lpstr>Dijkstra’s Algorithm Pseudocode</vt:lpstr>
      <vt:lpstr>A* Algorithm</vt:lpstr>
      <vt:lpstr>How A* Works (Step-by-Step) </vt:lpstr>
      <vt:lpstr>Example, Grid-Based Robot</vt:lpstr>
      <vt:lpstr>Why A* is Powerful</vt:lpstr>
      <vt:lpstr>Programming Structure</vt:lpstr>
      <vt:lpstr>A* Algorithm</vt:lpstr>
      <vt:lpstr>BFS (Breadth-First Search) in Path Planning</vt:lpstr>
      <vt:lpstr>Algorithm Steps</vt:lpstr>
      <vt:lpstr>Sampling-Based Path Planning</vt:lpstr>
      <vt:lpstr>Rapidly-Exploring Random Trees (RRT)</vt:lpstr>
      <vt:lpstr>Rapidly-Exploring Random Trees (RRT)</vt:lpstr>
      <vt:lpstr>Rapidly-Exploring Random Trees RRT</vt:lpstr>
      <vt:lpstr>PowerPoint Presentation</vt:lpstr>
      <vt:lpstr>PowerPoint Presentation</vt:lpstr>
      <vt:lpstr>Sampling-Based Planning (RRT)</vt:lpstr>
      <vt:lpstr>RRT Algorithm</vt:lpstr>
      <vt:lpstr>PowerPoint Presentation</vt:lpstr>
      <vt:lpstr>RRT Algorithm</vt:lpstr>
      <vt:lpstr>Rapidly‑exploring Random Tree (RRT) Algorithm</vt:lpstr>
      <vt:lpstr>The Probabilistic Road Map (PRM)</vt:lpstr>
      <vt:lpstr>The Probabilistic Road Map (PRM)</vt:lpstr>
      <vt:lpstr>PowerPoint Presentation</vt:lpstr>
      <vt:lpstr>PRM </vt:lpstr>
      <vt:lpstr>PRM</vt:lpstr>
      <vt:lpstr>Probabilistic Roadmaps (PRM)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Path Planning in Robotics</dc:title>
  <dc:subject/>
  <dc:creator>DSI</dc:creator>
  <cp:keywords/>
  <dc:description>generated using python-pptx</dc:description>
  <cp:lastModifiedBy>DSI</cp:lastModifiedBy>
  <cp:revision>53</cp:revision>
  <dcterms:created xsi:type="dcterms:W3CDTF">2013-01-27T09:14:16Z</dcterms:created>
  <dcterms:modified xsi:type="dcterms:W3CDTF">2026-03-25T07:27:56Z</dcterms:modified>
  <cp:category/>
</cp:coreProperties>
</file>