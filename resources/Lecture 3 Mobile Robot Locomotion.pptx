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6"/>
  </p:notesMasterIdLst>
  <p:sldIdLst>
    <p:sldId id="30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0" r:id="rId32"/>
    <p:sldId id="289" r:id="rId33"/>
    <p:sldId id="291" r:id="rId34"/>
    <p:sldId id="294" r:id="rId35"/>
    <p:sldId id="295" r:id="rId36"/>
    <p:sldId id="293" r:id="rId37"/>
    <p:sldId id="296" r:id="rId38"/>
    <p:sldId id="297" r:id="rId39"/>
    <p:sldId id="298" r:id="rId40"/>
    <p:sldId id="299" r:id="rId41"/>
    <p:sldId id="292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277" r:id="rId52"/>
    <p:sldId id="278" r:id="rId53"/>
    <p:sldId id="279" r:id="rId54"/>
    <p:sldId id="310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A2C24-6CD3-437F-A293-E42A2B94626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F4D1D-21D9-40AC-91CF-075632FA2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9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4905-6DC1-494E-A619-A54F02B7EF6F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0FDA-59DF-455D-BAF2-6569BB8C2C1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06D0-0592-463E-8F3A-5A86E98616D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826E1-BB5C-4B4D-BC95-DB5ECBD69789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35451-FCA8-4EF8-A590-FA940A18696E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23DD-C0F8-45B9-A069-095B5DFB3E4C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C184-BFC7-462E-87D2-10B6764E3925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BE9E9-2B4E-4D7E-9244-665912EA98A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EE64-DD13-4EAA-A3AC-AA5C4C6C3F2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6D66-FC12-4A20-94C5-FC94346A49E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6D329-D1D9-498C-B78C-828259092C3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3FC3-58E7-4A0D-B2B5-A9365288D2F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DA81A5-FB6C-4FB8-98A9-793C595021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Robot Locomotion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89EE42-7351-4078-9AAD-B8139F19D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3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Robot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locomotion refers to how robots move in their environment.</a:t>
            </a:r>
          </a:p>
          <a:p>
            <a:r>
              <a:rPr dirty="0"/>
              <a:t>Key systems include mechanical structure, sensors, actuators, and control algorithms.</a:t>
            </a:r>
          </a:p>
          <a:p>
            <a:r>
              <a:rPr dirty="0"/>
              <a:t>Main locomotion types: wheeled, legged, tracked, and hybrid.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0DB2-FBEB-4016-A06C-435FBF03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6AF3-9337-40EA-9B77-398DACD515C4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DE663-D2E2-45F7-AAA8-A19B7634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Locomotion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how a robot generates motion and controls movement.</a:t>
            </a:r>
          </a:p>
          <a:p>
            <a:r>
              <a:t>Includes mobility mechanism, power transmission, and motion control.</a:t>
            </a:r>
          </a:p>
          <a:p>
            <a:r>
              <a:t>Designed based on terrain and task requirements.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268EE-F324-4E53-A479-E1FB9B1C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BD717-DE9F-4F20-A1C4-26E3BA9E0B7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1FF40-AC3C-4B53-927E-0125D2D8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Locomotion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Important factors in locomotion design:</a:t>
            </a:r>
          </a:p>
          <a:p>
            <a:pPr lvl="1"/>
            <a:r>
              <a:rPr dirty="0"/>
              <a:t>Stability</a:t>
            </a:r>
          </a:p>
          <a:p>
            <a:pPr lvl="1"/>
            <a:r>
              <a:rPr dirty="0"/>
              <a:t>Maneuverability</a:t>
            </a:r>
          </a:p>
          <a:p>
            <a:pPr lvl="1"/>
            <a:r>
              <a:rPr dirty="0"/>
              <a:t>Controllability</a:t>
            </a:r>
          </a:p>
          <a:p>
            <a:pPr lvl="1"/>
            <a:r>
              <a:rPr dirty="0"/>
              <a:t>Energy efficiency</a:t>
            </a:r>
          </a:p>
          <a:p>
            <a:pPr lvl="1"/>
            <a:r>
              <a:rPr dirty="0"/>
              <a:t>Terrain adaptability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93553-2DA7-4371-941A-7B4F1EC2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9110-430A-4567-9B90-ED9507BD612F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BAC0E-968A-44FD-8240-3A36A92A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Speed</a:t>
            </a:r>
            <a:r>
              <a:rPr lang="en-US" dirty="0"/>
              <a:t> -</a:t>
            </a:r>
            <a:r>
              <a:rPr dirty="0"/>
              <a:t> Maximum travel velocity</a:t>
            </a:r>
          </a:p>
          <a:p>
            <a:r>
              <a:rPr dirty="0"/>
              <a:t>Energy consumption</a:t>
            </a:r>
            <a:r>
              <a:rPr lang="en-US" dirty="0"/>
              <a:t> -</a:t>
            </a:r>
            <a:r>
              <a:rPr dirty="0"/>
              <a:t> Power needed for motion</a:t>
            </a:r>
          </a:p>
          <a:p>
            <a:r>
              <a:rPr dirty="0"/>
              <a:t>Stability</a:t>
            </a:r>
            <a:r>
              <a:rPr lang="en-US" dirty="0"/>
              <a:t> -</a:t>
            </a:r>
            <a:r>
              <a:rPr dirty="0"/>
              <a:t> Resistance to tipping</a:t>
            </a:r>
          </a:p>
          <a:p>
            <a:r>
              <a:rPr dirty="0"/>
              <a:t>Mechanical complexity</a:t>
            </a:r>
            <a:r>
              <a:rPr lang="en-US" dirty="0"/>
              <a:t> -</a:t>
            </a:r>
            <a:r>
              <a:rPr dirty="0"/>
              <a:t> Number of moving components</a:t>
            </a:r>
          </a:p>
          <a:p>
            <a:r>
              <a:rPr dirty="0"/>
              <a:t>Terrain capability</a:t>
            </a:r>
            <a:r>
              <a:rPr lang="en-US" dirty="0"/>
              <a:t> -</a:t>
            </a:r>
            <a:r>
              <a:rPr dirty="0"/>
              <a:t> Ability to handle obstacles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E47F4-7C92-48D6-8BE9-BDFFFEFC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72424-B348-4A06-8967-EE88348DDBB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8C93E-928D-49D2-B373-A098EB9D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Legged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Robots move using articulated legs.</a:t>
            </a:r>
          </a:p>
          <a:p>
            <a:r>
              <a:rPr dirty="0"/>
              <a:t>Examples</a:t>
            </a:r>
            <a:r>
              <a:rPr lang="en-US" dirty="0"/>
              <a:t> -</a:t>
            </a:r>
            <a:r>
              <a:rPr dirty="0"/>
              <a:t> quadrupeds, hexapods, humanoid robots.</a:t>
            </a:r>
          </a:p>
          <a:p>
            <a:r>
              <a:rPr dirty="0"/>
              <a:t>Advantages</a:t>
            </a:r>
            <a:r>
              <a:rPr lang="en-US" dirty="0"/>
              <a:t> -</a:t>
            </a:r>
            <a:r>
              <a:rPr dirty="0"/>
              <a:t> good for rough terrain.</a:t>
            </a:r>
          </a:p>
          <a:p>
            <a:r>
              <a:rPr dirty="0"/>
              <a:t>Disadvantages</a:t>
            </a:r>
            <a:r>
              <a:rPr lang="en-US" dirty="0"/>
              <a:t> -</a:t>
            </a:r>
            <a:r>
              <a:rPr dirty="0"/>
              <a:t> high complexity and control requirements.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A0A36-7CF2-402F-B4A9-DCF9F801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85E2-79B7-46AC-82A8-700F9FD1C8F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08567-F97D-4EFB-A599-7527282D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Legged Robot Gaits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gait defines the pattern of leg movement.</a:t>
            </a:r>
          </a:p>
          <a:p>
            <a:r>
              <a:rPr dirty="0"/>
              <a:t>Examples</a:t>
            </a:r>
            <a:r>
              <a:rPr lang="en-US" dirty="0"/>
              <a:t> -</a:t>
            </a:r>
            <a:r>
              <a:rPr dirty="0"/>
              <a:t> walk, trot, run.</a:t>
            </a:r>
          </a:p>
          <a:p>
            <a:r>
              <a:rPr dirty="0"/>
              <a:t>Control algorithms coordinate leg movement and balance.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2A058-FF0B-4841-B874-273DE9B4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D838B-E2CF-4D47-A689-147FD9B2865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663AF-FFC0-4546-B138-368DF732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Wheeled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common locomotion type in mobile robotics.</a:t>
            </a:r>
          </a:p>
          <a:p>
            <a:r>
              <a:rPr dirty="0"/>
              <a:t>Advantages</a:t>
            </a:r>
            <a:r>
              <a:rPr lang="en-US" dirty="0"/>
              <a:t> -</a:t>
            </a:r>
            <a:r>
              <a:rPr dirty="0"/>
              <a:t> simple design, energy efficient, high speed on flat surfaces.</a:t>
            </a:r>
          </a:p>
          <a:p>
            <a:r>
              <a:rPr dirty="0"/>
              <a:t>Limitations</a:t>
            </a:r>
            <a:r>
              <a:rPr lang="en-US" dirty="0"/>
              <a:t> -</a:t>
            </a:r>
            <a:r>
              <a:rPr dirty="0"/>
              <a:t> poor performance on rough terrain.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D4BEB-8F0B-4D6C-8AF0-9D1A743F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3636-DBA3-422B-9BB3-4B770A54E5B4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171E7-073E-4254-8C04-8C925EF5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Wheel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Common wheel configurations</a:t>
            </a:r>
          </a:p>
          <a:p>
            <a:pPr lvl="1"/>
            <a:r>
              <a:rPr dirty="0"/>
              <a:t>Differential drive</a:t>
            </a:r>
          </a:p>
          <a:p>
            <a:pPr lvl="1"/>
            <a:r>
              <a:rPr dirty="0"/>
              <a:t>Tricycle drive</a:t>
            </a:r>
          </a:p>
          <a:p>
            <a:pPr lvl="1"/>
            <a:r>
              <a:rPr dirty="0"/>
              <a:t>Ackermann steering</a:t>
            </a:r>
            <a:r>
              <a:rPr lang="en-US" dirty="0"/>
              <a:t> – each wheel turns at different angle</a:t>
            </a:r>
            <a:endParaRPr dirty="0"/>
          </a:p>
          <a:p>
            <a:pPr lvl="1"/>
            <a:r>
              <a:rPr dirty="0"/>
              <a:t>Omni-directional wheels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38570-1FE6-4049-99C2-773AE57A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69C78-CB33-4238-B638-D02A79993E9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E7D5F-93FB-4210-9129-30A226BD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Drive Kinematics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 uses two independently driven wheels.</a:t>
            </a:r>
          </a:p>
          <a:p>
            <a:r>
              <a:t>Linear velocity: v = (vR + vL)/2</a:t>
            </a:r>
          </a:p>
          <a:p>
            <a:r>
              <a:t>Angular velocity: ω = (vR − vL)/L</a:t>
            </a:r>
          </a:p>
          <a:p>
            <a:r>
              <a:t>L = distance between wheels.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6ABEF-60E7-40CD-9CB5-09A9B4AF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77CD-B3D5-4FAB-BB00-DE66F1C4B81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7716B-8FC5-4DE6-9E1D-12F160CD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Mapping Wheel Rotation to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Wheel velocity calculation: v = r × ω</a:t>
            </a:r>
          </a:p>
          <a:p>
            <a:pPr lvl="1"/>
            <a:r>
              <a:rPr dirty="0"/>
              <a:t>r = wheel radius</a:t>
            </a:r>
          </a:p>
          <a:p>
            <a:pPr lvl="1"/>
            <a:r>
              <a:rPr dirty="0"/>
              <a:t>ω = wheel angular velocity</a:t>
            </a:r>
          </a:p>
          <a:p>
            <a:r>
              <a:rPr dirty="0"/>
              <a:t>Used to determine robot linear movement.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3D04-09FE-4C26-8729-FC1678F1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9BFA-6AD9-49D6-AF98-416CCD64DD9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F0F4F-D7A4-490A-8198-B83C1082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Motion on a 2D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pose defined as (x, y, θ).</a:t>
            </a:r>
          </a:p>
          <a:p>
            <a:pPr marL="0" indent="0">
              <a:buNone/>
            </a:pPr>
            <a:r>
              <a:rPr dirty="0"/>
              <a:t>Motion equations</a:t>
            </a:r>
            <a:r>
              <a:rPr lang="en-US" dirty="0"/>
              <a:t>.</a:t>
            </a:r>
            <a:endParaRPr dirty="0"/>
          </a:p>
          <a:p>
            <a:r>
              <a:rPr dirty="0"/>
              <a:t>dx/dt = v cos θ</a:t>
            </a:r>
          </a:p>
          <a:p>
            <a:r>
              <a:rPr dirty="0" err="1"/>
              <a:t>dy</a:t>
            </a:r>
            <a:r>
              <a:rPr dirty="0"/>
              <a:t>/dt = v sin θ</a:t>
            </a:r>
          </a:p>
          <a:p>
            <a:r>
              <a:rPr dirty="0" err="1"/>
              <a:t>dθ</a:t>
            </a:r>
            <a:r>
              <a:rPr dirty="0"/>
              <a:t>/dt = ω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CA49D-393C-4403-8804-FE7C2228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62EB-3A81-4C0B-85B4-CDDCDF890164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320FA-FB19-4B88-B241-25A4EB45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 state vector: [x, y, θ].</a:t>
            </a:r>
          </a:p>
          <a:p>
            <a:r>
              <a:t>Used in localization, navigation, and control algorithms.</a:t>
            </a:r>
          </a:p>
          <a:p>
            <a:r>
              <a:t>Sensors estimate robot state during movement.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6F93-807F-4988-A3DE-5DA87F1B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21D8-FB31-4864-B96C-88863946F8C6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E2746-B4BB-4D94-BB0E-82B94B96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Planning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Path planning computes route from start to goal avoiding obstacles.</a:t>
            </a:r>
          </a:p>
          <a:p>
            <a:r>
              <a:rPr dirty="0"/>
              <a:t>Uses grid maps or graphs.</a:t>
            </a:r>
          </a:p>
          <a:p>
            <a:r>
              <a:rPr dirty="0"/>
              <a:t>Key steps</a:t>
            </a:r>
            <a:r>
              <a:rPr lang="en-US" dirty="0"/>
              <a:t> -</a:t>
            </a:r>
            <a:r>
              <a:rPr dirty="0"/>
              <a:t> map environment, detect obstacles, compute path.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97C34-878C-44CB-87E2-40009E5B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D691-630C-47B9-B71D-405326B8BBD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0CC83-061E-4C06-BE97-C1721D7E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Path Planning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Evaluation function: f(n) = g(n) + h(n)</a:t>
            </a:r>
          </a:p>
          <a:p>
            <a:pPr lvl="1"/>
            <a:r>
              <a:rPr dirty="0"/>
              <a:t>g(n): cost from start</a:t>
            </a:r>
          </a:p>
          <a:p>
            <a:pPr lvl="1"/>
            <a:r>
              <a:rPr dirty="0"/>
              <a:t>h(n): heuristic estimate to goal</a:t>
            </a:r>
          </a:p>
          <a:p>
            <a:r>
              <a:rPr dirty="0"/>
              <a:t>Common heuristic</a:t>
            </a:r>
            <a:r>
              <a:rPr lang="en-US" dirty="0"/>
              <a:t> -</a:t>
            </a:r>
            <a:r>
              <a:rPr dirty="0"/>
              <a:t> Manhattan distance.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F69B-9892-4601-9E7B-A6432107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DA7BC-8629-485C-99D1-17155603CCF6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3896-D336-414B-860D-28E7EE73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Drive Simulation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position updated using</a:t>
            </a:r>
          </a:p>
          <a:p>
            <a:pPr lvl="1"/>
            <a:r>
              <a:rPr dirty="0"/>
              <a:t>x = x + v cos θ dt</a:t>
            </a:r>
          </a:p>
          <a:p>
            <a:pPr lvl="1"/>
            <a:r>
              <a:rPr dirty="0"/>
              <a:t>y = y + v sin θ dt</a:t>
            </a:r>
          </a:p>
          <a:p>
            <a:pPr lvl="1"/>
            <a:r>
              <a:rPr dirty="0"/>
              <a:t>θ = θ + ω dt</a:t>
            </a:r>
          </a:p>
          <a:p>
            <a:r>
              <a:rPr dirty="0"/>
              <a:t>Used in mobile robot simulators.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8683F-66A4-40CA-86E7-49D95AB8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C106-C522-4225-B347-97AB9DD5380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98FEC-E6EA-4FE9-A090-C3764773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Robot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vehicles</a:t>
            </a:r>
          </a:p>
          <a:p>
            <a:r>
              <a:t>Warehouse robots</a:t>
            </a:r>
          </a:p>
          <a:p>
            <a:r>
              <a:t>Delivery robots</a:t>
            </a:r>
          </a:p>
          <a:p>
            <a:r>
              <a:t>Planetary exploration rovers</a:t>
            </a:r>
          </a:p>
          <a:p>
            <a:r>
              <a:t>Service robots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FE94C-17C8-4333-9C0B-ADBCB615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72075-A67E-43A3-AE69-9356A5A90D5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4737D-A61A-4757-B536-866E6FE9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Programming Mobile Robot Locomotion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pipeline:</a:t>
            </a:r>
          </a:p>
          <a:p>
            <a:r>
              <a:t>Sensors → Localization → Path Planning → Motion Control → Motors</a:t>
            </a:r>
          </a:p>
          <a:p>
            <a:r>
              <a:t>Often implemented using Python or C++.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ABF62-F256-4099-B793-F5398F90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FF6B-4D59-4E8D-A9F6-18DF2315AF0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7AAB5-E6EE-4A89-87FD-08B05A35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locomotion integrates mechanics and control algorithms.</a:t>
            </a:r>
          </a:p>
          <a:p>
            <a:r>
              <a:rPr dirty="0"/>
              <a:t>Key topics</a:t>
            </a:r>
            <a:r>
              <a:rPr lang="en-US" dirty="0"/>
              <a:t> -</a:t>
            </a:r>
            <a:r>
              <a:rPr dirty="0"/>
              <a:t> wheel kinematics, motion modeling, and path planning.</a:t>
            </a:r>
          </a:p>
          <a:p>
            <a:r>
              <a:rPr dirty="0"/>
              <a:t>These concepts enable autonomous mobile robots.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8DAF-748C-4752-A8E5-58CC1E28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3384D-0B3C-4381-87CF-DD01159EB33B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29BC6-20C3-4A57-BE17-FA049F45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7335-15BA-4DF1-911D-5C4D0D92D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Locomotion -  A Programmer's Perspective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D9A2843-7E0C-45E5-9751-7F6CC78F91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Understanding the Hardware You'll Control</a:t>
            </a:r>
          </a:p>
        </p:txBody>
      </p:sp>
    </p:spTree>
    <p:extLst>
      <p:ext uri="{BB962C8B-B14F-4D97-AF65-F5344CB8AC3E}">
        <p14:creationId xmlns:p14="http://schemas.microsoft.com/office/powerpoint/2010/main" val="1597545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844A-3A08-4A90-A9B3-06916B6C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Welcome – What This Means for You as a Programmer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1302-D4F0-4B3E-9C98-348658FEC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You're not building motors – you're commanding them</a:t>
            </a:r>
          </a:p>
          <a:p>
            <a:pPr marL="0" indent="0">
              <a:buNone/>
            </a:pPr>
            <a:r>
              <a:rPr lang="en-US" sz="1600" dirty="0"/>
              <a:t>Your Code ──► Commands ──► Hardware ──► Motion ──► Sensors ──► Data ──► Your Code</a:t>
            </a:r>
          </a:p>
          <a:p>
            <a:pPr marL="0" indent="0">
              <a:buNone/>
            </a:pPr>
            <a:r>
              <a:rPr lang="en-US" sz="1600" dirty="0"/>
              <a:t>             		↑            		↑            		↑           		↑           	 ↓</a:t>
            </a:r>
          </a:p>
          <a:p>
            <a:pPr marL="0" indent="0">
              <a:buNone/>
            </a:pPr>
            <a:r>
              <a:rPr lang="en-US" sz="1600" dirty="0"/>
              <a:t>            	</a:t>
            </a:r>
            <a:r>
              <a:rPr lang="en-US" sz="1600" b="1" dirty="0"/>
              <a:t>What you      </a:t>
            </a:r>
            <a:r>
              <a:rPr lang="en-US" sz="1600" dirty="0"/>
              <a:t>		The "muscle"  	</a:t>
            </a:r>
            <a:r>
              <a:rPr lang="en-US" sz="1600" b="1" dirty="0"/>
              <a:t>What</a:t>
            </a:r>
            <a:r>
              <a:rPr lang="en-US" sz="1600" dirty="0"/>
              <a:t>       	What tells   	</a:t>
            </a:r>
            <a:r>
              <a:rPr lang="en-US" sz="1600" b="1" dirty="0"/>
              <a:t>Feedback</a:t>
            </a:r>
          </a:p>
          <a:p>
            <a:pPr marL="0" indent="0">
              <a:buNone/>
            </a:pPr>
            <a:r>
              <a:rPr lang="en-US" sz="1600" dirty="0"/>
              <a:t>           		 </a:t>
            </a:r>
            <a:r>
              <a:rPr lang="en-US" sz="1600" b="1" dirty="0"/>
              <a:t>send</a:t>
            </a:r>
            <a:r>
              <a:rPr lang="en-US" sz="1600" dirty="0"/>
              <a:t>          		you control   	</a:t>
            </a:r>
            <a:r>
              <a:rPr lang="en-US" sz="1600" b="1" dirty="0"/>
              <a:t>happens</a:t>
            </a:r>
            <a:r>
              <a:rPr lang="en-US" sz="1600" dirty="0"/>
              <a:t>    you what    	 </a:t>
            </a:r>
            <a:r>
              <a:rPr lang="en-US" sz="1600" b="1" dirty="0"/>
              <a:t>loop closes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						happened</a:t>
            </a:r>
          </a:p>
          <a:p>
            <a:r>
              <a:rPr lang="en-US" dirty="0"/>
              <a:t>Understand the hardware well enough to write great control code</a:t>
            </a:r>
          </a:p>
          <a:p>
            <a:r>
              <a:rPr lang="en-US" b="1" dirty="0"/>
              <a:t>Analogy:</a:t>
            </a:r>
            <a:endParaRPr lang="en-US" dirty="0"/>
          </a:p>
          <a:p>
            <a:pPr lvl="1"/>
            <a:r>
              <a:rPr lang="en-US" dirty="0"/>
              <a:t>You don't need to build a car engine to drive well</a:t>
            </a:r>
          </a:p>
          <a:p>
            <a:pPr lvl="1"/>
            <a:r>
              <a:rPr lang="en-US" dirty="0"/>
              <a:t>But you </a:t>
            </a:r>
            <a:r>
              <a:rPr lang="en-US" b="1" dirty="0"/>
              <a:t>do</a:t>
            </a:r>
            <a:r>
              <a:rPr lang="en-US" dirty="0"/>
              <a:t> need to know: gas pedal, brake, steering wheel, and how the car responds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8E58F-2CC4-46CB-8D34-0F6D9765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EB337-1CBD-4B17-B2F5-36DD8CB1BA2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D3127-6058-4D6C-A881-7B234F31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36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C378-FD21-4362-BE3D-6D0F9D8B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1AFB2-F411-4F96-BDD2-B9DB9C5F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mobile robotics locomotion, </a:t>
            </a:r>
            <a:r>
              <a:rPr lang="en-US" b="1" dirty="0"/>
              <a:t>PWM (</a:t>
            </a:r>
            <a:r>
              <a:rPr lang="en-US" dirty="0"/>
              <a:t>Pulse Width Modulation)</a:t>
            </a:r>
            <a:r>
              <a:rPr lang="en-US" b="1" dirty="0"/>
              <a:t> and encoders work together to control and measure the motion of DC motors</a:t>
            </a:r>
            <a:r>
              <a:rPr lang="en-US" dirty="0"/>
              <a:t>. </a:t>
            </a:r>
          </a:p>
          <a:p>
            <a:r>
              <a:rPr lang="en-US" dirty="0"/>
              <a:t>PWM controls the </a:t>
            </a:r>
            <a:r>
              <a:rPr lang="en-US" b="1" dirty="0"/>
              <a:t>motor speed</a:t>
            </a:r>
            <a:r>
              <a:rPr lang="en-US" dirty="0"/>
              <a:t>, while the encoder measures the </a:t>
            </a:r>
            <a:r>
              <a:rPr lang="en-US" b="1" dirty="0"/>
              <a:t>actual rotation of the motor shaft</a:t>
            </a:r>
            <a:r>
              <a:rPr lang="en-US" dirty="0"/>
              <a:t>, allowing precise motion control.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F08F7-B70A-4CCC-9508-0301E4BF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93A-656C-47C9-A987-D07846ACDBD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15D4A-6C04-4144-9AEB-536D80F1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06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F3D2-F330-4C70-84D6-CA64827F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Motor in Robotics 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03F7F-0F4A-4BA3-88D8-B23AE91DB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DC motor</a:t>
            </a:r>
            <a:r>
              <a:rPr lang="en-US" dirty="0"/>
              <a:t> converts electrical energy into rotational motion used to drive.</a:t>
            </a:r>
          </a:p>
          <a:p>
            <a:pPr lvl="1"/>
            <a:r>
              <a:rPr lang="en-US" dirty="0"/>
              <a:t>Robot wheels</a:t>
            </a:r>
          </a:p>
          <a:p>
            <a:pPr lvl="1"/>
            <a:r>
              <a:rPr lang="en-US" dirty="0"/>
              <a:t>Robot arms</a:t>
            </a:r>
          </a:p>
          <a:p>
            <a:pPr lvl="1"/>
            <a:r>
              <a:rPr lang="en-US" dirty="0"/>
              <a:t>Actuators</a:t>
            </a:r>
          </a:p>
          <a:p>
            <a:r>
              <a:rPr lang="en-US" dirty="0"/>
              <a:t>However, DC motors naturally run at </a:t>
            </a:r>
            <a:r>
              <a:rPr lang="en-US" b="1" dirty="0"/>
              <a:t>variable speeds depending on voltage and load</a:t>
            </a:r>
            <a:r>
              <a:rPr lang="en-US" dirty="0"/>
              <a:t>, so robotics systems must control and monitor them.</a:t>
            </a:r>
          </a:p>
          <a:p>
            <a:r>
              <a:rPr lang="en-US" dirty="0"/>
              <a:t>Two key components are used.</a:t>
            </a:r>
          </a:p>
          <a:p>
            <a:pPr lvl="1"/>
            <a:r>
              <a:rPr lang="en-US" b="1" dirty="0"/>
              <a:t>PWM </a:t>
            </a:r>
            <a:r>
              <a:rPr lang="en-US" dirty="0"/>
              <a:t> → speed control</a:t>
            </a:r>
          </a:p>
          <a:p>
            <a:pPr lvl="1"/>
            <a:r>
              <a:rPr lang="en-US" b="1" dirty="0"/>
              <a:t>Encoder</a:t>
            </a:r>
            <a:r>
              <a:rPr lang="en-US" dirty="0"/>
              <a:t> → position and speed measurement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68E9-0514-43FF-8B04-D1812A21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59AB-F290-41C2-BEC6-E8708722866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48BFB-394F-4C7C-928F-50369D2F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8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6446-164B-4B87-B0DE-007480D6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1327-B89D-4798-9C03-AD00AF58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PWM is a technique used to control the </a:t>
            </a:r>
            <a:r>
              <a:rPr lang="en-US" b="1" dirty="0"/>
              <a:t>effective voltage applied to a motor</a:t>
            </a:r>
            <a:r>
              <a:rPr lang="en-US" dirty="0"/>
              <a:t> by rapidly switching the power ON and OFF.</a:t>
            </a:r>
          </a:p>
          <a:p>
            <a:r>
              <a:rPr lang="en-US" dirty="0"/>
              <a:t>Instead of changing voltage directly, the controller changes the </a:t>
            </a:r>
            <a:r>
              <a:rPr lang="en-US" b="1" dirty="0"/>
              <a:t>duty cycle</a:t>
            </a:r>
            <a:r>
              <a:rPr lang="en-US" dirty="0"/>
              <a:t>.</a:t>
            </a:r>
          </a:p>
          <a:p>
            <a:r>
              <a:rPr lang="en-US" sz="2000" dirty="0"/>
              <a:t>Voltage</a:t>
            </a:r>
          </a:p>
          <a:p>
            <a:r>
              <a:rPr lang="en-US" sz="2000" dirty="0"/>
              <a:t>5V | ┌───┐       ┌───┐</a:t>
            </a:r>
          </a:p>
          <a:p>
            <a:r>
              <a:rPr lang="en-US" sz="2000" dirty="0"/>
              <a:t>      | │       │       │      │</a:t>
            </a:r>
          </a:p>
          <a:p>
            <a:r>
              <a:rPr lang="en-US" sz="2000" dirty="0"/>
              <a:t>0V | └───┴───┘      └────</a:t>
            </a:r>
          </a:p>
          <a:p>
            <a:r>
              <a:rPr lang="en-US" sz="2000" dirty="0"/>
              <a:t>          ON      OFF</a:t>
            </a:r>
          </a:p>
          <a:p>
            <a:r>
              <a:rPr lang="en-US" sz="2000" dirty="0"/>
              <a:t>Duty cycle is the percentage of time the signal is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92286-1242-43E0-A774-0C0B6312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88" y="5500738"/>
            <a:ext cx="2095608" cy="50167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922445-1F52-4FC0-A766-A36B9B62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24F12-1E7B-4995-98AB-892F3BFB6BBB}" type="datetime1">
              <a:rPr lang="en-US" smtClean="0"/>
              <a:t>3/16/2026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98635-DEC0-4631-B67B-DE10B6EA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5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9AE2-2031-42A2-B4EA-086545D0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Duty Cycle and motor speed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3BDCD3-CD58-42B7-80CF-214F99850A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260254"/>
              </p:ext>
            </p:extLst>
          </p:nvPr>
        </p:nvGraphicFramePr>
        <p:xfrm>
          <a:off x="283463" y="1497710"/>
          <a:ext cx="377028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85141">
                  <a:extLst>
                    <a:ext uri="{9D8B030D-6E8A-4147-A177-3AD203B41FA5}">
                      <a16:colId xmlns:a16="http://schemas.microsoft.com/office/drawing/2014/main" val="1047471368"/>
                    </a:ext>
                  </a:extLst>
                </a:gridCol>
                <a:gridCol w="1885141">
                  <a:extLst>
                    <a:ext uri="{9D8B030D-6E8A-4147-A177-3AD203B41FA5}">
                      <a16:colId xmlns:a16="http://schemas.microsoft.com/office/drawing/2014/main" val="3483909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Duty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Motor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6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78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79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4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Maximum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33131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11FC04E-7270-4D60-80C6-5DF1B932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797" y="1834450"/>
            <a:ext cx="3714063" cy="5247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A6E387-64F5-4866-AEF3-EC30088BDA6C}"/>
              </a:ext>
            </a:extLst>
          </p:cNvPr>
          <p:cNvSpPr/>
          <p:nvPr/>
        </p:nvSpPr>
        <p:spPr>
          <a:xfrm>
            <a:off x="4053747" y="1280739"/>
            <a:ext cx="50749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Motor Speed Relation</a:t>
            </a:r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Supply voltage = 12,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Duty cycle = 50%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Average voltage = 0.5 x 12 = 6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motor behaves roughly as if it received </a:t>
            </a:r>
            <a:r>
              <a:rPr lang="en-US" sz="2800" b="1" dirty="0"/>
              <a:t>6 V</a:t>
            </a:r>
            <a:endParaRPr lang="en-US" sz="28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42B4C-A649-4B54-A4DC-E46C2D61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4628-E5CE-4824-B415-9A819ABFEC69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59918-4C6C-4F68-BEFB-413DE027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37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928A-03A4-4670-AAE0-41B13DFE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5EC5-A8DF-4041-9C63-A18A090C0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encoder</a:t>
            </a:r>
            <a:r>
              <a:rPr lang="en-US" dirty="0"/>
              <a:t> measures the </a:t>
            </a:r>
            <a:r>
              <a:rPr lang="en-US" b="1" dirty="0"/>
              <a:t>rotation of the motor shaft</a:t>
            </a:r>
            <a:r>
              <a:rPr lang="en-US" dirty="0"/>
              <a:t>.</a:t>
            </a:r>
          </a:p>
          <a:p>
            <a:r>
              <a:rPr lang="en-US" dirty="0"/>
              <a:t>Encoders provide feedback for</a:t>
            </a:r>
          </a:p>
          <a:p>
            <a:pPr lvl="1"/>
            <a:r>
              <a:rPr lang="en-US" dirty="0"/>
              <a:t>speed</a:t>
            </a:r>
          </a:p>
          <a:p>
            <a:pPr lvl="1"/>
            <a:r>
              <a:rPr lang="en-US" dirty="0"/>
              <a:t>direction</a:t>
            </a:r>
          </a:p>
          <a:p>
            <a:pPr lvl="1"/>
            <a:r>
              <a:rPr lang="en-US" dirty="0"/>
              <a:t>position</a:t>
            </a:r>
          </a:p>
          <a:p>
            <a:r>
              <a:rPr lang="en-US" dirty="0"/>
              <a:t>Encoders are essential in </a:t>
            </a:r>
            <a:r>
              <a:rPr lang="en-US" b="1" dirty="0"/>
              <a:t>closed-loop motor control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1AD0F-B8F8-4751-A357-4D9C6964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469-F900-46F9-86A2-7A793147480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FD31-EE0A-4FE3-89EF-D3F8AEBC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34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E472-4F01-4483-9E28-4D96E0C9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Types of Encoders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AC2D4-7F16-4B75-8F96-5E2595D1F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Incremental Encoder</a:t>
            </a:r>
          </a:p>
          <a:p>
            <a:r>
              <a:rPr lang="en-US" dirty="0"/>
              <a:t>Outputs pulses as the shaft rotates</a:t>
            </a:r>
          </a:p>
          <a:p>
            <a:r>
              <a:rPr lang="en-US" dirty="0"/>
              <a:t>Each pulse = small rotation</a:t>
            </a:r>
          </a:p>
          <a:p>
            <a:pPr marL="0" indent="0">
              <a:buNone/>
            </a:pPr>
            <a:r>
              <a:rPr lang="en-US" b="1" dirty="0"/>
              <a:t>2. Quadrature Encoder</a:t>
            </a:r>
          </a:p>
          <a:p>
            <a:r>
              <a:rPr lang="en-US" dirty="0"/>
              <a:t>Has </a:t>
            </a:r>
            <a:r>
              <a:rPr lang="en-US" b="1" dirty="0"/>
              <a:t>two signals</a:t>
            </a:r>
            <a:r>
              <a:rPr lang="en-US" dirty="0"/>
              <a:t>: Channel A and Channel B, which are phase shifted.</a:t>
            </a:r>
          </a:p>
          <a:p>
            <a:pPr marL="400050" lvl="1" indent="0">
              <a:buNone/>
            </a:pPr>
            <a:r>
              <a:rPr lang="en-US" dirty="0"/>
              <a:t>A: ──▆▆────▆▆────</a:t>
            </a:r>
          </a:p>
          <a:p>
            <a:pPr marL="400050" lvl="1" indent="0">
              <a:buNone/>
            </a:pPr>
            <a:r>
              <a:rPr lang="en-US" dirty="0"/>
              <a:t>B: ─────▆▆────▆▆─</a:t>
            </a:r>
          </a:p>
          <a:p>
            <a:r>
              <a:rPr lang="en-US" dirty="0"/>
              <a:t>This allows detection of speed and direction</a:t>
            </a:r>
          </a:p>
          <a:p>
            <a:pPr marL="457200" indent="-457200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C1AE-647C-48A7-9E51-A64A6C7F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3552-B472-466B-9D50-70700AAED2A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9BB56-3DE5-4251-A115-6B8FAC3A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33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8588-9354-4BC1-91BD-6F78E8B6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178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How PWM and Encoder Work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4E51-CAA4-4A72-A5FD-0771D45CA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48917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control system works as a </a:t>
            </a:r>
            <a:r>
              <a:rPr lang="en-US" b="1" dirty="0"/>
              <a:t>feedback loop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Controller → PWM → Motor → Wheel</a:t>
            </a:r>
          </a:p>
          <a:p>
            <a:pPr marL="0" indent="0">
              <a:buNone/>
            </a:pPr>
            <a:r>
              <a:rPr lang="en-US" dirty="0"/>
              <a:t>        ↑                     							↓</a:t>
            </a:r>
          </a:p>
          <a:p>
            <a:pPr marL="0" indent="0">
              <a:buNone/>
            </a:pPr>
            <a:r>
              <a:rPr lang="en-US" dirty="0"/>
              <a:t>        ← 		Encoder feedback 		←</a:t>
            </a:r>
          </a:p>
          <a:p>
            <a:r>
              <a:rPr lang="en-US" dirty="0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Controller sends </a:t>
            </a:r>
            <a:r>
              <a:rPr lang="en-US" b="1" dirty="0"/>
              <a:t>PWM signal</a:t>
            </a:r>
            <a:r>
              <a:rPr lang="en-US" dirty="0"/>
              <a:t> to motor driver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Motor rotates wheel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Encoder produces pulses as shaft rotates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Controller reads encoder pulses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is calculated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PWM is adjusted to reach target speed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6D27-5AF1-414E-A558-3C0E6671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C78D-779C-4BD2-BD27-7A26BCD17971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53F27-947B-44C6-BF60-AD8DB970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2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6C15-2485-4706-9B84-2BF95C84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05522"/>
          </a:xfrm>
        </p:spPr>
        <p:txBody>
          <a:bodyPr>
            <a:noAutofit/>
          </a:bodyPr>
          <a:lstStyle/>
          <a:p>
            <a:r>
              <a:rPr lang="en-US" sz="3600" b="1" dirty="0"/>
              <a:t>Calculating Motor Speed Using Encoder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7A171-20F9-499D-A17A-119AF921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48460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Assume, Encoder resolution = 500 pulses per revolution</a:t>
            </a:r>
          </a:p>
          <a:p>
            <a:r>
              <a:rPr lang="en-US" dirty="0"/>
              <a:t>Measured pulses = 250 pulses in 0.5 seconds</a:t>
            </a:r>
          </a:p>
          <a:p>
            <a:r>
              <a:rPr lang="en-US" dirty="0"/>
              <a:t>Revolution = 250/500 = 0.5</a:t>
            </a:r>
          </a:p>
          <a:p>
            <a:r>
              <a:rPr lang="en-US" dirty="0"/>
              <a:t>Resolutions per minute RPM = (0.5/0.5)x60 = 60</a:t>
            </a:r>
          </a:p>
          <a:p>
            <a:r>
              <a:rPr lang="en-US" b="1" dirty="0"/>
              <a:t>60 RPM</a:t>
            </a:r>
            <a:r>
              <a:rPr lang="en-US" dirty="0"/>
              <a:t> means the motor shaft makes </a:t>
            </a:r>
            <a:r>
              <a:rPr lang="en-US" b="1" dirty="0"/>
              <a:t>60 full turns in one minute</a:t>
            </a:r>
            <a:r>
              <a:rPr lang="en-US" dirty="0"/>
              <a:t>.</a:t>
            </a:r>
          </a:p>
          <a:p>
            <a:r>
              <a:rPr lang="en-US" dirty="0"/>
              <a:t>In robotics, RPM describes how fast the </a:t>
            </a:r>
            <a:r>
              <a:rPr lang="en-US" b="1" dirty="0"/>
              <a:t>motor shaft or wheel rotates</a:t>
            </a:r>
            <a:r>
              <a:rPr lang="en-US" dirty="0"/>
              <a:t>. </a:t>
            </a:r>
          </a:p>
          <a:p>
            <a:r>
              <a:rPr lang="en-US" dirty="0" err="1"/>
              <a:t>E.g</a:t>
            </a:r>
            <a:r>
              <a:rPr lang="en-US" dirty="0"/>
              <a:t> 12V DC Motor Speed: 200 RPM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D98A8-33B8-4323-BB0F-3755B7E0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7E293-E9D8-4F06-8A9E-2E16466AC687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9E68C-E20E-4265-93F4-130AB1B2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96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F8F0-89DE-4909-8092-F6418CF2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0658"/>
          </a:xfrm>
        </p:spPr>
        <p:txBody>
          <a:bodyPr>
            <a:normAutofit/>
          </a:bodyPr>
          <a:lstStyle/>
          <a:p>
            <a:r>
              <a:rPr lang="en-US" b="1" dirty="0"/>
              <a:t>RPM and Robot Wheel Motion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82C98-73BD-49CC-A058-38360F171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20"/>
            <a:ext cx="8229600" cy="47088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RPM determines how fast a robot moves.</a:t>
            </a:r>
          </a:p>
          <a:p>
            <a:r>
              <a:rPr lang="en-US" dirty="0"/>
              <a:t>Relationship between RPM and angular velocity   </a:t>
            </a:r>
            <a:r>
              <a:rPr lang="el-GR" dirty="0"/>
              <a:t>ω=</a:t>
            </a:r>
            <a:r>
              <a:rPr lang="en-US" dirty="0"/>
              <a:t>(</a:t>
            </a:r>
            <a:r>
              <a:rPr lang="el-GR" dirty="0"/>
              <a:t>2π×</a:t>
            </a:r>
            <a:r>
              <a:rPr lang="en-US" dirty="0"/>
              <a:t>RPM)/</a:t>
            </a:r>
            <a:r>
              <a:rPr lang="el-GR" dirty="0"/>
              <a:t>60</a:t>
            </a:r>
            <a:r>
              <a:rPr lang="en-US" dirty="0"/>
              <a:t>​</a:t>
            </a:r>
          </a:p>
          <a:p>
            <a:r>
              <a:rPr lang="en-US" dirty="0"/>
              <a:t>Where, ω = angular velocity (rad/s)</a:t>
            </a:r>
          </a:p>
          <a:p>
            <a:r>
              <a:rPr lang="en-US" dirty="0"/>
              <a:t>Converting RPM to Robot Linear Velocity</a:t>
            </a:r>
          </a:p>
          <a:p>
            <a:pPr lvl="1"/>
            <a:r>
              <a:rPr lang="en-US" dirty="0"/>
              <a:t>Robot speed depends on wheel radius.</a:t>
            </a:r>
          </a:p>
          <a:p>
            <a:pPr lvl="1"/>
            <a:r>
              <a:rPr lang="en-US" dirty="0"/>
              <a:t>v=</a:t>
            </a:r>
            <a:r>
              <a:rPr lang="en-US" dirty="0" err="1"/>
              <a:t>rω</a:t>
            </a:r>
            <a:r>
              <a:rPr lang="en-US" dirty="0"/>
              <a:t>, given r= 0.1m and RPM = 60, </a:t>
            </a:r>
          </a:p>
          <a:p>
            <a:pPr lvl="1"/>
            <a:r>
              <a:rPr lang="en-US" dirty="0"/>
              <a:t>v= 0.1 x w {w= (</a:t>
            </a:r>
            <a:r>
              <a:rPr lang="el-GR" dirty="0"/>
              <a:t>2π×</a:t>
            </a:r>
            <a:r>
              <a:rPr lang="en-US" dirty="0"/>
              <a:t>RPM)/</a:t>
            </a:r>
            <a:r>
              <a:rPr lang="el-GR" dirty="0"/>
              <a:t>60</a:t>
            </a:r>
            <a:r>
              <a:rPr lang="en-US" dirty="0"/>
              <a:t> = (</a:t>
            </a:r>
            <a:r>
              <a:rPr lang="el-GR" dirty="0"/>
              <a:t>2π×</a:t>
            </a:r>
            <a:r>
              <a:rPr lang="en-US" dirty="0"/>
              <a:t>60)/</a:t>
            </a:r>
            <a:r>
              <a:rPr lang="el-GR" dirty="0"/>
              <a:t>60</a:t>
            </a:r>
            <a:r>
              <a:rPr lang="en-US" dirty="0"/>
              <a:t> = </a:t>
            </a:r>
            <a:r>
              <a:rPr lang="el-GR" dirty="0"/>
              <a:t>2π</a:t>
            </a:r>
            <a:endParaRPr lang="en-US" dirty="0"/>
          </a:p>
          <a:p>
            <a:pPr lvl="1"/>
            <a:r>
              <a:rPr lang="en-US" dirty="0"/>
              <a:t>v=0.1 x </a:t>
            </a:r>
            <a:r>
              <a:rPr lang="el-GR" dirty="0"/>
              <a:t>2π</a:t>
            </a:r>
            <a:r>
              <a:rPr lang="en-US" dirty="0"/>
              <a:t> = 0.628m/s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A4D69-12E0-4E98-9260-35FDA2CE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7B37-CCD2-41A3-A81C-FFF360C4A3C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30142-4943-45AE-AAF6-BCDC4697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80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EADC-7A27-45E8-B41B-68EEED0C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Drive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12952-980A-49E3-B926-ABACE6B6E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Robot has</a:t>
            </a:r>
          </a:p>
          <a:p>
            <a:pPr lvl="1"/>
            <a:r>
              <a:rPr lang="en-US" dirty="0"/>
              <a:t>Left motor + encoder</a:t>
            </a:r>
          </a:p>
          <a:p>
            <a:pPr lvl="1"/>
            <a:r>
              <a:rPr lang="en-US" dirty="0"/>
              <a:t>Right motor + encoder</a:t>
            </a:r>
          </a:p>
          <a:p>
            <a:r>
              <a:rPr lang="en-US" dirty="0"/>
              <a:t>Controller performs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read encoder speed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compare with desired speed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adjust PWM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69960-806E-4046-9773-B97166A84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7096" y="1600200"/>
            <a:ext cx="4855464" cy="4525963"/>
          </a:xfrm>
        </p:spPr>
        <p:txBody>
          <a:bodyPr/>
          <a:lstStyle/>
          <a:p>
            <a:r>
              <a:rPr lang="en-US" dirty="0"/>
              <a:t>Velocity equations</a:t>
            </a:r>
          </a:p>
          <a:p>
            <a:r>
              <a:rPr lang="en-US" dirty="0"/>
              <a:t>Linear velocity </a:t>
            </a:r>
          </a:p>
          <a:p>
            <a:pPr marL="457200" lvl="1" indent="0">
              <a:buNone/>
            </a:pPr>
            <a:r>
              <a:rPr lang="en-US" dirty="0"/>
              <a:t>v = (</a:t>
            </a:r>
            <a:r>
              <a:rPr lang="en-US" dirty="0" err="1"/>
              <a:t>vR</a:t>
            </a:r>
            <a:r>
              <a:rPr lang="en-US" dirty="0"/>
              <a:t> + </a:t>
            </a:r>
            <a:r>
              <a:rPr lang="en-US" dirty="0" err="1"/>
              <a:t>vL</a:t>
            </a:r>
            <a:r>
              <a:rPr lang="en-US" dirty="0"/>
              <a:t>)/2</a:t>
            </a:r>
          </a:p>
          <a:p>
            <a:r>
              <a:rPr lang="en-US" dirty="0"/>
              <a:t>Angular velocity: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l-GR" dirty="0"/>
              <a:t>ω = (</a:t>
            </a:r>
            <a:r>
              <a:rPr lang="en-US" dirty="0" err="1"/>
              <a:t>vR</a:t>
            </a:r>
            <a:r>
              <a:rPr lang="en-US" dirty="0"/>
              <a:t> − </a:t>
            </a:r>
            <a:r>
              <a:rPr lang="en-US" dirty="0" err="1"/>
              <a:t>vL</a:t>
            </a:r>
            <a:r>
              <a:rPr lang="en-US" dirty="0"/>
              <a:t>)/L</a:t>
            </a:r>
          </a:p>
          <a:p>
            <a:r>
              <a:rPr lang="en-US" dirty="0"/>
              <a:t>L = wheel separation distance.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F2A27-FBFD-4CFD-8FDA-902A9BC0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644-8D04-4857-9838-9C7F159EB40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60EE5-520A-4365-BEA2-777F8DEA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24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21B0-557D-4425-922D-D4D3D3E0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11AB-DF24-4F77-AF2A-2EB720C86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differential drive robot,</a:t>
            </a:r>
          </a:p>
          <a:p>
            <a:pPr lvl="1"/>
            <a:r>
              <a:rPr lang="en-US" dirty="0"/>
              <a:t>Left wheel: 60 RPM, Right wheel: 80 RPM</a:t>
            </a:r>
          </a:p>
          <a:p>
            <a:r>
              <a:rPr lang="en-US" dirty="0"/>
              <a:t>The robot will </a:t>
            </a:r>
            <a:r>
              <a:rPr lang="en-US" b="1" dirty="0"/>
              <a:t>turn left</a:t>
            </a:r>
            <a:r>
              <a:rPr lang="en-US" dirty="0"/>
              <a:t> because the right wheel moves faster.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DDF06-6B60-47E3-8169-FD410CCA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A8C6-651A-482C-A137-047A07CA4ED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01819-D103-4587-B97E-C3ADFE2C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76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87C9-73BC-4EE1-84B2-1E36CD3E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 PWM + Encoder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58C3BB-B850-469A-BEC6-E309B91F1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target_speed</a:t>
            </a:r>
            <a:r>
              <a:rPr lang="en-US" dirty="0"/>
              <a:t> = 100 RPM</a:t>
            </a:r>
          </a:p>
          <a:p>
            <a:r>
              <a:rPr lang="en-US" dirty="0"/>
              <a:t>while </a:t>
            </a:r>
            <a:r>
              <a:rPr lang="en-US" dirty="0" err="1"/>
              <a:t>robot_running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measured_speed</a:t>
            </a:r>
            <a:r>
              <a:rPr lang="en-US" dirty="0"/>
              <a:t> = </a:t>
            </a:r>
            <a:r>
              <a:rPr lang="en-US" dirty="0" err="1"/>
              <a:t>read_encoder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    error = </a:t>
            </a:r>
            <a:r>
              <a:rPr lang="en-US" dirty="0" err="1"/>
              <a:t>target_speed</a:t>
            </a:r>
            <a:r>
              <a:rPr lang="en-US" dirty="0"/>
              <a:t> - </a:t>
            </a:r>
            <a:r>
              <a:rPr lang="en-US" dirty="0" err="1"/>
              <a:t>measured_speed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pwm</a:t>
            </a:r>
            <a:r>
              <a:rPr lang="en-US" dirty="0"/>
              <a:t> = </a:t>
            </a:r>
            <a:r>
              <a:rPr lang="en-US" dirty="0" err="1"/>
              <a:t>pwm</a:t>
            </a:r>
            <a:r>
              <a:rPr lang="en-US" dirty="0"/>
              <a:t> + k * error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set_motor_pwm</a:t>
            </a:r>
            <a:r>
              <a:rPr lang="en-US" dirty="0"/>
              <a:t>(</a:t>
            </a:r>
            <a:r>
              <a:rPr lang="en-US" dirty="0" err="1"/>
              <a:t>pwm</a:t>
            </a:r>
            <a:r>
              <a:rPr lang="en-US" dirty="0"/>
              <a:t>)</a:t>
            </a:r>
          </a:p>
          <a:p>
            <a:r>
              <a:rPr lang="en-US" dirty="0"/>
              <a:t>This is a </a:t>
            </a:r>
            <a:r>
              <a:rPr lang="en-US" b="1" dirty="0"/>
              <a:t>basic proportional controller</a:t>
            </a:r>
            <a:r>
              <a:rPr lang="en-US" dirty="0"/>
              <a:t>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995336-DA65-42D4-80D8-7EFF466D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5755-95A0-4CF4-B14A-4B0D3DF30B32}" type="datetime1">
              <a:rPr lang="en-US" smtClean="0"/>
              <a:t>3/16/2026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887A-0775-4B4E-B910-DCB358AE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40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503E-B248-46DA-91FD-AB141CD4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PWM + encoder in Robotics 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59F3-2A3B-4CDB-91F1-9AB4FE45F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PWM + encoder feedback allows robots to</a:t>
            </a:r>
          </a:p>
          <a:p>
            <a:pPr lvl="1"/>
            <a:r>
              <a:rPr lang="en-US" dirty="0"/>
              <a:t>maintain accurate speed</a:t>
            </a:r>
          </a:p>
          <a:p>
            <a:pPr lvl="1"/>
            <a:r>
              <a:rPr lang="en-US" dirty="0"/>
              <a:t>perform precise turns</a:t>
            </a:r>
          </a:p>
          <a:p>
            <a:pPr lvl="1"/>
            <a:r>
              <a:rPr lang="en-US" dirty="0"/>
              <a:t>estimate position (odometry)</a:t>
            </a:r>
          </a:p>
          <a:p>
            <a:pPr lvl="1"/>
            <a:r>
              <a:rPr lang="en-US" dirty="0"/>
              <a:t>implement autonomous navigation</a:t>
            </a:r>
          </a:p>
          <a:p>
            <a:r>
              <a:rPr lang="en-US" dirty="0"/>
              <a:t>Used in</a:t>
            </a:r>
          </a:p>
          <a:p>
            <a:pPr lvl="1"/>
            <a:r>
              <a:rPr lang="en-US" dirty="0"/>
              <a:t>warehouse robots</a:t>
            </a:r>
          </a:p>
          <a:p>
            <a:pPr lvl="1"/>
            <a:r>
              <a:rPr lang="en-US" dirty="0"/>
              <a:t>delivery robots</a:t>
            </a:r>
          </a:p>
          <a:p>
            <a:pPr lvl="1"/>
            <a:r>
              <a:rPr lang="en-US" dirty="0"/>
              <a:t>autonomous vehicles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C82C2-8CD5-4464-B861-EC269713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C749-83F9-4742-9058-6A27EDB2DE4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5FF9-3491-4BF0-B439-0A1AC723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05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283A-82D1-4DAF-870B-971963FF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and encoder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D07681-C813-4F56-87AD-743CB06104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404314"/>
              </p:ext>
            </p:extLst>
          </p:nvPr>
        </p:nvGraphicFramePr>
        <p:xfrm>
          <a:off x="457200" y="2558401"/>
          <a:ext cx="8229600" cy="207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82883">
                  <a:extLst>
                    <a:ext uri="{9D8B030D-6E8A-4147-A177-3AD203B41FA5}">
                      <a16:colId xmlns:a16="http://schemas.microsoft.com/office/drawing/2014/main" val="1382688315"/>
                    </a:ext>
                  </a:extLst>
                </a:gridCol>
                <a:gridCol w="4846717">
                  <a:extLst>
                    <a:ext uri="{9D8B030D-6E8A-4147-A177-3AD203B41FA5}">
                      <a16:colId xmlns:a16="http://schemas.microsoft.com/office/drawing/2014/main" val="224652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95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PWM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Controls motor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17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Measures motor rotation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93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Adjusts PWM using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77334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13ADEB-372A-49B0-9AE6-6BAF7877F78E}"/>
              </a:ext>
            </a:extLst>
          </p:cNvPr>
          <p:cNvSpPr/>
          <p:nvPr/>
        </p:nvSpPr>
        <p:spPr>
          <a:xfrm>
            <a:off x="457200" y="481732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Together they enable </a:t>
            </a:r>
            <a:r>
              <a:rPr lang="en-US" sz="2800" b="1" dirty="0"/>
              <a:t>accurate locomotion control in mobile robots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3C059-B5E7-4F2A-B325-6330C6C12AC7}"/>
              </a:ext>
            </a:extLst>
          </p:cNvPr>
          <p:cNvSpPr/>
          <p:nvPr/>
        </p:nvSpPr>
        <p:spPr>
          <a:xfrm>
            <a:off x="457200" y="1599881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PWM + encoder systems provide </a:t>
            </a:r>
            <a:r>
              <a:rPr lang="en-US" sz="2800" b="1" dirty="0"/>
              <a:t>closed-loop motor control</a:t>
            </a:r>
            <a:r>
              <a:rPr lang="en-US" sz="2800" dirty="0"/>
              <a:t> in robotics.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A4176-FC2F-4F87-9A70-CDC492E0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8EC2-75AD-4EBC-8943-3E9F39393F67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E4A852-62AF-4EAB-A85D-BE930CCA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56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A44B-ACBB-40F4-9A80-7DB861C5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Closed-Loop Motor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7F5C-E468-4337-9EB2-7F1DC6C19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Closed-loop control means the system continuously measures its output and adjusts the input to achieve a desired result.</a:t>
            </a:r>
          </a:p>
          <a:p>
            <a:r>
              <a:rPr lang="en-US" dirty="0"/>
              <a:t>For a robot motor:</a:t>
            </a:r>
          </a:p>
          <a:p>
            <a:pPr lvl="1"/>
            <a:r>
              <a:rPr lang="en-US" dirty="0"/>
              <a:t>Desired value → Target speed or position</a:t>
            </a:r>
          </a:p>
          <a:p>
            <a:pPr lvl="1"/>
            <a:r>
              <a:rPr lang="en-US" dirty="0"/>
              <a:t>Measured value → Encoder feedback</a:t>
            </a:r>
          </a:p>
          <a:p>
            <a:pPr lvl="1"/>
            <a:r>
              <a:rPr lang="en-US" dirty="0"/>
              <a:t>Controller → Adjusts PWM signal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F1D31-40E8-48FF-96B0-368D69DA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D0B9-018A-4DBC-BAB5-67335B060BA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D7203-6AC0-487F-B478-F771C5A7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79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241A-2518-4FAD-8C46-567FEB85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loop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D4E9-3949-4AAC-84B4-7466AE630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Target Speed → Controller → PWM → Motor → Wheel</a:t>
            </a:r>
          </a:p>
          <a:p>
            <a:pPr marL="0" indent="0">
              <a:buNone/>
            </a:pPr>
            <a:r>
              <a:rPr lang="en-US" sz="2800" dirty="0"/>
              <a:t>                    			↑                							 ↓</a:t>
            </a:r>
          </a:p>
          <a:p>
            <a:pPr marL="0" indent="0">
              <a:buNone/>
            </a:pPr>
            <a:r>
              <a:rPr lang="en-US" sz="2800" dirty="0"/>
              <a:t>                 			   ← 	Encoder Feedback 		←</a:t>
            </a:r>
          </a:p>
          <a:p>
            <a:r>
              <a:rPr lang="en-US" dirty="0"/>
              <a:t>Steps: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Controller sets a </a:t>
            </a:r>
            <a:r>
              <a:rPr lang="en-US" b="1" dirty="0"/>
              <a:t>desired motor speed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PWM drives the motor.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Encoder measures the </a:t>
            </a:r>
            <a:r>
              <a:rPr lang="en-US" b="1" dirty="0"/>
              <a:t>actual speed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Controller calculates the </a:t>
            </a:r>
            <a:r>
              <a:rPr lang="en-US" b="1" dirty="0"/>
              <a:t>error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PWM is adjusted to reduce the error.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8992B-B888-486C-993C-5BD0A1DE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CB5-6171-4C47-92BE-D567DA2B9F9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3C26B-0F43-4DA7-89B7-5E1BD904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11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A199-7A93-4272-B982-DE44B213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Open-Loop vs Closed-Loop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E2BF-61D2-47FA-805D-2540AC41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Open-Loop Control</a:t>
            </a:r>
          </a:p>
          <a:p>
            <a:pPr marL="0" indent="0">
              <a:buNone/>
            </a:pPr>
            <a:r>
              <a:rPr lang="en-US" dirty="0"/>
              <a:t>	 Controller → PWM → Motor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PWM = 50%</a:t>
            </a:r>
          </a:p>
          <a:p>
            <a:r>
              <a:rPr lang="en-US" dirty="0"/>
              <a:t>Problem - Motor speed changes with </a:t>
            </a:r>
            <a:r>
              <a:rPr lang="en-US" b="1" dirty="0"/>
              <a:t>load, friction, or battery voltage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No load, motor speed is 100 RPM, but with heavy load, speed reduces to 75RPM</a:t>
            </a:r>
          </a:p>
          <a:p>
            <a:r>
              <a:rPr lang="en-US" dirty="0"/>
              <a:t> No correction occurs.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73DD8-280E-4F4E-AB79-6A326C8B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131-D120-44F1-99C3-5EFF7DD0D6F8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8FEA3-A7FB-446B-9151-1D59C2B4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24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8B6C-6FD6-478B-A227-E7208B2D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Open-Loop vs Closed-Loop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AFDD8-360B-4C0E-B0DB-8CC2EDBF2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closed loop</a:t>
            </a:r>
          </a:p>
          <a:p>
            <a:pPr marL="400050" lvl="1" indent="0">
              <a:buNone/>
            </a:pPr>
            <a:r>
              <a:rPr lang="en-US" i="1" dirty="0"/>
              <a:t>Target Speed → Controller 	→	 Motor</a:t>
            </a:r>
            <a:br>
              <a:rPr lang="en-US" i="1" dirty="0"/>
            </a:br>
            <a:r>
              <a:rPr lang="en-US" i="1" dirty="0"/>
              <a:t>							↑</a:t>
            </a:r>
            <a:br>
              <a:rPr lang="en-US" i="1" dirty="0"/>
            </a:br>
            <a:r>
              <a:rPr lang="en-US" i="1" dirty="0"/>
              <a:t>								Encoder</a:t>
            </a:r>
          </a:p>
          <a:p>
            <a:r>
              <a:rPr lang="en-US" dirty="0" err="1"/>
              <a:t>E.g</a:t>
            </a:r>
            <a:r>
              <a:rPr lang="en-US" dirty="0"/>
              <a:t> Target Speed = 100 RPM, If speed drops to 90 RPM, controller increases PWM.</a:t>
            </a:r>
          </a:p>
          <a:p>
            <a:r>
              <a:rPr lang="en-US" dirty="0"/>
              <a:t>This ensures consistent motion.</a:t>
            </a:r>
          </a:p>
          <a:p>
            <a:r>
              <a:rPr lang="en-US" dirty="0"/>
              <a:t>The controller works based on </a:t>
            </a:r>
            <a:r>
              <a:rPr lang="en-US" b="1" dirty="0"/>
              <a:t>error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Error = </a:t>
            </a:r>
            <a:r>
              <a:rPr lang="en-US" dirty="0" err="1"/>
              <a:t>TargetSpeed</a:t>
            </a:r>
            <a:r>
              <a:rPr lang="en-US" dirty="0"/>
              <a:t> − </a:t>
            </a:r>
            <a:r>
              <a:rPr lang="en-US" dirty="0" err="1"/>
              <a:t>MeasuredSpeed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D3F1D-2FC8-4D4E-B404-537B3594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E513-C67A-4391-9D02-BA58811874D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F2C8B-C2A1-4277-92E0-38F014FA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00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5ECA-ED35-4D1B-9F5D-57067C46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3F012-319C-44DD-84EF-6CDD608B8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dirty="0"/>
              <a:t> PID is a control algorithm that adjusts the motor using </a:t>
            </a:r>
            <a:r>
              <a:rPr lang="en-US" b="1" dirty="0"/>
              <a:t>three components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2A834-428D-44D9-B361-1F0CCFCD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110" y="2560638"/>
            <a:ext cx="4575316" cy="633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3014DF1-9C94-461F-9EA9-221E0170E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025199"/>
                  </p:ext>
                </p:extLst>
              </p:nvPr>
            </p:nvGraphicFramePr>
            <p:xfrm>
              <a:off x="608076" y="3337691"/>
              <a:ext cx="4572000" cy="268617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73936">
                      <a:extLst>
                        <a:ext uri="{9D8B030D-6E8A-4147-A177-3AD203B41FA5}">
                          <a16:colId xmlns:a16="http://schemas.microsoft.com/office/drawing/2014/main" val="1773008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22843008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800" b="1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b="1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241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dirty="0" smtClean="0"/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/>
                            <a:t>Proportional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71558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dirty="0" smtClean="0"/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Integral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2336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dirty="0" smtClean="0"/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800" i="1" dirty="0" smtClean="0"/>
                                    <m:t>d</m:t>
                                  </m:r>
                                </m:sub>
                              </m:sSub>
                            </m:oMath>
                          </a14:m>
                          <a:endParaRPr 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/>
                            <a:t>Derivative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0528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e(t)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502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3014DF1-9C94-461F-9EA9-221E0170E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025199"/>
                  </p:ext>
                </p:extLst>
              </p:nvPr>
            </p:nvGraphicFramePr>
            <p:xfrm>
              <a:off x="608076" y="3337691"/>
              <a:ext cx="4572000" cy="268617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73936">
                      <a:extLst>
                        <a:ext uri="{9D8B030D-6E8A-4147-A177-3AD203B41FA5}">
                          <a16:colId xmlns:a16="http://schemas.microsoft.com/office/drawing/2014/main" val="1773008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22843008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b="1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b="1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241380"/>
                      </a:ext>
                    </a:extLst>
                  </a:tr>
                  <a:tr h="5765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4" t="-98947" r="-158763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/>
                            <a:t>Proportional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7155802"/>
                      </a:ext>
                    </a:extLst>
                  </a:tr>
                  <a:tr h="5314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4" t="-214773" r="-158763" b="-22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Integral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233682"/>
                      </a:ext>
                    </a:extLst>
                  </a:tr>
                  <a:tr h="5418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4" t="-311236" r="-158763" b="-126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/>
                            <a:t>Derivative gain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05281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e(t)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Error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50220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A376E01-406C-48C4-A482-563041FF686A}"/>
              </a:ext>
            </a:extLst>
          </p:cNvPr>
          <p:cNvSpPr/>
          <p:nvPr/>
        </p:nvSpPr>
        <p:spPr>
          <a:xfrm>
            <a:off x="5330952" y="3875590"/>
            <a:ext cx="34381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Output u(t) becomes the </a:t>
            </a:r>
            <a:r>
              <a:rPr lang="en-US" sz="2800" b="1" dirty="0"/>
              <a:t>PWM signal</a:t>
            </a:r>
            <a:endParaRPr lang="en-US" sz="28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D3B75-0B32-471E-A486-17BB2D9B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799A1-DED4-4287-BD55-D8AE623AC1C9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67122A-4A32-4DB2-8E65-3F9895CD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01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764151-E3B2-43C4-8F12-DE92E6060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941" y="1612704"/>
            <a:ext cx="4575316" cy="633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EF0661-0ACC-465E-A5A2-AF85A031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Control (P)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E83A4-2D3A-4604-BFBC-8CEE2F063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Control equation. </a:t>
                </a:r>
              </a:p>
              <a:p>
                <a:r>
                  <a:rPr lang="en-US" dirty="0"/>
                  <a:t> The proportional term reacts </a:t>
                </a:r>
                <a:r>
                  <a:rPr lang="en-US" b="1" dirty="0"/>
                  <a:t>directly to the current error</a:t>
                </a:r>
                <a:r>
                  <a:rPr lang="en-US" dirty="0"/>
                  <a:t>.</a:t>
                </a:r>
              </a:p>
              <a:p>
                <a:r>
                  <a:rPr lang="en-US" i="1" dirty="0"/>
                  <a:t>P=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/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i="1" dirty="0"/>
                  <a:t>​ × error</a:t>
                </a:r>
              </a:p>
              <a:p>
                <a:r>
                  <a:rPr lang="es-ES" dirty="0"/>
                  <a:t>Error = 20 RPM, </a:t>
                </a:r>
                <a:r>
                  <a:rPr lang="es-ES" dirty="0" err="1"/>
                  <a:t>Kp</a:t>
                </a:r>
                <a:r>
                  <a:rPr lang="es-ES" dirty="0"/>
                  <a:t> = 2, p= 20 x 2 = 40</a:t>
                </a:r>
              </a:p>
              <a:p>
                <a:pPr lvl="1"/>
                <a:r>
                  <a:rPr lang="es-ES" i="1" dirty="0"/>
                  <a:t>PWM increpases </a:t>
                </a:r>
                <a:r>
                  <a:rPr lang="es-ES" i="1" dirty="0" err="1"/>
                  <a:t>proportionally</a:t>
                </a:r>
                <a:endParaRPr lang="es-ES" i="1" dirty="0"/>
              </a:p>
              <a:p>
                <a:r>
                  <a:rPr lang="en-US" b="1" dirty="0"/>
                  <a:t>Advantage - </a:t>
                </a:r>
                <a:r>
                  <a:rPr lang="en-US" dirty="0"/>
                  <a:t>Fast response.</a:t>
                </a:r>
              </a:p>
              <a:p>
                <a:r>
                  <a:rPr lang="en-US" b="1" dirty="0"/>
                  <a:t>Problem - </a:t>
                </a:r>
                <a:r>
                  <a:rPr lang="en-US" dirty="0"/>
                  <a:t>It may leave </a:t>
                </a:r>
                <a:r>
                  <a:rPr lang="en-US" b="1" dirty="0"/>
                  <a:t>steady-state error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Example - Motor stabilizes at </a:t>
                </a:r>
                <a:r>
                  <a:rPr lang="en-US" b="1" dirty="0"/>
                  <a:t>98 RPM instead of 100 RPM</a:t>
                </a:r>
                <a:r>
                  <a:rPr lang="en-US" dirty="0"/>
                  <a:t>.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E83A4-2D3A-4604-BFBC-8CEE2F063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3"/>
                <a:stretch>
                  <a:fillRect l="-1481" t="-2448" b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32822-5FCF-4177-B256-D8946343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B8FB-C7DC-4649-BF86-EB57CCCA7B4C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99DA2-31A9-453B-A85B-E88CE47D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70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1EDD-6928-47E5-AF05-6E8D67A2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Control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336C-DE5A-413D-A173-1BA6181E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48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Integral control corrects </a:t>
            </a:r>
            <a:r>
              <a:rPr lang="en-US" b="1" dirty="0"/>
              <a:t>accumulated past errors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It gradually increases control effort if error persists.</a:t>
            </a:r>
          </a:p>
          <a:p>
            <a:r>
              <a:rPr lang="en-US" dirty="0"/>
              <a:t>Example: If motor runs at </a:t>
            </a:r>
            <a:r>
              <a:rPr lang="en-US" b="1" dirty="0"/>
              <a:t>98 RPM for a long time</a:t>
            </a:r>
            <a:r>
              <a:rPr lang="en-US" dirty="0"/>
              <a:t>, integral term pushes it to </a:t>
            </a:r>
            <a:r>
              <a:rPr lang="en-US" b="1" dirty="0"/>
              <a:t>100 RPM</a:t>
            </a:r>
            <a:r>
              <a:rPr lang="en-US" dirty="0"/>
              <a:t>.</a:t>
            </a:r>
          </a:p>
          <a:p>
            <a:r>
              <a:rPr lang="en-US" b="1" dirty="0"/>
              <a:t>Advantage - </a:t>
            </a:r>
            <a:r>
              <a:rPr lang="en-US" dirty="0"/>
              <a:t>Eliminates steady-state error.</a:t>
            </a:r>
          </a:p>
          <a:p>
            <a:r>
              <a:rPr lang="en-US" b="1" dirty="0"/>
              <a:t>Problem - </a:t>
            </a:r>
            <a:r>
              <a:rPr lang="en-US" dirty="0"/>
              <a:t>Too much integral gain can cause </a:t>
            </a:r>
            <a:r>
              <a:rPr lang="en-US" b="1" dirty="0"/>
              <a:t>oscillations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1D34D-57B8-4B53-AB4F-57C7D7C0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634" y="1942690"/>
            <a:ext cx="4136002" cy="572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D04EAE-3AFF-463E-BF69-B9AD28C3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216" y="2374130"/>
            <a:ext cx="2033419" cy="63336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6D556-A5A9-45C3-8FA4-6AEC11C8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4AB2-72BF-435B-83DA-53F5C835C1D0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6ADB0-89A1-4DFE-9D6D-A65AB24B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53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5934-8555-4A4F-ADBE-AC30EE18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Control (D)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F3C02-2239-4159-8E6C-0645C877A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Derivative control predicts </a:t>
            </a:r>
            <a:r>
              <a:rPr lang="en-US" b="1" dirty="0"/>
              <a:t>future error</a:t>
            </a:r>
            <a:r>
              <a:rPr lang="en-US" dirty="0"/>
              <a:t> based on rate of change.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error changes quickly, derivative term applies </a:t>
            </a:r>
            <a:r>
              <a:rPr lang="en-US" b="1" dirty="0"/>
              <a:t>braking action</a:t>
            </a:r>
            <a:r>
              <a:rPr lang="en-US" dirty="0"/>
              <a:t>.</a:t>
            </a:r>
          </a:p>
          <a:p>
            <a:r>
              <a:rPr lang="en-US" dirty="0"/>
              <a:t>Example - If motor speed suddenly jumps above target, derivative reduces PWM quickly.</a:t>
            </a:r>
          </a:p>
          <a:p>
            <a:r>
              <a:rPr lang="en-US" b="1" dirty="0"/>
              <a:t>Advantage - </a:t>
            </a:r>
            <a:r>
              <a:rPr lang="en-US" dirty="0"/>
              <a:t>Reduces overshoot.</a:t>
            </a:r>
          </a:p>
          <a:p>
            <a:r>
              <a:rPr lang="en-US" b="1" dirty="0"/>
              <a:t>Problem - </a:t>
            </a:r>
            <a:r>
              <a:rPr lang="en-US" dirty="0"/>
              <a:t>Sensitive to sensor noise.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71519-547B-4A1E-A2CE-9BF19FFF0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530" y="2125570"/>
            <a:ext cx="4136002" cy="572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23370-9D68-4BE3-88C5-089DFB0E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529" y="2678774"/>
            <a:ext cx="1301951" cy="57254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B50DF7-E92E-4056-A99E-AD63F856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D921-05AE-4ED6-9962-8E23AECCDA18}" type="datetime1">
              <a:rPr lang="en-US" smtClean="0"/>
              <a:t>3/16/2026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C8C6D-BC84-479E-9F65-E24A06DA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19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E128-4E3C-42B6-B54F-6B0185ED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Combined PID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D4D4-099B-4A2A-82DF-A88CC685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control signal: PWM=P+I+D  </a:t>
            </a:r>
          </a:p>
          <a:p>
            <a:r>
              <a:rPr lang="en-US" dirty="0"/>
              <a:t>Example: P = 40, I = 10 and D = -5</a:t>
            </a:r>
          </a:p>
          <a:p>
            <a:r>
              <a:rPr lang="en-US" dirty="0"/>
              <a:t>PWM=45, the Controller sends PWM = 45%.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3E228-C5F2-44BC-97D0-845BD9BA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EA23-BC63-4008-A996-9B2F3AB52401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31DF6-4D15-43D4-82C9-D45E613C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91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4B13-4C86-40DE-BE26-03D2B23A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Robotics Example 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BE4F-01CD-4CD3-A863-60C83A67F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Consider a </a:t>
            </a:r>
            <a:r>
              <a:rPr lang="en-US" b="1" dirty="0"/>
              <a:t>mobile robot wheel motor</a:t>
            </a:r>
            <a:r>
              <a:rPr lang="en-US" dirty="0"/>
              <a:t>.</a:t>
            </a:r>
          </a:p>
          <a:p>
            <a:r>
              <a:rPr lang="en-US" dirty="0"/>
              <a:t>Target speed = 120 RPM, Encoder reading = 100 RPM, error = 120-100 = 20RPM</a:t>
            </a:r>
          </a:p>
          <a:p>
            <a:r>
              <a:rPr lang="en-US" dirty="0"/>
              <a:t>Controller adjusts PWM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Robot reaches stable speed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FB31C5-6B4D-448E-98AB-6FCDB1353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222955"/>
              </p:ext>
            </p:extLst>
          </p:nvPr>
        </p:nvGraphicFramePr>
        <p:xfrm>
          <a:off x="813816" y="3694176"/>
          <a:ext cx="6144768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823365865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12133098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63474827"/>
                    </a:ext>
                  </a:extLst>
                </a:gridCol>
              </a:tblGrid>
              <a:tr h="336042">
                <a:tc>
                  <a:txBody>
                    <a:bodyPr/>
                    <a:lstStyle/>
                    <a:p>
                      <a:r>
                        <a:rPr lang="en-US" sz="2400" b="1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PWM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940407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r>
                        <a:rPr lang="en-US" sz="240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100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1699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r>
                        <a:rPr lang="en-US" sz="2400"/>
                        <a:t>Adjust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110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174530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r>
                        <a:rPr lang="en-US" sz="2400"/>
                        <a:t>Stabilize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120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157359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CB923-B958-47E7-A150-4CF7C091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89353-FD61-48E1-85E3-06C48B0AE337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A5A86-C269-4B57-88BD-FC4C2C57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9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56F4-0AD4-4EC9-83B5-81EA7711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PID Control Algorithm (Programming)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31ED-D9A8-41DA-8E06-0CFF1DD9B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12480" cy="4525963"/>
          </a:xfrm>
        </p:spPr>
        <p:txBody>
          <a:bodyPr>
            <a:normAutofit/>
          </a:bodyPr>
          <a:lstStyle/>
          <a:p>
            <a:r>
              <a:rPr lang="en-US" dirty="0"/>
              <a:t>Example control loop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error = </a:t>
            </a:r>
            <a:r>
              <a:rPr lang="en-US" dirty="0" err="1"/>
              <a:t>target_speed</a:t>
            </a:r>
            <a:r>
              <a:rPr lang="en-US" dirty="0"/>
              <a:t> - </a:t>
            </a:r>
            <a:r>
              <a:rPr lang="en-US" dirty="0" err="1"/>
              <a:t>measured_speed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integral = integral + error * dt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derivative = (error - </a:t>
            </a:r>
            <a:r>
              <a:rPr lang="en-US" dirty="0" err="1"/>
              <a:t>previous_error</a:t>
            </a:r>
            <a:r>
              <a:rPr lang="en-US" dirty="0"/>
              <a:t>) / dt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control = </a:t>
            </a:r>
            <a:r>
              <a:rPr lang="en-US" dirty="0" err="1"/>
              <a:t>Kp</a:t>
            </a:r>
            <a:r>
              <a:rPr lang="en-US" dirty="0"/>
              <a:t>*error + Ki*integral + </a:t>
            </a:r>
            <a:r>
              <a:rPr lang="en-US" dirty="0" err="1"/>
              <a:t>Kd</a:t>
            </a:r>
            <a:r>
              <a:rPr lang="en-US" dirty="0"/>
              <a:t>*derivative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pwm</a:t>
            </a:r>
            <a:r>
              <a:rPr lang="en-US" dirty="0"/>
              <a:t> = </a:t>
            </a:r>
            <a:r>
              <a:rPr lang="en-US" dirty="0" err="1"/>
              <a:t>pwm</a:t>
            </a:r>
            <a:r>
              <a:rPr lang="en-US" dirty="0"/>
              <a:t> + control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previous_error</a:t>
            </a:r>
            <a:r>
              <a:rPr lang="en-US" dirty="0"/>
              <a:t> = error</a:t>
            </a:r>
          </a:p>
          <a:p>
            <a:pPr marL="0" indent="0">
              <a:buNone/>
            </a:pPr>
            <a:r>
              <a:rPr lang="en-US" dirty="0"/>
              <a:t>This loop runs </a:t>
            </a:r>
            <a:r>
              <a:rPr lang="en-US" b="1" dirty="0"/>
              <a:t>many times per second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03221-B41B-42A0-8EF3-848924F9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ABC7-18AF-4451-8BAF-0181B2E35B2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D6711-A6A3-46EB-9679-C4775A6B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59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485D-707D-4E3E-BACD-FDE6CE36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in Differential Drive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5890-AAA1-460D-AE1F-0F2A1205D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1456"/>
          </a:xfrm>
        </p:spPr>
        <p:txBody>
          <a:bodyPr/>
          <a:lstStyle/>
          <a:p>
            <a:r>
              <a:rPr lang="en-US" dirty="0"/>
              <a:t>A robot typically has </a:t>
            </a:r>
            <a:r>
              <a:rPr lang="en-US" b="1" dirty="0"/>
              <a:t>two motors</a:t>
            </a:r>
          </a:p>
          <a:p>
            <a:pPr lvl="1"/>
            <a:r>
              <a:rPr lang="en-US" dirty="0"/>
              <a:t>Left Wheel ← PID Controller</a:t>
            </a:r>
          </a:p>
          <a:p>
            <a:pPr lvl="1"/>
            <a:r>
              <a:rPr lang="en-US" dirty="0"/>
              <a:t>Right Wheel ← PID Controller</a:t>
            </a:r>
          </a:p>
          <a:p>
            <a:r>
              <a:rPr lang="en-US" dirty="0"/>
              <a:t>Controller ensures both wheels reach target speeds.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PID corrects both speeds. This ensures </a:t>
            </a:r>
            <a:r>
              <a:rPr lang="en-US" b="1" dirty="0"/>
              <a:t>straight motion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C85BDB-0B0A-4B32-AACE-86A91E4C2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53676"/>
              </p:ext>
            </p:extLst>
          </p:nvPr>
        </p:nvGraphicFramePr>
        <p:xfrm>
          <a:off x="3081528" y="3863181"/>
          <a:ext cx="5605272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8424">
                  <a:extLst>
                    <a:ext uri="{9D8B030D-6E8A-4147-A177-3AD203B41FA5}">
                      <a16:colId xmlns:a16="http://schemas.microsoft.com/office/drawing/2014/main" val="73617134"/>
                    </a:ext>
                  </a:extLst>
                </a:gridCol>
                <a:gridCol w="1868424">
                  <a:extLst>
                    <a:ext uri="{9D8B030D-6E8A-4147-A177-3AD203B41FA5}">
                      <a16:colId xmlns:a16="http://schemas.microsoft.com/office/drawing/2014/main" val="2370019909"/>
                    </a:ext>
                  </a:extLst>
                </a:gridCol>
                <a:gridCol w="1868424">
                  <a:extLst>
                    <a:ext uri="{9D8B030D-6E8A-4147-A177-3AD203B41FA5}">
                      <a16:colId xmlns:a16="http://schemas.microsoft.com/office/drawing/2014/main" val="905362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Wheel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97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95 RPM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9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 RPM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251970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0853C-1AF1-4FEC-8223-BCEBAE8F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7480-F958-456B-B3FF-85E365D1458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74AD3-C1CB-471F-AE5E-DE1C2125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5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C870-2606-4A4C-8BF2-DBC15179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PID in Robotics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9CE0-BF0F-44B6-8BDD-4424FFCE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7072" cy="4525963"/>
          </a:xfrm>
        </p:spPr>
        <p:txBody>
          <a:bodyPr>
            <a:normAutofit/>
          </a:bodyPr>
          <a:lstStyle/>
          <a:p>
            <a:r>
              <a:rPr lang="en-US" dirty="0"/>
              <a:t>PID control enables:</a:t>
            </a:r>
          </a:p>
          <a:p>
            <a:pPr lvl="1"/>
            <a:r>
              <a:rPr lang="en-US" dirty="0"/>
              <a:t>stable motor speed</a:t>
            </a:r>
          </a:p>
          <a:p>
            <a:pPr lvl="1"/>
            <a:r>
              <a:rPr lang="en-US" dirty="0"/>
              <a:t>precise motion</a:t>
            </a:r>
          </a:p>
          <a:p>
            <a:pPr lvl="1"/>
            <a:r>
              <a:rPr lang="en-US" dirty="0"/>
              <a:t>smooth acceleration</a:t>
            </a:r>
          </a:p>
          <a:p>
            <a:pPr lvl="1"/>
            <a:r>
              <a:rPr lang="en-US" dirty="0"/>
              <a:t>accurate turning</a:t>
            </a:r>
          </a:p>
          <a:p>
            <a:pPr lvl="1"/>
            <a:r>
              <a:rPr lang="en-US" dirty="0"/>
              <a:t>reliable navigation</a:t>
            </a:r>
          </a:p>
          <a:p>
            <a:r>
              <a:rPr lang="en-US" dirty="0"/>
              <a:t>Without PID, robots drift or move unpredictably.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76DFC-7BA9-472F-9161-9C6BEB72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76256-F944-4E13-8255-89A14C6F11E8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1B39F-B315-470F-B03C-D81B5E4D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52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AC9D-704E-460F-B90B-42ED9FBF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Real Robotics Systems Using PID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1175-0376-4050-B9B2-683B31E16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PID motor control is used in</a:t>
            </a:r>
          </a:p>
          <a:p>
            <a:pPr lvl="1"/>
            <a:r>
              <a:rPr lang="en-US" dirty="0"/>
              <a:t>industrial robots</a:t>
            </a:r>
          </a:p>
          <a:p>
            <a:pPr lvl="1"/>
            <a:r>
              <a:rPr lang="en-US" dirty="0"/>
              <a:t>autonomous vehicles</a:t>
            </a:r>
          </a:p>
          <a:p>
            <a:pPr lvl="1"/>
            <a:r>
              <a:rPr lang="en-US" dirty="0"/>
              <a:t>drones</a:t>
            </a:r>
          </a:p>
          <a:p>
            <a:pPr lvl="1"/>
            <a:r>
              <a:rPr lang="en-US" dirty="0"/>
              <a:t>mobile robots</a:t>
            </a:r>
          </a:p>
          <a:p>
            <a:pPr lvl="1"/>
            <a:r>
              <a:rPr lang="en-US" dirty="0"/>
              <a:t>robotic arms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3C832-684E-4D7A-8010-725C15DB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AE29-A1C9-4BE9-846F-DCB2D46FAFC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691E3-790E-4CE7-96EF-05850063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619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EAB1-6886-45B3-A026-D114728C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Closed-loop motor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4886A-1917-41A7-AB15-872A83664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Closed-loop motor control uses </a:t>
            </a:r>
            <a:r>
              <a:rPr lang="en-US" b="1" dirty="0"/>
              <a:t>feedback from encoders to regulate motor speed</a:t>
            </a:r>
            <a:r>
              <a:rPr lang="en-US" dirty="0"/>
              <a:t>.</a:t>
            </a:r>
          </a:p>
          <a:p>
            <a:r>
              <a:rPr lang="en-US" dirty="0"/>
              <a:t>PID control combines:</a:t>
            </a:r>
          </a:p>
          <a:p>
            <a:pPr lvl="1"/>
            <a:r>
              <a:rPr lang="en-US" b="1" dirty="0"/>
              <a:t>Proportional</a:t>
            </a:r>
            <a:r>
              <a:rPr lang="en-US" dirty="0"/>
              <a:t> → reacts to current error</a:t>
            </a:r>
          </a:p>
          <a:p>
            <a:pPr lvl="1"/>
            <a:r>
              <a:rPr lang="en-US" b="1" dirty="0"/>
              <a:t>Integral</a:t>
            </a:r>
            <a:r>
              <a:rPr lang="en-US" dirty="0"/>
              <a:t> → corrects past error</a:t>
            </a:r>
          </a:p>
          <a:p>
            <a:pPr lvl="1"/>
            <a:r>
              <a:rPr lang="en-US" b="1" dirty="0"/>
              <a:t>Derivative</a:t>
            </a:r>
            <a:r>
              <a:rPr lang="en-US" dirty="0"/>
              <a:t> → predicts future error</a:t>
            </a:r>
          </a:p>
          <a:p>
            <a:r>
              <a:rPr lang="en-US" dirty="0"/>
              <a:t>Together they allow robots to move </a:t>
            </a:r>
            <a:r>
              <a:rPr lang="en-US" b="1" dirty="0"/>
              <a:t>accurately and smoothly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39811-BCB9-4775-937A-2FE15D4D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A57BF-A216-41B0-85EB-ED48354E668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D82BB-F12C-408D-8401-9E9E4D3B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481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D580-E573-42E1-8045-13B3B456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Programmer's Mental Model of a Motor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A61A09-BB57-40C8-9AF2-CB341187C887}"/>
              </a:ext>
            </a:extLst>
          </p:cNvPr>
          <p:cNvGrpSpPr/>
          <p:nvPr/>
        </p:nvGrpSpPr>
        <p:grpSpPr>
          <a:xfrm>
            <a:off x="749300" y="1417638"/>
            <a:ext cx="3952875" cy="4854855"/>
            <a:chOff x="4864100" y="1271308"/>
            <a:chExt cx="3952875" cy="48548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9EFCFA-F1EA-4B20-9FA0-DF9332AF8AEC}"/>
                </a:ext>
              </a:extLst>
            </p:cNvPr>
            <p:cNvSpPr/>
            <p:nvPr/>
          </p:nvSpPr>
          <p:spPr>
            <a:xfrm>
              <a:off x="4905375" y="1916992"/>
              <a:ext cx="3911600" cy="1143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PWM Amplifier (H-Bridge)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02F8A7-6451-4BCD-A174-2119699CD6C6}"/>
                </a:ext>
              </a:extLst>
            </p:cNvPr>
            <p:cNvSpPr txBox="1"/>
            <p:nvPr/>
          </p:nvSpPr>
          <p:spPr>
            <a:xfrm>
              <a:off x="6070600" y="1271308"/>
              <a:ext cx="14732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/>
                <a:t>YOUR CODE</a:t>
              </a:r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DB860E-549B-4E45-BF5A-C7B801C2B08F}"/>
                </a:ext>
              </a:extLst>
            </p:cNvPr>
            <p:cNvSpPr txBox="1"/>
            <p:nvPr/>
          </p:nvSpPr>
          <p:spPr>
            <a:xfrm>
              <a:off x="4905375" y="2425204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Forward command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32DC5A-B59E-402B-B944-DF99F2E84406}"/>
                </a:ext>
              </a:extLst>
            </p:cNvPr>
            <p:cNvSpPr txBox="1"/>
            <p:nvPr/>
          </p:nvSpPr>
          <p:spPr>
            <a:xfrm>
              <a:off x="4864100" y="5479832"/>
              <a:ext cx="388620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YOUR CODE (AGAIN)                    </a:t>
              </a:r>
            </a:p>
            <a:p>
              <a:pPr algn="ctr"/>
              <a:r>
                <a:rPr lang="en-US" b="1" dirty="0"/>
                <a:t>Read encoder, compute next command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B68E61-0326-4076-9D93-E030CE18B664}"/>
                </a:ext>
              </a:extLst>
            </p:cNvPr>
            <p:cNvSpPr txBox="1"/>
            <p:nvPr/>
          </p:nvSpPr>
          <p:spPr>
            <a:xfrm>
              <a:off x="4914900" y="4536026"/>
              <a:ext cx="378460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    ENCODER                         </a:t>
              </a:r>
            </a:p>
            <a:p>
              <a:pPr algn="ctr"/>
              <a:r>
                <a:rPr lang="en-US" b="1" dirty="0"/>
                <a:t>Output: Position pulses (A, B phases)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01E48C-D619-4E59-9D5B-A01BDD190428}"/>
                </a:ext>
              </a:extLst>
            </p:cNvPr>
            <p:cNvSpPr txBox="1"/>
            <p:nvPr/>
          </p:nvSpPr>
          <p:spPr>
            <a:xfrm>
              <a:off x="5556250" y="3336344"/>
              <a:ext cx="2609850" cy="9233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DC MOTOR                        </a:t>
              </a:r>
            </a:p>
            <a:p>
              <a:pPr algn="ctr"/>
              <a:r>
                <a:rPr lang="en-US" b="1" dirty="0"/>
                <a:t>Input: Voltage (via PWM)   </a:t>
              </a:r>
            </a:p>
            <a:p>
              <a:pPr algn="ctr"/>
              <a:r>
                <a:rPr lang="en-US" b="1" dirty="0"/>
                <a:t>Output: Torque + Speed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B1B9D9-77DB-4D69-83AE-DBD13CD24EC4}"/>
                </a:ext>
              </a:extLst>
            </p:cNvPr>
            <p:cNvSpPr txBox="1"/>
            <p:nvPr/>
          </p:nvSpPr>
          <p:spPr>
            <a:xfrm>
              <a:off x="6292850" y="2425203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Reverse command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591782-BFC3-41FF-8A35-B3BAB00BE906}"/>
                </a:ext>
              </a:extLst>
            </p:cNvPr>
            <p:cNvSpPr txBox="1"/>
            <p:nvPr/>
          </p:nvSpPr>
          <p:spPr>
            <a:xfrm>
              <a:off x="7680325" y="2413661"/>
              <a:ext cx="1136650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Brake  command</a:t>
              </a:r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8584720-6A61-487E-9036-2EF04854FA98}"/>
                </a:ext>
              </a:extLst>
            </p:cNvPr>
            <p:cNvCxnSpPr>
              <a:stCxn id="9" idx="2"/>
              <a:endCxn id="8" idx="0"/>
            </p:cNvCxnSpPr>
            <p:nvPr/>
          </p:nvCxnSpPr>
          <p:spPr>
            <a:xfrm>
              <a:off x="6861175" y="3071534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3E0C3F-75F9-4896-9A6A-4B5E52588F74}"/>
                </a:ext>
              </a:extLst>
            </p:cNvPr>
            <p:cNvCxnSpPr/>
            <p:nvPr/>
          </p:nvCxnSpPr>
          <p:spPr>
            <a:xfrm>
              <a:off x="6832600" y="1652182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1827872-BB01-48DA-B67E-0813342CF86D}"/>
                </a:ext>
              </a:extLst>
            </p:cNvPr>
            <p:cNvCxnSpPr/>
            <p:nvPr/>
          </p:nvCxnSpPr>
          <p:spPr>
            <a:xfrm>
              <a:off x="6861175" y="5182357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9E6028-AA6D-4633-A9EB-3D285BAD3056}"/>
                </a:ext>
              </a:extLst>
            </p:cNvPr>
            <p:cNvCxnSpPr/>
            <p:nvPr/>
          </p:nvCxnSpPr>
          <p:spPr>
            <a:xfrm>
              <a:off x="6861175" y="4259674"/>
              <a:ext cx="0" cy="26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223CEBF-B161-42E2-93F3-AB82F7B0576D}"/>
              </a:ext>
            </a:extLst>
          </p:cNvPr>
          <p:cNvSpPr/>
          <p:nvPr/>
        </p:nvSpPr>
        <p:spPr>
          <a:xfrm>
            <a:off x="4837176" y="1872941"/>
            <a:ext cx="40416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robotics applications, bi-directional control of motor speed is necessary.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requires a Pulse width modulation (PWM) amplifier to be bipolar, allowing for both forward and backward rotations.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DC motors and PWM amplifiers, are the two most important components involved in a robot power 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Encoder 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A412E0A6-D448-4134-BE85-25348361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1B1B-E0AC-4E49-8D3A-99679EB32BB0}" type="datetime1">
              <a:rPr lang="en-US" smtClean="0"/>
              <a:t>3/16/2026</a:t>
            </a:fld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B0193E8-CF74-4BDB-ABDE-DC2032FD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91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0C8-CFF4-4EA7-A5AE-F83EDABD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Bipolar PWM amplifier with a built-in cooling fun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34A999-7538-4322-BEB5-422585415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105" y="1752643"/>
            <a:ext cx="8365789" cy="299309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4C9302-8CED-4250-BA7E-FBB057D4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5865-273C-4989-9BDE-97ADD0C3805D}" type="datetime1">
              <a:rPr lang="en-US" smtClean="0"/>
              <a:t>3/16/2026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8289D-27DC-4D7C-B286-DB2DCB62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914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0ADF-454F-4AC4-8BF3-69A838DF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071083" cy="1143000"/>
          </a:xfrm>
        </p:spPr>
        <p:txBody>
          <a:bodyPr/>
          <a:lstStyle/>
          <a:p>
            <a:r>
              <a:rPr lang="en-US" dirty="0"/>
              <a:t>DC Motor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8E0C96-0216-4DD0-B278-BFFC5E0A4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47672"/>
            <a:ext cx="4947771" cy="36758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CE5325-F19D-47A9-9607-38E525E9B4A7}"/>
              </a:ext>
            </a:extLst>
          </p:cNvPr>
          <p:cNvSpPr/>
          <p:nvPr/>
        </p:nvSpPr>
        <p:spPr>
          <a:xfrm>
            <a:off x="4947771" y="1200292"/>
            <a:ext cx="419623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DC servomotor, consisting of a stator, a rotor, and a commutation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stator consists of permanent magnets, creating a magnetic field in the air gap between the rotor and the stator.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 The rotor has several windings arranged symmetrically around the motor shaft.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As the rotor rotates the polarity of the current flowing to the individual windings is altered. This allows the rotor to rotate continually.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15E830-D0CA-4D1C-8002-22A9252D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B403-A23A-4784-816E-843287BE8290}" type="datetime1">
              <a:rPr lang="en-US" smtClean="0"/>
              <a:t>3/16/2026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28BFD-094D-44CF-81AE-3F69403B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08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ED3E-D5A5-4849-965B-6B3007B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109E-EC1D-42DD-8008-46E4A1A00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 on the application of motors in driving cars, propellers for a drone and propellers for water vehicle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6D82F-1C71-4659-B56B-6C3DA5DB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0FDA-59DF-455D-BAF2-6569BB8C2C1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9A1B2-D86C-4DC5-AAC0-AD91D69F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4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3166</TotalTime>
  <Words>2579</Words>
  <Application>Microsoft Office PowerPoint</Application>
  <PresentationFormat>On-screen Show (4:3)</PresentationFormat>
  <Paragraphs>506</Paragraphs>
  <Slides>54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Cambria Math</vt:lpstr>
      <vt:lpstr>Office Theme</vt:lpstr>
      <vt:lpstr>Robot Locomotion</vt:lpstr>
      <vt:lpstr>Introduction to Robot Locomotion</vt:lpstr>
      <vt:lpstr>Robotics Locomotion Scheme</vt:lpstr>
      <vt:lpstr>Core Locomotion Concepts</vt:lpstr>
      <vt:lpstr>Characteristics of Locomotion</vt:lpstr>
      <vt:lpstr>Legged Locomotion</vt:lpstr>
      <vt:lpstr>Legged Robot Gaits</vt:lpstr>
      <vt:lpstr>Wheeled Locomotion</vt:lpstr>
      <vt:lpstr>Standard Wheel Configurations</vt:lpstr>
      <vt:lpstr>Differential Drive Kinematics</vt:lpstr>
      <vt:lpstr>Mapping Wheel Rotation to Velocity</vt:lpstr>
      <vt:lpstr>Robot Motion on a 2D Plane</vt:lpstr>
      <vt:lpstr>State Representation</vt:lpstr>
      <vt:lpstr>Path Planning Overview</vt:lpstr>
      <vt:lpstr>A* Path Planning Algorithm</vt:lpstr>
      <vt:lpstr>Differential Drive Simulation Model</vt:lpstr>
      <vt:lpstr>Applications of Robot Locomotion</vt:lpstr>
      <vt:lpstr>Programming Mobile Robot Locomotion</vt:lpstr>
      <vt:lpstr>Summary</vt:lpstr>
      <vt:lpstr>Locomotion -  A Programmer's Perspective </vt:lpstr>
      <vt:lpstr>Welcome – What This Means for You as a Programmer</vt:lpstr>
      <vt:lpstr>Motors</vt:lpstr>
      <vt:lpstr>DC Motor in Robotics Locomotion</vt:lpstr>
      <vt:lpstr>PWM </vt:lpstr>
      <vt:lpstr>Duty Cycle and motor speed</vt:lpstr>
      <vt:lpstr>Encoder in Robotics</vt:lpstr>
      <vt:lpstr>Types of Encoders </vt:lpstr>
      <vt:lpstr>How PWM and Encoder Work Together</vt:lpstr>
      <vt:lpstr>Calculating Motor Speed Using Encoder</vt:lpstr>
      <vt:lpstr>RPM and Robot Wheel Motion</vt:lpstr>
      <vt:lpstr>Differential Drive Robot</vt:lpstr>
      <vt:lpstr>PowerPoint Presentation</vt:lpstr>
      <vt:lpstr>Programming PWM + Encoder Control</vt:lpstr>
      <vt:lpstr>Role of PWM + encoder in Robotics Locomotion</vt:lpstr>
      <vt:lpstr>PWM and encoder</vt:lpstr>
      <vt:lpstr>Closed-Loop Motor Control</vt:lpstr>
      <vt:lpstr>Control loop structure</vt:lpstr>
      <vt:lpstr>Open-Loop vs Closed-Loop Control</vt:lpstr>
      <vt:lpstr>Open-Loop vs Closed-Loop Control</vt:lpstr>
      <vt:lpstr>PID Control </vt:lpstr>
      <vt:lpstr>Proportional Control (P)</vt:lpstr>
      <vt:lpstr>Integral Control (I)</vt:lpstr>
      <vt:lpstr>Derivative Control (D)</vt:lpstr>
      <vt:lpstr>Combined PID Control</vt:lpstr>
      <vt:lpstr>Practical Robotics Example PID</vt:lpstr>
      <vt:lpstr>PID Control Algorithm (Programming)</vt:lpstr>
      <vt:lpstr>PID in Differential Drive Robots</vt:lpstr>
      <vt:lpstr>Benefits of PID in Robotics</vt:lpstr>
      <vt:lpstr>Real Robotics Systems Using PID </vt:lpstr>
      <vt:lpstr>Closed-loop motor control</vt:lpstr>
      <vt:lpstr>The Programmer's Mental Model of a Motor</vt:lpstr>
      <vt:lpstr>Bipolar PWM amplifier with a built-in cooling fun </vt:lpstr>
      <vt:lpstr>DC Motor</vt:lpstr>
      <vt:lpstr>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Robot Locomotion</dc:title>
  <dc:subject/>
  <dc:creator>DSI</dc:creator>
  <cp:keywords/>
  <dc:description>generated using python-pptx</dc:description>
  <cp:lastModifiedBy>DSI</cp:lastModifiedBy>
  <cp:revision>40</cp:revision>
  <dcterms:created xsi:type="dcterms:W3CDTF">2013-01-27T09:14:16Z</dcterms:created>
  <dcterms:modified xsi:type="dcterms:W3CDTF">2026-03-16T15:51:11Z</dcterms:modified>
  <cp:category/>
</cp:coreProperties>
</file>