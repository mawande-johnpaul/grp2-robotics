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5"/>
  </p:notesMasterIdLst>
  <p:sldIdLst>
    <p:sldId id="256" r:id="rId2"/>
    <p:sldId id="257" r:id="rId3"/>
    <p:sldId id="259" r:id="rId4"/>
    <p:sldId id="260" r:id="rId5"/>
    <p:sldId id="297" r:id="rId6"/>
    <p:sldId id="300" r:id="rId7"/>
    <p:sldId id="301" r:id="rId8"/>
    <p:sldId id="262" r:id="rId9"/>
    <p:sldId id="298" r:id="rId10"/>
    <p:sldId id="264" r:id="rId11"/>
    <p:sldId id="261" r:id="rId12"/>
    <p:sldId id="299" r:id="rId13"/>
    <p:sldId id="258" r:id="rId14"/>
    <p:sldId id="296" r:id="rId15"/>
    <p:sldId id="266" r:id="rId16"/>
    <p:sldId id="267" r:id="rId17"/>
    <p:sldId id="273" r:id="rId18"/>
    <p:sldId id="272" r:id="rId19"/>
    <p:sldId id="268" r:id="rId20"/>
    <p:sldId id="269" r:id="rId21"/>
    <p:sldId id="270" r:id="rId22"/>
    <p:sldId id="271" r:id="rId23"/>
    <p:sldId id="277" r:id="rId24"/>
    <p:sldId id="275" r:id="rId25"/>
    <p:sldId id="281" r:id="rId26"/>
    <p:sldId id="280" r:id="rId27"/>
    <p:sldId id="292" r:id="rId28"/>
    <p:sldId id="305" r:id="rId29"/>
    <p:sldId id="282" r:id="rId30"/>
    <p:sldId id="293" r:id="rId31"/>
    <p:sldId id="294" r:id="rId32"/>
    <p:sldId id="283" r:id="rId33"/>
    <p:sldId id="284" r:id="rId34"/>
    <p:sldId id="285" r:id="rId35"/>
    <p:sldId id="278" r:id="rId36"/>
    <p:sldId id="295" r:id="rId37"/>
    <p:sldId id="286" r:id="rId38"/>
    <p:sldId id="310" r:id="rId39"/>
    <p:sldId id="311" r:id="rId40"/>
    <p:sldId id="288" r:id="rId41"/>
    <p:sldId id="312" r:id="rId42"/>
    <p:sldId id="313" r:id="rId43"/>
    <p:sldId id="314" r:id="rId44"/>
    <p:sldId id="315" r:id="rId45"/>
    <p:sldId id="316" r:id="rId46"/>
    <p:sldId id="291" r:id="rId47"/>
    <p:sldId id="317" r:id="rId48"/>
    <p:sldId id="303" r:id="rId49"/>
    <p:sldId id="307" r:id="rId50"/>
    <p:sldId id="304" r:id="rId51"/>
    <p:sldId id="263" r:id="rId52"/>
    <p:sldId id="265" r:id="rId53"/>
    <p:sldId id="306"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p:cViewPr varScale="1">
        <p:scale>
          <a:sx n="67" d="100"/>
          <a:sy n="67" d="100"/>
        </p:scale>
        <p:origin x="452"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F69D4E-08E1-4D2C-A25B-B319FE0E70C1}" type="datetimeFigureOut">
              <a:rPr lang="en-US" smtClean="0"/>
              <a:t>3/8/2026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A230AC-051F-41B2-819A-1F0645C244F5}" type="slidenum">
              <a:rPr lang="en-US" smtClean="0"/>
              <a:t>‹#›</a:t>
            </a:fld>
            <a:endParaRPr lang="en-US"/>
          </a:p>
        </p:txBody>
      </p:sp>
    </p:spTree>
    <p:extLst>
      <p:ext uri="{BB962C8B-B14F-4D97-AF65-F5344CB8AC3E}">
        <p14:creationId xmlns:p14="http://schemas.microsoft.com/office/powerpoint/2010/main" val="2973098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D9BBB-58C1-4E19-B846-29FCCB7458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2383CC-A67E-43B1-A8C3-6B3F92FC94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9D324E-B59E-49CA-B0D8-F54CF1FE4E55}"/>
              </a:ext>
            </a:extLst>
          </p:cNvPr>
          <p:cNvSpPr>
            <a:spLocks noGrp="1"/>
          </p:cNvSpPr>
          <p:nvPr>
            <p:ph type="dt" sz="half" idx="10"/>
          </p:nvPr>
        </p:nvSpPr>
        <p:spPr/>
        <p:txBody>
          <a:bodyPr/>
          <a:lstStyle/>
          <a:p>
            <a:fld id="{EB769C82-5E80-426D-8DC0-C83FCC91E79F}" type="datetime1">
              <a:rPr lang="en-US" smtClean="0"/>
              <a:t>3/8/2026</a:t>
            </a:fld>
            <a:endParaRPr lang="en-US"/>
          </a:p>
        </p:txBody>
      </p:sp>
      <p:sp>
        <p:nvSpPr>
          <p:cNvPr id="5" name="Footer Placeholder 4">
            <a:extLst>
              <a:ext uri="{FF2B5EF4-FFF2-40B4-BE49-F238E27FC236}">
                <a16:creationId xmlns:a16="http://schemas.microsoft.com/office/drawing/2014/main" id="{4806E20A-98AE-4FC4-82AD-01F665D44F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F38AA0-E802-4C91-BE91-1B17FD2AE47C}"/>
              </a:ext>
            </a:extLst>
          </p:cNvPr>
          <p:cNvSpPr>
            <a:spLocks noGrp="1"/>
          </p:cNvSpPr>
          <p:nvPr>
            <p:ph type="sldNum" sz="quarter" idx="12"/>
          </p:nvPr>
        </p:nvSpPr>
        <p:spPr/>
        <p:txBody>
          <a:bodyPr/>
          <a:lstStyle/>
          <a:p>
            <a:fld id="{C29293D3-8374-41FE-B1E4-A635E9555193}" type="slidenum">
              <a:rPr lang="en-US" smtClean="0"/>
              <a:t>‹#›</a:t>
            </a:fld>
            <a:endParaRPr lang="en-US"/>
          </a:p>
        </p:txBody>
      </p:sp>
    </p:spTree>
    <p:extLst>
      <p:ext uri="{BB962C8B-B14F-4D97-AF65-F5344CB8AC3E}">
        <p14:creationId xmlns:p14="http://schemas.microsoft.com/office/powerpoint/2010/main" val="26088501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93596-C233-4C8C-934E-B19A8170CA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9C5E746-58A9-402D-8BF1-0BDA12E64F5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5317F8-BB44-4F18-A0A0-171DD66131E3}"/>
              </a:ext>
            </a:extLst>
          </p:cNvPr>
          <p:cNvSpPr>
            <a:spLocks noGrp="1"/>
          </p:cNvSpPr>
          <p:nvPr>
            <p:ph type="dt" sz="half" idx="10"/>
          </p:nvPr>
        </p:nvSpPr>
        <p:spPr/>
        <p:txBody>
          <a:bodyPr/>
          <a:lstStyle/>
          <a:p>
            <a:fld id="{98767FAE-B6FB-42DE-8B45-DBC1FCF41C5C}" type="datetime1">
              <a:rPr lang="en-US" smtClean="0"/>
              <a:t>3/8/2026</a:t>
            </a:fld>
            <a:endParaRPr lang="en-US"/>
          </a:p>
        </p:txBody>
      </p:sp>
      <p:sp>
        <p:nvSpPr>
          <p:cNvPr id="5" name="Footer Placeholder 4">
            <a:extLst>
              <a:ext uri="{FF2B5EF4-FFF2-40B4-BE49-F238E27FC236}">
                <a16:creationId xmlns:a16="http://schemas.microsoft.com/office/drawing/2014/main" id="{63BA5317-FC2B-4A08-925C-3A554AE63D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3B25D1-1815-4DC6-A3F5-3364CC044D70}"/>
              </a:ext>
            </a:extLst>
          </p:cNvPr>
          <p:cNvSpPr>
            <a:spLocks noGrp="1"/>
          </p:cNvSpPr>
          <p:nvPr>
            <p:ph type="sldNum" sz="quarter" idx="12"/>
          </p:nvPr>
        </p:nvSpPr>
        <p:spPr/>
        <p:txBody>
          <a:bodyPr/>
          <a:lstStyle/>
          <a:p>
            <a:fld id="{C29293D3-8374-41FE-B1E4-A635E9555193}" type="slidenum">
              <a:rPr lang="en-US" smtClean="0"/>
              <a:t>‹#›</a:t>
            </a:fld>
            <a:endParaRPr lang="en-US"/>
          </a:p>
        </p:txBody>
      </p:sp>
    </p:spTree>
    <p:extLst>
      <p:ext uri="{BB962C8B-B14F-4D97-AF65-F5344CB8AC3E}">
        <p14:creationId xmlns:p14="http://schemas.microsoft.com/office/powerpoint/2010/main" val="382985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B1D5E-3C42-415B-B29E-B4606F6844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96E024B-B53D-4DDA-966D-4BE7B47133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74D5EEF-A1EE-4ED2-A382-A75A4A94ED6D}"/>
              </a:ext>
            </a:extLst>
          </p:cNvPr>
          <p:cNvSpPr>
            <a:spLocks noGrp="1"/>
          </p:cNvSpPr>
          <p:nvPr>
            <p:ph type="dt" sz="half" idx="10"/>
          </p:nvPr>
        </p:nvSpPr>
        <p:spPr/>
        <p:txBody>
          <a:bodyPr/>
          <a:lstStyle/>
          <a:p>
            <a:fld id="{2C484692-1AAD-442A-9A80-C95EB29B7B9E}" type="datetime1">
              <a:rPr lang="en-US" smtClean="0"/>
              <a:t>3/8/2026</a:t>
            </a:fld>
            <a:endParaRPr lang="en-US"/>
          </a:p>
        </p:txBody>
      </p:sp>
      <p:sp>
        <p:nvSpPr>
          <p:cNvPr id="5" name="Footer Placeholder 4">
            <a:extLst>
              <a:ext uri="{FF2B5EF4-FFF2-40B4-BE49-F238E27FC236}">
                <a16:creationId xmlns:a16="http://schemas.microsoft.com/office/drawing/2014/main" id="{E45FE7D9-C512-4821-877B-1ED9F6E003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39FA4E-B6EA-46A2-BB1F-29A4A82FA1B9}"/>
              </a:ext>
            </a:extLst>
          </p:cNvPr>
          <p:cNvSpPr>
            <a:spLocks noGrp="1"/>
          </p:cNvSpPr>
          <p:nvPr>
            <p:ph type="sldNum" sz="quarter" idx="12"/>
          </p:nvPr>
        </p:nvSpPr>
        <p:spPr/>
        <p:txBody>
          <a:bodyPr/>
          <a:lstStyle/>
          <a:p>
            <a:fld id="{C29293D3-8374-41FE-B1E4-A635E9555193}" type="slidenum">
              <a:rPr lang="en-US" smtClean="0"/>
              <a:t>‹#›</a:t>
            </a:fld>
            <a:endParaRPr lang="en-US"/>
          </a:p>
        </p:txBody>
      </p:sp>
    </p:spTree>
    <p:extLst>
      <p:ext uri="{BB962C8B-B14F-4D97-AF65-F5344CB8AC3E}">
        <p14:creationId xmlns:p14="http://schemas.microsoft.com/office/powerpoint/2010/main" val="94352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94A0B-E124-4990-B427-7B542BA831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F11E86-72C0-49F8-BF61-E8F7CE63A5C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0D6877C-5D59-47CB-AAC2-67B29354972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D0D0D94-B5A8-48D1-AA71-8F631BDDBBA5}"/>
              </a:ext>
            </a:extLst>
          </p:cNvPr>
          <p:cNvSpPr>
            <a:spLocks noGrp="1"/>
          </p:cNvSpPr>
          <p:nvPr>
            <p:ph type="dt" sz="half" idx="10"/>
          </p:nvPr>
        </p:nvSpPr>
        <p:spPr/>
        <p:txBody>
          <a:bodyPr/>
          <a:lstStyle/>
          <a:p>
            <a:fld id="{6AECBA45-2DC5-4F20-8CCE-673A8F8BB399}" type="datetime1">
              <a:rPr lang="en-US" smtClean="0"/>
              <a:t>3/8/2026</a:t>
            </a:fld>
            <a:endParaRPr lang="en-US"/>
          </a:p>
        </p:txBody>
      </p:sp>
      <p:sp>
        <p:nvSpPr>
          <p:cNvPr id="6" name="Footer Placeholder 5">
            <a:extLst>
              <a:ext uri="{FF2B5EF4-FFF2-40B4-BE49-F238E27FC236}">
                <a16:creationId xmlns:a16="http://schemas.microsoft.com/office/drawing/2014/main" id="{37CAAFFC-D6A7-40B8-8212-866E22F118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141EC4-1644-452C-AD9B-AAEB6B31BC88}"/>
              </a:ext>
            </a:extLst>
          </p:cNvPr>
          <p:cNvSpPr>
            <a:spLocks noGrp="1"/>
          </p:cNvSpPr>
          <p:nvPr>
            <p:ph type="sldNum" sz="quarter" idx="12"/>
          </p:nvPr>
        </p:nvSpPr>
        <p:spPr/>
        <p:txBody>
          <a:bodyPr/>
          <a:lstStyle/>
          <a:p>
            <a:fld id="{C29293D3-8374-41FE-B1E4-A635E9555193}" type="slidenum">
              <a:rPr lang="en-US" smtClean="0"/>
              <a:t>‹#›</a:t>
            </a:fld>
            <a:endParaRPr lang="en-US"/>
          </a:p>
        </p:txBody>
      </p:sp>
    </p:spTree>
    <p:extLst>
      <p:ext uri="{BB962C8B-B14F-4D97-AF65-F5344CB8AC3E}">
        <p14:creationId xmlns:p14="http://schemas.microsoft.com/office/powerpoint/2010/main" val="24727375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186DA-6464-42BA-88FD-ACE31A742BA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FAB254E-E1BC-49B3-90D4-6A52718CFA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A0D26F1-0059-4000-ADFB-8AC76BF2263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2A89239-5891-4024-8FF3-B59779FAD5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9CCC29C-39CB-4DB9-A9F7-ADA2E90E8D1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32D3422-C839-4464-98FB-D55B6725534B}"/>
              </a:ext>
            </a:extLst>
          </p:cNvPr>
          <p:cNvSpPr>
            <a:spLocks noGrp="1"/>
          </p:cNvSpPr>
          <p:nvPr>
            <p:ph type="dt" sz="half" idx="10"/>
          </p:nvPr>
        </p:nvSpPr>
        <p:spPr/>
        <p:txBody>
          <a:bodyPr/>
          <a:lstStyle/>
          <a:p>
            <a:fld id="{E09CFA8F-7C7A-4D3A-9FAF-FAAE1A7C2B2A}" type="datetime1">
              <a:rPr lang="en-US" smtClean="0"/>
              <a:t>3/8/2026</a:t>
            </a:fld>
            <a:endParaRPr lang="en-US"/>
          </a:p>
        </p:txBody>
      </p:sp>
      <p:sp>
        <p:nvSpPr>
          <p:cNvPr id="8" name="Footer Placeholder 7">
            <a:extLst>
              <a:ext uri="{FF2B5EF4-FFF2-40B4-BE49-F238E27FC236}">
                <a16:creationId xmlns:a16="http://schemas.microsoft.com/office/drawing/2014/main" id="{C9423B66-F090-4824-8228-222E4D2A082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458E9DE-8F9C-43F3-B7F7-B9D2883DD085}"/>
              </a:ext>
            </a:extLst>
          </p:cNvPr>
          <p:cNvSpPr>
            <a:spLocks noGrp="1"/>
          </p:cNvSpPr>
          <p:nvPr>
            <p:ph type="sldNum" sz="quarter" idx="12"/>
          </p:nvPr>
        </p:nvSpPr>
        <p:spPr/>
        <p:txBody>
          <a:bodyPr/>
          <a:lstStyle/>
          <a:p>
            <a:fld id="{C29293D3-8374-41FE-B1E4-A635E9555193}" type="slidenum">
              <a:rPr lang="en-US" smtClean="0"/>
              <a:t>‹#›</a:t>
            </a:fld>
            <a:endParaRPr lang="en-US"/>
          </a:p>
        </p:txBody>
      </p:sp>
    </p:spTree>
    <p:extLst>
      <p:ext uri="{BB962C8B-B14F-4D97-AF65-F5344CB8AC3E}">
        <p14:creationId xmlns:p14="http://schemas.microsoft.com/office/powerpoint/2010/main" val="769267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E1D86-02AB-40C9-BACB-0B1A1DF023A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E38D13E-3226-49E6-BC41-1B12E6166B56}"/>
              </a:ext>
            </a:extLst>
          </p:cNvPr>
          <p:cNvSpPr>
            <a:spLocks noGrp="1"/>
          </p:cNvSpPr>
          <p:nvPr>
            <p:ph type="dt" sz="half" idx="10"/>
          </p:nvPr>
        </p:nvSpPr>
        <p:spPr/>
        <p:txBody>
          <a:bodyPr/>
          <a:lstStyle/>
          <a:p>
            <a:fld id="{5DA211E0-3EC6-4009-BADA-7C06900633A8}" type="datetime1">
              <a:rPr lang="en-US" smtClean="0"/>
              <a:t>3/8/2026</a:t>
            </a:fld>
            <a:endParaRPr lang="en-US"/>
          </a:p>
        </p:txBody>
      </p:sp>
      <p:sp>
        <p:nvSpPr>
          <p:cNvPr id="4" name="Footer Placeholder 3">
            <a:extLst>
              <a:ext uri="{FF2B5EF4-FFF2-40B4-BE49-F238E27FC236}">
                <a16:creationId xmlns:a16="http://schemas.microsoft.com/office/drawing/2014/main" id="{A2D46945-62FE-467E-8964-840FF6CE461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3DCB2FA-0BA6-41CE-AB16-D3BA6E905754}"/>
              </a:ext>
            </a:extLst>
          </p:cNvPr>
          <p:cNvSpPr>
            <a:spLocks noGrp="1"/>
          </p:cNvSpPr>
          <p:nvPr>
            <p:ph type="sldNum" sz="quarter" idx="12"/>
          </p:nvPr>
        </p:nvSpPr>
        <p:spPr/>
        <p:txBody>
          <a:bodyPr/>
          <a:lstStyle/>
          <a:p>
            <a:fld id="{C29293D3-8374-41FE-B1E4-A635E9555193}" type="slidenum">
              <a:rPr lang="en-US" smtClean="0"/>
              <a:t>‹#›</a:t>
            </a:fld>
            <a:endParaRPr lang="en-US"/>
          </a:p>
        </p:txBody>
      </p:sp>
    </p:spTree>
    <p:extLst>
      <p:ext uri="{BB962C8B-B14F-4D97-AF65-F5344CB8AC3E}">
        <p14:creationId xmlns:p14="http://schemas.microsoft.com/office/powerpoint/2010/main" val="433271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40DD5B-DF53-4F1C-A5A5-B2526C289D80}"/>
              </a:ext>
            </a:extLst>
          </p:cNvPr>
          <p:cNvSpPr>
            <a:spLocks noGrp="1"/>
          </p:cNvSpPr>
          <p:nvPr>
            <p:ph type="dt" sz="half" idx="10"/>
          </p:nvPr>
        </p:nvSpPr>
        <p:spPr/>
        <p:txBody>
          <a:bodyPr/>
          <a:lstStyle/>
          <a:p>
            <a:fld id="{0712C2F3-7D80-40DC-B21B-15F7A3555560}" type="datetime1">
              <a:rPr lang="en-US" smtClean="0"/>
              <a:t>3/8/2026</a:t>
            </a:fld>
            <a:endParaRPr lang="en-US"/>
          </a:p>
        </p:txBody>
      </p:sp>
      <p:sp>
        <p:nvSpPr>
          <p:cNvPr id="3" name="Footer Placeholder 2">
            <a:extLst>
              <a:ext uri="{FF2B5EF4-FFF2-40B4-BE49-F238E27FC236}">
                <a16:creationId xmlns:a16="http://schemas.microsoft.com/office/drawing/2014/main" id="{C33996B7-CDED-41E9-B720-EF453E0E6E1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8FBA386-CB86-4762-8DB0-DF3C03A58FD8}"/>
              </a:ext>
            </a:extLst>
          </p:cNvPr>
          <p:cNvSpPr>
            <a:spLocks noGrp="1"/>
          </p:cNvSpPr>
          <p:nvPr>
            <p:ph type="sldNum" sz="quarter" idx="12"/>
          </p:nvPr>
        </p:nvSpPr>
        <p:spPr/>
        <p:txBody>
          <a:bodyPr/>
          <a:lstStyle/>
          <a:p>
            <a:fld id="{C29293D3-8374-41FE-B1E4-A635E9555193}" type="slidenum">
              <a:rPr lang="en-US" smtClean="0"/>
              <a:t>‹#›</a:t>
            </a:fld>
            <a:endParaRPr lang="en-US"/>
          </a:p>
        </p:txBody>
      </p:sp>
    </p:spTree>
    <p:extLst>
      <p:ext uri="{BB962C8B-B14F-4D97-AF65-F5344CB8AC3E}">
        <p14:creationId xmlns:p14="http://schemas.microsoft.com/office/powerpoint/2010/main" val="21111255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DA546-4F6C-43E5-937E-D52D990AEA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83ADF63-2E16-4980-8D01-A89FEA417D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FF70C2C-5719-482D-96A8-1A4A63A971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C45C817-545D-4C79-A86E-0B00EE1EDAF3}"/>
              </a:ext>
            </a:extLst>
          </p:cNvPr>
          <p:cNvSpPr>
            <a:spLocks noGrp="1"/>
          </p:cNvSpPr>
          <p:nvPr>
            <p:ph type="dt" sz="half" idx="10"/>
          </p:nvPr>
        </p:nvSpPr>
        <p:spPr/>
        <p:txBody>
          <a:bodyPr/>
          <a:lstStyle/>
          <a:p>
            <a:fld id="{0609E0FB-D741-4826-8A2F-ED22E1A80656}" type="datetime1">
              <a:rPr lang="en-US" smtClean="0"/>
              <a:t>3/8/2026</a:t>
            </a:fld>
            <a:endParaRPr lang="en-US"/>
          </a:p>
        </p:txBody>
      </p:sp>
      <p:sp>
        <p:nvSpPr>
          <p:cNvPr id="6" name="Footer Placeholder 5">
            <a:extLst>
              <a:ext uri="{FF2B5EF4-FFF2-40B4-BE49-F238E27FC236}">
                <a16:creationId xmlns:a16="http://schemas.microsoft.com/office/drawing/2014/main" id="{3692E331-68F6-479F-94E4-FED7A1528D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9746C9-1E17-4DA4-B221-4B12A62E84A3}"/>
              </a:ext>
            </a:extLst>
          </p:cNvPr>
          <p:cNvSpPr>
            <a:spLocks noGrp="1"/>
          </p:cNvSpPr>
          <p:nvPr>
            <p:ph type="sldNum" sz="quarter" idx="12"/>
          </p:nvPr>
        </p:nvSpPr>
        <p:spPr/>
        <p:txBody>
          <a:bodyPr/>
          <a:lstStyle/>
          <a:p>
            <a:fld id="{C29293D3-8374-41FE-B1E4-A635E9555193}" type="slidenum">
              <a:rPr lang="en-US" smtClean="0"/>
              <a:t>‹#›</a:t>
            </a:fld>
            <a:endParaRPr lang="en-US"/>
          </a:p>
        </p:txBody>
      </p:sp>
    </p:spTree>
    <p:extLst>
      <p:ext uri="{BB962C8B-B14F-4D97-AF65-F5344CB8AC3E}">
        <p14:creationId xmlns:p14="http://schemas.microsoft.com/office/powerpoint/2010/main" val="1356607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09971-5CFC-4F0C-9EA6-2B295A06CF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258AA91-2DE2-4390-B10D-818EA6FF06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5C7A7C-EE33-4A52-A61C-47CF851B04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55E208F-03E7-44CC-96A2-92E99AA5E13B}"/>
              </a:ext>
            </a:extLst>
          </p:cNvPr>
          <p:cNvSpPr>
            <a:spLocks noGrp="1"/>
          </p:cNvSpPr>
          <p:nvPr>
            <p:ph type="dt" sz="half" idx="10"/>
          </p:nvPr>
        </p:nvSpPr>
        <p:spPr/>
        <p:txBody>
          <a:bodyPr/>
          <a:lstStyle/>
          <a:p>
            <a:fld id="{FA0903E8-6277-4666-AF01-9836A6BBD9F1}" type="datetime1">
              <a:rPr lang="en-US" smtClean="0"/>
              <a:t>3/8/2026</a:t>
            </a:fld>
            <a:endParaRPr lang="en-US"/>
          </a:p>
        </p:txBody>
      </p:sp>
      <p:sp>
        <p:nvSpPr>
          <p:cNvPr id="6" name="Footer Placeholder 5">
            <a:extLst>
              <a:ext uri="{FF2B5EF4-FFF2-40B4-BE49-F238E27FC236}">
                <a16:creationId xmlns:a16="http://schemas.microsoft.com/office/drawing/2014/main" id="{5C3B162B-C807-432D-8CD3-342F3E5945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35DA4B-A5E1-47D9-9E5B-93C3A3B42E86}"/>
              </a:ext>
            </a:extLst>
          </p:cNvPr>
          <p:cNvSpPr>
            <a:spLocks noGrp="1"/>
          </p:cNvSpPr>
          <p:nvPr>
            <p:ph type="sldNum" sz="quarter" idx="12"/>
          </p:nvPr>
        </p:nvSpPr>
        <p:spPr/>
        <p:txBody>
          <a:bodyPr/>
          <a:lstStyle/>
          <a:p>
            <a:fld id="{C29293D3-8374-41FE-B1E4-A635E9555193}" type="slidenum">
              <a:rPr lang="en-US" smtClean="0"/>
              <a:t>‹#›</a:t>
            </a:fld>
            <a:endParaRPr lang="en-US"/>
          </a:p>
        </p:txBody>
      </p:sp>
    </p:spTree>
    <p:extLst>
      <p:ext uri="{BB962C8B-B14F-4D97-AF65-F5344CB8AC3E}">
        <p14:creationId xmlns:p14="http://schemas.microsoft.com/office/powerpoint/2010/main" val="3293474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936E2-A0E4-4D8E-A032-B4E21BEDBC0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C7AE03E-951A-4436-8152-47C13BEB947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D3BA69-2017-4C58-AD75-C22459C66AF4}"/>
              </a:ext>
            </a:extLst>
          </p:cNvPr>
          <p:cNvSpPr>
            <a:spLocks noGrp="1"/>
          </p:cNvSpPr>
          <p:nvPr>
            <p:ph type="dt" sz="half" idx="10"/>
          </p:nvPr>
        </p:nvSpPr>
        <p:spPr/>
        <p:txBody>
          <a:bodyPr/>
          <a:lstStyle/>
          <a:p>
            <a:fld id="{468FC0B3-11D9-41AA-B3B2-2082FD04FEA0}" type="datetime1">
              <a:rPr lang="en-US" smtClean="0"/>
              <a:t>3/8/2026</a:t>
            </a:fld>
            <a:endParaRPr lang="en-US"/>
          </a:p>
        </p:txBody>
      </p:sp>
      <p:sp>
        <p:nvSpPr>
          <p:cNvPr id="5" name="Footer Placeholder 4">
            <a:extLst>
              <a:ext uri="{FF2B5EF4-FFF2-40B4-BE49-F238E27FC236}">
                <a16:creationId xmlns:a16="http://schemas.microsoft.com/office/drawing/2014/main" id="{BFBFC1B1-454B-42E6-B263-77F3EBE2AD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77430E-A584-4305-942D-A949FC04A975}"/>
              </a:ext>
            </a:extLst>
          </p:cNvPr>
          <p:cNvSpPr>
            <a:spLocks noGrp="1"/>
          </p:cNvSpPr>
          <p:nvPr>
            <p:ph type="sldNum" sz="quarter" idx="12"/>
          </p:nvPr>
        </p:nvSpPr>
        <p:spPr/>
        <p:txBody>
          <a:bodyPr/>
          <a:lstStyle/>
          <a:p>
            <a:fld id="{C29293D3-8374-41FE-B1E4-A635E9555193}" type="slidenum">
              <a:rPr lang="en-US" smtClean="0"/>
              <a:t>‹#›</a:t>
            </a:fld>
            <a:endParaRPr lang="en-US"/>
          </a:p>
        </p:txBody>
      </p:sp>
    </p:spTree>
    <p:extLst>
      <p:ext uri="{BB962C8B-B14F-4D97-AF65-F5344CB8AC3E}">
        <p14:creationId xmlns:p14="http://schemas.microsoft.com/office/powerpoint/2010/main" val="867609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91EBCB-565E-4B6F-9EBB-91601020424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8A2BEA-71E0-49E7-B9AE-CB3E9AD982A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95823D-73A5-4BDB-A292-86AB45F98673}"/>
              </a:ext>
            </a:extLst>
          </p:cNvPr>
          <p:cNvSpPr>
            <a:spLocks noGrp="1"/>
          </p:cNvSpPr>
          <p:nvPr>
            <p:ph type="dt" sz="half" idx="10"/>
          </p:nvPr>
        </p:nvSpPr>
        <p:spPr/>
        <p:txBody>
          <a:bodyPr/>
          <a:lstStyle/>
          <a:p>
            <a:fld id="{E45C815C-4AEC-4FB2-B54B-41F16E33C49B}" type="datetime1">
              <a:rPr lang="en-US" smtClean="0"/>
              <a:t>3/8/2026</a:t>
            </a:fld>
            <a:endParaRPr lang="en-US"/>
          </a:p>
        </p:txBody>
      </p:sp>
      <p:sp>
        <p:nvSpPr>
          <p:cNvPr id="5" name="Footer Placeholder 4">
            <a:extLst>
              <a:ext uri="{FF2B5EF4-FFF2-40B4-BE49-F238E27FC236}">
                <a16:creationId xmlns:a16="http://schemas.microsoft.com/office/drawing/2014/main" id="{833B94D2-D42F-4A72-B275-FC7CA1E148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CBDF5E-25ED-4BE1-B449-E54B794CFB48}"/>
              </a:ext>
            </a:extLst>
          </p:cNvPr>
          <p:cNvSpPr>
            <a:spLocks noGrp="1"/>
          </p:cNvSpPr>
          <p:nvPr>
            <p:ph type="sldNum" sz="quarter" idx="12"/>
          </p:nvPr>
        </p:nvSpPr>
        <p:spPr/>
        <p:txBody>
          <a:bodyPr/>
          <a:lstStyle/>
          <a:p>
            <a:fld id="{C29293D3-8374-41FE-B1E4-A635E9555193}" type="slidenum">
              <a:rPr lang="en-US" smtClean="0"/>
              <a:t>‹#›</a:t>
            </a:fld>
            <a:endParaRPr lang="en-US"/>
          </a:p>
        </p:txBody>
      </p:sp>
    </p:spTree>
    <p:extLst>
      <p:ext uri="{BB962C8B-B14F-4D97-AF65-F5344CB8AC3E}">
        <p14:creationId xmlns:p14="http://schemas.microsoft.com/office/powerpoint/2010/main" val="52336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4B3C48-3319-4BEA-9865-9A7F18D22F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A879541-F51B-4332-B21F-C68A0BF612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849CF8-35A1-48D1-A666-BA9D2EEBDD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67F486-ACBE-4109-90F7-4AC0C9CD7EBD}" type="datetime1">
              <a:rPr lang="en-US" smtClean="0"/>
              <a:t>3/8/2026</a:t>
            </a:fld>
            <a:endParaRPr lang="en-US"/>
          </a:p>
        </p:txBody>
      </p:sp>
      <p:sp>
        <p:nvSpPr>
          <p:cNvPr id="5" name="Footer Placeholder 4">
            <a:extLst>
              <a:ext uri="{FF2B5EF4-FFF2-40B4-BE49-F238E27FC236}">
                <a16:creationId xmlns:a16="http://schemas.microsoft.com/office/drawing/2014/main" id="{E508CECE-304B-4DE8-B7E1-11D398F4B3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722246B-5014-4074-B0B6-FF6FF89264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9293D3-8374-41FE-B1E4-A635E9555193}" type="slidenum">
              <a:rPr lang="en-US" smtClean="0"/>
              <a:t>‹#›</a:t>
            </a:fld>
            <a:endParaRPr lang="en-US"/>
          </a:p>
        </p:txBody>
      </p:sp>
    </p:spTree>
    <p:extLst>
      <p:ext uri="{BB962C8B-B14F-4D97-AF65-F5344CB8AC3E}">
        <p14:creationId xmlns:p14="http://schemas.microsoft.com/office/powerpoint/2010/main" val="16281669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FC380-8803-409E-9A52-AD3163E3BB6C}"/>
              </a:ext>
            </a:extLst>
          </p:cNvPr>
          <p:cNvSpPr>
            <a:spLocks noGrp="1"/>
          </p:cNvSpPr>
          <p:nvPr>
            <p:ph type="ctrTitle"/>
          </p:nvPr>
        </p:nvSpPr>
        <p:spPr/>
        <p:txBody>
          <a:bodyPr/>
          <a:lstStyle/>
          <a:p>
            <a:r>
              <a:rPr lang="en-US" b="1" dirty="0"/>
              <a:t>Locomotion and Kinematics in Robotics</a:t>
            </a:r>
          </a:p>
        </p:txBody>
      </p:sp>
      <p:sp>
        <p:nvSpPr>
          <p:cNvPr id="3" name="Subtitle 2">
            <a:extLst>
              <a:ext uri="{FF2B5EF4-FFF2-40B4-BE49-F238E27FC236}">
                <a16:creationId xmlns:a16="http://schemas.microsoft.com/office/drawing/2014/main" id="{1D03003D-8AA7-4E18-A05A-36D6A751F83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8482164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99BA8-1387-40DB-BF84-F53EC297D0F9}"/>
              </a:ext>
            </a:extLst>
          </p:cNvPr>
          <p:cNvSpPr>
            <a:spLocks noGrp="1"/>
          </p:cNvSpPr>
          <p:nvPr>
            <p:ph type="title"/>
          </p:nvPr>
        </p:nvSpPr>
        <p:spPr/>
        <p:txBody>
          <a:bodyPr/>
          <a:lstStyle/>
          <a:p>
            <a:r>
              <a:rPr lang="en-US" altLang="en-US" b="1" dirty="0">
                <a:solidFill>
                  <a:srgbClr val="0F1115"/>
                </a:solidFill>
                <a:latin typeface="quote-cjk-patch"/>
              </a:rPr>
              <a:t>Introduction to Locomotion</a:t>
            </a:r>
            <a:endParaRPr lang="en-US" dirty="0"/>
          </a:p>
        </p:txBody>
      </p:sp>
      <p:sp>
        <p:nvSpPr>
          <p:cNvPr id="5" name="Rectangle 1">
            <a:extLst>
              <a:ext uri="{FF2B5EF4-FFF2-40B4-BE49-F238E27FC236}">
                <a16:creationId xmlns:a16="http://schemas.microsoft.com/office/drawing/2014/main" id="{8D61F387-C7A7-4520-925D-30246F1F4AE3}"/>
              </a:ext>
            </a:extLst>
          </p:cNvPr>
          <p:cNvSpPr>
            <a:spLocks noChangeArrowheads="1"/>
          </p:cNvSpPr>
          <p:nvPr/>
        </p:nvSpPr>
        <p:spPr bwMode="auto">
          <a:xfrm>
            <a:off x="4127500" y="1676611"/>
            <a:ext cx="65" cy="48852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04742" rIns="0" bIns="10474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B7DB9E9F-E3BE-4CA0-8B20-438665B90577}"/>
              </a:ext>
            </a:extLst>
          </p:cNvPr>
          <p:cNvSpPr>
            <a:spLocks noChangeArrowheads="1"/>
          </p:cNvSpPr>
          <p:nvPr/>
        </p:nvSpPr>
        <p:spPr bwMode="auto">
          <a:xfrm>
            <a:off x="2340742" y="2530960"/>
            <a:ext cx="65" cy="48852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04742" rIns="0" bIns="10474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Content Placeholder 7">
            <a:extLst>
              <a:ext uri="{FF2B5EF4-FFF2-40B4-BE49-F238E27FC236}">
                <a16:creationId xmlns:a16="http://schemas.microsoft.com/office/drawing/2014/main" id="{273BA1ED-A3CE-45A9-802D-0B624B8BC22D}"/>
              </a:ext>
            </a:extLst>
          </p:cNvPr>
          <p:cNvSpPr>
            <a:spLocks noGrp="1"/>
          </p:cNvSpPr>
          <p:nvPr>
            <p:ph idx="1"/>
          </p:nvPr>
        </p:nvSpPr>
        <p:spPr>
          <a:xfrm>
            <a:off x="668434" y="1690688"/>
            <a:ext cx="10515600" cy="4351338"/>
          </a:xfrm>
        </p:spPr>
        <p:txBody>
          <a:bodyPr>
            <a:normAutofit fontScale="85000" lnSpcReduction="20000"/>
          </a:bodyPr>
          <a:lstStyle/>
          <a:p>
            <a:pPr marL="0" lvl="0" indent="0" eaLnBrk="0" fontAlgn="base" hangingPunct="0">
              <a:lnSpc>
                <a:spcPct val="100000"/>
              </a:lnSpc>
              <a:spcBef>
                <a:spcPct val="0"/>
              </a:spcBef>
              <a:spcAft>
                <a:spcPct val="0"/>
              </a:spcAft>
              <a:buNone/>
            </a:pPr>
            <a:r>
              <a:rPr lang="en-US" altLang="en-US" sz="4300" dirty="0">
                <a:solidFill>
                  <a:srgbClr val="0F1115"/>
                </a:solidFill>
                <a:latin typeface="quote-cjk-patch"/>
              </a:rPr>
              <a:t>Locomotion is the study of </a:t>
            </a:r>
            <a:r>
              <a:rPr lang="en-US" altLang="en-US" sz="4300" b="1" dirty="0">
                <a:solidFill>
                  <a:srgbClr val="0F1115"/>
                </a:solidFill>
                <a:latin typeface="quote-cjk-patch"/>
              </a:rPr>
              <a:t>how robots move</a:t>
            </a:r>
            <a:r>
              <a:rPr lang="en-US" altLang="en-US" sz="4300" dirty="0">
                <a:solidFill>
                  <a:srgbClr val="0F1115"/>
                </a:solidFill>
                <a:latin typeface="quote-cjk-patch"/>
              </a:rPr>
              <a:t> from one place to another within their environment.</a:t>
            </a:r>
            <a:endParaRPr kumimoji="0" lang="en-US" altLang="en-US" sz="2600" b="0" i="0" u="none" strike="noStrike" cap="none" normalizeH="0" baseline="0" dirty="0">
              <a:ln>
                <a:noFill/>
              </a:ln>
              <a:solidFill>
                <a:schemeClr val="tx1"/>
              </a:solidFill>
              <a:effectLst/>
            </a:endParaRPr>
          </a:p>
          <a:p>
            <a:pPr marL="0" lvl="0" indent="0" eaLnBrk="0" fontAlgn="base" hangingPunct="0">
              <a:lnSpc>
                <a:spcPct val="100000"/>
              </a:lnSpc>
              <a:spcBef>
                <a:spcPct val="0"/>
              </a:spcBef>
              <a:spcAft>
                <a:spcPct val="0"/>
              </a:spcAft>
              <a:buNone/>
            </a:pPr>
            <a:r>
              <a:rPr lang="en-US" altLang="en-US" sz="4300" b="1" dirty="0">
                <a:solidFill>
                  <a:srgbClr val="0F1115"/>
                </a:solidFill>
                <a:latin typeface="quote-cjk-patch"/>
              </a:rPr>
              <a:t>Key Questions</a:t>
            </a:r>
            <a:endParaRPr kumimoji="0" lang="en-US" altLang="en-US" sz="26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pPr>
            <a:r>
              <a:rPr lang="en-US" altLang="en-US" sz="4300" dirty="0">
                <a:solidFill>
                  <a:srgbClr val="0F1115"/>
                </a:solidFill>
                <a:latin typeface="quote-cjk-patch"/>
              </a:rPr>
              <a:t>How does the robot </a:t>
            </a:r>
            <a:r>
              <a:rPr lang="en-US" altLang="en-US" sz="4300" b="1" dirty="0">
                <a:solidFill>
                  <a:srgbClr val="0F1115"/>
                </a:solidFill>
                <a:latin typeface="quote-cjk-patch"/>
              </a:rPr>
              <a:t>interact</a:t>
            </a:r>
            <a:r>
              <a:rPr lang="en-US" altLang="en-US" sz="4300" dirty="0">
                <a:solidFill>
                  <a:srgbClr val="0F1115"/>
                </a:solidFill>
                <a:latin typeface="quote-cjk-patch"/>
              </a:rPr>
              <a:t> with its environment to generate motion?</a:t>
            </a:r>
          </a:p>
          <a:p>
            <a:pPr eaLnBrk="0" fontAlgn="base" hangingPunct="0">
              <a:lnSpc>
                <a:spcPct val="100000"/>
              </a:lnSpc>
              <a:spcBef>
                <a:spcPct val="0"/>
              </a:spcBef>
              <a:spcAft>
                <a:spcPct val="0"/>
              </a:spcAft>
            </a:pPr>
            <a:r>
              <a:rPr lang="en-US" altLang="en-US" sz="4300" dirty="0">
                <a:solidFill>
                  <a:srgbClr val="0F1115"/>
                </a:solidFill>
                <a:latin typeface="quote-cjk-patch"/>
              </a:rPr>
              <a:t>What </a:t>
            </a:r>
            <a:r>
              <a:rPr lang="en-US" altLang="en-US" sz="4300" b="1" dirty="0">
                <a:solidFill>
                  <a:srgbClr val="0F1115"/>
                </a:solidFill>
                <a:latin typeface="quote-cjk-patch"/>
              </a:rPr>
              <a:t>mechanisms</a:t>
            </a:r>
            <a:r>
              <a:rPr lang="en-US" altLang="en-US" sz="4300" dirty="0">
                <a:solidFill>
                  <a:srgbClr val="0F1115"/>
                </a:solidFill>
                <a:latin typeface="quote-cjk-patch"/>
              </a:rPr>
              <a:t> enable movement across different terrains?</a:t>
            </a:r>
          </a:p>
          <a:p>
            <a:pPr eaLnBrk="0" fontAlgn="base" hangingPunct="0">
              <a:lnSpc>
                <a:spcPct val="100000"/>
              </a:lnSpc>
              <a:spcBef>
                <a:spcPct val="0"/>
              </a:spcBef>
              <a:spcAft>
                <a:spcPct val="0"/>
              </a:spcAft>
            </a:pPr>
            <a:r>
              <a:rPr lang="en-US" altLang="en-US" sz="4300" dirty="0">
                <a:solidFill>
                  <a:srgbClr val="0F1115"/>
                </a:solidFill>
                <a:latin typeface="quote-cjk-patch"/>
              </a:rPr>
              <a:t>How is </a:t>
            </a:r>
            <a:r>
              <a:rPr lang="en-US" altLang="en-US" sz="4300" b="1" dirty="0">
                <a:solidFill>
                  <a:srgbClr val="0F1115"/>
                </a:solidFill>
                <a:latin typeface="quote-cjk-patch"/>
              </a:rPr>
              <a:t>stability</a:t>
            </a:r>
            <a:r>
              <a:rPr lang="en-US" altLang="en-US" sz="4300" dirty="0">
                <a:solidFill>
                  <a:srgbClr val="0F1115"/>
                </a:solidFill>
                <a:latin typeface="quote-cjk-patch"/>
              </a:rPr>
              <a:t> maintained during motion?</a:t>
            </a:r>
          </a:p>
          <a:p>
            <a:pPr marL="0" lvl="0" indent="0" eaLnBrk="0" fontAlgn="base" hangingPunct="0">
              <a:lnSpc>
                <a:spcPct val="100000"/>
              </a:lnSpc>
              <a:spcBef>
                <a:spcPct val="0"/>
              </a:spcBef>
              <a:spcAft>
                <a:spcPct val="0"/>
              </a:spcAft>
              <a:buNone/>
            </a:pPr>
            <a:r>
              <a:rPr lang="en-US" altLang="en-US" b="1" dirty="0">
                <a:solidFill>
                  <a:srgbClr val="0F1115"/>
                </a:solidFill>
                <a:latin typeface="quote-cjk-patch"/>
              </a:rPr>
              <a:t> </a:t>
            </a:r>
            <a:endParaRPr kumimoji="0" lang="en-US" altLang="en-US" sz="1600" b="0" i="0" u="none" strike="noStrike" cap="none" normalizeH="0" baseline="0" dirty="0">
              <a:ln>
                <a:noFill/>
              </a:ln>
              <a:solidFill>
                <a:schemeClr val="tx1"/>
              </a:solidFill>
              <a:effectLst/>
            </a:endParaRPr>
          </a:p>
        </p:txBody>
      </p:sp>
      <p:sp>
        <p:nvSpPr>
          <p:cNvPr id="3" name="Date Placeholder 2">
            <a:extLst>
              <a:ext uri="{FF2B5EF4-FFF2-40B4-BE49-F238E27FC236}">
                <a16:creationId xmlns:a16="http://schemas.microsoft.com/office/drawing/2014/main" id="{4427BB5C-A2BA-4834-8428-B6BA515180E6}"/>
              </a:ext>
            </a:extLst>
          </p:cNvPr>
          <p:cNvSpPr>
            <a:spLocks noGrp="1"/>
          </p:cNvSpPr>
          <p:nvPr>
            <p:ph type="dt" sz="half" idx="10"/>
          </p:nvPr>
        </p:nvSpPr>
        <p:spPr/>
        <p:txBody>
          <a:bodyPr/>
          <a:lstStyle/>
          <a:p>
            <a:fld id="{5DF9AA80-DE6A-42CF-A1E7-375B430B1029}" type="datetime1">
              <a:rPr lang="en-US" smtClean="0"/>
              <a:t>3/8/2026</a:t>
            </a:fld>
            <a:endParaRPr lang="en-US"/>
          </a:p>
        </p:txBody>
      </p:sp>
      <p:sp>
        <p:nvSpPr>
          <p:cNvPr id="4" name="Slide Number Placeholder 3">
            <a:extLst>
              <a:ext uri="{FF2B5EF4-FFF2-40B4-BE49-F238E27FC236}">
                <a16:creationId xmlns:a16="http://schemas.microsoft.com/office/drawing/2014/main" id="{10E35F10-9F70-4E59-8798-0A0AB353D908}"/>
              </a:ext>
            </a:extLst>
          </p:cNvPr>
          <p:cNvSpPr>
            <a:spLocks noGrp="1"/>
          </p:cNvSpPr>
          <p:nvPr>
            <p:ph type="sldNum" sz="quarter" idx="12"/>
          </p:nvPr>
        </p:nvSpPr>
        <p:spPr/>
        <p:txBody>
          <a:bodyPr/>
          <a:lstStyle/>
          <a:p>
            <a:fld id="{C29293D3-8374-41FE-B1E4-A635E9555193}" type="slidenum">
              <a:rPr lang="en-US" smtClean="0"/>
              <a:t>2</a:t>
            </a:fld>
            <a:endParaRPr lang="en-US"/>
          </a:p>
        </p:txBody>
      </p:sp>
    </p:spTree>
    <p:extLst>
      <p:ext uri="{BB962C8B-B14F-4D97-AF65-F5344CB8AC3E}">
        <p14:creationId xmlns:p14="http://schemas.microsoft.com/office/powerpoint/2010/main" val="4293938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99BA8-1387-40DB-BF84-F53EC297D0F9}"/>
              </a:ext>
            </a:extLst>
          </p:cNvPr>
          <p:cNvSpPr>
            <a:spLocks noGrp="1"/>
          </p:cNvSpPr>
          <p:nvPr>
            <p:ph type="title"/>
          </p:nvPr>
        </p:nvSpPr>
        <p:spPr/>
        <p:txBody>
          <a:bodyPr/>
          <a:lstStyle/>
          <a:p>
            <a:r>
              <a:rPr lang="en-US" altLang="en-US" b="1" dirty="0">
                <a:solidFill>
                  <a:srgbClr val="0F1115"/>
                </a:solidFill>
                <a:latin typeface="quote-cjk-patch"/>
              </a:rPr>
              <a:t>Types of Locomotion</a:t>
            </a:r>
            <a:endParaRPr lang="en-US" dirty="0"/>
          </a:p>
        </p:txBody>
      </p:sp>
      <p:graphicFrame>
        <p:nvGraphicFramePr>
          <p:cNvPr id="4" name="Content Placeholder 3">
            <a:extLst>
              <a:ext uri="{FF2B5EF4-FFF2-40B4-BE49-F238E27FC236}">
                <a16:creationId xmlns:a16="http://schemas.microsoft.com/office/drawing/2014/main" id="{9594E795-F24E-4420-8F89-DC97558A7109}"/>
              </a:ext>
            </a:extLst>
          </p:cNvPr>
          <p:cNvGraphicFramePr>
            <a:graphicFrameLocks noGrp="1"/>
          </p:cNvGraphicFramePr>
          <p:nvPr>
            <p:ph idx="1"/>
            <p:extLst>
              <p:ext uri="{D42A27DB-BD31-4B8C-83A1-F6EECF244321}">
                <p14:modId xmlns:p14="http://schemas.microsoft.com/office/powerpoint/2010/main" val="1073658821"/>
              </p:ext>
            </p:extLst>
          </p:nvPr>
        </p:nvGraphicFramePr>
        <p:xfrm>
          <a:off x="619539" y="1367934"/>
          <a:ext cx="10952922" cy="4988416"/>
        </p:xfrm>
        <a:graphic>
          <a:graphicData uri="http://schemas.openxmlformats.org/drawingml/2006/table">
            <a:tbl>
              <a:tblPr>
                <a:tableStyleId>{5940675A-B579-460E-94D1-54222C63F5DA}</a:tableStyleId>
              </a:tblPr>
              <a:tblGrid>
                <a:gridCol w="2047460">
                  <a:extLst>
                    <a:ext uri="{9D8B030D-6E8A-4147-A177-3AD203B41FA5}">
                      <a16:colId xmlns:a16="http://schemas.microsoft.com/office/drawing/2014/main" val="1886356845"/>
                    </a:ext>
                  </a:extLst>
                </a:gridCol>
                <a:gridCol w="5254488">
                  <a:extLst>
                    <a:ext uri="{9D8B030D-6E8A-4147-A177-3AD203B41FA5}">
                      <a16:colId xmlns:a16="http://schemas.microsoft.com/office/drawing/2014/main" val="1077756087"/>
                    </a:ext>
                  </a:extLst>
                </a:gridCol>
                <a:gridCol w="3650974">
                  <a:extLst>
                    <a:ext uri="{9D8B030D-6E8A-4147-A177-3AD203B41FA5}">
                      <a16:colId xmlns:a16="http://schemas.microsoft.com/office/drawing/2014/main" val="3906961756"/>
                    </a:ext>
                  </a:extLst>
                </a:gridCol>
              </a:tblGrid>
              <a:tr h="398900">
                <a:tc>
                  <a:txBody>
                    <a:bodyPr/>
                    <a:lstStyle/>
                    <a:p>
                      <a:pPr algn="l"/>
                      <a:r>
                        <a:rPr lang="en-US" sz="3200" b="1" dirty="0">
                          <a:effectLst/>
                        </a:rPr>
                        <a:t>Type</a:t>
                      </a:r>
                      <a:endParaRPr lang="en-US" sz="3200" b="1" dirty="0">
                        <a:effectLst/>
                        <a:latin typeface="quote-cjk-patch"/>
                      </a:endParaRPr>
                    </a:p>
                  </a:txBody>
                  <a:tcPr marL="75384" marR="83760" marT="52350" marB="52350" anchor="ctr"/>
                </a:tc>
                <a:tc>
                  <a:txBody>
                    <a:bodyPr/>
                    <a:lstStyle/>
                    <a:p>
                      <a:pPr algn="l"/>
                      <a:r>
                        <a:rPr lang="en-US" sz="3200" b="1">
                          <a:effectLst/>
                        </a:rPr>
                        <a:t>Examples</a:t>
                      </a:r>
                      <a:endParaRPr lang="en-US" sz="3200" b="1">
                        <a:effectLst/>
                        <a:latin typeface="quote-cjk-patch"/>
                      </a:endParaRPr>
                    </a:p>
                  </a:txBody>
                  <a:tcPr marL="83760" marR="83760" marT="52350" marB="52350" anchor="ctr"/>
                </a:tc>
                <a:tc>
                  <a:txBody>
                    <a:bodyPr/>
                    <a:lstStyle/>
                    <a:p>
                      <a:pPr algn="l"/>
                      <a:r>
                        <a:rPr lang="en-US" sz="3200" b="1" dirty="0">
                          <a:effectLst/>
                        </a:rPr>
                        <a:t>Environment</a:t>
                      </a:r>
                      <a:endParaRPr lang="en-US" sz="3200" b="1" dirty="0">
                        <a:effectLst/>
                        <a:latin typeface="quote-cjk-patch"/>
                      </a:endParaRPr>
                    </a:p>
                  </a:txBody>
                  <a:tcPr marL="83760" marR="83760" marT="52350" marB="52350" anchor="ctr"/>
                </a:tc>
                <a:extLst>
                  <a:ext uri="{0D108BD9-81ED-4DB2-BD59-A6C34878D82A}">
                    <a16:rowId xmlns:a16="http://schemas.microsoft.com/office/drawing/2014/main" val="2747884391"/>
                  </a:ext>
                </a:extLst>
              </a:tr>
              <a:tr h="783157">
                <a:tc>
                  <a:txBody>
                    <a:bodyPr/>
                    <a:lstStyle/>
                    <a:p>
                      <a:r>
                        <a:rPr lang="en-US" sz="2800" dirty="0">
                          <a:effectLst/>
                        </a:rPr>
                        <a:t>Wheeled</a:t>
                      </a:r>
                      <a:endParaRPr lang="en-US" sz="2800" b="0" dirty="0">
                        <a:effectLst/>
                        <a:latin typeface="quote-cjk-patch"/>
                      </a:endParaRPr>
                    </a:p>
                  </a:txBody>
                  <a:tcPr marL="75384" marR="83760" marT="52350" marB="52350" anchor="ctr"/>
                </a:tc>
                <a:tc>
                  <a:txBody>
                    <a:bodyPr/>
                    <a:lstStyle/>
                    <a:p>
                      <a:r>
                        <a:rPr lang="en-US" sz="2800" dirty="0">
                          <a:effectLst/>
                        </a:rPr>
                        <a:t>Cars, rovers, warehouse robots</a:t>
                      </a:r>
                      <a:endParaRPr lang="en-US" sz="2800" b="0" dirty="0">
                        <a:effectLst/>
                        <a:latin typeface="quote-cjk-patch"/>
                      </a:endParaRPr>
                    </a:p>
                  </a:txBody>
                  <a:tcPr marL="83760" marR="83760" marT="52350" marB="52350" anchor="ctr"/>
                </a:tc>
                <a:tc>
                  <a:txBody>
                    <a:bodyPr/>
                    <a:lstStyle/>
                    <a:p>
                      <a:r>
                        <a:rPr lang="en-US" sz="2800">
                          <a:effectLst/>
                        </a:rPr>
                        <a:t>Flat, structured surfaces</a:t>
                      </a:r>
                      <a:endParaRPr lang="en-US" sz="2800" b="0">
                        <a:effectLst/>
                        <a:latin typeface="quote-cjk-patch"/>
                      </a:endParaRPr>
                    </a:p>
                  </a:txBody>
                  <a:tcPr marL="83760" marR="75384" marT="52350" marB="52350" anchor="ctr"/>
                </a:tc>
                <a:extLst>
                  <a:ext uri="{0D108BD9-81ED-4DB2-BD59-A6C34878D82A}">
                    <a16:rowId xmlns:a16="http://schemas.microsoft.com/office/drawing/2014/main" val="2171261216"/>
                  </a:ext>
                </a:extLst>
              </a:tr>
              <a:tr h="783157">
                <a:tc>
                  <a:txBody>
                    <a:bodyPr/>
                    <a:lstStyle/>
                    <a:p>
                      <a:r>
                        <a:rPr lang="en-US" sz="2800">
                          <a:effectLst/>
                        </a:rPr>
                        <a:t>Legged</a:t>
                      </a:r>
                      <a:endParaRPr lang="en-US" sz="2800" b="0">
                        <a:effectLst/>
                        <a:latin typeface="quote-cjk-patch"/>
                      </a:endParaRPr>
                    </a:p>
                  </a:txBody>
                  <a:tcPr marL="75384" marR="83760" marT="52350" marB="52350" anchor="ctr"/>
                </a:tc>
                <a:tc>
                  <a:txBody>
                    <a:bodyPr/>
                    <a:lstStyle/>
                    <a:p>
                      <a:r>
                        <a:rPr lang="en-US" sz="2800" dirty="0">
                          <a:effectLst/>
                        </a:rPr>
                        <a:t>Humanoids, quadrupeds, hexapods</a:t>
                      </a:r>
                      <a:endParaRPr lang="en-US" sz="2800" b="0" dirty="0">
                        <a:effectLst/>
                        <a:latin typeface="quote-cjk-patch"/>
                      </a:endParaRPr>
                    </a:p>
                  </a:txBody>
                  <a:tcPr marL="83760" marR="83760" marT="52350" marB="52350" anchor="ctr"/>
                </a:tc>
                <a:tc>
                  <a:txBody>
                    <a:bodyPr/>
                    <a:lstStyle/>
                    <a:p>
                      <a:r>
                        <a:rPr lang="en-US" sz="2800">
                          <a:effectLst/>
                        </a:rPr>
                        <a:t>Rough, uneven terrain</a:t>
                      </a:r>
                      <a:endParaRPr lang="en-US" sz="2800" b="0">
                        <a:effectLst/>
                        <a:latin typeface="quote-cjk-patch"/>
                      </a:endParaRPr>
                    </a:p>
                  </a:txBody>
                  <a:tcPr marL="83760" marR="75384" marT="52350" marB="52350" anchor="ctr"/>
                </a:tc>
                <a:extLst>
                  <a:ext uri="{0D108BD9-81ED-4DB2-BD59-A6C34878D82A}">
                    <a16:rowId xmlns:a16="http://schemas.microsoft.com/office/drawing/2014/main" val="2780637255"/>
                  </a:ext>
                </a:extLst>
              </a:tr>
              <a:tr h="783157">
                <a:tc>
                  <a:txBody>
                    <a:bodyPr/>
                    <a:lstStyle/>
                    <a:p>
                      <a:r>
                        <a:rPr lang="en-US" sz="2800">
                          <a:effectLst/>
                        </a:rPr>
                        <a:t>Tracked</a:t>
                      </a:r>
                      <a:endParaRPr lang="en-US" sz="2800" b="0">
                        <a:effectLst/>
                        <a:latin typeface="quote-cjk-patch"/>
                      </a:endParaRPr>
                    </a:p>
                  </a:txBody>
                  <a:tcPr marL="75384" marR="83760" marT="52350" marB="52350" anchor="ctr"/>
                </a:tc>
                <a:tc>
                  <a:txBody>
                    <a:bodyPr/>
                    <a:lstStyle/>
                    <a:p>
                      <a:r>
                        <a:rPr lang="en-US" sz="2800" dirty="0">
                          <a:effectLst/>
                        </a:rPr>
                        <a:t>Tanks, search &amp; rescue robots</a:t>
                      </a:r>
                      <a:endParaRPr lang="en-US" sz="2800" b="0" dirty="0">
                        <a:effectLst/>
                        <a:latin typeface="quote-cjk-patch"/>
                      </a:endParaRPr>
                    </a:p>
                  </a:txBody>
                  <a:tcPr marL="83760" marR="83760" marT="52350" marB="52350" anchor="ctr"/>
                </a:tc>
                <a:tc>
                  <a:txBody>
                    <a:bodyPr/>
                    <a:lstStyle/>
                    <a:p>
                      <a:r>
                        <a:rPr lang="en-US" sz="2800" dirty="0">
                          <a:effectLst/>
                        </a:rPr>
                        <a:t>Soft, slippery surfaces</a:t>
                      </a:r>
                      <a:endParaRPr lang="en-US" sz="2800" b="0" dirty="0">
                        <a:effectLst/>
                        <a:latin typeface="quote-cjk-patch"/>
                      </a:endParaRPr>
                    </a:p>
                  </a:txBody>
                  <a:tcPr marL="83760" marR="75384" marT="52350" marB="52350" anchor="ctr"/>
                </a:tc>
                <a:extLst>
                  <a:ext uri="{0D108BD9-81ED-4DB2-BD59-A6C34878D82A}">
                    <a16:rowId xmlns:a16="http://schemas.microsoft.com/office/drawing/2014/main" val="2324752731"/>
                  </a:ext>
                </a:extLst>
              </a:tr>
              <a:tr h="330852">
                <a:tc>
                  <a:txBody>
                    <a:bodyPr/>
                    <a:lstStyle/>
                    <a:p>
                      <a:r>
                        <a:rPr lang="en-US" sz="2800">
                          <a:effectLst/>
                        </a:rPr>
                        <a:t>Aerial</a:t>
                      </a:r>
                      <a:endParaRPr lang="en-US" sz="2800" b="0">
                        <a:effectLst/>
                        <a:latin typeface="quote-cjk-patch"/>
                      </a:endParaRPr>
                    </a:p>
                  </a:txBody>
                  <a:tcPr marL="75384" marR="83760" marT="52350" marB="52350" anchor="ctr"/>
                </a:tc>
                <a:tc>
                  <a:txBody>
                    <a:bodyPr/>
                    <a:lstStyle/>
                    <a:p>
                      <a:r>
                        <a:rPr lang="en-US" sz="2800">
                          <a:effectLst/>
                        </a:rPr>
                        <a:t>Drones, UAVs</a:t>
                      </a:r>
                      <a:endParaRPr lang="en-US" sz="2800" b="0">
                        <a:effectLst/>
                        <a:latin typeface="quote-cjk-patch"/>
                      </a:endParaRPr>
                    </a:p>
                  </a:txBody>
                  <a:tcPr marL="83760" marR="83760" marT="52350" marB="52350" anchor="ctr"/>
                </a:tc>
                <a:tc>
                  <a:txBody>
                    <a:bodyPr/>
                    <a:lstStyle/>
                    <a:p>
                      <a:r>
                        <a:rPr lang="en-US" sz="2800" dirty="0">
                          <a:effectLst/>
                        </a:rPr>
                        <a:t>Air, 3D space</a:t>
                      </a:r>
                      <a:endParaRPr lang="en-US" sz="2800" b="0" dirty="0">
                        <a:effectLst/>
                        <a:latin typeface="quote-cjk-patch"/>
                      </a:endParaRPr>
                    </a:p>
                  </a:txBody>
                  <a:tcPr marL="83760" marR="75384" marT="52350" marB="52350" anchor="ctr"/>
                </a:tc>
                <a:extLst>
                  <a:ext uri="{0D108BD9-81ED-4DB2-BD59-A6C34878D82A}">
                    <a16:rowId xmlns:a16="http://schemas.microsoft.com/office/drawing/2014/main" val="651012066"/>
                  </a:ext>
                </a:extLst>
              </a:tr>
              <a:tr h="783157">
                <a:tc>
                  <a:txBody>
                    <a:bodyPr/>
                    <a:lstStyle/>
                    <a:p>
                      <a:r>
                        <a:rPr lang="en-US" sz="2800">
                          <a:effectLst/>
                        </a:rPr>
                        <a:t>Aquatic</a:t>
                      </a:r>
                      <a:endParaRPr lang="en-US" sz="2800" b="0">
                        <a:effectLst/>
                        <a:latin typeface="quote-cjk-patch"/>
                      </a:endParaRPr>
                    </a:p>
                  </a:txBody>
                  <a:tcPr marL="75384" marR="83760" marT="52350" marB="52350" anchor="ctr"/>
                </a:tc>
                <a:tc>
                  <a:txBody>
                    <a:bodyPr/>
                    <a:lstStyle/>
                    <a:p>
                      <a:r>
                        <a:rPr lang="en-US" sz="2800">
                          <a:effectLst/>
                        </a:rPr>
                        <a:t>AUVs, underwater vehicles</a:t>
                      </a:r>
                      <a:endParaRPr lang="en-US" sz="2800" b="0">
                        <a:effectLst/>
                        <a:latin typeface="quote-cjk-patch"/>
                      </a:endParaRPr>
                    </a:p>
                  </a:txBody>
                  <a:tcPr marL="83760" marR="83760" marT="52350" marB="52350" anchor="ctr"/>
                </a:tc>
                <a:tc>
                  <a:txBody>
                    <a:bodyPr/>
                    <a:lstStyle/>
                    <a:p>
                      <a:r>
                        <a:rPr lang="en-US" sz="2800" dirty="0">
                          <a:effectLst/>
                        </a:rPr>
                        <a:t>Water</a:t>
                      </a:r>
                      <a:endParaRPr lang="en-US" sz="2800" b="0" dirty="0">
                        <a:effectLst/>
                        <a:latin typeface="quote-cjk-patch"/>
                      </a:endParaRPr>
                    </a:p>
                  </a:txBody>
                  <a:tcPr marL="83760" marR="75384" marT="52350" marB="52350" anchor="ctr"/>
                </a:tc>
                <a:extLst>
                  <a:ext uri="{0D108BD9-81ED-4DB2-BD59-A6C34878D82A}">
                    <a16:rowId xmlns:a16="http://schemas.microsoft.com/office/drawing/2014/main" val="2976715924"/>
                  </a:ext>
                </a:extLst>
              </a:tr>
              <a:tr h="557005">
                <a:tc>
                  <a:txBody>
                    <a:bodyPr/>
                    <a:lstStyle/>
                    <a:p>
                      <a:r>
                        <a:rPr lang="en-US" sz="2800">
                          <a:effectLst/>
                        </a:rPr>
                        <a:t>Hybrid</a:t>
                      </a:r>
                      <a:endParaRPr lang="en-US" sz="2800" b="0">
                        <a:effectLst/>
                        <a:latin typeface="quote-cjk-patch"/>
                      </a:endParaRPr>
                    </a:p>
                  </a:txBody>
                  <a:tcPr marL="75384" marR="83760" marT="52350" marB="52350" anchor="ctr"/>
                </a:tc>
                <a:tc>
                  <a:txBody>
                    <a:bodyPr/>
                    <a:lstStyle/>
                    <a:p>
                      <a:r>
                        <a:rPr lang="en-US" sz="2800">
                          <a:effectLst/>
                        </a:rPr>
                        <a:t>Amphibious, flying/crawling</a:t>
                      </a:r>
                      <a:endParaRPr lang="en-US" sz="2800" b="0">
                        <a:effectLst/>
                        <a:latin typeface="quote-cjk-patch"/>
                      </a:endParaRPr>
                    </a:p>
                  </a:txBody>
                  <a:tcPr marL="83760" marR="83760" marT="52350" marB="52350" anchor="ctr"/>
                </a:tc>
                <a:tc>
                  <a:txBody>
                    <a:bodyPr/>
                    <a:lstStyle/>
                    <a:p>
                      <a:r>
                        <a:rPr lang="en-US" sz="2800" dirty="0">
                          <a:effectLst/>
                        </a:rPr>
                        <a:t>Multiple environments</a:t>
                      </a:r>
                      <a:endParaRPr lang="en-US" sz="2800" b="0" dirty="0">
                        <a:effectLst/>
                        <a:latin typeface="quote-cjk-patch"/>
                      </a:endParaRPr>
                    </a:p>
                  </a:txBody>
                  <a:tcPr marL="83760" marR="75384" marT="52350" marB="52350" anchor="ctr"/>
                </a:tc>
                <a:extLst>
                  <a:ext uri="{0D108BD9-81ED-4DB2-BD59-A6C34878D82A}">
                    <a16:rowId xmlns:a16="http://schemas.microsoft.com/office/drawing/2014/main" val="2408954580"/>
                  </a:ext>
                </a:extLst>
              </a:tr>
            </a:tbl>
          </a:graphicData>
        </a:graphic>
      </p:graphicFrame>
      <p:sp>
        <p:nvSpPr>
          <p:cNvPr id="3" name="Date Placeholder 2">
            <a:extLst>
              <a:ext uri="{FF2B5EF4-FFF2-40B4-BE49-F238E27FC236}">
                <a16:creationId xmlns:a16="http://schemas.microsoft.com/office/drawing/2014/main" id="{42F5D553-9401-4FA7-8758-39FD00E58A54}"/>
              </a:ext>
            </a:extLst>
          </p:cNvPr>
          <p:cNvSpPr>
            <a:spLocks noGrp="1"/>
          </p:cNvSpPr>
          <p:nvPr>
            <p:ph type="dt" sz="half" idx="10"/>
          </p:nvPr>
        </p:nvSpPr>
        <p:spPr/>
        <p:txBody>
          <a:bodyPr/>
          <a:lstStyle/>
          <a:p>
            <a:fld id="{DFCB39C2-802F-4A9A-B36D-7AB4EABD8FBA}" type="datetime1">
              <a:rPr lang="en-US" smtClean="0"/>
              <a:t>3/8/2026</a:t>
            </a:fld>
            <a:endParaRPr lang="en-US"/>
          </a:p>
        </p:txBody>
      </p:sp>
      <p:sp>
        <p:nvSpPr>
          <p:cNvPr id="5" name="Slide Number Placeholder 4">
            <a:extLst>
              <a:ext uri="{FF2B5EF4-FFF2-40B4-BE49-F238E27FC236}">
                <a16:creationId xmlns:a16="http://schemas.microsoft.com/office/drawing/2014/main" id="{74EF2066-6D64-4C0F-AC3F-C0A8663DF61C}"/>
              </a:ext>
            </a:extLst>
          </p:cNvPr>
          <p:cNvSpPr>
            <a:spLocks noGrp="1"/>
          </p:cNvSpPr>
          <p:nvPr>
            <p:ph type="sldNum" sz="quarter" idx="12"/>
          </p:nvPr>
        </p:nvSpPr>
        <p:spPr/>
        <p:txBody>
          <a:bodyPr/>
          <a:lstStyle/>
          <a:p>
            <a:fld id="{C29293D3-8374-41FE-B1E4-A635E9555193}" type="slidenum">
              <a:rPr lang="en-US" smtClean="0"/>
              <a:t>3</a:t>
            </a:fld>
            <a:endParaRPr lang="en-US"/>
          </a:p>
        </p:txBody>
      </p:sp>
    </p:spTree>
    <p:extLst>
      <p:ext uri="{BB962C8B-B14F-4D97-AF65-F5344CB8AC3E}">
        <p14:creationId xmlns:p14="http://schemas.microsoft.com/office/powerpoint/2010/main" val="22507264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99BA8-1387-40DB-BF84-F53EC297D0F9}"/>
              </a:ext>
            </a:extLst>
          </p:cNvPr>
          <p:cNvSpPr>
            <a:spLocks noGrp="1"/>
          </p:cNvSpPr>
          <p:nvPr>
            <p:ph type="title"/>
          </p:nvPr>
        </p:nvSpPr>
        <p:spPr/>
        <p:txBody>
          <a:bodyPr/>
          <a:lstStyle/>
          <a:p>
            <a:r>
              <a:rPr lang="en-US" altLang="en-US" b="1" dirty="0">
                <a:solidFill>
                  <a:srgbClr val="0F1115"/>
                </a:solidFill>
                <a:latin typeface="quote-cjk-patch"/>
              </a:rPr>
              <a:t>Introduction to Locomotion - Key Challenges </a:t>
            </a:r>
            <a:endParaRPr lang="en-US" dirty="0"/>
          </a:p>
        </p:txBody>
      </p:sp>
      <p:sp>
        <p:nvSpPr>
          <p:cNvPr id="5" name="Rectangle 1">
            <a:extLst>
              <a:ext uri="{FF2B5EF4-FFF2-40B4-BE49-F238E27FC236}">
                <a16:creationId xmlns:a16="http://schemas.microsoft.com/office/drawing/2014/main" id="{8D61F387-C7A7-4520-925D-30246F1F4AE3}"/>
              </a:ext>
            </a:extLst>
          </p:cNvPr>
          <p:cNvSpPr>
            <a:spLocks noChangeArrowheads="1"/>
          </p:cNvSpPr>
          <p:nvPr/>
        </p:nvSpPr>
        <p:spPr bwMode="auto">
          <a:xfrm>
            <a:off x="4127500" y="1676611"/>
            <a:ext cx="65" cy="48852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04742" rIns="0" bIns="10474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B7DB9E9F-E3BE-4CA0-8B20-438665B90577}"/>
              </a:ext>
            </a:extLst>
          </p:cNvPr>
          <p:cNvSpPr>
            <a:spLocks noChangeArrowheads="1"/>
          </p:cNvSpPr>
          <p:nvPr/>
        </p:nvSpPr>
        <p:spPr bwMode="auto">
          <a:xfrm>
            <a:off x="2340742" y="2530960"/>
            <a:ext cx="65" cy="48852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04742" rIns="0" bIns="10474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Content Placeholder 7">
            <a:extLst>
              <a:ext uri="{FF2B5EF4-FFF2-40B4-BE49-F238E27FC236}">
                <a16:creationId xmlns:a16="http://schemas.microsoft.com/office/drawing/2014/main" id="{273BA1ED-A3CE-45A9-802D-0B624B8BC22D}"/>
              </a:ext>
            </a:extLst>
          </p:cNvPr>
          <p:cNvSpPr>
            <a:spLocks noGrp="1"/>
          </p:cNvSpPr>
          <p:nvPr>
            <p:ph idx="1"/>
          </p:nvPr>
        </p:nvSpPr>
        <p:spPr>
          <a:xfrm>
            <a:off x="648557" y="1676611"/>
            <a:ext cx="10515600" cy="4351338"/>
          </a:xfrm>
        </p:spPr>
        <p:txBody>
          <a:bodyPr>
            <a:normAutofit/>
          </a:bodyPr>
          <a:lstStyle/>
          <a:p>
            <a:pPr eaLnBrk="0" fontAlgn="base" hangingPunct="0">
              <a:lnSpc>
                <a:spcPct val="100000"/>
              </a:lnSpc>
              <a:spcBef>
                <a:spcPct val="0"/>
              </a:spcBef>
              <a:spcAft>
                <a:spcPct val="0"/>
              </a:spcAft>
            </a:pPr>
            <a:r>
              <a:rPr lang="en-US" altLang="en-US" sz="3600" dirty="0">
                <a:solidFill>
                  <a:srgbClr val="0F1115"/>
                </a:solidFill>
                <a:latin typeface="quote-cjk-patch"/>
              </a:rPr>
              <a:t>Stability control</a:t>
            </a:r>
          </a:p>
          <a:p>
            <a:pPr eaLnBrk="0" fontAlgn="base" hangingPunct="0">
              <a:lnSpc>
                <a:spcPct val="100000"/>
              </a:lnSpc>
              <a:spcBef>
                <a:spcPct val="0"/>
              </a:spcBef>
              <a:spcAft>
                <a:spcPct val="0"/>
              </a:spcAft>
            </a:pPr>
            <a:r>
              <a:rPr lang="en-US" altLang="en-US" sz="3600" dirty="0">
                <a:solidFill>
                  <a:srgbClr val="0F1115"/>
                </a:solidFill>
                <a:latin typeface="quote-cjk-patch"/>
              </a:rPr>
              <a:t>Energy efficiency</a:t>
            </a:r>
          </a:p>
          <a:p>
            <a:pPr eaLnBrk="0" fontAlgn="base" hangingPunct="0">
              <a:lnSpc>
                <a:spcPct val="100000"/>
              </a:lnSpc>
              <a:spcBef>
                <a:spcPct val="0"/>
              </a:spcBef>
              <a:spcAft>
                <a:spcPct val="0"/>
              </a:spcAft>
            </a:pPr>
            <a:r>
              <a:rPr lang="en-US" altLang="en-US" sz="3600" dirty="0">
                <a:solidFill>
                  <a:srgbClr val="0F1115"/>
                </a:solidFill>
                <a:latin typeface="quote-cjk-patch"/>
              </a:rPr>
              <a:t>Terrain adaptation</a:t>
            </a:r>
          </a:p>
          <a:p>
            <a:pPr eaLnBrk="0" fontAlgn="base" hangingPunct="0">
              <a:lnSpc>
                <a:spcPct val="100000"/>
              </a:lnSpc>
              <a:spcBef>
                <a:spcPct val="0"/>
              </a:spcBef>
              <a:spcAft>
                <a:spcPct val="0"/>
              </a:spcAft>
            </a:pPr>
            <a:r>
              <a:rPr lang="en-US" altLang="en-US" sz="3600" dirty="0">
                <a:solidFill>
                  <a:srgbClr val="0F1115"/>
                </a:solidFill>
                <a:latin typeface="quote-cjk-patch"/>
              </a:rPr>
              <a:t>Gait (movement/walk) generation (for legged robots)</a:t>
            </a:r>
          </a:p>
          <a:p>
            <a:pPr marL="0" lvl="0" indent="0" eaLnBrk="0" fontAlgn="base" hangingPunct="0">
              <a:lnSpc>
                <a:spcPct val="100000"/>
              </a:lnSpc>
              <a:spcBef>
                <a:spcPct val="0"/>
              </a:spcBef>
              <a:spcAft>
                <a:spcPct val="0"/>
              </a:spcAft>
              <a:buNone/>
            </a:pPr>
            <a:r>
              <a:rPr lang="en-US" altLang="en-US" sz="3600" b="1" dirty="0">
                <a:solidFill>
                  <a:srgbClr val="0F1115"/>
                </a:solidFill>
                <a:latin typeface="quote-cjk-patch"/>
              </a:rPr>
              <a:t>Simple analogy:</a:t>
            </a:r>
            <a:r>
              <a:rPr lang="en-US" altLang="en-US" sz="3600" dirty="0">
                <a:solidFill>
                  <a:srgbClr val="0F1115"/>
                </a:solidFill>
                <a:latin typeface="quote-cjk-patch"/>
              </a:rPr>
              <a:t> Locomotion answers </a:t>
            </a:r>
            <a:r>
              <a:rPr lang="en-US" altLang="en-US" sz="3600" i="1" dirty="0">
                <a:solidFill>
                  <a:srgbClr val="0F1115"/>
                </a:solidFill>
                <a:latin typeface="quote-cjk-patch"/>
              </a:rPr>
              <a:t>"How does the robot get around?"</a:t>
            </a:r>
            <a:endParaRPr kumimoji="0" lang="en-US" altLang="en-US" sz="4800" b="0" i="0" u="none" strike="noStrike" cap="none" normalizeH="0" baseline="0" dirty="0">
              <a:ln>
                <a:noFill/>
              </a:ln>
              <a:solidFill>
                <a:schemeClr val="tx1"/>
              </a:solidFill>
              <a:effectLst/>
              <a:latin typeface="Arial" panose="020B0604020202020204" pitchFamily="34" charset="0"/>
            </a:endParaRPr>
          </a:p>
          <a:p>
            <a:endParaRPr lang="en-US" dirty="0"/>
          </a:p>
        </p:txBody>
      </p:sp>
      <p:sp>
        <p:nvSpPr>
          <p:cNvPr id="3" name="Date Placeholder 2">
            <a:extLst>
              <a:ext uri="{FF2B5EF4-FFF2-40B4-BE49-F238E27FC236}">
                <a16:creationId xmlns:a16="http://schemas.microsoft.com/office/drawing/2014/main" id="{34E3E9CF-73A9-465A-8DF9-9B35E5784F66}"/>
              </a:ext>
            </a:extLst>
          </p:cNvPr>
          <p:cNvSpPr>
            <a:spLocks noGrp="1"/>
          </p:cNvSpPr>
          <p:nvPr>
            <p:ph type="dt" sz="half" idx="10"/>
          </p:nvPr>
        </p:nvSpPr>
        <p:spPr/>
        <p:txBody>
          <a:bodyPr/>
          <a:lstStyle/>
          <a:p>
            <a:fld id="{ECC151FF-EB03-43A8-BE76-118D3C996076}" type="datetime1">
              <a:rPr lang="en-US" smtClean="0"/>
              <a:t>3/8/2026</a:t>
            </a:fld>
            <a:endParaRPr lang="en-US"/>
          </a:p>
        </p:txBody>
      </p:sp>
      <p:sp>
        <p:nvSpPr>
          <p:cNvPr id="4" name="Slide Number Placeholder 3">
            <a:extLst>
              <a:ext uri="{FF2B5EF4-FFF2-40B4-BE49-F238E27FC236}">
                <a16:creationId xmlns:a16="http://schemas.microsoft.com/office/drawing/2014/main" id="{93CFB57D-4544-4182-A7C0-A8A71D2725B6}"/>
              </a:ext>
            </a:extLst>
          </p:cNvPr>
          <p:cNvSpPr>
            <a:spLocks noGrp="1"/>
          </p:cNvSpPr>
          <p:nvPr>
            <p:ph type="sldNum" sz="quarter" idx="12"/>
          </p:nvPr>
        </p:nvSpPr>
        <p:spPr/>
        <p:txBody>
          <a:bodyPr/>
          <a:lstStyle/>
          <a:p>
            <a:fld id="{C29293D3-8374-41FE-B1E4-A635E9555193}" type="slidenum">
              <a:rPr lang="en-US" smtClean="0"/>
              <a:t>4</a:t>
            </a:fld>
            <a:endParaRPr lang="en-US"/>
          </a:p>
        </p:txBody>
      </p:sp>
    </p:spTree>
    <p:extLst>
      <p:ext uri="{BB962C8B-B14F-4D97-AF65-F5344CB8AC3E}">
        <p14:creationId xmlns:p14="http://schemas.microsoft.com/office/powerpoint/2010/main" val="1656185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61B55-8845-45E0-9A28-A752979F7CE1}"/>
              </a:ext>
            </a:extLst>
          </p:cNvPr>
          <p:cNvSpPr>
            <a:spLocks noGrp="1"/>
          </p:cNvSpPr>
          <p:nvPr>
            <p:ph type="title"/>
          </p:nvPr>
        </p:nvSpPr>
        <p:spPr>
          <a:xfrm>
            <a:off x="838200" y="193675"/>
            <a:ext cx="5257800" cy="1325563"/>
          </a:xfrm>
        </p:spPr>
        <p:txBody>
          <a:bodyPr/>
          <a:lstStyle/>
          <a:p>
            <a:r>
              <a:rPr lang="en-US" b="1" dirty="0"/>
              <a:t>Robot Arm</a:t>
            </a:r>
          </a:p>
        </p:txBody>
      </p:sp>
      <p:sp>
        <p:nvSpPr>
          <p:cNvPr id="3" name="Content Placeholder 2">
            <a:extLst>
              <a:ext uri="{FF2B5EF4-FFF2-40B4-BE49-F238E27FC236}">
                <a16:creationId xmlns:a16="http://schemas.microsoft.com/office/drawing/2014/main" id="{35C72F89-BD91-4D76-9FE7-75637A7604E2}"/>
              </a:ext>
            </a:extLst>
          </p:cNvPr>
          <p:cNvSpPr>
            <a:spLocks noGrp="1"/>
          </p:cNvSpPr>
          <p:nvPr>
            <p:ph idx="1"/>
          </p:nvPr>
        </p:nvSpPr>
        <p:spPr>
          <a:xfrm>
            <a:off x="375896" y="1400175"/>
            <a:ext cx="5824879" cy="4776788"/>
          </a:xfrm>
        </p:spPr>
        <p:txBody>
          <a:bodyPr>
            <a:normAutofit fontScale="85000" lnSpcReduction="10000"/>
          </a:bodyPr>
          <a:lstStyle/>
          <a:p>
            <a:r>
              <a:rPr lang="en-US" sz="3600" dirty="0"/>
              <a:t>A typical robot arm consists of:</a:t>
            </a:r>
          </a:p>
          <a:p>
            <a:pPr lvl="1"/>
            <a:r>
              <a:rPr lang="en-US" sz="3200" b="1" dirty="0"/>
              <a:t>Links</a:t>
            </a:r>
            <a:r>
              <a:rPr lang="en-US" sz="3200" dirty="0"/>
              <a:t> – rigid parts of the robot</a:t>
            </a:r>
          </a:p>
          <a:p>
            <a:pPr lvl="1"/>
            <a:r>
              <a:rPr lang="en-US" sz="3200" b="1" dirty="0"/>
              <a:t>Joints</a:t>
            </a:r>
            <a:r>
              <a:rPr lang="en-US" sz="3200" dirty="0"/>
              <a:t> – movable connections between links</a:t>
            </a:r>
          </a:p>
          <a:p>
            <a:pPr lvl="1"/>
            <a:r>
              <a:rPr lang="en-US" sz="3200" b="1" dirty="0"/>
              <a:t>End-effector</a:t>
            </a:r>
            <a:r>
              <a:rPr lang="en-US" sz="3200" dirty="0"/>
              <a:t> – the tool attached to the robot (gripper, welder, etc.)</a:t>
            </a:r>
          </a:p>
          <a:p>
            <a:r>
              <a:rPr lang="en-US" sz="3600" dirty="0"/>
              <a:t>Example uses of robot arms include:</a:t>
            </a:r>
          </a:p>
          <a:p>
            <a:pPr lvl="1"/>
            <a:r>
              <a:rPr lang="en-US" sz="3200" dirty="0"/>
              <a:t>Industrial manufacturing</a:t>
            </a:r>
          </a:p>
          <a:p>
            <a:pPr lvl="1"/>
            <a:r>
              <a:rPr lang="en-US" sz="3200" dirty="0"/>
              <a:t>Medical surgery robots</a:t>
            </a:r>
          </a:p>
          <a:p>
            <a:pPr lvl="1"/>
            <a:r>
              <a:rPr lang="en-US" sz="3200" dirty="0"/>
              <a:t>Space robotics</a:t>
            </a:r>
          </a:p>
          <a:p>
            <a:pPr lvl="1"/>
            <a:r>
              <a:rPr lang="en-US" sz="3200" dirty="0"/>
              <a:t>Autonomous systems</a:t>
            </a:r>
          </a:p>
          <a:p>
            <a:endParaRPr lang="en-US" dirty="0"/>
          </a:p>
        </p:txBody>
      </p:sp>
      <p:pic>
        <p:nvPicPr>
          <p:cNvPr id="4" name="Picture 3">
            <a:extLst>
              <a:ext uri="{FF2B5EF4-FFF2-40B4-BE49-F238E27FC236}">
                <a16:creationId xmlns:a16="http://schemas.microsoft.com/office/drawing/2014/main" id="{EC5021C4-6B0E-4E4F-B367-A52DECEA26C3}"/>
              </a:ext>
            </a:extLst>
          </p:cNvPr>
          <p:cNvPicPr>
            <a:picLocks noChangeAspect="1"/>
          </p:cNvPicPr>
          <p:nvPr/>
        </p:nvPicPr>
        <p:blipFill>
          <a:blip r:embed="rId2"/>
          <a:stretch>
            <a:fillRect/>
          </a:stretch>
        </p:blipFill>
        <p:spPr>
          <a:xfrm>
            <a:off x="6096000" y="702281"/>
            <a:ext cx="6139204" cy="5474682"/>
          </a:xfrm>
          <a:prstGeom prst="rect">
            <a:avLst/>
          </a:prstGeom>
        </p:spPr>
      </p:pic>
      <p:sp>
        <p:nvSpPr>
          <p:cNvPr id="5" name="Date Placeholder 4">
            <a:extLst>
              <a:ext uri="{FF2B5EF4-FFF2-40B4-BE49-F238E27FC236}">
                <a16:creationId xmlns:a16="http://schemas.microsoft.com/office/drawing/2014/main" id="{2F3CB7BE-FFE6-4B6E-B9B1-0010F4D5C104}"/>
              </a:ext>
            </a:extLst>
          </p:cNvPr>
          <p:cNvSpPr>
            <a:spLocks noGrp="1"/>
          </p:cNvSpPr>
          <p:nvPr>
            <p:ph type="dt" sz="half" idx="10"/>
          </p:nvPr>
        </p:nvSpPr>
        <p:spPr/>
        <p:txBody>
          <a:bodyPr/>
          <a:lstStyle/>
          <a:p>
            <a:fld id="{EB8FD02A-ADBC-40BF-BC93-87F89EF6460A}" type="datetime1">
              <a:rPr lang="en-US" smtClean="0"/>
              <a:t>3/8/2026</a:t>
            </a:fld>
            <a:endParaRPr lang="en-US"/>
          </a:p>
        </p:txBody>
      </p:sp>
      <p:sp>
        <p:nvSpPr>
          <p:cNvPr id="6" name="Slide Number Placeholder 5">
            <a:extLst>
              <a:ext uri="{FF2B5EF4-FFF2-40B4-BE49-F238E27FC236}">
                <a16:creationId xmlns:a16="http://schemas.microsoft.com/office/drawing/2014/main" id="{BB3B03A8-B2AF-46E0-A907-87DEEA5F4119}"/>
              </a:ext>
            </a:extLst>
          </p:cNvPr>
          <p:cNvSpPr>
            <a:spLocks noGrp="1"/>
          </p:cNvSpPr>
          <p:nvPr>
            <p:ph type="sldNum" sz="quarter" idx="12"/>
          </p:nvPr>
        </p:nvSpPr>
        <p:spPr/>
        <p:txBody>
          <a:bodyPr/>
          <a:lstStyle/>
          <a:p>
            <a:fld id="{C29293D3-8374-41FE-B1E4-A635E9555193}" type="slidenum">
              <a:rPr lang="en-US" smtClean="0"/>
              <a:t>5</a:t>
            </a:fld>
            <a:endParaRPr lang="en-US"/>
          </a:p>
        </p:txBody>
      </p:sp>
    </p:spTree>
    <p:extLst>
      <p:ext uri="{BB962C8B-B14F-4D97-AF65-F5344CB8AC3E}">
        <p14:creationId xmlns:p14="http://schemas.microsoft.com/office/powerpoint/2010/main" val="849340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75B61-FB21-4EFA-BC87-CD8C8622EA9C}"/>
              </a:ext>
            </a:extLst>
          </p:cNvPr>
          <p:cNvSpPr>
            <a:spLocks noGrp="1"/>
          </p:cNvSpPr>
          <p:nvPr>
            <p:ph type="title"/>
          </p:nvPr>
        </p:nvSpPr>
        <p:spPr/>
        <p:txBody>
          <a:bodyPr>
            <a:normAutofit/>
          </a:bodyPr>
          <a:lstStyle/>
          <a:p>
            <a:r>
              <a:rPr lang="en-US" b="1" dirty="0"/>
              <a:t>Coordinate Frames in Robot Arms</a:t>
            </a:r>
            <a:endParaRPr lang="en-US" dirty="0"/>
          </a:p>
        </p:txBody>
      </p:sp>
      <p:sp>
        <p:nvSpPr>
          <p:cNvPr id="3" name="Content Placeholder 2">
            <a:extLst>
              <a:ext uri="{FF2B5EF4-FFF2-40B4-BE49-F238E27FC236}">
                <a16:creationId xmlns:a16="http://schemas.microsoft.com/office/drawing/2014/main" id="{BC6DE166-E465-4E79-8BB8-5B03B50E21EF}"/>
              </a:ext>
            </a:extLst>
          </p:cNvPr>
          <p:cNvSpPr>
            <a:spLocks noGrp="1"/>
          </p:cNvSpPr>
          <p:nvPr>
            <p:ph idx="1"/>
          </p:nvPr>
        </p:nvSpPr>
        <p:spPr/>
        <p:txBody>
          <a:bodyPr>
            <a:normAutofit lnSpcReduction="10000"/>
          </a:bodyPr>
          <a:lstStyle/>
          <a:p>
            <a:r>
              <a:rPr lang="en-US" sz="3200" dirty="0"/>
              <a:t>Each link in a robot has its own </a:t>
            </a:r>
            <a:r>
              <a:rPr lang="en-US" sz="3200" b="1" dirty="0"/>
              <a:t>coordinate frame</a:t>
            </a:r>
            <a:r>
              <a:rPr lang="en-US" sz="3200" dirty="0"/>
              <a:t>.</a:t>
            </a:r>
          </a:p>
          <a:p>
            <a:r>
              <a:rPr lang="en-US" sz="3200" dirty="0"/>
              <a:t>A coordinate frame consists of:</a:t>
            </a:r>
          </a:p>
          <a:p>
            <a:pPr lvl="1">
              <a:buFont typeface="Wingdings" panose="05000000000000000000" pitchFamily="2" charset="2"/>
              <a:buChar char="ü"/>
            </a:pPr>
            <a:r>
              <a:rPr lang="en-US" sz="2800" dirty="0"/>
              <a:t>X-axis</a:t>
            </a:r>
          </a:p>
          <a:p>
            <a:pPr lvl="1">
              <a:buFont typeface="Wingdings" panose="05000000000000000000" pitchFamily="2" charset="2"/>
              <a:buChar char="ü"/>
            </a:pPr>
            <a:r>
              <a:rPr lang="en-US" sz="2800" dirty="0"/>
              <a:t>Y-axis</a:t>
            </a:r>
          </a:p>
          <a:p>
            <a:pPr lvl="1">
              <a:buFont typeface="Wingdings" panose="05000000000000000000" pitchFamily="2" charset="2"/>
              <a:buChar char="ü"/>
            </a:pPr>
            <a:r>
              <a:rPr lang="en-US" sz="2800" dirty="0"/>
              <a:t>Z-axis</a:t>
            </a:r>
          </a:p>
          <a:p>
            <a:r>
              <a:rPr lang="en-US" sz="3200" dirty="0"/>
              <a:t>These frames help describe how one link moves relative to another.</a:t>
            </a:r>
          </a:p>
          <a:p>
            <a:r>
              <a:rPr lang="en-US" sz="3200" dirty="0"/>
              <a:t>To transform coordinates from one frame to another we use </a:t>
            </a:r>
            <a:r>
              <a:rPr lang="en-US" sz="3200" b="1" dirty="0"/>
              <a:t>transformation matrices</a:t>
            </a:r>
            <a:r>
              <a:rPr lang="en-US" sz="3200" dirty="0"/>
              <a:t>.</a:t>
            </a:r>
          </a:p>
          <a:p>
            <a:endParaRPr lang="en-US" dirty="0"/>
          </a:p>
        </p:txBody>
      </p:sp>
      <p:sp>
        <p:nvSpPr>
          <p:cNvPr id="4" name="Date Placeholder 3">
            <a:extLst>
              <a:ext uri="{FF2B5EF4-FFF2-40B4-BE49-F238E27FC236}">
                <a16:creationId xmlns:a16="http://schemas.microsoft.com/office/drawing/2014/main" id="{64B906F0-DBCD-437B-8DED-DBBC1CDBBA75}"/>
              </a:ext>
            </a:extLst>
          </p:cNvPr>
          <p:cNvSpPr>
            <a:spLocks noGrp="1"/>
          </p:cNvSpPr>
          <p:nvPr>
            <p:ph type="dt" sz="half" idx="10"/>
          </p:nvPr>
        </p:nvSpPr>
        <p:spPr/>
        <p:txBody>
          <a:bodyPr/>
          <a:lstStyle/>
          <a:p>
            <a:fld id="{97574B60-D838-4A61-9E9E-0779F5FD3A68}" type="datetime1">
              <a:rPr lang="en-US" smtClean="0"/>
              <a:t>3/8/2026</a:t>
            </a:fld>
            <a:endParaRPr lang="en-US"/>
          </a:p>
        </p:txBody>
      </p:sp>
      <p:sp>
        <p:nvSpPr>
          <p:cNvPr id="5" name="Slide Number Placeholder 4">
            <a:extLst>
              <a:ext uri="{FF2B5EF4-FFF2-40B4-BE49-F238E27FC236}">
                <a16:creationId xmlns:a16="http://schemas.microsoft.com/office/drawing/2014/main" id="{ECE0456C-818E-456B-B2E6-9CD0AC152422}"/>
              </a:ext>
            </a:extLst>
          </p:cNvPr>
          <p:cNvSpPr>
            <a:spLocks noGrp="1"/>
          </p:cNvSpPr>
          <p:nvPr>
            <p:ph type="sldNum" sz="quarter" idx="12"/>
          </p:nvPr>
        </p:nvSpPr>
        <p:spPr/>
        <p:txBody>
          <a:bodyPr/>
          <a:lstStyle/>
          <a:p>
            <a:fld id="{C29293D3-8374-41FE-B1E4-A635E9555193}" type="slidenum">
              <a:rPr lang="en-US" smtClean="0"/>
              <a:t>6</a:t>
            </a:fld>
            <a:endParaRPr lang="en-US"/>
          </a:p>
        </p:txBody>
      </p:sp>
    </p:spTree>
    <p:extLst>
      <p:ext uri="{BB962C8B-B14F-4D97-AF65-F5344CB8AC3E}">
        <p14:creationId xmlns:p14="http://schemas.microsoft.com/office/powerpoint/2010/main" val="3068344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b="1" dirty="0" err="1"/>
              <a:t>Denavit</a:t>
            </a:r>
            <a:r>
              <a:rPr lang="en-US" b="1" dirty="0"/>
              <a:t> - </a:t>
            </a:r>
            <a:r>
              <a:rPr b="1" dirty="0" err="1"/>
              <a:t>Hartenberg</a:t>
            </a:r>
            <a:r>
              <a:rPr b="1" dirty="0"/>
              <a:t> (DH) Parameters</a:t>
            </a:r>
          </a:p>
        </p:txBody>
      </p:sp>
      <p:sp>
        <p:nvSpPr>
          <p:cNvPr id="3" name="Content Placeholder 2"/>
          <p:cNvSpPr>
            <a:spLocks noGrp="1"/>
          </p:cNvSpPr>
          <p:nvPr>
            <p:ph idx="1"/>
          </p:nvPr>
        </p:nvSpPr>
        <p:spPr/>
        <p:txBody>
          <a:bodyPr>
            <a:normAutofit/>
          </a:bodyPr>
          <a:lstStyle/>
          <a:p>
            <a:r>
              <a:rPr sz="3200" dirty="0"/>
              <a:t>DH parameters provide a standard way to describe robot arms.</a:t>
            </a:r>
          </a:p>
          <a:p>
            <a:r>
              <a:rPr sz="3200" dirty="0"/>
              <a:t>Each joint is described using four parameters:</a:t>
            </a:r>
          </a:p>
          <a:p>
            <a:pPr lvl="1">
              <a:buFont typeface="Wingdings" panose="05000000000000000000" pitchFamily="2" charset="2"/>
              <a:buChar char="ü"/>
            </a:pPr>
            <a:r>
              <a:rPr sz="2800" dirty="0"/>
              <a:t>θ (theta): Joint angle</a:t>
            </a:r>
            <a:r>
              <a:rPr lang="en-US" sz="2800" dirty="0"/>
              <a:t> (rotation)</a:t>
            </a:r>
            <a:endParaRPr sz="2800" dirty="0"/>
          </a:p>
          <a:p>
            <a:pPr lvl="1">
              <a:buFont typeface="Wingdings" panose="05000000000000000000" pitchFamily="2" charset="2"/>
              <a:buChar char="ü"/>
            </a:pPr>
            <a:r>
              <a:rPr sz="2800" dirty="0"/>
              <a:t>d: Link offset</a:t>
            </a:r>
          </a:p>
          <a:p>
            <a:pPr lvl="1">
              <a:buFont typeface="Wingdings" panose="05000000000000000000" pitchFamily="2" charset="2"/>
              <a:buChar char="ü"/>
            </a:pPr>
            <a:r>
              <a:rPr sz="2800" dirty="0"/>
              <a:t>a: Link length</a:t>
            </a:r>
          </a:p>
          <a:p>
            <a:pPr lvl="1">
              <a:buFont typeface="Wingdings" panose="05000000000000000000" pitchFamily="2" charset="2"/>
              <a:buChar char="ü"/>
            </a:pPr>
            <a:r>
              <a:rPr sz="2800" dirty="0"/>
              <a:t>α (alpha): Link twist</a:t>
            </a:r>
            <a:endParaRPr lang="en-US" sz="2800" dirty="0"/>
          </a:p>
          <a:p>
            <a:r>
              <a:rPr lang="en-US" sz="3200" dirty="0"/>
              <a:t>These parameters describe the transformation between two consecutive links.</a:t>
            </a:r>
            <a:endParaRPr sz="3200" dirty="0"/>
          </a:p>
        </p:txBody>
      </p:sp>
      <p:sp>
        <p:nvSpPr>
          <p:cNvPr id="4" name="Date Placeholder 3">
            <a:extLst>
              <a:ext uri="{FF2B5EF4-FFF2-40B4-BE49-F238E27FC236}">
                <a16:creationId xmlns:a16="http://schemas.microsoft.com/office/drawing/2014/main" id="{939B07FA-7400-4F9F-A3DD-F6D4EFEDAA7F}"/>
              </a:ext>
            </a:extLst>
          </p:cNvPr>
          <p:cNvSpPr>
            <a:spLocks noGrp="1"/>
          </p:cNvSpPr>
          <p:nvPr>
            <p:ph type="dt" sz="half" idx="10"/>
          </p:nvPr>
        </p:nvSpPr>
        <p:spPr/>
        <p:txBody>
          <a:bodyPr/>
          <a:lstStyle/>
          <a:p>
            <a:fld id="{8D410A1B-D09E-449D-A4F1-9F5690C9B295}" type="datetime1">
              <a:rPr lang="en-US" smtClean="0"/>
              <a:t>3/8/2026</a:t>
            </a:fld>
            <a:endParaRPr lang="en-US"/>
          </a:p>
        </p:txBody>
      </p:sp>
      <p:sp>
        <p:nvSpPr>
          <p:cNvPr id="5" name="Slide Number Placeholder 4">
            <a:extLst>
              <a:ext uri="{FF2B5EF4-FFF2-40B4-BE49-F238E27FC236}">
                <a16:creationId xmlns:a16="http://schemas.microsoft.com/office/drawing/2014/main" id="{A2F7346C-8E0D-41B1-8ED7-BEC5CAAAA280}"/>
              </a:ext>
            </a:extLst>
          </p:cNvPr>
          <p:cNvSpPr>
            <a:spLocks noGrp="1"/>
          </p:cNvSpPr>
          <p:nvPr>
            <p:ph type="sldNum" sz="quarter" idx="12"/>
          </p:nvPr>
        </p:nvSpPr>
        <p:spPr/>
        <p:txBody>
          <a:bodyPr/>
          <a:lstStyle/>
          <a:p>
            <a:fld id="{C29293D3-8374-41FE-B1E4-A635E9555193}"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CD6FE-EDBE-478D-A4E8-95D8C5F96392}"/>
              </a:ext>
            </a:extLst>
          </p:cNvPr>
          <p:cNvSpPr>
            <a:spLocks noGrp="1"/>
          </p:cNvSpPr>
          <p:nvPr>
            <p:ph type="title"/>
          </p:nvPr>
        </p:nvSpPr>
        <p:spPr/>
        <p:txBody>
          <a:bodyPr/>
          <a:lstStyle/>
          <a:p>
            <a:r>
              <a:rPr lang="en-US" altLang="en-US" b="1" dirty="0">
                <a:solidFill>
                  <a:srgbClr val="0F1115"/>
                </a:solidFill>
                <a:latin typeface="quote-cjk-patch"/>
              </a:rPr>
              <a:t>Introduction to Kinematics</a:t>
            </a:r>
            <a:endParaRPr lang="en-US" dirty="0"/>
          </a:p>
        </p:txBody>
      </p:sp>
      <p:sp>
        <p:nvSpPr>
          <p:cNvPr id="5" name="Rectangle 1">
            <a:extLst>
              <a:ext uri="{FF2B5EF4-FFF2-40B4-BE49-F238E27FC236}">
                <a16:creationId xmlns:a16="http://schemas.microsoft.com/office/drawing/2014/main" id="{56DA8C12-ECB0-47B3-A615-B8F3A85090C7}"/>
              </a:ext>
            </a:extLst>
          </p:cNvPr>
          <p:cNvSpPr>
            <a:spLocks noChangeArrowheads="1"/>
          </p:cNvSpPr>
          <p:nvPr/>
        </p:nvSpPr>
        <p:spPr bwMode="auto">
          <a:xfrm>
            <a:off x="3781973" y="2173145"/>
            <a:ext cx="65" cy="4154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559CD933-60C3-42FF-A3A4-417F78899E7D}"/>
              </a:ext>
            </a:extLst>
          </p:cNvPr>
          <p:cNvSpPr>
            <a:spLocks noChangeArrowheads="1"/>
          </p:cNvSpPr>
          <p:nvPr/>
        </p:nvSpPr>
        <p:spPr bwMode="auto">
          <a:xfrm>
            <a:off x="3708400" y="3154574"/>
            <a:ext cx="65" cy="48852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04742" rIns="0" bIns="10474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Content Placeholder 7">
            <a:extLst>
              <a:ext uri="{FF2B5EF4-FFF2-40B4-BE49-F238E27FC236}">
                <a16:creationId xmlns:a16="http://schemas.microsoft.com/office/drawing/2014/main" id="{521DFFBE-B43F-4E61-83D0-3278058D2EB0}"/>
              </a:ext>
            </a:extLst>
          </p:cNvPr>
          <p:cNvSpPr>
            <a:spLocks noGrp="1"/>
          </p:cNvSpPr>
          <p:nvPr>
            <p:ph idx="1"/>
          </p:nvPr>
        </p:nvSpPr>
        <p:spPr>
          <a:xfrm>
            <a:off x="748748" y="1540475"/>
            <a:ext cx="9906000" cy="4522395"/>
          </a:xfrm>
        </p:spPr>
        <p:txBody>
          <a:bodyPr>
            <a:normAutofit/>
          </a:bodyPr>
          <a:lstStyle/>
          <a:p>
            <a:pPr eaLnBrk="0" fontAlgn="base" hangingPunct="0">
              <a:lnSpc>
                <a:spcPct val="100000"/>
              </a:lnSpc>
              <a:spcBef>
                <a:spcPct val="0"/>
              </a:spcBef>
              <a:spcAft>
                <a:spcPct val="0"/>
              </a:spcAft>
            </a:pPr>
            <a:r>
              <a:rPr lang="en-US" altLang="en-US" dirty="0">
                <a:solidFill>
                  <a:srgbClr val="0F1115"/>
                </a:solidFill>
                <a:latin typeface="quote-cjk-patch"/>
              </a:rPr>
              <a:t>Kinematics is the study of </a:t>
            </a:r>
            <a:r>
              <a:rPr lang="en-US" altLang="en-US" b="1" dirty="0">
                <a:solidFill>
                  <a:srgbClr val="0F1115"/>
                </a:solidFill>
                <a:latin typeface="quote-cjk-patch"/>
              </a:rPr>
              <a:t>motion geometry, </a:t>
            </a:r>
            <a:r>
              <a:rPr lang="en-US" altLang="en-US" dirty="0">
                <a:solidFill>
                  <a:srgbClr val="0F1115"/>
                </a:solidFill>
                <a:latin typeface="quote-cjk-patch"/>
              </a:rPr>
              <a:t>positions, velocities, and accelerations, </a:t>
            </a:r>
            <a:r>
              <a:rPr lang="en-US" altLang="en-US" b="1" dirty="0">
                <a:solidFill>
                  <a:srgbClr val="0F1115"/>
                </a:solidFill>
                <a:latin typeface="quote-cjk-patch"/>
              </a:rPr>
              <a:t>without considering forces</a:t>
            </a:r>
            <a:r>
              <a:rPr lang="en-US" altLang="en-US" dirty="0">
                <a:solidFill>
                  <a:srgbClr val="0F1115"/>
                </a:solidFill>
                <a:latin typeface="quote-cjk-patch"/>
              </a:rPr>
              <a:t>.</a:t>
            </a:r>
          </a:p>
          <a:p>
            <a:pPr eaLnBrk="0" fontAlgn="base" hangingPunct="0">
              <a:lnSpc>
                <a:spcPct val="100000"/>
              </a:lnSpc>
              <a:spcBef>
                <a:spcPct val="0"/>
              </a:spcBef>
              <a:spcAft>
                <a:spcPct val="0"/>
              </a:spcAft>
            </a:pPr>
            <a:r>
              <a:rPr lang="en-US" dirty="0"/>
              <a:t>It is a subfield of physics (part of classical mechanics) that describes the motion of points, objects, and systems without considering the forces that cause them to move</a:t>
            </a:r>
            <a:endParaRPr kumimoji="0" lang="en-US" altLang="en-US"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pPr>
            <a:r>
              <a:rPr lang="en-US" altLang="en-US" b="1" dirty="0">
                <a:solidFill>
                  <a:srgbClr val="0F1115"/>
                </a:solidFill>
                <a:latin typeface="quote-cjk-patch"/>
              </a:rPr>
              <a:t>Core Concepts</a:t>
            </a:r>
          </a:p>
          <a:p>
            <a:pPr marL="0" lvl="0" indent="0" eaLnBrk="0" fontAlgn="base" hangingPunct="0">
              <a:lnSpc>
                <a:spcPct val="100000"/>
              </a:lnSpc>
              <a:spcBef>
                <a:spcPct val="0"/>
              </a:spcBef>
              <a:spcAft>
                <a:spcPct val="0"/>
              </a:spcAft>
              <a:buNone/>
            </a:pPr>
            <a:endParaRPr kumimoji="0" lang="en-US" altLang="en-US" sz="1600" b="1" i="0" u="none" strike="noStrike" cap="none" normalizeH="0" baseline="0" dirty="0">
              <a:ln>
                <a:noFill/>
              </a:ln>
              <a:solidFill>
                <a:srgbClr val="0F1115"/>
              </a:solidFill>
              <a:effectLst/>
              <a:latin typeface="quote-cjk-patch"/>
            </a:endParaRPr>
          </a:p>
          <a:p>
            <a:pPr marL="0" lvl="0" indent="0" eaLnBrk="0" fontAlgn="base" hangingPunct="0">
              <a:lnSpc>
                <a:spcPct val="100000"/>
              </a:lnSpc>
              <a:spcBef>
                <a:spcPct val="0"/>
              </a:spcBef>
              <a:spcAft>
                <a:spcPct val="0"/>
              </a:spcAft>
              <a:buNone/>
            </a:pPr>
            <a:r>
              <a:rPr kumimoji="0" lang="en-US" altLang="en-US" b="0" i="0" u="none" strike="noStrike" cap="none" normalizeH="0" baseline="0" dirty="0">
                <a:ln>
                  <a:noFill/>
                </a:ln>
                <a:solidFill>
                  <a:schemeClr val="tx1"/>
                </a:solidFill>
                <a:effectLst/>
              </a:rPr>
              <a:t>	</a:t>
            </a:r>
            <a:r>
              <a:rPr kumimoji="0" lang="en-US" altLang="en-US" b="1" i="0" u="none" strike="noStrike" cap="none" normalizeH="0" baseline="0" dirty="0">
                <a:ln>
                  <a:noFill/>
                </a:ln>
                <a:solidFill>
                  <a:schemeClr val="tx1"/>
                </a:solidFill>
                <a:effectLst/>
              </a:rPr>
              <a:t>Joint Space               </a:t>
            </a:r>
            <a:r>
              <a:rPr kumimoji="0" lang="en-US" altLang="en-US" b="0" i="0" u="none" strike="noStrike" cap="none" normalizeH="0" baseline="0" dirty="0">
                <a:ln>
                  <a:noFill/>
                </a:ln>
                <a:solidFill>
                  <a:schemeClr val="tx1"/>
                </a:solidFill>
                <a:effectLst/>
              </a:rPr>
              <a:t>		</a:t>
            </a:r>
            <a:r>
              <a:rPr kumimoji="0" lang="en-US" altLang="en-US" b="1" i="0" u="none" strike="noStrike" cap="none" normalizeH="0" baseline="0" dirty="0">
                <a:ln>
                  <a:noFill/>
                </a:ln>
                <a:solidFill>
                  <a:schemeClr val="tx1"/>
                </a:solidFill>
                <a:effectLst/>
              </a:rPr>
              <a:t>Task Space</a:t>
            </a:r>
          </a:p>
          <a:p>
            <a:pPr marL="0" lvl="0" indent="0" eaLnBrk="0" fontAlgn="base" hangingPunct="0">
              <a:lnSpc>
                <a:spcPct val="100000"/>
              </a:lnSpc>
              <a:spcBef>
                <a:spcPct val="0"/>
              </a:spcBef>
              <a:spcAft>
                <a:spcPct val="0"/>
              </a:spcAft>
              <a:buNone/>
            </a:pPr>
            <a:r>
              <a:rPr kumimoji="0" lang="en-US" altLang="en-US" b="0" i="0" u="none" strike="noStrike" cap="none" normalizeH="0" baseline="0" dirty="0">
                <a:ln>
                  <a:noFill/>
                </a:ln>
                <a:solidFill>
                  <a:schemeClr val="tx1"/>
                </a:solidFill>
                <a:effectLst/>
              </a:rPr>
              <a:t>	(q₁, q₂, ..., qₘ)    	→   	 	(x, y, z, orientation)</a:t>
            </a:r>
          </a:p>
          <a:p>
            <a:pPr marL="0" lvl="0" indent="0" eaLnBrk="0" fontAlgn="base" hangingPunct="0">
              <a:lnSpc>
                <a:spcPct val="100000"/>
              </a:lnSpc>
              <a:spcBef>
                <a:spcPct val="0"/>
              </a:spcBef>
              <a:spcAft>
                <a:spcPct val="0"/>
              </a:spcAft>
              <a:buNone/>
            </a:pPr>
            <a:r>
              <a:rPr kumimoji="0" lang="en-US" altLang="en-US" b="0" i="0" u="none" strike="noStrike" cap="none" normalizeH="0" baseline="0" dirty="0">
                <a:ln>
                  <a:noFill/>
                </a:ln>
                <a:solidFill>
                  <a:schemeClr val="tx1"/>
                </a:solidFill>
                <a:effectLst/>
              </a:rPr>
              <a:t>   	(what we control)         		(what we care about)</a:t>
            </a:r>
          </a:p>
        </p:txBody>
      </p:sp>
      <p:sp>
        <p:nvSpPr>
          <p:cNvPr id="3" name="Date Placeholder 2">
            <a:extLst>
              <a:ext uri="{FF2B5EF4-FFF2-40B4-BE49-F238E27FC236}">
                <a16:creationId xmlns:a16="http://schemas.microsoft.com/office/drawing/2014/main" id="{6DE274B4-D8F3-4DBB-9BAA-2093BEF4398B}"/>
              </a:ext>
            </a:extLst>
          </p:cNvPr>
          <p:cNvSpPr>
            <a:spLocks noGrp="1"/>
          </p:cNvSpPr>
          <p:nvPr>
            <p:ph type="dt" sz="half" idx="10"/>
          </p:nvPr>
        </p:nvSpPr>
        <p:spPr/>
        <p:txBody>
          <a:bodyPr/>
          <a:lstStyle/>
          <a:p>
            <a:fld id="{D3F06E23-400E-4DE4-A4E3-046BE1B379A7}" type="datetime1">
              <a:rPr lang="en-US" smtClean="0"/>
              <a:t>3/8/2026</a:t>
            </a:fld>
            <a:endParaRPr lang="en-US"/>
          </a:p>
        </p:txBody>
      </p:sp>
      <p:sp>
        <p:nvSpPr>
          <p:cNvPr id="4" name="Slide Number Placeholder 3">
            <a:extLst>
              <a:ext uri="{FF2B5EF4-FFF2-40B4-BE49-F238E27FC236}">
                <a16:creationId xmlns:a16="http://schemas.microsoft.com/office/drawing/2014/main" id="{E9FE1048-BB31-49BD-B7A1-075676169392}"/>
              </a:ext>
            </a:extLst>
          </p:cNvPr>
          <p:cNvSpPr>
            <a:spLocks noGrp="1"/>
          </p:cNvSpPr>
          <p:nvPr>
            <p:ph type="sldNum" sz="quarter" idx="12"/>
          </p:nvPr>
        </p:nvSpPr>
        <p:spPr/>
        <p:txBody>
          <a:bodyPr/>
          <a:lstStyle/>
          <a:p>
            <a:fld id="{C29293D3-8374-41FE-B1E4-A635E9555193}" type="slidenum">
              <a:rPr lang="en-US" smtClean="0"/>
              <a:t>8</a:t>
            </a:fld>
            <a:endParaRPr lang="en-US"/>
          </a:p>
        </p:txBody>
      </p:sp>
    </p:spTree>
    <p:extLst>
      <p:ext uri="{BB962C8B-B14F-4D97-AF65-F5344CB8AC3E}">
        <p14:creationId xmlns:p14="http://schemas.microsoft.com/office/powerpoint/2010/main" val="3280384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Robot Kinematics</a:t>
            </a:r>
          </a:p>
        </p:txBody>
      </p:sp>
      <p:sp>
        <p:nvSpPr>
          <p:cNvPr id="3" name="Content Placeholder 2"/>
          <p:cNvSpPr>
            <a:spLocks noGrp="1"/>
          </p:cNvSpPr>
          <p:nvPr>
            <p:ph idx="1"/>
          </p:nvPr>
        </p:nvSpPr>
        <p:spPr/>
        <p:txBody>
          <a:bodyPr>
            <a:normAutofit/>
          </a:bodyPr>
          <a:lstStyle/>
          <a:p>
            <a:r>
              <a:rPr dirty="0"/>
              <a:t>Kinematics studies motion without considering forces.</a:t>
            </a:r>
            <a:endParaRPr lang="en-US" dirty="0"/>
          </a:p>
          <a:p>
            <a:r>
              <a:rPr lang="en-US" dirty="0"/>
              <a:t>Robot kinematics focuses on how robot joints move to produce motion.</a:t>
            </a:r>
            <a:endParaRPr dirty="0"/>
          </a:p>
          <a:p>
            <a:r>
              <a:rPr dirty="0"/>
              <a:t>Two main problems:</a:t>
            </a:r>
          </a:p>
          <a:p>
            <a:pPr marL="914400" lvl="1" indent="-514350">
              <a:buFont typeface="+mj-lt"/>
              <a:buAutoNum type="arabicPeriod"/>
            </a:pPr>
            <a:r>
              <a:rPr dirty="0"/>
              <a:t>Forward Kinematics</a:t>
            </a:r>
            <a:r>
              <a:rPr lang="en-US" dirty="0"/>
              <a:t> - Find </a:t>
            </a:r>
            <a:r>
              <a:rPr lang="en-US" b="1" dirty="0"/>
              <a:t>end-effector position</a:t>
            </a:r>
            <a:r>
              <a:rPr lang="en-US" dirty="0"/>
              <a:t> when joint angles are known.</a:t>
            </a:r>
            <a:endParaRPr dirty="0"/>
          </a:p>
          <a:p>
            <a:pPr marL="914400" lvl="1" indent="-514350">
              <a:buFont typeface="+mj-lt"/>
              <a:buAutoNum type="arabicPeriod"/>
            </a:pPr>
            <a:r>
              <a:rPr dirty="0"/>
              <a:t>Inverse Kinematics</a:t>
            </a:r>
            <a:r>
              <a:rPr lang="en-US" dirty="0"/>
              <a:t> - Find </a:t>
            </a:r>
            <a:r>
              <a:rPr lang="en-US" b="1" dirty="0"/>
              <a:t>joint angles</a:t>
            </a:r>
            <a:r>
              <a:rPr lang="en-US" dirty="0"/>
              <a:t> when the desired end-effector position is known.</a:t>
            </a:r>
            <a:endParaRPr dirty="0"/>
          </a:p>
        </p:txBody>
      </p:sp>
      <p:sp>
        <p:nvSpPr>
          <p:cNvPr id="4" name="Date Placeholder 3">
            <a:extLst>
              <a:ext uri="{FF2B5EF4-FFF2-40B4-BE49-F238E27FC236}">
                <a16:creationId xmlns:a16="http://schemas.microsoft.com/office/drawing/2014/main" id="{A4DC0BAB-EBEC-4643-96C9-E05CAFF16BD0}"/>
              </a:ext>
            </a:extLst>
          </p:cNvPr>
          <p:cNvSpPr>
            <a:spLocks noGrp="1"/>
          </p:cNvSpPr>
          <p:nvPr>
            <p:ph type="dt" sz="half" idx="10"/>
          </p:nvPr>
        </p:nvSpPr>
        <p:spPr/>
        <p:txBody>
          <a:bodyPr/>
          <a:lstStyle/>
          <a:p>
            <a:fld id="{695AD926-2DDD-483A-A6A1-C33DEE7E0B9E}" type="datetime1">
              <a:rPr lang="en-US" smtClean="0"/>
              <a:t>3/8/2026</a:t>
            </a:fld>
            <a:endParaRPr lang="en-US"/>
          </a:p>
        </p:txBody>
      </p:sp>
      <p:sp>
        <p:nvSpPr>
          <p:cNvPr id="5" name="Slide Number Placeholder 4">
            <a:extLst>
              <a:ext uri="{FF2B5EF4-FFF2-40B4-BE49-F238E27FC236}">
                <a16:creationId xmlns:a16="http://schemas.microsoft.com/office/drawing/2014/main" id="{37AEED6A-B23E-4805-BB68-3E3E990B5B60}"/>
              </a:ext>
            </a:extLst>
          </p:cNvPr>
          <p:cNvSpPr>
            <a:spLocks noGrp="1"/>
          </p:cNvSpPr>
          <p:nvPr>
            <p:ph type="sldNum" sz="quarter" idx="12"/>
          </p:nvPr>
        </p:nvSpPr>
        <p:spPr/>
        <p:txBody>
          <a:bodyPr/>
          <a:lstStyle/>
          <a:p>
            <a:fld id="{C29293D3-8374-41FE-B1E4-A635E9555193}"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CD6FE-EDBE-478D-A4E8-95D8C5F96392}"/>
              </a:ext>
            </a:extLst>
          </p:cNvPr>
          <p:cNvSpPr>
            <a:spLocks noGrp="1"/>
          </p:cNvSpPr>
          <p:nvPr>
            <p:ph type="title"/>
          </p:nvPr>
        </p:nvSpPr>
        <p:spPr/>
        <p:txBody>
          <a:bodyPr/>
          <a:lstStyle/>
          <a:p>
            <a:r>
              <a:rPr lang="en-US" altLang="en-US" b="1" dirty="0">
                <a:solidFill>
                  <a:srgbClr val="0F1115"/>
                </a:solidFill>
                <a:latin typeface="quote-cjk-patch"/>
              </a:rPr>
              <a:t>Introduction to Kinematics</a:t>
            </a:r>
            <a:br>
              <a:rPr lang="en-US" altLang="en-US" b="1" dirty="0">
                <a:solidFill>
                  <a:srgbClr val="0F1115"/>
                </a:solidFill>
                <a:latin typeface="quote-cjk-patch"/>
              </a:rPr>
            </a:br>
            <a:endParaRPr lang="en-US" dirty="0"/>
          </a:p>
        </p:txBody>
      </p:sp>
      <p:sp>
        <p:nvSpPr>
          <p:cNvPr id="5" name="Rectangle 1">
            <a:extLst>
              <a:ext uri="{FF2B5EF4-FFF2-40B4-BE49-F238E27FC236}">
                <a16:creationId xmlns:a16="http://schemas.microsoft.com/office/drawing/2014/main" id="{56DA8C12-ECB0-47B3-A615-B8F3A85090C7}"/>
              </a:ext>
            </a:extLst>
          </p:cNvPr>
          <p:cNvSpPr>
            <a:spLocks noChangeArrowheads="1"/>
          </p:cNvSpPr>
          <p:nvPr/>
        </p:nvSpPr>
        <p:spPr bwMode="auto">
          <a:xfrm>
            <a:off x="3781973" y="2173145"/>
            <a:ext cx="65" cy="4154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559CD933-60C3-42FF-A3A4-417F78899E7D}"/>
              </a:ext>
            </a:extLst>
          </p:cNvPr>
          <p:cNvSpPr>
            <a:spLocks noChangeArrowheads="1"/>
          </p:cNvSpPr>
          <p:nvPr/>
        </p:nvSpPr>
        <p:spPr bwMode="auto">
          <a:xfrm>
            <a:off x="3708400" y="3154574"/>
            <a:ext cx="65" cy="48852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04742" rIns="0" bIns="10474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DD82A049-82B2-4133-8DB4-E474E177411F}"/>
              </a:ext>
            </a:extLst>
          </p:cNvPr>
          <p:cNvPicPr>
            <a:picLocks noChangeAspect="1"/>
          </p:cNvPicPr>
          <p:nvPr/>
        </p:nvPicPr>
        <p:blipFill>
          <a:blip r:embed="rId2"/>
          <a:stretch>
            <a:fillRect/>
          </a:stretch>
        </p:blipFill>
        <p:spPr>
          <a:xfrm>
            <a:off x="1158997" y="982440"/>
            <a:ext cx="9530023" cy="4893120"/>
          </a:xfrm>
          <a:prstGeom prst="rect">
            <a:avLst/>
          </a:prstGeom>
        </p:spPr>
      </p:pic>
      <p:sp>
        <p:nvSpPr>
          <p:cNvPr id="9" name="Rectangle 8">
            <a:extLst>
              <a:ext uri="{FF2B5EF4-FFF2-40B4-BE49-F238E27FC236}">
                <a16:creationId xmlns:a16="http://schemas.microsoft.com/office/drawing/2014/main" id="{3009716A-3F08-4B8E-AD55-F604BFC815A7}"/>
              </a:ext>
            </a:extLst>
          </p:cNvPr>
          <p:cNvSpPr/>
          <p:nvPr/>
        </p:nvSpPr>
        <p:spPr>
          <a:xfrm>
            <a:off x="336331" y="5797715"/>
            <a:ext cx="11519338" cy="461665"/>
          </a:xfrm>
          <a:prstGeom prst="rect">
            <a:avLst/>
          </a:prstGeom>
        </p:spPr>
        <p:txBody>
          <a:bodyPr wrap="square">
            <a:spAutoFit/>
          </a:bodyPr>
          <a:lstStyle/>
          <a:p>
            <a:r>
              <a:rPr lang="en-US" sz="2400" b="1" i="0" dirty="0">
                <a:solidFill>
                  <a:srgbClr val="616161"/>
                </a:solidFill>
                <a:effectLst/>
                <a:latin typeface="Roboto"/>
              </a:rPr>
              <a:t>Configuring the joint positions of a robot using forward or inverse kinematics.</a:t>
            </a:r>
            <a:endParaRPr lang="en-US" sz="2400" b="1" dirty="0"/>
          </a:p>
        </p:txBody>
      </p:sp>
      <p:sp>
        <p:nvSpPr>
          <p:cNvPr id="4" name="TextBox 3">
            <a:extLst>
              <a:ext uri="{FF2B5EF4-FFF2-40B4-BE49-F238E27FC236}">
                <a16:creationId xmlns:a16="http://schemas.microsoft.com/office/drawing/2014/main" id="{EC9385E6-907B-4858-9BA6-D22935AD7C1D}"/>
              </a:ext>
            </a:extLst>
          </p:cNvPr>
          <p:cNvSpPr txBox="1"/>
          <p:nvPr/>
        </p:nvSpPr>
        <p:spPr>
          <a:xfrm>
            <a:off x="8718761" y="982440"/>
            <a:ext cx="2529347" cy="646331"/>
          </a:xfrm>
          <a:prstGeom prst="rect">
            <a:avLst/>
          </a:prstGeom>
          <a:noFill/>
        </p:spPr>
        <p:txBody>
          <a:bodyPr wrap="none" rtlCol="0">
            <a:spAutoFit/>
          </a:bodyPr>
          <a:lstStyle/>
          <a:p>
            <a:r>
              <a:rPr lang="en-US" dirty="0"/>
              <a:t>Links: L1, L2, L3 and L4</a:t>
            </a:r>
          </a:p>
          <a:p>
            <a:r>
              <a:rPr lang="en-US" dirty="0"/>
              <a:t>Joints: q1, q2, q3, and q4</a:t>
            </a:r>
          </a:p>
        </p:txBody>
      </p:sp>
      <p:sp>
        <p:nvSpPr>
          <p:cNvPr id="7" name="Date Placeholder 6">
            <a:extLst>
              <a:ext uri="{FF2B5EF4-FFF2-40B4-BE49-F238E27FC236}">
                <a16:creationId xmlns:a16="http://schemas.microsoft.com/office/drawing/2014/main" id="{4184A29B-D341-4F9D-8B84-C80B0AC46633}"/>
              </a:ext>
            </a:extLst>
          </p:cNvPr>
          <p:cNvSpPr>
            <a:spLocks noGrp="1"/>
          </p:cNvSpPr>
          <p:nvPr>
            <p:ph type="dt" sz="half" idx="10"/>
          </p:nvPr>
        </p:nvSpPr>
        <p:spPr/>
        <p:txBody>
          <a:bodyPr/>
          <a:lstStyle/>
          <a:p>
            <a:fld id="{7A709236-9111-48E1-83E2-0D3058420E3C}" type="datetime1">
              <a:rPr lang="en-US" smtClean="0"/>
              <a:t>3/8/2026</a:t>
            </a:fld>
            <a:endParaRPr lang="en-US"/>
          </a:p>
        </p:txBody>
      </p:sp>
      <p:sp>
        <p:nvSpPr>
          <p:cNvPr id="8" name="Slide Number Placeholder 7">
            <a:extLst>
              <a:ext uri="{FF2B5EF4-FFF2-40B4-BE49-F238E27FC236}">
                <a16:creationId xmlns:a16="http://schemas.microsoft.com/office/drawing/2014/main" id="{A26530A5-D282-43D6-A98B-83D363E33A72}"/>
              </a:ext>
            </a:extLst>
          </p:cNvPr>
          <p:cNvSpPr>
            <a:spLocks noGrp="1"/>
          </p:cNvSpPr>
          <p:nvPr>
            <p:ph type="sldNum" sz="quarter" idx="12"/>
          </p:nvPr>
        </p:nvSpPr>
        <p:spPr/>
        <p:txBody>
          <a:bodyPr/>
          <a:lstStyle/>
          <a:p>
            <a:fld id="{C29293D3-8374-41FE-B1E4-A635E9555193}" type="slidenum">
              <a:rPr lang="en-US" smtClean="0"/>
              <a:t>10</a:t>
            </a:fld>
            <a:endParaRPr lang="en-US"/>
          </a:p>
        </p:txBody>
      </p:sp>
    </p:spTree>
    <p:extLst>
      <p:ext uri="{BB962C8B-B14F-4D97-AF65-F5344CB8AC3E}">
        <p14:creationId xmlns:p14="http://schemas.microsoft.com/office/powerpoint/2010/main" val="2171030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Forward Kinematics</a:t>
            </a:r>
          </a:p>
        </p:txBody>
      </p:sp>
      <p:sp>
        <p:nvSpPr>
          <p:cNvPr id="3" name="Content Placeholder 2"/>
          <p:cNvSpPr>
            <a:spLocks noGrp="1"/>
          </p:cNvSpPr>
          <p:nvPr>
            <p:ph idx="1"/>
          </p:nvPr>
        </p:nvSpPr>
        <p:spPr/>
        <p:txBody>
          <a:bodyPr>
            <a:normAutofit/>
          </a:bodyPr>
          <a:lstStyle/>
          <a:p>
            <a:r>
              <a:rPr sz="3600" dirty="0"/>
              <a:t>Forward kinematics calculates the position of the end-effector</a:t>
            </a:r>
            <a:r>
              <a:rPr lang="en-US" sz="3600" dirty="0"/>
              <a:t> </a:t>
            </a:r>
            <a:r>
              <a:rPr sz="3600" dirty="0"/>
              <a:t>when the joint angles are known.</a:t>
            </a:r>
            <a:endParaRPr lang="en-US" sz="3600" dirty="0"/>
          </a:p>
          <a:p>
            <a:r>
              <a:rPr lang="en-US" sz="3600" dirty="0"/>
              <a:t>Forward kinematics answers the question:</a:t>
            </a:r>
          </a:p>
          <a:p>
            <a:pPr lvl="1"/>
            <a:r>
              <a:rPr lang="en-US" sz="3200" b="1" dirty="0"/>
              <a:t>“Where is the robot hand if we know the joint angles?”</a:t>
            </a:r>
            <a:endParaRPr sz="3200" dirty="0"/>
          </a:p>
          <a:p>
            <a:r>
              <a:rPr sz="3600" b="1" dirty="0"/>
              <a:t>Input:</a:t>
            </a:r>
            <a:r>
              <a:rPr sz="3600" dirty="0"/>
              <a:t> Joint angles</a:t>
            </a:r>
            <a:r>
              <a:rPr lang="en-US" sz="3600" dirty="0"/>
              <a:t>, robot link lengths</a:t>
            </a:r>
            <a:endParaRPr sz="3600" dirty="0"/>
          </a:p>
          <a:p>
            <a:r>
              <a:rPr sz="3600" b="1" dirty="0"/>
              <a:t>Output</a:t>
            </a:r>
            <a:r>
              <a:rPr sz="3600" dirty="0"/>
              <a:t>: Position and orientation of the robot hand.</a:t>
            </a:r>
          </a:p>
        </p:txBody>
      </p:sp>
      <p:sp>
        <p:nvSpPr>
          <p:cNvPr id="4" name="Date Placeholder 3">
            <a:extLst>
              <a:ext uri="{FF2B5EF4-FFF2-40B4-BE49-F238E27FC236}">
                <a16:creationId xmlns:a16="http://schemas.microsoft.com/office/drawing/2014/main" id="{BAE8A53F-D470-420F-9022-C59448DC521D}"/>
              </a:ext>
            </a:extLst>
          </p:cNvPr>
          <p:cNvSpPr>
            <a:spLocks noGrp="1"/>
          </p:cNvSpPr>
          <p:nvPr>
            <p:ph type="dt" sz="half" idx="10"/>
          </p:nvPr>
        </p:nvSpPr>
        <p:spPr/>
        <p:txBody>
          <a:bodyPr/>
          <a:lstStyle/>
          <a:p>
            <a:fld id="{2F2E7CB3-8D88-4399-9DCC-8B39FCD75AD6}" type="datetime1">
              <a:rPr lang="en-US" smtClean="0"/>
              <a:t>3/8/2026</a:t>
            </a:fld>
            <a:endParaRPr lang="en-US"/>
          </a:p>
        </p:txBody>
      </p:sp>
      <p:sp>
        <p:nvSpPr>
          <p:cNvPr id="5" name="Slide Number Placeholder 4">
            <a:extLst>
              <a:ext uri="{FF2B5EF4-FFF2-40B4-BE49-F238E27FC236}">
                <a16:creationId xmlns:a16="http://schemas.microsoft.com/office/drawing/2014/main" id="{1F5D58FF-0189-478C-AE89-3234343382A9}"/>
              </a:ext>
            </a:extLst>
          </p:cNvPr>
          <p:cNvSpPr>
            <a:spLocks noGrp="1"/>
          </p:cNvSpPr>
          <p:nvPr>
            <p:ph type="sldNum" sz="quarter" idx="12"/>
          </p:nvPr>
        </p:nvSpPr>
        <p:spPr/>
        <p:txBody>
          <a:bodyPr/>
          <a:lstStyle/>
          <a:p>
            <a:fld id="{C29293D3-8374-41FE-B1E4-A635E9555193}"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4821D-FDE7-489E-9CC2-B27FC75C42B8}"/>
              </a:ext>
            </a:extLst>
          </p:cNvPr>
          <p:cNvSpPr>
            <a:spLocks noGrp="1"/>
          </p:cNvSpPr>
          <p:nvPr>
            <p:ph type="title"/>
          </p:nvPr>
        </p:nvSpPr>
        <p:spPr/>
        <p:txBody>
          <a:bodyPr/>
          <a:lstStyle/>
          <a:p>
            <a:r>
              <a:rPr lang="en-US" b="1" dirty="0"/>
              <a:t>Forward kinematics example</a:t>
            </a:r>
          </a:p>
        </p:txBody>
      </p:sp>
      <p:sp>
        <p:nvSpPr>
          <p:cNvPr id="3" name="Content Placeholder 2">
            <a:extLst>
              <a:ext uri="{FF2B5EF4-FFF2-40B4-BE49-F238E27FC236}">
                <a16:creationId xmlns:a16="http://schemas.microsoft.com/office/drawing/2014/main" id="{E92F46B9-23C0-4EA4-B411-15FF34424A41}"/>
              </a:ext>
            </a:extLst>
          </p:cNvPr>
          <p:cNvSpPr>
            <a:spLocks noGrp="1"/>
          </p:cNvSpPr>
          <p:nvPr>
            <p:ph idx="1"/>
          </p:nvPr>
        </p:nvSpPr>
        <p:spPr/>
        <p:txBody>
          <a:bodyPr/>
          <a:lstStyle/>
          <a:p>
            <a:r>
              <a:rPr lang="en-US" sz="3200" dirty="0"/>
              <a:t>If a robot arm has two links</a:t>
            </a:r>
            <a:r>
              <a:rPr lang="en-US" dirty="0"/>
              <a:t>,</a:t>
            </a:r>
          </a:p>
          <a:p>
            <a:endParaRPr lang="en-US" dirty="0"/>
          </a:p>
          <a:p>
            <a:endParaRPr lang="en-US" dirty="0"/>
          </a:p>
          <a:p>
            <a:r>
              <a:rPr lang="en-US" sz="3200" dirty="0"/>
              <a:t>Where, </a:t>
            </a:r>
          </a:p>
          <a:p>
            <a:endParaRPr lang="en-US" dirty="0"/>
          </a:p>
        </p:txBody>
      </p:sp>
      <p:pic>
        <p:nvPicPr>
          <p:cNvPr id="4" name="Picture 3">
            <a:extLst>
              <a:ext uri="{FF2B5EF4-FFF2-40B4-BE49-F238E27FC236}">
                <a16:creationId xmlns:a16="http://schemas.microsoft.com/office/drawing/2014/main" id="{C8A944C2-3868-42DE-97E0-98F29BE3B7CD}"/>
              </a:ext>
            </a:extLst>
          </p:cNvPr>
          <p:cNvPicPr>
            <a:picLocks noChangeAspect="1"/>
          </p:cNvPicPr>
          <p:nvPr/>
        </p:nvPicPr>
        <p:blipFill>
          <a:blip r:embed="rId2"/>
          <a:stretch>
            <a:fillRect/>
          </a:stretch>
        </p:blipFill>
        <p:spPr>
          <a:xfrm>
            <a:off x="3382616" y="2243029"/>
            <a:ext cx="5857321" cy="1376471"/>
          </a:xfrm>
          <a:prstGeom prst="rect">
            <a:avLst/>
          </a:prstGeom>
        </p:spPr>
      </p:pic>
      <p:pic>
        <p:nvPicPr>
          <p:cNvPr id="5" name="Picture 4">
            <a:extLst>
              <a:ext uri="{FF2B5EF4-FFF2-40B4-BE49-F238E27FC236}">
                <a16:creationId xmlns:a16="http://schemas.microsoft.com/office/drawing/2014/main" id="{17215BDB-921D-49E9-BEFE-7CF4793B21B5}"/>
              </a:ext>
            </a:extLst>
          </p:cNvPr>
          <p:cNvPicPr>
            <a:picLocks noChangeAspect="1"/>
          </p:cNvPicPr>
          <p:nvPr/>
        </p:nvPicPr>
        <p:blipFill>
          <a:blip r:embed="rId3"/>
          <a:stretch>
            <a:fillRect/>
          </a:stretch>
        </p:blipFill>
        <p:spPr>
          <a:xfrm>
            <a:off x="3572056" y="4162924"/>
            <a:ext cx="3743145" cy="1148107"/>
          </a:xfrm>
          <a:prstGeom prst="rect">
            <a:avLst/>
          </a:prstGeom>
        </p:spPr>
      </p:pic>
      <p:sp>
        <p:nvSpPr>
          <p:cNvPr id="6" name="Date Placeholder 5">
            <a:extLst>
              <a:ext uri="{FF2B5EF4-FFF2-40B4-BE49-F238E27FC236}">
                <a16:creationId xmlns:a16="http://schemas.microsoft.com/office/drawing/2014/main" id="{C05B1954-E977-4EBA-91A5-6580DEBF20BD}"/>
              </a:ext>
            </a:extLst>
          </p:cNvPr>
          <p:cNvSpPr>
            <a:spLocks noGrp="1"/>
          </p:cNvSpPr>
          <p:nvPr>
            <p:ph type="dt" sz="half" idx="10"/>
          </p:nvPr>
        </p:nvSpPr>
        <p:spPr/>
        <p:txBody>
          <a:bodyPr/>
          <a:lstStyle/>
          <a:p>
            <a:fld id="{C2921CA8-F514-4C08-8906-403D89901AED}" type="datetime1">
              <a:rPr lang="en-US" smtClean="0"/>
              <a:t>3/8/2026</a:t>
            </a:fld>
            <a:endParaRPr lang="en-US"/>
          </a:p>
        </p:txBody>
      </p:sp>
      <p:sp>
        <p:nvSpPr>
          <p:cNvPr id="7" name="Slide Number Placeholder 6">
            <a:extLst>
              <a:ext uri="{FF2B5EF4-FFF2-40B4-BE49-F238E27FC236}">
                <a16:creationId xmlns:a16="http://schemas.microsoft.com/office/drawing/2014/main" id="{5B35C0E3-FE4C-4A98-B0C3-628A08B575AA}"/>
              </a:ext>
            </a:extLst>
          </p:cNvPr>
          <p:cNvSpPr>
            <a:spLocks noGrp="1"/>
          </p:cNvSpPr>
          <p:nvPr>
            <p:ph type="sldNum" sz="quarter" idx="12"/>
          </p:nvPr>
        </p:nvSpPr>
        <p:spPr/>
        <p:txBody>
          <a:bodyPr/>
          <a:lstStyle/>
          <a:p>
            <a:fld id="{C29293D3-8374-41FE-B1E4-A635E9555193}" type="slidenum">
              <a:rPr lang="en-US" smtClean="0"/>
              <a:t>12</a:t>
            </a:fld>
            <a:endParaRPr lang="en-US"/>
          </a:p>
        </p:txBody>
      </p:sp>
    </p:spTree>
    <p:extLst>
      <p:ext uri="{BB962C8B-B14F-4D97-AF65-F5344CB8AC3E}">
        <p14:creationId xmlns:p14="http://schemas.microsoft.com/office/powerpoint/2010/main" val="21670256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CD6FE-EDBE-478D-A4E8-95D8C5F96392}"/>
              </a:ext>
            </a:extLst>
          </p:cNvPr>
          <p:cNvSpPr>
            <a:spLocks noGrp="1"/>
          </p:cNvSpPr>
          <p:nvPr>
            <p:ph type="title"/>
          </p:nvPr>
        </p:nvSpPr>
        <p:spPr/>
        <p:txBody>
          <a:bodyPr>
            <a:normAutofit/>
          </a:bodyPr>
          <a:lstStyle/>
          <a:p>
            <a:r>
              <a:rPr lang="en-US" altLang="en-US" b="1" dirty="0">
                <a:solidFill>
                  <a:srgbClr val="0F1115"/>
                </a:solidFill>
                <a:latin typeface="quote-cjk-patch"/>
              </a:rPr>
              <a:t>Introduction to Kinematics - Key Elements</a:t>
            </a:r>
            <a:endParaRPr lang="en-US" dirty="0"/>
          </a:p>
        </p:txBody>
      </p:sp>
      <p:sp>
        <p:nvSpPr>
          <p:cNvPr id="5" name="Rectangle 1">
            <a:extLst>
              <a:ext uri="{FF2B5EF4-FFF2-40B4-BE49-F238E27FC236}">
                <a16:creationId xmlns:a16="http://schemas.microsoft.com/office/drawing/2014/main" id="{56DA8C12-ECB0-47B3-A615-B8F3A85090C7}"/>
              </a:ext>
            </a:extLst>
          </p:cNvPr>
          <p:cNvSpPr>
            <a:spLocks noChangeArrowheads="1"/>
          </p:cNvSpPr>
          <p:nvPr/>
        </p:nvSpPr>
        <p:spPr bwMode="auto">
          <a:xfrm>
            <a:off x="3781973" y="2173145"/>
            <a:ext cx="65" cy="4154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559CD933-60C3-42FF-A3A4-417F78899E7D}"/>
              </a:ext>
            </a:extLst>
          </p:cNvPr>
          <p:cNvSpPr>
            <a:spLocks noChangeArrowheads="1"/>
          </p:cNvSpPr>
          <p:nvPr/>
        </p:nvSpPr>
        <p:spPr bwMode="auto">
          <a:xfrm>
            <a:off x="3708400" y="3154574"/>
            <a:ext cx="65" cy="48852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04742" rIns="0" bIns="10474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Content Placeholder 7">
            <a:extLst>
              <a:ext uri="{FF2B5EF4-FFF2-40B4-BE49-F238E27FC236}">
                <a16:creationId xmlns:a16="http://schemas.microsoft.com/office/drawing/2014/main" id="{521DFFBE-B43F-4E61-83D0-3278058D2EB0}"/>
              </a:ext>
            </a:extLst>
          </p:cNvPr>
          <p:cNvSpPr>
            <a:spLocks noGrp="1"/>
          </p:cNvSpPr>
          <p:nvPr>
            <p:ph idx="1"/>
          </p:nvPr>
        </p:nvSpPr>
        <p:spPr>
          <a:xfrm>
            <a:off x="748748" y="1540475"/>
            <a:ext cx="10515600" cy="4351338"/>
          </a:xfrm>
        </p:spPr>
        <p:txBody>
          <a:bodyPr>
            <a:normAutofit/>
          </a:bodyPr>
          <a:lstStyle/>
          <a:p>
            <a:pPr eaLnBrk="0" fontAlgn="base" hangingPunct="0">
              <a:lnSpc>
                <a:spcPct val="100000"/>
              </a:lnSpc>
              <a:spcBef>
                <a:spcPct val="0"/>
              </a:spcBef>
              <a:spcAft>
                <a:spcPct val="0"/>
              </a:spcAft>
            </a:pPr>
            <a:r>
              <a:rPr lang="en-US" altLang="en-US" sz="3200" b="1" dirty="0">
                <a:solidFill>
                  <a:srgbClr val="0F1115"/>
                </a:solidFill>
                <a:latin typeface="quote-cjk-patch"/>
              </a:rPr>
              <a:t>Links – </a:t>
            </a:r>
            <a:r>
              <a:rPr lang="en-US" altLang="en-US" sz="3200" dirty="0">
                <a:solidFill>
                  <a:srgbClr val="0F1115"/>
                </a:solidFill>
                <a:latin typeface="quote-cjk-patch"/>
              </a:rPr>
              <a:t>Rigid bodies connected by joints</a:t>
            </a:r>
          </a:p>
          <a:p>
            <a:pPr eaLnBrk="0" fontAlgn="base" hangingPunct="0">
              <a:lnSpc>
                <a:spcPct val="100000"/>
              </a:lnSpc>
              <a:spcBef>
                <a:spcPct val="0"/>
              </a:spcBef>
              <a:spcAft>
                <a:spcPct val="0"/>
              </a:spcAft>
            </a:pPr>
            <a:r>
              <a:rPr lang="en-US" altLang="en-US" sz="3200" b="1" dirty="0">
                <a:solidFill>
                  <a:srgbClr val="0F1115"/>
                </a:solidFill>
                <a:latin typeface="quote-cjk-patch"/>
              </a:rPr>
              <a:t>Joints – </a:t>
            </a:r>
            <a:r>
              <a:rPr lang="en-US" altLang="en-US" sz="3200" dirty="0">
                <a:solidFill>
                  <a:srgbClr val="0F1115"/>
                </a:solidFill>
                <a:latin typeface="quote-cjk-patch"/>
              </a:rPr>
              <a:t>Revolute (rotation) or Prismatic (translation)</a:t>
            </a:r>
          </a:p>
          <a:p>
            <a:pPr eaLnBrk="0" fontAlgn="base" hangingPunct="0">
              <a:lnSpc>
                <a:spcPct val="100000"/>
              </a:lnSpc>
              <a:spcBef>
                <a:spcPct val="0"/>
              </a:spcBef>
              <a:spcAft>
                <a:spcPct val="0"/>
              </a:spcAft>
            </a:pPr>
            <a:r>
              <a:rPr lang="en-US" altLang="en-US" sz="3200" b="1" dirty="0">
                <a:solidFill>
                  <a:srgbClr val="0F1115"/>
                </a:solidFill>
                <a:latin typeface="quote-cjk-patch"/>
              </a:rPr>
              <a:t>Degrees of Freedom (DOF) – </a:t>
            </a:r>
            <a:r>
              <a:rPr lang="en-US" altLang="en-US" sz="3200" dirty="0">
                <a:solidFill>
                  <a:srgbClr val="0F1115"/>
                </a:solidFill>
                <a:latin typeface="quote-cjk-patch"/>
              </a:rPr>
              <a:t>Number  of independent motions</a:t>
            </a:r>
          </a:p>
          <a:p>
            <a:pPr eaLnBrk="0" fontAlgn="base" hangingPunct="0">
              <a:lnSpc>
                <a:spcPct val="100000"/>
              </a:lnSpc>
              <a:spcBef>
                <a:spcPct val="0"/>
              </a:spcBef>
              <a:spcAft>
                <a:spcPct val="0"/>
              </a:spcAft>
            </a:pPr>
            <a:r>
              <a:rPr lang="en-US" altLang="en-US" sz="3200" b="1" dirty="0">
                <a:solidFill>
                  <a:srgbClr val="0F1115"/>
                </a:solidFill>
                <a:latin typeface="quote-cjk-patch"/>
              </a:rPr>
              <a:t>Workspace – </a:t>
            </a:r>
            <a:r>
              <a:rPr lang="en-US" altLang="en-US" sz="3200" dirty="0">
                <a:solidFill>
                  <a:srgbClr val="0F1115"/>
                </a:solidFill>
                <a:latin typeface="quote-cjk-patch"/>
              </a:rPr>
              <a:t>Volume  reachable by the end-effector</a:t>
            </a:r>
          </a:p>
          <a:p>
            <a:pPr eaLnBrk="0" fontAlgn="base" hangingPunct="0">
              <a:lnSpc>
                <a:spcPct val="100000"/>
              </a:lnSpc>
              <a:spcBef>
                <a:spcPct val="0"/>
              </a:spcBef>
              <a:spcAft>
                <a:spcPct val="0"/>
              </a:spcAft>
            </a:pPr>
            <a:r>
              <a:rPr lang="en-US" altLang="en-US" sz="3200" b="1" dirty="0">
                <a:solidFill>
                  <a:srgbClr val="0F1115"/>
                </a:solidFill>
                <a:latin typeface="quote-cjk-patch"/>
              </a:rPr>
              <a:t>Jacobian – </a:t>
            </a:r>
            <a:r>
              <a:rPr lang="en-US" altLang="en-US" sz="3200" dirty="0">
                <a:solidFill>
                  <a:srgbClr val="0F1115"/>
                </a:solidFill>
                <a:latin typeface="quote-cjk-patch"/>
              </a:rPr>
              <a:t>Relates joint velocities to end-effector velocities</a:t>
            </a:r>
          </a:p>
          <a:p>
            <a:pPr marL="0" lvl="0" indent="0" eaLnBrk="0" fontAlgn="base" hangingPunct="0">
              <a:lnSpc>
                <a:spcPct val="100000"/>
              </a:lnSpc>
              <a:spcBef>
                <a:spcPct val="0"/>
              </a:spcBef>
              <a:spcAft>
                <a:spcPct val="0"/>
              </a:spcAft>
              <a:buNone/>
            </a:pPr>
            <a:r>
              <a:rPr lang="en-US" altLang="en-US" sz="3200" b="1" dirty="0">
                <a:solidFill>
                  <a:srgbClr val="0F1115"/>
                </a:solidFill>
                <a:latin typeface="quote-cjk-patch"/>
              </a:rPr>
              <a:t>Simple analogy – </a:t>
            </a:r>
            <a:r>
              <a:rPr lang="en-US" altLang="en-US" sz="3200" dirty="0">
                <a:solidFill>
                  <a:srgbClr val="0F1115"/>
                </a:solidFill>
                <a:latin typeface="quote-cjk-patch"/>
              </a:rPr>
              <a:t>Kinematics answers </a:t>
            </a:r>
            <a:r>
              <a:rPr lang="en-US" altLang="en-US" sz="3200" i="1" dirty="0">
                <a:solidFill>
                  <a:srgbClr val="0F1115"/>
                </a:solidFill>
                <a:latin typeface="quote-cjk-patch"/>
              </a:rPr>
              <a:t>"How do the robot's parts move relative to each other?"</a:t>
            </a:r>
            <a:endParaRPr lang="en-US" sz="3200" dirty="0"/>
          </a:p>
        </p:txBody>
      </p:sp>
      <p:sp>
        <p:nvSpPr>
          <p:cNvPr id="3" name="Date Placeholder 2">
            <a:extLst>
              <a:ext uri="{FF2B5EF4-FFF2-40B4-BE49-F238E27FC236}">
                <a16:creationId xmlns:a16="http://schemas.microsoft.com/office/drawing/2014/main" id="{3D6255AF-5159-41CC-97A1-4EE3F4B04DE7}"/>
              </a:ext>
            </a:extLst>
          </p:cNvPr>
          <p:cNvSpPr>
            <a:spLocks noGrp="1"/>
          </p:cNvSpPr>
          <p:nvPr>
            <p:ph type="dt" sz="half" idx="10"/>
          </p:nvPr>
        </p:nvSpPr>
        <p:spPr/>
        <p:txBody>
          <a:bodyPr/>
          <a:lstStyle/>
          <a:p>
            <a:fld id="{92C97129-3EA1-447D-B890-D0E526754697}" type="datetime1">
              <a:rPr lang="en-US" smtClean="0"/>
              <a:t>3/8/2026</a:t>
            </a:fld>
            <a:endParaRPr lang="en-US"/>
          </a:p>
        </p:txBody>
      </p:sp>
      <p:sp>
        <p:nvSpPr>
          <p:cNvPr id="4" name="Slide Number Placeholder 3">
            <a:extLst>
              <a:ext uri="{FF2B5EF4-FFF2-40B4-BE49-F238E27FC236}">
                <a16:creationId xmlns:a16="http://schemas.microsoft.com/office/drawing/2014/main" id="{F631DF5C-3E29-40BE-8E4F-6B3E046EA946}"/>
              </a:ext>
            </a:extLst>
          </p:cNvPr>
          <p:cNvSpPr>
            <a:spLocks noGrp="1"/>
          </p:cNvSpPr>
          <p:nvPr>
            <p:ph type="sldNum" sz="quarter" idx="12"/>
          </p:nvPr>
        </p:nvSpPr>
        <p:spPr/>
        <p:txBody>
          <a:bodyPr/>
          <a:lstStyle/>
          <a:p>
            <a:fld id="{C29293D3-8374-41FE-B1E4-A635E9555193}" type="slidenum">
              <a:rPr lang="en-US" smtClean="0"/>
              <a:t>13</a:t>
            </a:fld>
            <a:endParaRPr lang="en-US"/>
          </a:p>
        </p:txBody>
      </p:sp>
    </p:spTree>
    <p:extLst>
      <p:ext uri="{BB962C8B-B14F-4D97-AF65-F5344CB8AC3E}">
        <p14:creationId xmlns:p14="http://schemas.microsoft.com/office/powerpoint/2010/main" val="31977712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83F2B-C12A-42DD-8E44-CEA0305702DA}"/>
              </a:ext>
            </a:extLst>
          </p:cNvPr>
          <p:cNvSpPr>
            <a:spLocks noGrp="1"/>
          </p:cNvSpPr>
          <p:nvPr>
            <p:ph type="title"/>
          </p:nvPr>
        </p:nvSpPr>
        <p:spPr>
          <a:xfrm>
            <a:off x="839788" y="267230"/>
            <a:ext cx="10515600" cy="921808"/>
          </a:xfrm>
        </p:spPr>
        <p:txBody>
          <a:bodyPr/>
          <a:lstStyle/>
          <a:p>
            <a:r>
              <a:rPr lang="en-US" altLang="en-US" b="1" dirty="0">
                <a:solidFill>
                  <a:srgbClr val="0F1115"/>
                </a:solidFill>
                <a:latin typeface="quote-cjk-patch"/>
              </a:rPr>
              <a:t>Joints</a:t>
            </a:r>
            <a:endParaRPr lang="en-US" dirty="0"/>
          </a:p>
        </p:txBody>
      </p:sp>
      <p:sp>
        <p:nvSpPr>
          <p:cNvPr id="5" name="Text Placeholder 4">
            <a:extLst>
              <a:ext uri="{FF2B5EF4-FFF2-40B4-BE49-F238E27FC236}">
                <a16:creationId xmlns:a16="http://schemas.microsoft.com/office/drawing/2014/main" id="{BB80311E-70E2-45FB-93B2-ECD1A46B4669}"/>
              </a:ext>
            </a:extLst>
          </p:cNvPr>
          <p:cNvSpPr>
            <a:spLocks noGrp="1"/>
          </p:cNvSpPr>
          <p:nvPr>
            <p:ph type="body" idx="1"/>
          </p:nvPr>
        </p:nvSpPr>
        <p:spPr>
          <a:xfrm>
            <a:off x="729722" y="1189038"/>
            <a:ext cx="5157787" cy="823912"/>
          </a:xfrm>
        </p:spPr>
        <p:txBody>
          <a:bodyPr/>
          <a:lstStyle/>
          <a:p>
            <a:r>
              <a:rPr lang="en-US" altLang="en-US" dirty="0">
                <a:solidFill>
                  <a:srgbClr val="001D35"/>
                </a:solidFill>
                <a:latin typeface="Google Sans"/>
              </a:rPr>
              <a:t>Revolute Joint (Rotation)</a:t>
            </a:r>
            <a:endParaRPr lang="en-US" altLang="en-US" sz="1100" dirty="0"/>
          </a:p>
        </p:txBody>
      </p:sp>
      <p:sp>
        <p:nvSpPr>
          <p:cNvPr id="3" name="Content Placeholder 2">
            <a:extLst>
              <a:ext uri="{FF2B5EF4-FFF2-40B4-BE49-F238E27FC236}">
                <a16:creationId xmlns:a16="http://schemas.microsoft.com/office/drawing/2014/main" id="{3A0A6C4E-5B69-44EF-B72D-069E125304E0}"/>
              </a:ext>
            </a:extLst>
          </p:cNvPr>
          <p:cNvSpPr>
            <a:spLocks noGrp="1"/>
          </p:cNvSpPr>
          <p:nvPr>
            <p:ph sz="half" idx="2"/>
          </p:nvPr>
        </p:nvSpPr>
        <p:spPr>
          <a:xfrm>
            <a:off x="653522" y="2012950"/>
            <a:ext cx="5157787" cy="3684588"/>
          </a:xfrm>
        </p:spPr>
        <p:txBody>
          <a:bodyPr>
            <a:normAutofit fontScale="92500" lnSpcReduction="20000"/>
          </a:bodyPr>
          <a:lstStyle/>
          <a:p>
            <a:pPr eaLnBrk="0" fontAlgn="base" hangingPunct="0">
              <a:lnSpc>
                <a:spcPct val="100000"/>
              </a:lnSpc>
              <a:spcBef>
                <a:spcPct val="0"/>
              </a:spcBef>
              <a:spcAft>
                <a:spcPct val="0"/>
              </a:spcAft>
            </a:pPr>
            <a:r>
              <a:rPr lang="en-US" altLang="en-US" b="1" dirty="0">
                <a:solidFill>
                  <a:srgbClr val="0A0A0A"/>
                </a:solidFill>
                <a:latin typeface="Google Sans"/>
              </a:rPr>
              <a:t>Motion.</a:t>
            </a:r>
            <a:r>
              <a:rPr lang="en-US" altLang="en-US" dirty="0">
                <a:solidFill>
                  <a:srgbClr val="0A0A0A"/>
                </a:solidFill>
                <a:latin typeface="Google Sans"/>
              </a:rPr>
              <a:t> Provides pure rotation around a fixed axis.</a:t>
            </a:r>
          </a:p>
          <a:p>
            <a:pPr eaLnBrk="0" fontAlgn="base" hangingPunct="0">
              <a:lnSpc>
                <a:spcPct val="100000"/>
              </a:lnSpc>
              <a:spcBef>
                <a:spcPct val="0"/>
              </a:spcBef>
              <a:spcAft>
                <a:spcPct val="0"/>
              </a:spcAft>
            </a:pPr>
            <a:r>
              <a:rPr lang="en-US" altLang="en-US" b="1" dirty="0">
                <a:solidFill>
                  <a:srgbClr val="0A0A0A"/>
                </a:solidFill>
                <a:latin typeface="Google Sans"/>
              </a:rPr>
              <a:t>Characteristics.</a:t>
            </a:r>
            <a:r>
              <a:rPr lang="en-US" altLang="en-US" dirty="0">
                <a:solidFill>
                  <a:srgbClr val="0A0A0A"/>
                </a:solidFill>
                <a:latin typeface="Google Sans"/>
              </a:rPr>
              <a:t> Acts as a hinge or pin joint.</a:t>
            </a:r>
          </a:p>
          <a:p>
            <a:pPr eaLnBrk="0" fontAlgn="base" hangingPunct="0">
              <a:lnSpc>
                <a:spcPct val="100000"/>
              </a:lnSpc>
              <a:spcBef>
                <a:spcPct val="0"/>
              </a:spcBef>
              <a:spcAft>
                <a:spcPct val="0"/>
              </a:spcAft>
            </a:pPr>
            <a:r>
              <a:rPr lang="en-US" altLang="en-US" b="1" dirty="0">
                <a:solidFill>
                  <a:srgbClr val="0A0A0A"/>
                </a:solidFill>
                <a:latin typeface="Google Sans"/>
              </a:rPr>
              <a:t>Degrees of Freedom.</a:t>
            </a:r>
            <a:r>
              <a:rPr lang="en-US" altLang="en-US" dirty="0">
                <a:solidFill>
                  <a:srgbClr val="0A0A0A"/>
                </a:solidFill>
                <a:latin typeface="Google Sans"/>
              </a:rPr>
              <a:t> 1 (rotational).</a:t>
            </a:r>
          </a:p>
          <a:p>
            <a:pPr eaLnBrk="0" fontAlgn="base" hangingPunct="0">
              <a:lnSpc>
                <a:spcPct val="100000"/>
              </a:lnSpc>
              <a:spcBef>
                <a:spcPct val="0"/>
              </a:spcBef>
              <a:spcAft>
                <a:spcPct val="0"/>
              </a:spcAft>
            </a:pPr>
            <a:r>
              <a:rPr lang="en-US" altLang="en-US" b="1" dirty="0">
                <a:solidFill>
                  <a:srgbClr val="0A0A0A"/>
                </a:solidFill>
                <a:latin typeface="Google Sans"/>
              </a:rPr>
              <a:t>Common Applications.</a:t>
            </a:r>
            <a:r>
              <a:rPr lang="en-US" altLang="en-US" dirty="0">
                <a:solidFill>
                  <a:srgbClr val="0A0A0A"/>
                </a:solidFill>
                <a:latin typeface="Google Sans"/>
              </a:rPr>
              <a:t> Robot arm joints (elbow/shoulder), door hinges, car wheels.</a:t>
            </a:r>
          </a:p>
          <a:p>
            <a:pPr eaLnBrk="0" fontAlgn="base" hangingPunct="0">
              <a:lnSpc>
                <a:spcPct val="100000"/>
              </a:lnSpc>
              <a:spcBef>
                <a:spcPct val="0"/>
              </a:spcBef>
              <a:spcAft>
                <a:spcPct val="0"/>
              </a:spcAft>
            </a:pPr>
            <a:r>
              <a:rPr lang="en-US" altLang="en-US" b="1" dirty="0">
                <a:solidFill>
                  <a:srgbClr val="0A0A0A"/>
                </a:solidFill>
                <a:latin typeface="Google Sans"/>
              </a:rPr>
              <a:t>Notation.</a:t>
            </a:r>
            <a:r>
              <a:rPr lang="en-US" altLang="en-US" dirty="0">
                <a:solidFill>
                  <a:srgbClr val="0A0A0A"/>
                </a:solidFill>
                <a:latin typeface="Google Sans"/>
              </a:rPr>
              <a:t> Often denoted as 'R' in kinematic diagrams.</a:t>
            </a:r>
          </a:p>
          <a:p>
            <a:endParaRPr lang="en-US" dirty="0"/>
          </a:p>
        </p:txBody>
      </p:sp>
      <p:sp>
        <p:nvSpPr>
          <p:cNvPr id="6" name="Text Placeholder 5">
            <a:extLst>
              <a:ext uri="{FF2B5EF4-FFF2-40B4-BE49-F238E27FC236}">
                <a16:creationId xmlns:a16="http://schemas.microsoft.com/office/drawing/2014/main" id="{A867C7F2-9B8B-4C0E-A7B3-2420681D39B6}"/>
              </a:ext>
            </a:extLst>
          </p:cNvPr>
          <p:cNvSpPr>
            <a:spLocks noGrp="1"/>
          </p:cNvSpPr>
          <p:nvPr>
            <p:ph type="body" sz="quarter" idx="3"/>
          </p:nvPr>
        </p:nvSpPr>
        <p:spPr>
          <a:xfrm>
            <a:off x="6096000" y="1189038"/>
            <a:ext cx="5183188" cy="823912"/>
          </a:xfrm>
        </p:spPr>
        <p:txBody>
          <a:bodyPr/>
          <a:lstStyle/>
          <a:p>
            <a:r>
              <a:rPr lang="en-US" altLang="en-US" dirty="0">
                <a:solidFill>
                  <a:srgbClr val="001D35"/>
                </a:solidFill>
                <a:latin typeface="Google Sans"/>
              </a:rPr>
              <a:t>Prismatic Joint (Translation)</a:t>
            </a:r>
            <a:endParaRPr lang="en-US" altLang="en-US" sz="1100" b="0" dirty="0"/>
          </a:p>
        </p:txBody>
      </p:sp>
      <p:sp>
        <p:nvSpPr>
          <p:cNvPr id="4" name="Rectangle 1">
            <a:extLst>
              <a:ext uri="{FF2B5EF4-FFF2-40B4-BE49-F238E27FC236}">
                <a16:creationId xmlns:a16="http://schemas.microsoft.com/office/drawing/2014/main" id="{6096EEE1-9150-49A0-9107-DE65BB7D7652}"/>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A134A1D5-3201-4BE3-A57A-6975F868DBC1}"/>
              </a:ext>
            </a:extLst>
          </p:cNvPr>
          <p:cNvSpPr>
            <a:spLocks noGrp="1" noChangeArrowheads="1"/>
          </p:cNvSpPr>
          <p:nvPr>
            <p:ph sz="quarter" idx="4"/>
          </p:nvPr>
        </p:nvSpPr>
        <p:spPr bwMode="auto">
          <a:xfrm>
            <a:off x="6096000" y="2012950"/>
            <a:ext cx="5571067" cy="433965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2400" b="1" i="0" u="none" strike="noStrike" cap="none" normalizeH="0" baseline="0" dirty="0">
                <a:ln>
                  <a:noFill/>
                </a:ln>
                <a:solidFill>
                  <a:srgbClr val="0A0A0A"/>
                </a:solidFill>
                <a:effectLst/>
                <a:latin typeface="Google Sans"/>
              </a:rPr>
              <a:t>Motion. </a:t>
            </a:r>
            <a:r>
              <a:rPr kumimoji="0" lang="en-US" altLang="en-US" sz="2400" b="0" i="0" u="none" strike="noStrike" cap="none" normalizeH="0" baseline="0" dirty="0">
                <a:ln>
                  <a:noFill/>
                </a:ln>
                <a:solidFill>
                  <a:srgbClr val="0A0A0A"/>
                </a:solidFill>
                <a:effectLst/>
                <a:latin typeface="Google Sans"/>
              </a:rPr>
              <a:t>Enables linear, sliding, or extending movement along a straight path.</a:t>
            </a:r>
          </a:p>
          <a:p>
            <a:pPr eaLnBrk="0" fontAlgn="base" hangingPunct="0">
              <a:lnSpc>
                <a:spcPct val="100000"/>
              </a:lnSpc>
              <a:spcBef>
                <a:spcPct val="0"/>
              </a:spcBef>
              <a:spcAft>
                <a:spcPct val="0"/>
              </a:spcAft>
            </a:pPr>
            <a:r>
              <a:rPr kumimoji="0" lang="en-US" altLang="en-US" sz="2400" b="1" i="0" u="none" strike="noStrike" cap="none" normalizeH="0" baseline="0" dirty="0">
                <a:ln>
                  <a:noFill/>
                </a:ln>
                <a:solidFill>
                  <a:srgbClr val="0A0A0A"/>
                </a:solidFill>
                <a:effectLst/>
                <a:latin typeface="Google Sans"/>
              </a:rPr>
              <a:t>Characteristics.</a:t>
            </a:r>
            <a:r>
              <a:rPr kumimoji="0" lang="en-US" altLang="en-US" sz="2400" b="0" i="0" u="none" strike="noStrike" cap="none" normalizeH="0" baseline="0" dirty="0">
                <a:ln>
                  <a:noFill/>
                </a:ln>
                <a:solidFill>
                  <a:srgbClr val="0A0A0A"/>
                </a:solidFill>
                <a:effectLst/>
                <a:latin typeface="Google Sans"/>
              </a:rPr>
              <a:t> Acts as a slider or track, preventing rotation between the two parts.</a:t>
            </a:r>
          </a:p>
          <a:p>
            <a:pPr eaLnBrk="0" fontAlgn="base" hangingPunct="0">
              <a:lnSpc>
                <a:spcPct val="100000"/>
              </a:lnSpc>
              <a:spcBef>
                <a:spcPct val="0"/>
              </a:spcBef>
              <a:spcAft>
                <a:spcPct val="0"/>
              </a:spcAft>
            </a:pPr>
            <a:r>
              <a:rPr kumimoji="0" lang="en-US" altLang="en-US" sz="2400" b="1" i="0" u="none" strike="noStrike" cap="none" normalizeH="0" baseline="0" dirty="0">
                <a:ln>
                  <a:noFill/>
                </a:ln>
                <a:solidFill>
                  <a:srgbClr val="0A0A0A"/>
                </a:solidFill>
                <a:effectLst/>
                <a:latin typeface="Google Sans"/>
              </a:rPr>
              <a:t>Degrees of Freedom.</a:t>
            </a:r>
            <a:r>
              <a:rPr kumimoji="0" lang="en-US" altLang="en-US" sz="2400" b="0" i="0" u="none" strike="noStrike" cap="none" normalizeH="0" baseline="0" dirty="0">
                <a:ln>
                  <a:noFill/>
                </a:ln>
                <a:solidFill>
                  <a:srgbClr val="0A0A0A"/>
                </a:solidFill>
                <a:effectLst/>
                <a:latin typeface="Google Sans"/>
              </a:rPr>
              <a:t> 1 (translational).</a:t>
            </a:r>
          </a:p>
          <a:p>
            <a:pPr eaLnBrk="0" fontAlgn="base" hangingPunct="0">
              <a:lnSpc>
                <a:spcPct val="100000"/>
              </a:lnSpc>
              <a:spcBef>
                <a:spcPct val="0"/>
              </a:spcBef>
              <a:spcAft>
                <a:spcPct val="0"/>
              </a:spcAft>
            </a:pPr>
            <a:r>
              <a:rPr kumimoji="0" lang="en-US" altLang="en-US" sz="2400" b="1" i="0" u="none" strike="noStrike" cap="none" normalizeH="0" baseline="0" dirty="0">
                <a:ln>
                  <a:noFill/>
                </a:ln>
                <a:solidFill>
                  <a:srgbClr val="0A0A0A"/>
                </a:solidFill>
                <a:effectLst/>
                <a:latin typeface="Google Sans"/>
              </a:rPr>
              <a:t>Common Applications.</a:t>
            </a:r>
            <a:r>
              <a:rPr kumimoji="0" lang="en-US" altLang="en-US" sz="2400" b="0" i="0" u="none" strike="noStrike" cap="none" normalizeH="0" baseline="0" dirty="0">
                <a:ln>
                  <a:noFill/>
                </a:ln>
                <a:solidFill>
                  <a:srgbClr val="0A0A0A"/>
                </a:solidFill>
                <a:effectLst/>
                <a:latin typeface="Google Sans"/>
              </a:rPr>
              <a:t> Linear actuators, hydraulic/pneumatic cylinders, telescopic mechanisms, Cartesian (XYZ) robots.</a:t>
            </a:r>
          </a:p>
          <a:p>
            <a:pPr eaLnBrk="0" fontAlgn="base" hangingPunct="0">
              <a:lnSpc>
                <a:spcPct val="100000"/>
              </a:lnSpc>
              <a:spcBef>
                <a:spcPct val="0"/>
              </a:spcBef>
              <a:spcAft>
                <a:spcPct val="0"/>
              </a:spcAft>
            </a:pPr>
            <a:r>
              <a:rPr kumimoji="0" lang="en-US" altLang="en-US" sz="2400" b="1" i="0" u="none" strike="noStrike" cap="none" normalizeH="0" baseline="0" dirty="0">
                <a:ln>
                  <a:noFill/>
                </a:ln>
                <a:solidFill>
                  <a:srgbClr val="0A0A0A"/>
                </a:solidFill>
                <a:effectLst/>
                <a:latin typeface="Google Sans"/>
              </a:rPr>
              <a:t>Notation.</a:t>
            </a:r>
            <a:r>
              <a:rPr kumimoji="0" lang="en-US" altLang="en-US" sz="2400" b="0" i="0" u="none" strike="noStrike" cap="none" normalizeH="0" baseline="0" dirty="0">
                <a:ln>
                  <a:noFill/>
                </a:ln>
                <a:solidFill>
                  <a:srgbClr val="0A0A0A"/>
                </a:solidFill>
                <a:effectLst/>
                <a:latin typeface="Google Sans"/>
              </a:rPr>
              <a:t> Often denoted as 'P' in kinematic diagrams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Date Placeholder 6">
            <a:extLst>
              <a:ext uri="{FF2B5EF4-FFF2-40B4-BE49-F238E27FC236}">
                <a16:creationId xmlns:a16="http://schemas.microsoft.com/office/drawing/2014/main" id="{8B6D23D5-633F-4063-B54C-8DE35CC86062}"/>
              </a:ext>
            </a:extLst>
          </p:cNvPr>
          <p:cNvSpPr>
            <a:spLocks noGrp="1"/>
          </p:cNvSpPr>
          <p:nvPr>
            <p:ph type="dt" sz="half" idx="10"/>
          </p:nvPr>
        </p:nvSpPr>
        <p:spPr/>
        <p:txBody>
          <a:bodyPr/>
          <a:lstStyle/>
          <a:p>
            <a:fld id="{18DF1707-D2CB-49A5-B264-2796663CEC8B}" type="datetime1">
              <a:rPr lang="en-US" smtClean="0"/>
              <a:t>3/8/2026</a:t>
            </a:fld>
            <a:endParaRPr lang="en-US"/>
          </a:p>
        </p:txBody>
      </p:sp>
      <p:sp>
        <p:nvSpPr>
          <p:cNvPr id="9" name="Slide Number Placeholder 8">
            <a:extLst>
              <a:ext uri="{FF2B5EF4-FFF2-40B4-BE49-F238E27FC236}">
                <a16:creationId xmlns:a16="http://schemas.microsoft.com/office/drawing/2014/main" id="{85EA65EB-F2E5-4275-876D-B308B839EDE1}"/>
              </a:ext>
            </a:extLst>
          </p:cNvPr>
          <p:cNvSpPr>
            <a:spLocks noGrp="1"/>
          </p:cNvSpPr>
          <p:nvPr>
            <p:ph type="sldNum" sz="quarter" idx="12"/>
          </p:nvPr>
        </p:nvSpPr>
        <p:spPr/>
        <p:txBody>
          <a:bodyPr/>
          <a:lstStyle/>
          <a:p>
            <a:fld id="{C29293D3-8374-41FE-B1E4-A635E9555193}" type="slidenum">
              <a:rPr lang="en-US" smtClean="0"/>
              <a:t>14</a:t>
            </a:fld>
            <a:endParaRPr lang="en-US"/>
          </a:p>
        </p:txBody>
      </p:sp>
    </p:spTree>
    <p:extLst>
      <p:ext uri="{BB962C8B-B14F-4D97-AF65-F5344CB8AC3E}">
        <p14:creationId xmlns:p14="http://schemas.microsoft.com/office/powerpoint/2010/main" val="23744012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1E875-E2ED-4E71-AFCD-64789C5B24DC}"/>
              </a:ext>
            </a:extLst>
          </p:cNvPr>
          <p:cNvSpPr>
            <a:spLocks noGrp="1"/>
          </p:cNvSpPr>
          <p:nvPr>
            <p:ph type="title"/>
          </p:nvPr>
        </p:nvSpPr>
        <p:spPr/>
        <p:txBody>
          <a:bodyPr/>
          <a:lstStyle/>
          <a:p>
            <a:r>
              <a:rPr lang="en-US" b="1" dirty="0"/>
              <a:t>Kinematics – Degree of Freedom</a:t>
            </a:r>
          </a:p>
        </p:txBody>
      </p:sp>
      <p:sp>
        <p:nvSpPr>
          <p:cNvPr id="3" name="Content Placeholder 2">
            <a:extLst>
              <a:ext uri="{FF2B5EF4-FFF2-40B4-BE49-F238E27FC236}">
                <a16:creationId xmlns:a16="http://schemas.microsoft.com/office/drawing/2014/main" id="{8F4B2CB8-E33A-4CD9-8ABF-E1B15F605D47}"/>
              </a:ext>
            </a:extLst>
          </p:cNvPr>
          <p:cNvSpPr>
            <a:spLocks noGrp="1"/>
          </p:cNvSpPr>
          <p:nvPr>
            <p:ph idx="1"/>
          </p:nvPr>
        </p:nvSpPr>
        <p:spPr/>
        <p:txBody>
          <a:bodyPr/>
          <a:lstStyle/>
          <a:p>
            <a:pPr eaLnBrk="0" fontAlgn="base" hangingPunct="0">
              <a:lnSpc>
                <a:spcPct val="100000"/>
              </a:lnSpc>
              <a:spcBef>
                <a:spcPct val="0"/>
              </a:spcBef>
              <a:spcAft>
                <a:spcPct val="0"/>
              </a:spcAft>
            </a:pPr>
            <a:r>
              <a:rPr lang="en-US" altLang="en-US" sz="3200" dirty="0">
                <a:solidFill>
                  <a:srgbClr val="000028"/>
                </a:solidFill>
                <a:latin typeface="Siemens Sans"/>
              </a:rPr>
              <a:t>The degree of freedom of a physical system refers to those variables that are necessary to describe the movement of a body in space. </a:t>
            </a:r>
          </a:p>
          <a:p>
            <a:pPr eaLnBrk="0" fontAlgn="base" hangingPunct="0">
              <a:lnSpc>
                <a:spcPct val="100000"/>
              </a:lnSpc>
              <a:spcBef>
                <a:spcPct val="0"/>
              </a:spcBef>
              <a:spcAft>
                <a:spcPct val="0"/>
              </a:spcAft>
            </a:pPr>
            <a:r>
              <a:rPr lang="en-US" altLang="en-US" sz="3200" dirty="0">
                <a:solidFill>
                  <a:srgbClr val="000028"/>
                </a:solidFill>
                <a:latin typeface="Siemens Sans"/>
              </a:rPr>
              <a:t>These can be translational or rotational movements.</a:t>
            </a:r>
          </a:p>
          <a:p>
            <a:pPr eaLnBrk="0" fontAlgn="base" hangingPunct="0">
              <a:lnSpc>
                <a:spcPct val="100000"/>
              </a:lnSpc>
              <a:spcBef>
                <a:spcPct val="0"/>
              </a:spcBef>
              <a:spcAft>
                <a:spcPct val="0"/>
              </a:spcAft>
            </a:pPr>
            <a:r>
              <a:rPr lang="en-US" altLang="en-US" sz="3200" dirty="0">
                <a:solidFill>
                  <a:srgbClr val="000028"/>
                </a:solidFill>
                <a:latin typeface="Siemens Sans"/>
              </a:rPr>
              <a:t> For example, a classical hinge joint on a door has only one degree of freedom (rotation around an axis); </a:t>
            </a:r>
          </a:p>
          <a:p>
            <a:pPr eaLnBrk="0" fontAlgn="base" hangingPunct="0">
              <a:lnSpc>
                <a:spcPct val="100000"/>
              </a:lnSpc>
              <a:spcBef>
                <a:spcPct val="0"/>
              </a:spcBef>
              <a:spcAft>
                <a:spcPct val="0"/>
              </a:spcAft>
            </a:pPr>
            <a:r>
              <a:rPr lang="en-US" altLang="en-US" sz="3200" dirty="0">
                <a:solidFill>
                  <a:srgbClr val="000028"/>
                </a:solidFill>
                <a:latin typeface="Siemens Sans"/>
              </a:rPr>
              <a:t>articulated robots often have the maximum possible six degrees of freedom (three translational, three rotational).</a:t>
            </a:r>
            <a:endParaRPr lang="en-US" altLang="en-US" sz="4400" dirty="0">
              <a:latin typeface="Arial" panose="020B0604020202020204" pitchFamily="34" charset="0"/>
            </a:endParaRPr>
          </a:p>
          <a:p>
            <a:endParaRPr lang="en-US" dirty="0"/>
          </a:p>
        </p:txBody>
      </p:sp>
      <p:sp>
        <p:nvSpPr>
          <p:cNvPr id="4" name="Date Placeholder 3">
            <a:extLst>
              <a:ext uri="{FF2B5EF4-FFF2-40B4-BE49-F238E27FC236}">
                <a16:creationId xmlns:a16="http://schemas.microsoft.com/office/drawing/2014/main" id="{D14E2ABB-751F-4438-94D5-95A6ADD3B517}"/>
              </a:ext>
            </a:extLst>
          </p:cNvPr>
          <p:cNvSpPr>
            <a:spLocks noGrp="1"/>
          </p:cNvSpPr>
          <p:nvPr>
            <p:ph type="dt" sz="half" idx="10"/>
          </p:nvPr>
        </p:nvSpPr>
        <p:spPr/>
        <p:txBody>
          <a:bodyPr/>
          <a:lstStyle/>
          <a:p>
            <a:fld id="{F5AF5826-709E-4B82-969C-A876C269A769}" type="datetime1">
              <a:rPr lang="en-US" smtClean="0"/>
              <a:t>3/8/2026</a:t>
            </a:fld>
            <a:endParaRPr lang="en-US"/>
          </a:p>
        </p:txBody>
      </p:sp>
      <p:sp>
        <p:nvSpPr>
          <p:cNvPr id="5" name="Slide Number Placeholder 4">
            <a:extLst>
              <a:ext uri="{FF2B5EF4-FFF2-40B4-BE49-F238E27FC236}">
                <a16:creationId xmlns:a16="http://schemas.microsoft.com/office/drawing/2014/main" id="{5B7A7382-8D2C-4756-8C5B-37328B90AC9A}"/>
              </a:ext>
            </a:extLst>
          </p:cNvPr>
          <p:cNvSpPr>
            <a:spLocks noGrp="1"/>
          </p:cNvSpPr>
          <p:nvPr>
            <p:ph type="sldNum" sz="quarter" idx="12"/>
          </p:nvPr>
        </p:nvSpPr>
        <p:spPr/>
        <p:txBody>
          <a:bodyPr/>
          <a:lstStyle/>
          <a:p>
            <a:fld id="{C29293D3-8374-41FE-B1E4-A635E9555193}" type="slidenum">
              <a:rPr lang="en-US" smtClean="0"/>
              <a:t>15</a:t>
            </a:fld>
            <a:endParaRPr lang="en-US"/>
          </a:p>
        </p:txBody>
      </p:sp>
    </p:spTree>
    <p:extLst>
      <p:ext uri="{BB962C8B-B14F-4D97-AF65-F5344CB8AC3E}">
        <p14:creationId xmlns:p14="http://schemas.microsoft.com/office/powerpoint/2010/main" val="32122790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69166-8074-473C-AD27-78C8F1772928}"/>
              </a:ext>
            </a:extLst>
          </p:cNvPr>
          <p:cNvSpPr>
            <a:spLocks noGrp="1"/>
          </p:cNvSpPr>
          <p:nvPr>
            <p:ph type="title"/>
          </p:nvPr>
        </p:nvSpPr>
        <p:spPr/>
        <p:txBody>
          <a:bodyPr/>
          <a:lstStyle/>
          <a:p>
            <a:r>
              <a:rPr lang="en-US" b="1" dirty="0"/>
              <a:t>Six degrees of freedom</a:t>
            </a:r>
          </a:p>
        </p:txBody>
      </p:sp>
      <p:sp>
        <p:nvSpPr>
          <p:cNvPr id="3" name="Content Placeholder 2">
            <a:extLst>
              <a:ext uri="{FF2B5EF4-FFF2-40B4-BE49-F238E27FC236}">
                <a16:creationId xmlns:a16="http://schemas.microsoft.com/office/drawing/2014/main" id="{122B6114-A387-40A8-B687-7789EA76481F}"/>
              </a:ext>
            </a:extLst>
          </p:cNvPr>
          <p:cNvSpPr>
            <a:spLocks noGrp="1"/>
          </p:cNvSpPr>
          <p:nvPr>
            <p:ph sz="half" idx="1"/>
          </p:nvPr>
        </p:nvSpPr>
        <p:spPr/>
        <p:txBody>
          <a:bodyPr>
            <a:normAutofit fontScale="92500"/>
          </a:bodyPr>
          <a:lstStyle/>
          <a:p>
            <a:r>
              <a:rPr lang="en-US" dirty="0"/>
              <a:t>Six Degrees of Freedom (6DoF) in robotics refers to a robot's ability to move freely in 3D space, </a:t>
            </a:r>
          </a:p>
          <a:p>
            <a:r>
              <a:rPr lang="en-US" b="1" dirty="0"/>
              <a:t>Translation (Linear Motion):</a:t>
            </a:r>
            <a:r>
              <a:rPr lang="en-US" dirty="0"/>
              <a:t> Movement along the X, Y, and Z axes (left/right, forward/backward, up/down).</a:t>
            </a:r>
          </a:p>
          <a:p>
            <a:r>
              <a:rPr lang="en-US" b="1" dirty="0"/>
              <a:t>Rotation (Angular Motion):</a:t>
            </a:r>
            <a:r>
              <a:rPr lang="en-US" dirty="0"/>
              <a:t> Orientation changes through pitch (tilting), yaw (turning), and roll (twisting).</a:t>
            </a:r>
          </a:p>
          <a:p>
            <a:endParaRPr lang="en-US" dirty="0"/>
          </a:p>
        </p:txBody>
      </p:sp>
      <p:pic>
        <p:nvPicPr>
          <p:cNvPr id="5" name="Content Placeholder 4">
            <a:extLst>
              <a:ext uri="{FF2B5EF4-FFF2-40B4-BE49-F238E27FC236}">
                <a16:creationId xmlns:a16="http://schemas.microsoft.com/office/drawing/2014/main" id="{875670FF-91DD-4A45-936A-B5627E07E0B3}"/>
              </a:ext>
            </a:extLst>
          </p:cNvPr>
          <p:cNvPicPr>
            <a:picLocks noGrp="1" noChangeAspect="1"/>
          </p:cNvPicPr>
          <p:nvPr>
            <p:ph sz="half" idx="2"/>
          </p:nvPr>
        </p:nvPicPr>
        <p:blipFill>
          <a:blip r:embed="rId2"/>
          <a:stretch>
            <a:fillRect/>
          </a:stretch>
        </p:blipFill>
        <p:spPr>
          <a:xfrm>
            <a:off x="6019800" y="1388533"/>
            <a:ext cx="6171677" cy="4622800"/>
          </a:xfrm>
          <a:prstGeom prst="rect">
            <a:avLst/>
          </a:prstGeom>
        </p:spPr>
      </p:pic>
      <p:sp>
        <p:nvSpPr>
          <p:cNvPr id="4" name="Date Placeholder 3">
            <a:extLst>
              <a:ext uri="{FF2B5EF4-FFF2-40B4-BE49-F238E27FC236}">
                <a16:creationId xmlns:a16="http://schemas.microsoft.com/office/drawing/2014/main" id="{2F1C9FC0-AFE6-4A85-A523-2BE148B47FED}"/>
              </a:ext>
            </a:extLst>
          </p:cNvPr>
          <p:cNvSpPr>
            <a:spLocks noGrp="1"/>
          </p:cNvSpPr>
          <p:nvPr>
            <p:ph type="dt" sz="half" idx="10"/>
          </p:nvPr>
        </p:nvSpPr>
        <p:spPr/>
        <p:txBody>
          <a:bodyPr/>
          <a:lstStyle/>
          <a:p>
            <a:fld id="{C8DCC3BE-5460-4B22-95F0-91CE5AA570DA}" type="datetime1">
              <a:rPr lang="en-US" smtClean="0"/>
              <a:t>3/8/2026</a:t>
            </a:fld>
            <a:endParaRPr lang="en-US"/>
          </a:p>
        </p:txBody>
      </p:sp>
      <p:sp>
        <p:nvSpPr>
          <p:cNvPr id="6" name="Slide Number Placeholder 5">
            <a:extLst>
              <a:ext uri="{FF2B5EF4-FFF2-40B4-BE49-F238E27FC236}">
                <a16:creationId xmlns:a16="http://schemas.microsoft.com/office/drawing/2014/main" id="{63631300-7FBB-423C-B71F-7D58FF60A019}"/>
              </a:ext>
            </a:extLst>
          </p:cNvPr>
          <p:cNvSpPr>
            <a:spLocks noGrp="1"/>
          </p:cNvSpPr>
          <p:nvPr>
            <p:ph type="sldNum" sz="quarter" idx="12"/>
          </p:nvPr>
        </p:nvSpPr>
        <p:spPr/>
        <p:txBody>
          <a:bodyPr/>
          <a:lstStyle/>
          <a:p>
            <a:fld id="{C29293D3-8374-41FE-B1E4-A635E9555193}" type="slidenum">
              <a:rPr lang="en-US" smtClean="0"/>
              <a:t>16</a:t>
            </a:fld>
            <a:endParaRPr lang="en-US"/>
          </a:p>
        </p:txBody>
      </p:sp>
    </p:spTree>
    <p:extLst>
      <p:ext uri="{BB962C8B-B14F-4D97-AF65-F5344CB8AC3E}">
        <p14:creationId xmlns:p14="http://schemas.microsoft.com/office/powerpoint/2010/main" val="30876533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1BCD1CC-B88A-482F-8CB7-62A966E86B70}"/>
              </a:ext>
            </a:extLst>
          </p:cNvPr>
          <p:cNvPicPr>
            <a:picLocks noChangeAspect="1"/>
          </p:cNvPicPr>
          <p:nvPr/>
        </p:nvPicPr>
        <p:blipFill rotWithShape="1">
          <a:blip r:embed="rId2"/>
          <a:srcRect t="13332" b="9857"/>
          <a:stretch/>
        </p:blipFill>
        <p:spPr>
          <a:xfrm>
            <a:off x="838200" y="1631950"/>
            <a:ext cx="10669881" cy="4610100"/>
          </a:xfrm>
          <a:prstGeom prst="rect">
            <a:avLst/>
          </a:prstGeom>
        </p:spPr>
      </p:pic>
      <p:sp>
        <p:nvSpPr>
          <p:cNvPr id="2" name="Date Placeholder 1">
            <a:extLst>
              <a:ext uri="{FF2B5EF4-FFF2-40B4-BE49-F238E27FC236}">
                <a16:creationId xmlns:a16="http://schemas.microsoft.com/office/drawing/2014/main" id="{5B30AA0E-AC03-4BA4-905F-C9712E62D5D9}"/>
              </a:ext>
            </a:extLst>
          </p:cNvPr>
          <p:cNvSpPr>
            <a:spLocks noGrp="1"/>
          </p:cNvSpPr>
          <p:nvPr>
            <p:ph type="dt" sz="half" idx="10"/>
          </p:nvPr>
        </p:nvSpPr>
        <p:spPr/>
        <p:txBody>
          <a:bodyPr/>
          <a:lstStyle/>
          <a:p>
            <a:fld id="{B96439B5-C14F-4664-ADA9-6AD904677FFB}" type="datetime1">
              <a:rPr lang="en-US" smtClean="0"/>
              <a:t>3/8/2026</a:t>
            </a:fld>
            <a:endParaRPr lang="en-US"/>
          </a:p>
        </p:txBody>
      </p:sp>
      <p:sp>
        <p:nvSpPr>
          <p:cNvPr id="3" name="Slide Number Placeholder 2">
            <a:extLst>
              <a:ext uri="{FF2B5EF4-FFF2-40B4-BE49-F238E27FC236}">
                <a16:creationId xmlns:a16="http://schemas.microsoft.com/office/drawing/2014/main" id="{F420DEA6-09C4-455E-AAF6-4813DA695A8C}"/>
              </a:ext>
            </a:extLst>
          </p:cNvPr>
          <p:cNvSpPr>
            <a:spLocks noGrp="1"/>
          </p:cNvSpPr>
          <p:nvPr>
            <p:ph type="sldNum" sz="quarter" idx="12"/>
          </p:nvPr>
        </p:nvSpPr>
        <p:spPr/>
        <p:txBody>
          <a:bodyPr/>
          <a:lstStyle/>
          <a:p>
            <a:fld id="{C29293D3-8374-41FE-B1E4-A635E9555193}" type="slidenum">
              <a:rPr lang="en-US" smtClean="0"/>
              <a:t>17</a:t>
            </a:fld>
            <a:endParaRPr lang="en-US"/>
          </a:p>
        </p:txBody>
      </p:sp>
      <p:sp>
        <p:nvSpPr>
          <p:cNvPr id="4" name="TextBox 3">
            <a:extLst>
              <a:ext uri="{FF2B5EF4-FFF2-40B4-BE49-F238E27FC236}">
                <a16:creationId xmlns:a16="http://schemas.microsoft.com/office/drawing/2014/main" id="{5EE44A8A-066B-42F0-9786-6B89055F50DE}"/>
              </a:ext>
            </a:extLst>
          </p:cNvPr>
          <p:cNvSpPr txBox="1"/>
          <p:nvPr/>
        </p:nvSpPr>
        <p:spPr>
          <a:xfrm>
            <a:off x="1238250" y="495300"/>
            <a:ext cx="7377469" cy="769441"/>
          </a:xfrm>
          <a:prstGeom prst="rect">
            <a:avLst/>
          </a:prstGeom>
          <a:noFill/>
        </p:spPr>
        <p:txBody>
          <a:bodyPr wrap="none" rtlCol="0">
            <a:spAutoFit/>
          </a:bodyPr>
          <a:lstStyle/>
          <a:p>
            <a:r>
              <a:rPr lang="en-US" sz="4400" b="1" dirty="0"/>
              <a:t>Six Degrees of Freedom (6DoF)</a:t>
            </a:r>
            <a:endParaRPr lang="en-US" sz="4400" dirty="0"/>
          </a:p>
        </p:txBody>
      </p:sp>
    </p:spTree>
    <p:extLst>
      <p:ext uri="{BB962C8B-B14F-4D97-AF65-F5344CB8AC3E}">
        <p14:creationId xmlns:p14="http://schemas.microsoft.com/office/powerpoint/2010/main" val="25490391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69166-8074-473C-AD27-78C8F1772928}"/>
              </a:ext>
            </a:extLst>
          </p:cNvPr>
          <p:cNvSpPr>
            <a:spLocks noGrp="1"/>
          </p:cNvSpPr>
          <p:nvPr>
            <p:ph type="title"/>
          </p:nvPr>
        </p:nvSpPr>
        <p:spPr>
          <a:xfrm>
            <a:off x="504827" y="180975"/>
            <a:ext cx="5667375" cy="1247775"/>
          </a:xfrm>
        </p:spPr>
        <p:txBody>
          <a:bodyPr/>
          <a:lstStyle/>
          <a:p>
            <a:r>
              <a:rPr lang="en-US" b="1" dirty="0"/>
              <a:t>Six Degree of Freedom</a:t>
            </a:r>
          </a:p>
        </p:txBody>
      </p:sp>
      <p:sp>
        <p:nvSpPr>
          <p:cNvPr id="3" name="Content Placeholder 2">
            <a:extLst>
              <a:ext uri="{FF2B5EF4-FFF2-40B4-BE49-F238E27FC236}">
                <a16:creationId xmlns:a16="http://schemas.microsoft.com/office/drawing/2014/main" id="{122B6114-A387-40A8-B687-7789EA76481F}"/>
              </a:ext>
            </a:extLst>
          </p:cNvPr>
          <p:cNvSpPr>
            <a:spLocks noGrp="1"/>
          </p:cNvSpPr>
          <p:nvPr>
            <p:ph sz="half" idx="1"/>
          </p:nvPr>
        </p:nvSpPr>
        <p:spPr>
          <a:xfrm>
            <a:off x="352425" y="1428750"/>
            <a:ext cx="5667375" cy="4748213"/>
          </a:xfrm>
        </p:spPr>
        <p:txBody>
          <a:bodyPr>
            <a:normAutofit/>
          </a:bodyPr>
          <a:lstStyle/>
          <a:p>
            <a:r>
              <a:rPr lang="en-US" dirty="0"/>
              <a:t>Six Degrees of Freedom (6DoF) in robotics refers to a robot's ability to move freely in 3D space, </a:t>
            </a:r>
          </a:p>
          <a:p>
            <a:r>
              <a:rPr lang="en-US" b="1" dirty="0"/>
              <a:t>Translation (Linear Motion):</a:t>
            </a:r>
            <a:r>
              <a:rPr lang="en-US" dirty="0"/>
              <a:t> Movement along the X, Y, and Z axes (left/right, forward/backward, up/down).</a:t>
            </a:r>
          </a:p>
          <a:p>
            <a:r>
              <a:rPr lang="en-US" b="1" dirty="0"/>
              <a:t>Rotation (Angular Motion):</a:t>
            </a:r>
            <a:r>
              <a:rPr lang="en-US" dirty="0"/>
              <a:t> Orientation changes through pitch (tilting), yaw (turning), and roll (twisting).</a:t>
            </a:r>
          </a:p>
          <a:p>
            <a:endParaRPr lang="en-US" dirty="0"/>
          </a:p>
        </p:txBody>
      </p:sp>
      <p:pic>
        <p:nvPicPr>
          <p:cNvPr id="10" name="Content Placeholder 9">
            <a:extLst>
              <a:ext uri="{FF2B5EF4-FFF2-40B4-BE49-F238E27FC236}">
                <a16:creationId xmlns:a16="http://schemas.microsoft.com/office/drawing/2014/main" id="{45BB76FC-EC16-4E15-B73D-FA49D529CD54}"/>
              </a:ext>
            </a:extLst>
          </p:cNvPr>
          <p:cNvPicPr>
            <a:picLocks noGrp="1" noChangeAspect="1"/>
          </p:cNvPicPr>
          <p:nvPr>
            <p:ph sz="half" idx="2"/>
          </p:nvPr>
        </p:nvPicPr>
        <p:blipFill>
          <a:blip r:embed="rId2"/>
          <a:stretch>
            <a:fillRect/>
          </a:stretch>
        </p:blipFill>
        <p:spPr>
          <a:xfrm>
            <a:off x="6019800" y="719124"/>
            <a:ext cx="6142290" cy="5476875"/>
          </a:xfrm>
          <a:prstGeom prst="rect">
            <a:avLst/>
          </a:prstGeom>
        </p:spPr>
      </p:pic>
      <p:sp>
        <p:nvSpPr>
          <p:cNvPr id="11" name="Rectangle 10">
            <a:extLst>
              <a:ext uri="{FF2B5EF4-FFF2-40B4-BE49-F238E27FC236}">
                <a16:creationId xmlns:a16="http://schemas.microsoft.com/office/drawing/2014/main" id="{E86B064F-093C-4263-99A2-9CA7AB8A9134}"/>
              </a:ext>
            </a:extLst>
          </p:cNvPr>
          <p:cNvSpPr/>
          <p:nvPr/>
        </p:nvSpPr>
        <p:spPr>
          <a:xfrm>
            <a:off x="6504581" y="6138876"/>
            <a:ext cx="4059637" cy="369332"/>
          </a:xfrm>
          <a:prstGeom prst="rect">
            <a:avLst/>
          </a:prstGeom>
        </p:spPr>
        <p:txBody>
          <a:bodyPr wrap="none">
            <a:spAutoFit/>
          </a:bodyPr>
          <a:lstStyle/>
          <a:p>
            <a:r>
              <a:rPr lang="en-US" dirty="0"/>
              <a:t>https://thesmartwarehouse.org/courses/</a:t>
            </a:r>
          </a:p>
        </p:txBody>
      </p:sp>
      <p:sp>
        <p:nvSpPr>
          <p:cNvPr id="4" name="Date Placeholder 3">
            <a:extLst>
              <a:ext uri="{FF2B5EF4-FFF2-40B4-BE49-F238E27FC236}">
                <a16:creationId xmlns:a16="http://schemas.microsoft.com/office/drawing/2014/main" id="{426941BE-A275-48DA-B6D4-8590EFA69584}"/>
              </a:ext>
            </a:extLst>
          </p:cNvPr>
          <p:cNvSpPr>
            <a:spLocks noGrp="1"/>
          </p:cNvSpPr>
          <p:nvPr>
            <p:ph type="dt" sz="half" idx="10"/>
          </p:nvPr>
        </p:nvSpPr>
        <p:spPr/>
        <p:txBody>
          <a:bodyPr/>
          <a:lstStyle/>
          <a:p>
            <a:fld id="{90EC605C-2EDF-46EE-AC4D-70F2D25249CE}" type="datetime1">
              <a:rPr lang="en-US" smtClean="0"/>
              <a:t>3/8/2026</a:t>
            </a:fld>
            <a:endParaRPr lang="en-US"/>
          </a:p>
        </p:txBody>
      </p:sp>
      <p:sp>
        <p:nvSpPr>
          <p:cNvPr id="5" name="Slide Number Placeholder 4">
            <a:extLst>
              <a:ext uri="{FF2B5EF4-FFF2-40B4-BE49-F238E27FC236}">
                <a16:creationId xmlns:a16="http://schemas.microsoft.com/office/drawing/2014/main" id="{669A1633-0D24-42C7-9FA4-689E975F1C28}"/>
              </a:ext>
            </a:extLst>
          </p:cNvPr>
          <p:cNvSpPr>
            <a:spLocks noGrp="1"/>
          </p:cNvSpPr>
          <p:nvPr>
            <p:ph type="sldNum" sz="quarter" idx="12"/>
          </p:nvPr>
        </p:nvSpPr>
        <p:spPr/>
        <p:txBody>
          <a:bodyPr/>
          <a:lstStyle/>
          <a:p>
            <a:fld id="{C29293D3-8374-41FE-B1E4-A635E9555193}" type="slidenum">
              <a:rPr lang="en-US" smtClean="0"/>
              <a:t>18</a:t>
            </a:fld>
            <a:endParaRPr lang="en-US"/>
          </a:p>
        </p:txBody>
      </p:sp>
    </p:spTree>
    <p:extLst>
      <p:ext uri="{BB962C8B-B14F-4D97-AF65-F5344CB8AC3E}">
        <p14:creationId xmlns:p14="http://schemas.microsoft.com/office/powerpoint/2010/main" val="22612640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1DCAE-A20D-4173-8CCB-B91B293157CA}"/>
              </a:ext>
            </a:extLst>
          </p:cNvPr>
          <p:cNvSpPr>
            <a:spLocks noGrp="1"/>
          </p:cNvSpPr>
          <p:nvPr>
            <p:ph type="title"/>
          </p:nvPr>
        </p:nvSpPr>
        <p:spPr/>
        <p:txBody>
          <a:bodyPr/>
          <a:lstStyle/>
          <a:p>
            <a:r>
              <a:rPr lang="en-US" b="1" dirty="0"/>
              <a:t>Translational Degrees of Freedom (3DoF)</a:t>
            </a:r>
            <a:endParaRPr lang="en-US" dirty="0"/>
          </a:p>
        </p:txBody>
      </p:sp>
      <p:sp>
        <p:nvSpPr>
          <p:cNvPr id="3" name="Content Placeholder 2">
            <a:extLst>
              <a:ext uri="{FF2B5EF4-FFF2-40B4-BE49-F238E27FC236}">
                <a16:creationId xmlns:a16="http://schemas.microsoft.com/office/drawing/2014/main" id="{C3CD65A6-071E-4D9A-B615-900049BBA3B4}"/>
              </a:ext>
            </a:extLst>
          </p:cNvPr>
          <p:cNvSpPr>
            <a:spLocks noGrp="1"/>
          </p:cNvSpPr>
          <p:nvPr>
            <p:ph idx="1"/>
          </p:nvPr>
        </p:nvSpPr>
        <p:spPr/>
        <p:txBody>
          <a:bodyPr/>
          <a:lstStyle/>
          <a:p>
            <a:pPr marL="0" indent="0">
              <a:buNone/>
            </a:pPr>
            <a:r>
              <a:rPr lang="en-US" sz="3200" dirty="0"/>
              <a:t>Translational degrees of freedom represent the ability to move in different directions. These include:</a:t>
            </a:r>
          </a:p>
          <a:p>
            <a:r>
              <a:rPr lang="en-US" sz="3200" b="1" dirty="0"/>
              <a:t>X-axis translation. </a:t>
            </a:r>
            <a:r>
              <a:rPr lang="en-US" sz="3200" dirty="0"/>
              <a:t>Movement along the horizontal axis, often referred to as left-right or side-to-side motion</a:t>
            </a:r>
          </a:p>
          <a:p>
            <a:r>
              <a:rPr lang="en-US" sz="3200" b="1" dirty="0"/>
              <a:t>Y-axis translation.</a:t>
            </a:r>
            <a:r>
              <a:rPr lang="en-US" sz="3200" dirty="0"/>
              <a:t> Movement along the vertical axis, often referred to as forward-backward or front-to-back motion</a:t>
            </a:r>
          </a:p>
          <a:p>
            <a:r>
              <a:rPr lang="en-US" sz="3200" b="1" dirty="0"/>
              <a:t>Z-axis translation. </a:t>
            </a:r>
            <a:r>
              <a:rPr lang="en-US" sz="3200" dirty="0"/>
              <a:t>Movement along the depth axis, often referred to as up-down or vertical motion</a:t>
            </a:r>
          </a:p>
          <a:p>
            <a:endParaRPr lang="en-US" dirty="0"/>
          </a:p>
        </p:txBody>
      </p:sp>
      <p:sp>
        <p:nvSpPr>
          <p:cNvPr id="4" name="Date Placeholder 3">
            <a:extLst>
              <a:ext uri="{FF2B5EF4-FFF2-40B4-BE49-F238E27FC236}">
                <a16:creationId xmlns:a16="http://schemas.microsoft.com/office/drawing/2014/main" id="{8498C4C4-6145-416D-9DC9-16E27C0C701D}"/>
              </a:ext>
            </a:extLst>
          </p:cNvPr>
          <p:cNvSpPr>
            <a:spLocks noGrp="1"/>
          </p:cNvSpPr>
          <p:nvPr>
            <p:ph type="dt" sz="half" idx="10"/>
          </p:nvPr>
        </p:nvSpPr>
        <p:spPr/>
        <p:txBody>
          <a:bodyPr/>
          <a:lstStyle/>
          <a:p>
            <a:fld id="{6FA8BE9D-3EB5-4B3F-9594-DE4CF1CB7116}" type="datetime1">
              <a:rPr lang="en-US" smtClean="0"/>
              <a:t>3/8/2026</a:t>
            </a:fld>
            <a:endParaRPr lang="en-US"/>
          </a:p>
        </p:txBody>
      </p:sp>
      <p:sp>
        <p:nvSpPr>
          <p:cNvPr id="5" name="Slide Number Placeholder 4">
            <a:extLst>
              <a:ext uri="{FF2B5EF4-FFF2-40B4-BE49-F238E27FC236}">
                <a16:creationId xmlns:a16="http://schemas.microsoft.com/office/drawing/2014/main" id="{6E5BBA46-910A-4AC7-9F12-A8B71B94610E}"/>
              </a:ext>
            </a:extLst>
          </p:cNvPr>
          <p:cNvSpPr>
            <a:spLocks noGrp="1"/>
          </p:cNvSpPr>
          <p:nvPr>
            <p:ph type="sldNum" sz="quarter" idx="12"/>
          </p:nvPr>
        </p:nvSpPr>
        <p:spPr/>
        <p:txBody>
          <a:bodyPr/>
          <a:lstStyle/>
          <a:p>
            <a:fld id="{C29293D3-8374-41FE-B1E4-A635E9555193}" type="slidenum">
              <a:rPr lang="en-US" smtClean="0"/>
              <a:t>19</a:t>
            </a:fld>
            <a:endParaRPr lang="en-US"/>
          </a:p>
        </p:txBody>
      </p:sp>
    </p:spTree>
    <p:extLst>
      <p:ext uri="{BB962C8B-B14F-4D97-AF65-F5344CB8AC3E}">
        <p14:creationId xmlns:p14="http://schemas.microsoft.com/office/powerpoint/2010/main" val="13271499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B02CC-18D1-4627-A2D9-005F60D845E4}"/>
              </a:ext>
            </a:extLst>
          </p:cNvPr>
          <p:cNvSpPr>
            <a:spLocks noGrp="1"/>
          </p:cNvSpPr>
          <p:nvPr>
            <p:ph type="title"/>
          </p:nvPr>
        </p:nvSpPr>
        <p:spPr/>
        <p:txBody>
          <a:bodyPr/>
          <a:lstStyle/>
          <a:p>
            <a:r>
              <a:rPr lang="en-US" b="1" dirty="0"/>
              <a:t>Rotational degrees of freedom (3DoF)</a:t>
            </a:r>
            <a:endParaRPr lang="en-US" dirty="0"/>
          </a:p>
        </p:txBody>
      </p:sp>
      <p:sp>
        <p:nvSpPr>
          <p:cNvPr id="3" name="Content Placeholder 2">
            <a:extLst>
              <a:ext uri="{FF2B5EF4-FFF2-40B4-BE49-F238E27FC236}">
                <a16:creationId xmlns:a16="http://schemas.microsoft.com/office/drawing/2014/main" id="{E2FF1FD4-3D2E-4524-B847-79E59A656154}"/>
              </a:ext>
            </a:extLst>
          </p:cNvPr>
          <p:cNvSpPr>
            <a:spLocks noGrp="1"/>
          </p:cNvSpPr>
          <p:nvPr>
            <p:ph idx="1"/>
          </p:nvPr>
        </p:nvSpPr>
        <p:spPr/>
        <p:txBody>
          <a:bodyPr/>
          <a:lstStyle/>
          <a:p>
            <a:pPr marL="0" indent="0">
              <a:buNone/>
            </a:pPr>
            <a:r>
              <a:rPr lang="en-US" sz="3200" dirty="0"/>
              <a:t>Rotational degrees of freedom represent the ability to rotate or change orientation. These include: </a:t>
            </a:r>
          </a:p>
          <a:p>
            <a:r>
              <a:rPr lang="en-US" sz="3200" b="1" dirty="0"/>
              <a:t>Pitch (rotation about X-axis):</a:t>
            </a:r>
            <a:r>
              <a:rPr lang="en-US" sz="3200" dirty="0"/>
              <a:t> Tilting forward or backward</a:t>
            </a:r>
          </a:p>
          <a:p>
            <a:r>
              <a:rPr lang="en-US" sz="3200" b="1" dirty="0"/>
              <a:t>Yaw (rotation about Y-axis):</a:t>
            </a:r>
            <a:r>
              <a:rPr lang="en-US" sz="3200" dirty="0"/>
              <a:t> Turning left or right</a:t>
            </a:r>
          </a:p>
          <a:p>
            <a:r>
              <a:rPr lang="en-US" sz="3200" b="1" dirty="0"/>
              <a:t>Roll (rotation about Z-axis):</a:t>
            </a:r>
            <a:r>
              <a:rPr lang="en-US" sz="3200" dirty="0"/>
              <a:t> Tilting sideways</a:t>
            </a:r>
          </a:p>
          <a:p>
            <a:endParaRPr lang="en-US" dirty="0"/>
          </a:p>
        </p:txBody>
      </p:sp>
      <p:sp>
        <p:nvSpPr>
          <p:cNvPr id="4" name="Date Placeholder 3">
            <a:extLst>
              <a:ext uri="{FF2B5EF4-FFF2-40B4-BE49-F238E27FC236}">
                <a16:creationId xmlns:a16="http://schemas.microsoft.com/office/drawing/2014/main" id="{69D65C90-664E-456B-9D51-91B97730CA21}"/>
              </a:ext>
            </a:extLst>
          </p:cNvPr>
          <p:cNvSpPr>
            <a:spLocks noGrp="1"/>
          </p:cNvSpPr>
          <p:nvPr>
            <p:ph type="dt" sz="half" idx="10"/>
          </p:nvPr>
        </p:nvSpPr>
        <p:spPr/>
        <p:txBody>
          <a:bodyPr/>
          <a:lstStyle/>
          <a:p>
            <a:fld id="{2E7DA5A0-D156-40C8-9929-12F0E962308E}" type="datetime1">
              <a:rPr lang="en-US" smtClean="0"/>
              <a:t>3/8/2026</a:t>
            </a:fld>
            <a:endParaRPr lang="en-US"/>
          </a:p>
        </p:txBody>
      </p:sp>
      <p:sp>
        <p:nvSpPr>
          <p:cNvPr id="5" name="Slide Number Placeholder 4">
            <a:extLst>
              <a:ext uri="{FF2B5EF4-FFF2-40B4-BE49-F238E27FC236}">
                <a16:creationId xmlns:a16="http://schemas.microsoft.com/office/drawing/2014/main" id="{8A9A4608-543B-4E91-8F6A-E570491E2C61}"/>
              </a:ext>
            </a:extLst>
          </p:cNvPr>
          <p:cNvSpPr>
            <a:spLocks noGrp="1"/>
          </p:cNvSpPr>
          <p:nvPr>
            <p:ph type="sldNum" sz="quarter" idx="12"/>
          </p:nvPr>
        </p:nvSpPr>
        <p:spPr/>
        <p:txBody>
          <a:bodyPr/>
          <a:lstStyle/>
          <a:p>
            <a:fld id="{C29293D3-8374-41FE-B1E4-A635E9555193}" type="slidenum">
              <a:rPr lang="en-US" smtClean="0"/>
              <a:t>20</a:t>
            </a:fld>
            <a:endParaRPr lang="en-US"/>
          </a:p>
        </p:txBody>
      </p:sp>
    </p:spTree>
    <p:extLst>
      <p:ext uri="{BB962C8B-B14F-4D97-AF65-F5344CB8AC3E}">
        <p14:creationId xmlns:p14="http://schemas.microsoft.com/office/powerpoint/2010/main" val="40193487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CEA72-56A1-4722-A36B-9203F73BA05B}"/>
              </a:ext>
            </a:extLst>
          </p:cNvPr>
          <p:cNvSpPr>
            <a:spLocks noGrp="1"/>
          </p:cNvSpPr>
          <p:nvPr>
            <p:ph type="title"/>
          </p:nvPr>
        </p:nvSpPr>
        <p:spPr/>
        <p:txBody>
          <a:bodyPr/>
          <a:lstStyle/>
          <a:p>
            <a:r>
              <a:rPr lang="en-US" b="1" dirty="0"/>
              <a:t>Application of six degrees of freedom</a:t>
            </a:r>
          </a:p>
        </p:txBody>
      </p:sp>
      <p:sp>
        <p:nvSpPr>
          <p:cNvPr id="3" name="Content Placeholder 2">
            <a:extLst>
              <a:ext uri="{FF2B5EF4-FFF2-40B4-BE49-F238E27FC236}">
                <a16:creationId xmlns:a16="http://schemas.microsoft.com/office/drawing/2014/main" id="{4FD87691-FB5E-48CF-9432-C725429AB199}"/>
              </a:ext>
            </a:extLst>
          </p:cNvPr>
          <p:cNvSpPr>
            <a:spLocks noGrp="1"/>
          </p:cNvSpPr>
          <p:nvPr>
            <p:ph idx="1"/>
          </p:nvPr>
        </p:nvSpPr>
        <p:spPr/>
        <p:txBody>
          <a:bodyPr>
            <a:normAutofit fontScale="92500"/>
          </a:bodyPr>
          <a:lstStyle/>
          <a:p>
            <a:r>
              <a:rPr lang="en-US" sz="3000" dirty="0"/>
              <a:t>Robotic arms have multiple joints that must move and rotate precisely in a three-dimensional space. </a:t>
            </a:r>
          </a:p>
          <a:p>
            <a:pPr lvl="1"/>
            <a:r>
              <a:rPr lang="en-US" sz="2600" dirty="0"/>
              <a:t>Robots that need to interact with the environment in various ways often require 6DoF to perform more complex tasks, such as placing objects or performing laparoscopic surgery with both accuracy and agility. </a:t>
            </a:r>
          </a:p>
          <a:p>
            <a:pPr lvl="1"/>
            <a:r>
              <a:rPr lang="en-US" sz="2600" dirty="0"/>
              <a:t>Robotic arms are typically used in manufacturing, research, and health care. </a:t>
            </a:r>
          </a:p>
          <a:p>
            <a:r>
              <a:rPr lang="en-US" sz="3000" dirty="0"/>
              <a:t>Six degrees of freedom  in  Humanoid robots with the ability to move in both translational and rotational degrees of freedom can closely mimic human movements, making it easier for these robots to perform tasks in dynamic environments like driving a vehicle or carrying objects. </a:t>
            </a:r>
          </a:p>
          <a:p>
            <a:endParaRPr lang="en-US" dirty="0"/>
          </a:p>
        </p:txBody>
      </p:sp>
      <p:sp>
        <p:nvSpPr>
          <p:cNvPr id="4" name="Date Placeholder 3">
            <a:extLst>
              <a:ext uri="{FF2B5EF4-FFF2-40B4-BE49-F238E27FC236}">
                <a16:creationId xmlns:a16="http://schemas.microsoft.com/office/drawing/2014/main" id="{1E96B7F9-5AE0-4D3B-BC5D-AF32616458F5}"/>
              </a:ext>
            </a:extLst>
          </p:cNvPr>
          <p:cNvSpPr>
            <a:spLocks noGrp="1"/>
          </p:cNvSpPr>
          <p:nvPr>
            <p:ph type="dt" sz="half" idx="10"/>
          </p:nvPr>
        </p:nvSpPr>
        <p:spPr/>
        <p:txBody>
          <a:bodyPr/>
          <a:lstStyle/>
          <a:p>
            <a:fld id="{B75654F4-D597-474B-AD55-3DD58C78185F}" type="datetime1">
              <a:rPr lang="en-US" smtClean="0"/>
              <a:t>3/8/2026</a:t>
            </a:fld>
            <a:endParaRPr lang="en-US"/>
          </a:p>
        </p:txBody>
      </p:sp>
      <p:sp>
        <p:nvSpPr>
          <p:cNvPr id="5" name="Slide Number Placeholder 4">
            <a:extLst>
              <a:ext uri="{FF2B5EF4-FFF2-40B4-BE49-F238E27FC236}">
                <a16:creationId xmlns:a16="http://schemas.microsoft.com/office/drawing/2014/main" id="{BCB48BB5-8791-43CD-AC64-9698CC1F5648}"/>
              </a:ext>
            </a:extLst>
          </p:cNvPr>
          <p:cNvSpPr>
            <a:spLocks noGrp="1"/>
          </p:cNvSpPr>
          <p:nvPr>
            <p:ph type="sldNum" sz="quarter" idx="12"/>
          </p:nvPr>
        </p:nvSpPr>
        <p:spPr/>
        <p:txBody>
          <a:bodyPr/>
          <a:lstStyle/>
          <a:p>
            <a:fld id="{C29293D3-8374-41FE-B1E4-A635E9555193}" type="slidenum">
              <a:rPr lang="en-US" smtClean="0"/>
              <a:t>21</a:t>
            </a:fld>
            <a:endParaRPr lang="en-US"/>
          </a:p>
        </p:txBody>
      </p:sp>
    </p:spTree>
    <p:extLst>
      <p:ext uri="{BB962C8B-B14F-4D97-AF65-F5344CB8AC3E}">
        <p14:creationId xmlns:p14="http://schemas.microsoft.com/office/powerpoint/2010/main" val="5863268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6284D-577B-4C15-BAFC-22D970056A9C}"/>
              </a:ext>
            </a:extLst>
          </p:cNvPr>
          <p:cNvSpPr>
            <a:spLocks noGrp="1"/>
          </p:cNvSpPr>
          <p:nvPr>
            <p:ph type="title"/>
          </p:nvPr>
        </p:nvSpPr>
        <p:spPr/>
        <p:txBody>
          <a:bodyPr/>
          <a:lstStyle/>
          <a:p>
            <a:r>
              <a:rPr lang="en-US" b="1" dirty="0"/>
              <a:t>What is a 6 degrees of freedom sensor?</a:t>
            </a:r>
            <a:endParaRPr lang="en-US" dirty="0"/>
          </a:p>
        </p:txBody>
      </p:sp>
      <p:sp>
        <p:nvSpPr>
          <p:cNvPr id="3" name="Content Placeholder 2">
            <a:extLst>
              <a:ext uri="{FF2B5EF4-FFF2-40B4-BE49-F238E27FC236}">
                <a16:creationId xmlns:a16="http://schemas.microsoft.com/office/drawing/2014/main" id="{126E71DF-2E9F-468E-94AE-EC6FA00D358C}"/>
              </a:ext>
            </a:extLst>
          </p:cNvPr>
          <p:cNvSpPr>
            <a:spLocks noGrp="1"/>
          </p:cNvSpPr>
          <p:nvPr>
            <p:ph idx="1"/>
          </p:nvPr>
        </p:nvSpPr>
        <p:spPr/>
        <p:txBody>
          <a:bodyPr/>
          <a:lstStyle/>
          <a:p>
            <a:r>
              <a:rPr lang="en-US" sz="3200" dirty="0"/>
              <a:t>A 6DoF sensor is an electronic device that measures all six degrees of freedom of an instrument as it navigates a space. </a:t>
            </a:r>
          </a:p>
          <a:p>
            <a:r>
              <a:rPr lang="en-US" sz="3200" dirty="0"/>
              <a:t>Highly specific 6DoF sensors measure these movements. </a:t>
            </a:r>
          </a:p>
          <a:p>
            <a:r>
              <a:rPr lang="en-US" sz="3200" dirty="0"/>
              <a:t>These devices have many uses for measuring movements with autonomous vehicles and medical devices, as well as applications in aerospace, industrial, and transportation sectors. </a:t>
            </a:r>
          </a:p>
          <a:p>
            <a:endParaRPr lang="en-US" dirty="0"/>
          </a:p>
        </p:txBody>
      </p:sp>
      <p:sp>
        <p:nvSpPr>
          <p:cNvPr id="4" name="Date Placeholder 3">
            <a:extLst>
              <a:ext uri="{FF2B5EF4-FFF2-40B4-BE49-F238E27FC236}">
                <a16:creationId xmlns:a16="http://schemas.microsoft.com/office/drawing/2014/main" id="{EBA5A96E-D39A-451D-B0DA-90997434F9E2}"/>
              </a:ext>
            </a:extLst>
          </p:cNvPr>
          <p:cNvSpPr>
            <a:spLocks noGrp="1"/>
          </p:cNvSpPr>
          <p:nvPr>
            <p:ph type="dt" sz="half" idx="10"/>
          </p:nvPr>
        </p:nvSpPr>
        <p:spPr/>
        <p:txBody>
          <a:bodyPr/>
          <a:lstStyle/>
          <a:p>
            <a:fld id="{BAA6C9BD-B7C0-4863-AB59-E152A61A3916}" type="datetime1">
              <a:rPr lang="en-US" smtClean="0"/>
              <a:t>3/8/2026</a:t>
            </a:fld>
            <a:endParaRPr lang="en-US"/>
          </a:p>
        </p:txBody>
      </p:sp>
      <p:sp>
        <p:nvSpPr>
          <p:cNvPr id="5" name="Slide Number Placeholder 4">
            <a:extLst>
              <a:ext uri="{FF2B5EF4-FFF2-40B4-BE49-F238E27FC236}">
                <a16:creationId xmlns:a16="http://schemas.microsoft.com/office/drawing/2014/main" id="{8EBEE481-A319-4A92-AE71-BAE6165EA03D}"/>
              </a:ext>
            </a:extLst>
          </p:cNvPr>
          <p:cNvSpPr>
            <a:spLocks noGrp="1"/>
          </p:cNvSpPr>
          <p:nvPr>
            <p:ph type="sldNum" sz="quarter" idx="12"/>
          </p:nvPr>
        </p:nvSpPr>
        <p:spPr/>
        <p:txBody>
          <a:bodyPr/>
          <a:lstStyle/>
          <a:p>
            <a:fld id="{C29293D3-8374-41FE-B1E4-A635E9555193}" type="slidenum">
              <a:rPr lang="en-US" smtClean="0"/>
              <a:t>22</a:t>
            </a:fld>
            <a:endParaRPr lang="en-US"/>
          </a:p>
        </p:txBody>
      </p:sp>
    </p:spTree>
    <p:extLst>
      <p:ext uri="{BB962C8B-B14F-4D97-AF65-F5344CB8AC3E}">
        <p14:creationId xmlns:p14="http://schemas.microsoft.com/office/powerpoint/2010/main" val="10558232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D67E275-8C1E-4D04-93DB-37E583805321}"/>
              </a:ext>
            </a:extLst>
          </p:cNvPr>
          <p:cNvPicPr>
            <a:picLocks noChangeAspect="1"/>
          </p:cNvPicPr>
          <p:nvPr/>
        </p:nvPicPr>
        <p:blipFill>
          <a:blip r:embed="rId2"/>
          <a:stretch>
            <a:fillRect/>
          </a:stretch>
        </p:blipFill>
        <p:spPr>
          <a:xfrm>
            <a:off x="274359" y="866370"/>
            <a:ext cx="11811150" cy="5872360"/>
          </a:xfrm>
          <a:prstGeom prst="rect">
            <a:avLst/>
          </a:prstGeom>
        </p:spPr>
      </p:pic>
      <p:sp>
        <p:nvSpPr>
          <p:cNvPr id="2" name="Rectangle 1">
            <a:extLst>
              <a:ext uri="{FF2B5EF4-FFF2-40B4-BE49-F238E27FC236}">
                <a16:creationId xmlns:a16="http://schemas.microsoft.com/office/drawing/2014/main" id="{8A3141BD-24BB-4017-93A4-B1DC6F8DC2CC}"/>
              </a:ext>
            </a:extLst>
          </p:cNvPr>
          <p:cNvSpPr/>
          <p:nvPr/>
        </p:nvSpPr>
        <p:spPr>
          <a:xfrm>
            <a:off x="838200" y="186266"/>
            <a:ext cx="10515600" cy="646331"/>
          </a:xfrm>
          <a:prstGeom prst="rect">
            <a:avLst/>
          </a:prstGeom>
        </p:spPr>
        <p:txBody>
          <a:bodyPr wrap="square">
            <a:spAutoFit/>
          </a:bodyPr>
          <a:lstStyle/>
          <a:p>
            <a:pPr lvl="0" eaLnBrk="0" fontAlgn="base" hangingPunct="0">
              <a:spcBef>
                <a:spcPct val="0"/>
              </a:spcBef>
              <a:spcAft>
                <a:spcPct val="0"/>
              </a:spcAft>
            </a:pPr>
            <a:r>
              <a:rPr lang="en-US" altLang="en-US" sz="3600" b="1" dirty="0">
                <a:solidFill>
                  <a:srgbClr val="0F1115"/>
                </a:solidFill>
                <a:latin typeface="quote-cjk-patch"/>
              </a:rPr>
              <a:t>Workspace – Volume  reachable by the end-effector</a:t>
            </a:r>
          </a:p>
        </p:txBody>
      </p:sp>
      <p:sp>
        <p:nvSpPr>
          <p:cNvPr id="3" name="Date Placeholder 2">
            <a:extLst>
              <a:ext uri="{FF2B5EF4-FFF2-40B4-BE49-F238E27FC236}">
                <a16:creationId xmlns:a16="http://schemas.microsoft.com/office/drawing/2014/main" id="{D99B05E5-6BF3-45D4-A159-84C6DEBAC570}"/>
              </a:ext>
            </a:extLst>
          </p:cNvPr>
          <p:cNvSpPr>
            <a:spLocks noGrp="1"/>
          </p:cNvSpPr>
          <p:nvPr>
            <p:ph type="dt" sz="half" idx="10"/>
          </p:nvPr>
        </p:nvSpPr>
        <p:spPr/>
        <p:txBody>
          <a:bodyPr/>
          <a:lstStyle/>
          <a:p>
            <a:fld id="{5E10E3A3-B3CD-4AAE-A622-800C84CA8AFB}" type="datetime1">
              <a:rPr lang="en-US" smtClean="0"/>
              <a:t>3/8/2026</a:t>
            </a:fld>
            <a:endParaRPr lang="en-US"/>
          </a:p>
        </p:txBody>
      </p:sp>
      <p:sp>
        <p:nvSpPr>
          <p:cNvPr id="4" name="Slide Number Placeholder 3">
            <a:extLst>
              <a:ext uri="{FF2B5EF4-FFF2-40B4-BE49-F238E27FC236}">
                <a16:creationId xmlns:a16="http://schemas.microsoft.com/office/drawing/2014/main" id="{E9028CE8-84F7-490D-BADA-EDFAFAF7BAED}"/>
              </a:ext>
            </a:extLst>
          </p:cNvPr>
          <p:cNvSpPr>
            <a:spLocks noGrp="1"/>
          </p:cNvSpPr>
          <p:nvPr>
            <p:ph type="sldNum" sz="quarter" idx="12"/>
          </p:nvPr>
        </p:nvSpPr>
        <p:spPr/>
        <p:txBody>
          <a:bodyPr/>
          <a:lstStyle/>
          <a:p>
            <a:fld id="{C29293D3-8374-41FE-B1E4-A635E9555193}" type="slidenum">
              <a:rPr lang="en-US" smtClean="0"/>
              <a:t>23</a:t>
            </a:fld>
            <a:endParaRPr lang="en-US"/>
          </a:p>
        </p:txBody>
      </p:sp>
    </p:spTree>
    <p:extLst>
      <p:ext uri="{BB962C8B-B14F-4D97-AF65-F5344CB8AC3E}">
        <p14:creationId xmlns:p14="http://schemas.microsoft.com/office/powerpoint/2010/main" val="7527098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CD6FE-EDBE-478D-A4E8-95D8C5F96392}"/>
              </a:ext>
            </a:extLst>
          </p:cNvPr>
          <p:cNvSpPr>
            <a:spLocks noGrp="1"/>
          </p:cNvSpPr>
          <p:nvPr>
            <p:ph type="title"/>
          </p:nvPr>
        </p:nvSpPr>
        <p:spPr/>
        <p:txBody>
          <a:bodyPr>
            <a:normAutofit/>
          </a:bodyPr>
          <a:lstStyle/>
          <a:p>
            <a:r>
              <a:rPr lang="en-US" altLang="en-US" b="1" dirty="0">
                <a:solidFill>
                  <a:srgbClr val="0F1115"/>
                </a:solidFill>
                <a:latin typeface="quote-cjk-patch"/>
              </a:rPr>
              <a:t>Introduction to Kinematics - Key Elements</a:t>
            </a:r>
            <a:endParaRPr lang="en-US" dirty="0"/>
          </a:p>
        </p:txBody>
      </p:sp>
      <p:sp>
        <p:nvSpPr>
          <p:cNvPr id="5" name="Rectangle 1">
            <a:extLst>
              <a:ext uri="{FF2B5EF4-FFF2-40B4-BE49-F238E27FC236}">
                <a16:creationId xmlns:a16="http://schemas.microsoft.com/office/drawing/2014/main" id="{56DA8C12-ECB0-47B3-A615-B8F3A85090C7}"/>
              </a:ext>
            </a:extLst>
          </p:cNvPr>
          <p:cNvSpPr>
            <a:spLocks noChangeArrowheads="1"/>
          </p:cNvSpPr>
          <p:nvPr/>
        </p:nvSpPr>
        <p:spPr bwMode="auto">
          <a:xfrm>
            <a:off x="3781973" y="2173145"/>
            <a:ext cx="65" cy="4154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559CD933-60C3-42FF-A3A4-417F78899E7D}"/>
              </a:ext>
            </a:extLst>
          </p:cNvPr>
          <p:cNvSpPr>
            <a:spLocks noChangeArrowheads="1"/>
          </p:cNvSpPr>
          <p:nvPr/>
        </p:nvSpPr>
        <p:spPr bwMode="auto">
          <a:xfrm>
            <a:off x="3708400" y="3154574"/>
            <a:ext cx="65" cy="48852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04742" rIns="0" bIns="10474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Content Placeholder 7">
            <a:extLst>
              <a:ext uri="{FF2B5EF4-FFF2-40B4-BE49-F238E27FC236}">
                <a16:creationId xmlns:a16="http://schemas.microsoft.com/office/drawing/2014/main" id="{521DFFBE-B43F-4E61-83D0-3278058D2EB0}"/>
              </a:ext>
            </a:extLst>
          </p:cNvPr>
          <p:cNvSpPr>
            <a:spLocks noGrp="1"/>
          </p:cNvSpPr>
          <p:nvPr>
            <p:ph idx="1"/>
          </p:nvPr>
        </p:nvSpPr>
        <p:spPr>
          <a:xfrm>
            <a:off x="748748" y="1540475"/>
            <a:ext cx="10515600" cy="4351338"/>
          </a:xfrm>
        </p:spPr>
        <p:txBody>
          <a:bodyPr>
            <a:normAutofit/>
          </a:bodyPr>
          <a:lstStyle/>
          <a:p>
            <a:pPr eaLnBrk="0" fontAlgn="base" hangingPunct="0">
              <a:lnSpc>
                <a:spcPct val="100000"/>
              </a:lnSpc>
              <a:spcBef>
                <a:spcPct val="0"/>
              </a:spcBef>
              <a:spcAft>
                <a:spcPct val="0"/>
              </a:spcAft>
            </a:pPr>
            <a:r>
              <a:rPr lang="en-US" altLang="en-US" b="1" dirty="0">
                <a:solidFill>
                  <a:srgbClr val="0F1115"/>
                </a:solidFill>
                <a:latin typeface="quote-cjk-patch"/>
              </a:rPr>
              <a:t>Links – </a:t>
            </a:r>
            <a:r>
              <a:rPr lang="en-US" altLang="en-US" dirty="0">
                <a:solidFill>
                  <a:srgbClr val="0F1115"/>
                </a:solidFill>
                <a:latin typeface="quote-cjk-patch"/>
              </a:rPr>
              <a:t>Rigid bodies connected by joints</a:t>
            </a:r>
          </a:p>
          <a:p>
            <a:pPr eaLnBrk="0" fontAlgn="base" hangingPunct="0">
              <a:lnSpc>
                <a:spcPct val="100000"/>
              </a:lnSpc>
              <a:spcBef>
                <a:spcPct val="0"/>
              </a:spcBef>
              <a:spcAft>
                <a:spcPct val="0"/>
              </a:spcAft>
            </a:pPr>
            <a:r>
              <a:rPr lang="en-US" altLang="en-US" b="1" dirty="0">
                <a:solidFill>
                  <a:srgbClr val="0F1115"/>
                </a:solidFill>
                <a:latin typeface="quote-cjk-patch"/>
              </a:rPr>
              <a:t>Joints – </a:t>
            </a:r>
            <a:r>
              <a:rPr lang="en-US" altLang="en-US" dirty="0">
                <a:solidFill>
                  <a:srgbClr val="0F1115"/>
                </a:solidFill>
                <a:latin typeface="quote-cjk-patch"/>
              </a:rPr>
              <a:t>Revolute (rotation) or Prismatic (translation)</a:t>
            </a:r>
          </a:p>
          <a:p>
            <a:pPr eaLnBrk="0" fontAlgn="base" hangingPunct="0">
              <a:lnSpc>
                <a:spcPct val="100000"/>
              </a:lnSpc>
              <a:spcBef>
                <a:spcPct val="0"/>
              </a:spcBef>
              <a:spcAft>
                <a:spcPct val="0"/>
              </a:spcAft>
            </a:pPr>
            <a:r>
              <a:rPr lang="en-US" altLang="en-US" b="1" dirty="0">
                <a:solidFill>
                  <a:srgbClr val="0F1115"/>
                </a:solidFill>
                <a:latin typeface="quote-cjk-patch"/>
              </a:rPr>
              <a:t>Degrees of Freedom (DOF) – </a:t>
            </a:r>
            <a:r>
              <a:rPr lang="en-US" altLang="en-US" dirty="0">
                <a:solidFill>
                  <a:srgbClr val="0F1115"/>
                </a:solidFill>
                <a:latin typeface="quote-cjk-patch"/>
              </a:rPr>
              <a:t>Number  of independent motions</a:t>
            </a:r>
          </a:p>
          <a:p>
            <a:pPr eaLnBrk="0" fontAlgn="base" hangingPunct="0">
              <a:lnSpc>
                <a:spcPct val="100000"/>
              </a:lnSpc>
              <a:spcBef>
                <a:spcPct val="0"/>
              </a:spcBef>
              <a:spcAft>
                <a:spcPct val="0"/>
              </a:spcAft>
            </a:pPr>
            <a:r>
              <a:rPr lang="en-US" altLang="en-US" b="1" dirty="0">
                <a:solidFill>
                  <a:srgbClr val="0F1115"/>
                </a:solidFill>
                <a:latin typeface="quote-cjk-patch"/>
              </a:rPr>
              <a:t>Workspace – </a:t>
            </a:r>
            <a:r>
              <a:rPr lang="en-US" altLang="en-US" dirty="0">
                <a:solidFill>
                  <a:srgbClr val="0F1115"/>
                </a:solidFill>
                <a:latin typeface="quote-cjk-patch"/>
              </a:rPr>
              <a:t>Volume  reachable by the end-effector</a:t>
            </a:r>
          </a:p>
          <a:p>
            <a:pPr eaLnBrk="0" fontAlgn="base" hangingPunct="0">
              <a:lnSpc>
                <a:spcPct val="100000"/>
              </a:lnSpc>
              <a:spcBef>
                <a:spcPct val="0"/>
              </a:spcBef>
              <a:spcAft>
                <a:spcPct val="0"/>
              </a:spcAft>
            </a:pPr>
            <a:r>
              <a:rPr lang="en-US" altLang="en-US" b="1" dirty="0">
                <a:solidFill>
                  <a:srgbClr val="0F1115"/>
                </a:solidFill>
                <a:latin typeface="quote-cjk-patch"/>
              </a:rPr>
              <a:t>Jacobian – </a:t>
            </a:r>
            <a:r>
              <a:rPr lang="en-US" altLang="en-US" dirty="0">
                <a:solidFill>
                  <a:srgbClr val="0F1115"/>
                </a:solidFill>
                <a:latin typeface="quote-cjk-patch"/>
              </a:rPr>
              <a:t>Relates joint velocities to end-effector velocities</a:t>
            </a:r>
          </a:p>
          <a:p>
            <a:pPr marL="0" lvl="0" indent="0" eaLnBrk="0" fontAlgn="base" hangingPunct="0">
              <a:lnSpc>
                <a:spcPct val="100000"/>
              </a:lnSpc>
              <a:spcBef>
                <a:spcPct val="0"/>
              </a:spcBef>
              <a:spcAft>
                <a:spcPct val="0"/>
              </a:spcAft>
              <a:buNone/>
            </a:pPr>
            <a:r>
              <a:rPr lang="en-US" altLang="en-US" b="1" dirty="0">
                <a:solidFill>
                  <a:srgbClr val="0F1115"/>
                </a:solidFill>
                <a:latin typeface="quote-cjk-patch"/>
              </a:rPr>
              <a:t>Simple analogy – </a:t>
            </a:r>
            <a:r>
              <a:rPr lang="en-US" altLang="en-US" dirty="0">
                <a:solidFill>
                  <a:srgbClr val="0F1115"/>
                </a:solidFill>
                <a:latin typeface="quote-cjk-patch"/>
              </a:rPr>
              <a:t>Kinematics answers </a:t>
            </a:r>
            <a:r>
              <a:rPr lang="en-US" altLang="en-US" i="1" dirty="0">
                <a:solidFill>
                  <a:srgbClr val="0F1115"/>
                </a:solidFill>
                <a:latin typeface="quote-cjk-patch"/>
              </a:rPr>
              <a:t>"How do the robot's parts move relative to each other?"</a:t>
            </a:r>
            <a:endParaRPr lang="en-US" dirty="0"/>
          </a:p>
        </p:txBody>
      </p:sp>
      <p:sp>
        <p:nvSpPr>
          <p:cNvPr id="3" name="Date Placeholder 2">
            <a:extLst>
              <a:ext uri="{FF2B5EF4-FFF2-40B4-BE49-F238E27FC236}">
                <a16:creationId xmlns:a16="http://schemas.microsoft.com/office/drawing/2014/main" id="{0AC3C27E-7BD6-4A2B-96AE-53EFC95EE2CA}"/>
              </a:ext>
            </a:extLst>
          </p:cNvPr>
          <p:cNvSpPr>
            <a:spLocks noGrp="1"/>
          </p:cNvSpPr>
          <p:nvPr>
            <p:ph type="dt" sz="half" idx="10"/>
          </p:nvPr>
        </p:nvSpPr>
        <p:spPr/>
        <p:txBody>
          <a:bodyPr/>
          <a:lstStyle/>
          <a:p>
            <a:fld id="{A1B7D0CA-58C7-4413-A262-0E394C8AF7D0}" type="datetime1">
              <a:rPr lang="en-US" smtClean="0"/>
              <a:t>3/8/2026</a:t>
            </a:fld>
            <a:endParaRPr lang="en-US"/>
          </a:p>
        </p:txBody>
      </p:sp>
      <p:sp>
        <p:nvSpPr>
          <p:cNvPr id="4" name="Slide Number Placeholder 3">
            <a:extLst>
              <a:ext uri="{FF2B5EF4-FFF2-40B4-BE49-F238E27FC236}">
                <a16:creationId xmlns:a16="http://schemas.microsoft.com/office/drawing/2014/main" id="{7F092FBE-0651-478B-9848-D69F12960FB8}"/>
              </a:ext>
            </a:extLst>
          </p:cNvPr>
          <p:cNvSpPr>
            <a:spLocks noGrp="1"/>
          </p:cNvSpPr>
          <p:nvPr>
            <p:ph type="sldNum" sz="quarter" idx="12"/>
          </p:nvPr>
        </p:nvSpPr>
        <p:spPr/>
        <p:txBody>
          <a:bodyPr/>
          <a:lstStyle/>
          <a:p>
            <a:fld id="{C29293D3-8374-41FE-B1E4-A635E9555193}" type="slidenum">
              <a:rPr lang="en-US" smtClean="0"/>
              <a:t>24</a:t>
            </a:fld>
            <a:endParaRPr lang="en-US"/>
          </a:p>
        </p:txBody>
      </p:sp>
    </p:spTree>
    <p:extLst>
      <p:ext uri="{BB962C8B-B14F-4D97-AF65-F5344CB8AC3E}">
        <p14:creationId xmlns:p14="http://schemas.microsoft.com/office/powerpoint/2010/main" val="7342141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AD6FC-31F3-483B-8B8C-60D5FBCEE438}"/>
              </a:ext>
            </a:extLst>
          </p:cNvPr>
          <p:cNvSpPr>
            <a:spLocks noGrp="1"/>
          </p:cNvSpPr>
          <p:nvPr>
            <p:ph type="title"/>
          </p:nvPr>
        </p:nvSpPr>
        <p:spPr/>
        <p:txBody>
          <a:bodyPr>
            <a:normAutofit/>
          </a:bodyPr>
          <a:lstStyle/>
          <a:p>
            <a:r>
              <a:rPr lang="en-US" b="1" dirty="0"/>
              <a:t>The Jacobian Matrix – Bridging Joint Motion and Hand Motion</a:t>
            </a:r>
            <a:endParaRPr lang="en-US" dirty="0"/>
          </a:p>
        </p:txBody>
      </p:sp>
      <p:graphicFrame>
        <p:nvGraphicFramePr>
          <p:cNvPr id="7" name="Content Placeholder 6">
            <a:extLst>
              <a:ext uri="{FF2B5EF4-FFF2-40B4-BE49-F238E27FC236}">
                <a16:creationId xmlns:a16="http://schemas.microsoft.com/office/drawing/2014/main" id="{61131F16-4785-4470-B3C1-CA1817A9CF00}"/>
              </a:ext>
            </a:extLst>
          </p:cNvPr>
          <p:cNvGraphicFramePr>
            <a:graphicFrameLocks noGrp="1"/>
          </p:cNvGraphicFramePr>
          <p:nvPr>
            <p:ph idx="1"/>
            <p:extLst>
              <p:ext uri="{D42A27DB-BD31-4B8C-83A1-F6EECF244321}">
                <p14:modId xmlns:p14="http://schemas.microsoft.com/office/powerpoint/2010/main" val="9644207"/>
              </p:ext>
            </p:extLst>
          </p:nvPr>
        </p:nvGraphicFramePr>
        <p:xfrm>
          <a:off x="838200" y="2379073"/>
          <a:ext cx="10515600" cy="148336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174219151"/>
                    </a:ext>
                  </a:extLst>
                </a:gridCol>
                <a:gridCol w="5257800">
                  <a:extLst>
                    <a:ext uri="{9D8B030D-6E8A-4147-A177-3AD203B41FA5}">
                      <a16:colId xmlns:a16="http://schemas.microsoft.com/office/drawing/2014/main" val="2273058205"/>
                    </a:ext>
                  </a:extLst>
                </a:gridCol>
              </a:tblGrid>
              <a:tr h="370840">
                <a:tc>
                  <a:txBody>
                    <a:bodyPr/>
                    <a:lstStyle/>
                    <a:p>
                      <a:r>
                        <a:rPr lang="en-US" sz="1800" dirty="0">
                          <a:effectLst/>
                          <a:latin typeface="Segoe UI" panose="020B0502040204020203" pitchFamily="34" charset="0"/>
                          <a:ea typeface="Times New Roman" panose="02020603050405020304" pitchFamily="18" charset="0"/>
                        </a:rPr>
                        <a:t>Your Actions (Inputs)</a:t>
                      </a:r>
                      <a:endParaRPr lang="en-US" dirty="0"/>
                    </a:p>
                  </a:txBody>
                  <a:tcPr/>
                </a:tc>
                <a:tc>
                  <a:txBody>
                    <a:bodyPr/>
                    <a:lstStyle/>
                    <a:p>
                      <a:r>
                        <a:rPr lang="en-US" sz="1800" dirty="0">
                          <a:effectLst/>
                          <a:latin typeface="Segoe UI" panose="020B0502040204020203" pitchFamily="34" charset="0"/>
                          <a:ea typeface="Times New Roman" panose="02020603050405020304" pitchFamily="18" charset="0"/>
                        </a:rPr>
                        <a:t>Car's Movement (Output)</a:t>
                      </a:r>
                      <a:endParaRPr lang="en-US" dirty="0"/>
                    </a:p>
                  </a:txBody>
                  <a:tcPr/>
                </a:tc>
                <a:extLst>
                  <a:ext uri="{0D108BD9-81ED-4DB2-BD59-A6C34878D82A}">
                    <a16:rowId xmlns:a16="http://schemas.microsoft.com/office/drawing/2014/main" val="293889879"/>
                  </a:ext>
                </a:extLst>
              </a:tr>
              <a:tr h="370840">
                <a:tc>
                  <a:txBody>
                    <a:bodyPr/>
                    <a:lstStyle/>
                    <a:p>
                      <a:r>
                        <a:rPr lang="en-US" sz="1800" dirty="0">
                          <a:effectLst/>
                          <a:latin typeface="Segoe UI" panose="020B0502040204020203" pitchFamily="34" charset="0"/>
                          <a:ea typeface="Times New Roman" panose="02020603050405020304" pitchFamily="18" charset="0"/>
                        </a:rPr>
                        <a:t>Turn steering wheel</a:t>
                      </a:r>
                      <a:endParaRPr lang="en-US" dirty="0"/>
                    </a:p>
                  </a:txBody>
                  <a:tcPr/>
                </a:tc>
                <a:tc>
                  <a:txBody>
                    <a:bodyPr/>
                    <a:lstStyle/>
                    <a:p>
                      <a:r>
                        <a:rPr lang="en-US" sz="1800" dirty="0">
                          <a:effectLst/>
                          <a:latin typeface="Segoe UI" panose="020B0502040204020203" pitchFamily="34" charset="0"/>
                          <a:ea typeface="Times New Roman" panose="02020603050405020304" pitchFamily="18" charset="0"/>
                        </a:rPr>
                        <a:t>Car turns left/right</a:t>
                      </a:r>
                      <a:endParaRPr lang="en-US" dirty="0"/>
                    </a:p>
                  </a:txBody>
                  <a:tcPr/>
                </a:tc>
                <a:extLst>
                  <a:ext uri="{0D108BD9-81ED-4DB2-BD59-A6C34878D82A}">
                    <a16:rowId xmlns:a16="http://schemas.microsoft.com/office/drawing/2014/main" val="3417177998"/>
                  </a:ext>
                </a:extLst>
              </a:tr>
              <a:tr h="370840">
                <a:tc>
                  <a:txBody>
                    <a:bodyPr/>
                    <a:lstStyle/>
                    <a:p>
                      <a:r>
                        <a:rPr lang="en-US" sz="1800" dirty="0">
                          <a:effectLst/>
                          <a:latin typeface="Segoe UI" panose="020B0502040204020203" pitchFamily="34" charset="0"/>
                          <a:ea typeface="Times New Roman" panose="02020603050405020304" pitchFamily="18" charset="0"/>
                        </a:rPr>
                        <a:t>Press gas pedal</a:t>
                      </a:r>
                      <a:endParaRPr lang="en-US" dirty="0"/>
                    </a:p>
                  </a:txBody>
                  <a:tcPr/>
                </a:tc>
                <a:tc>
                  <a:txBody>
                    <a:bodyPr/>
                    <a:lstStyle/>
                    <a:p>
                      <a:r>
                        <a:rPr lang="en-US" sz="1800" dirty="0">
                          <a:effectLst/>
                          <a:latin typeface="Segoe UI" panose="020B0502040204020203" pitchFamily="34" charset="0"/>
                          <a:ea typeface="Times New Roman" panose="02020603050405020304" pitchFamily="18" charset="0"/>
                        </a:rPr>
                        <a:t>Car speeds up</a:t>
                      </a:r>
                      <a:endParaRPr lang="en-US" dirty="0"/>
                    </a:p>
                  </a:txBody>
                  <a:tcPr/>
                </a:tc>
                <a:extLst>
                  <a:ext uri="{0D108BD9-81ED-4DB2-BD59-A6C34878D82A}">
                    <a16:rowId xmlns:a16="http://schemas.microsoft.com/office/drawing/2014/main" val="2173648244"/>
                  </a:ext>
                </a:extLst>
              </a:tr>
              <a:tr h="370840">
                <a:tc>
                  <a:txBody>
                    <a:bodyPr/>
                    <a:lstStyle/>
                    <a:p>
                      <a:r>
                        <a:rPr lang="en-US" sz="1800" dirty="0">
                          <a:effectLst/>
                          <a:latin typeface="Segoe UI" panose="020B0502040204020203" pitchFamily="34" charset="0"/>
                          <a:ea typeface="Times New Roman" panose="02020603050405020304" pitchFamily="18" charset="0"/>
                        </a:rPr>
                        <a:t>Press brake pedal</a:t>
                      </a:r>
                      <a:endParaRPr lang="en-US" dirty="0"/>
                    </a:p>
                  </a:txBody>
                  <a:tcPr/>
                </a:tc>
                <a:tc>
                  <a:txBody>
                    <a:bodyPr/>
                    <a:lstStyle/>
                    <a:p>
                      <a:r>
                        <a:rPr lang="en-US" sz="1800" dirty="0">
                          <a:effectLst/>
                          <a:latin typeface="Segoe UI" panose="020B0502040204020203" pitchFamily="34" charset="0"/>
                          <a:ea typeface="Times New Roman" panose="02020603050405020304" pitchFamily="18" charset="0"/>
                        </a:rPr>
                        <a:t>Car slows down</a:t>
                      </a:r>
                      <a:endParaRPr lang="en-US" dirty="0"/>
                    </a:p>
                  </a:txBody>
                  <a:tcPr/>
                </a:tc>
                <a:extLst>
                  <a:ext uri="{0D108BD9-81ED-4DB2-BD59-A6C34878D82A}">
                    <a16:rowId xmlns:a16="http://schemas.microsoft.com/office/drawing/2014/main" val="2586215343"/>
                  </a:ext>
                </a:extLst>
              </a:tr>
            </a:tbl>
          </a:graphicData>
        </a:graphic>
      </p:graphicFrame>
      <p:sp>
        <p:nvSpPr>
          <p:cNvPr id="8" name="Rectangle 7">
            <a:extLst>
              <a:ext uri="{FF2B5EF4-FFF2-40B4-BE49-F238E27FC236}">
                <a16:creationId xmlns:a16="http://schemas.microsoft.com/office/drawing/2014/main" id="{7A160BA7-8505-4A3A-B3D9-F1E23989966F}"/>
              </a:ext>
            </a:extLst>
          </p:cNvPr>
          <p:cNvSpPr/>
          <p:nvPr/>
        </p:nvSpPr>
        <p:spPr>
          <a:xfrm>
            <a:off x="838200" y="1690688"/>
            <a:ext cx="6282361" cy="373692"/>
          </a:xfrm>
          <a:prstGeom prst="rect">
            <a:avLst/>
          </a:prstGeom>
        </p:spPr>
        <p:txBody>
          <a:bodyPr wrap="none">
            <a:spAutoFit/>
          </a:bodyPr>
          <a:lstStyle/>
          <a:p>
            <a:pPr>
              <a:lnSpc>
                <a:spcPct val="107000"/>
              </a:lnSpc>
              <a:spcBef>
                <a:spcPts val="1200"/>
              </a:spcBef>
              <a:spcAft>
                <a:spcPts val="1200"/>
              </a:spcAft>
            </a:pPr>
            <a:r>
              <a:rPr lang="en-US" b="1" dirty="0">
                <a:solidFill>
                  <a:srgbClr val="0F1115"/>
                </a:solidFill>
                <a:latin typeface="Segoe UI" panose="020B0502040204020203" pitchFamily="34" charset="0"/>
                <a:ea typeface="Times New Roman" panose="02020603050405020304" pitchFamily="18" charset="0"/>
                <a:cs typeface="Times New Roman" panose="02020603050405020304" pitchFamily="18" charset="0"/>
              </a:rPr>
              <a:t>The Analogy - Steering a Car, think about driving a car...</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angle 8">
            <a:extLst>
              <a:ext uri="{FF2B5EF4-FFF2-40B4-BE49-F238E27FC236}">
                <a16:creationId xmlns:a16="http://schemas.microsoft.com/office/drawing/2014/main" id="{72D2BC7B-5DCE-4E56-8E6B-0FB06187A1CE}"/>
              </a:ext>
            </a:extLst>
          </p:cNvPr>
          <p:cNvSpPr/>
          <p:nvPr/>
        </p:nvSpPr>
        <p:spPr>
          <a:xfrm>
            <a:off x="838200" y="4177127"/>
            <a:ext cx="8763000" cy="1570558"/>
          </a:xfrm>
          <a:prstGeom prst="rect">
            <a:avLst/>
          </a:prstGeom>
        </p:spPr>
        <p:txBody>
          <a:bodyPr wrap="square">
            <a:spAutoFit/>
          </a:bodyPr>
          <a:lstStyle/>
          <a:p>
            <a:pPr>
              <a:lnSpc>
                <a:spcPct val="107000"/>
              </a:lnSpc>
              <a:spcBef>
                <a:spcPts val="1200"/>
              </a:spcBef>
              <a:spcAft>
                <a:spcPts val="1200"/>
              </a:spcAft>
            </a:pPr>
            <a:r>
              <a:rPr lang="en-US" b="1" dirty="0">
                <a:solidFill>
                  <a:srgbClr val="0F1115"/>
                </a:solidFill>
                <a:latin typeface="Segoe UI" panose="020B0502040204020203" pitchFamily="34" charset="0"/>
                <a:ea typeface="Times New Roman" panose="02020603050405020304" pitchFamily="18" charset="0"/>
                <a:cs typeface="Times New Roman" panose="02020603050405020304" pitchFamily="18" charset="0"/>
              </a:rPr>
              <a:t>Key Insight:</a:t>
            </a:r>
            <a:r>
              <a:rPr lang="en-US" dirty="0">
                <a:solidFill>
                  <a:srgbClr val="0F1115"/>
                </a:solidFill>
                <a:latin typeface="Segoe UI" panose="020B0502040204020203" pitchFamily="34" charset="0"/>
                <a:ea typeface="Times New Roman" panose="02020603050405020304" pitchFamily="18" charset="0"/>
                <a:cs typeface="Times New Roman" panose="02020603050405020304" pitchFamily="18" charset="0"/>
              </a:rPr>
              <a:t> The same steering wheel turn gives different results at different speeds!</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SzPts val="1000"/>
              <a:buFont typeface="Symbol" panose="05050102010706020507" pitchFamily="18" charset="2"/>
              <a:buChar char=""/>
              <a:tabLst>
                <a:tab pos="457200" algn="l"/>
              </a:tabLst>
            </a:pPr>
            <a:r>
              <a:rPr lang="en-US" dirty="0">
                <a:solidFill>
                  <a:srgbClr val="0F1115"/>
                </a:solidFill>
                <a:latin typeface="Segoe UI" panose="020B0502040204020203" pitchFamily="34" charset="0"/>
                <a:ea typeface="Times New Roman" panose="02020603050405020304" pitchFamily="18" charset="0"/>
                <a:cs typeface="Times New Roman" panose="02020603050405020304" pitchFamily="18" charset="0"/>
              </a:rPr>
              <a:t>At </a:t>
            </a:r>
            <a:r>
              <a:rPr lang="en-US" b="1" dirty="0">
                <a:solidFill>
                  <a:srgbClr val="0F1115"/>
                </a:solidFill>
                <a:latin typeface="Segoe UI" panose="020B0502040204020203" pitchFamily="34" charset="0"/>
                <a:ea typeface="Times New Roman" panose="02020603050405020304" pitchFamily="18" charset="0"/>
                <a:cs typeface="Times New Roman" panose="02020603050405020304" pitchFamily="18" charset="0"/>
              </a:rPr>
              <a:t>low speed</a:t>
            </a:r>
            <a:r>
              <a:rPr lang="en-US" dirty="0">
                <a:solidFill>
                  <a:srgbClr val="0F1115"/>
                </a:solidFill>
                <a:latin typeface="Segoe UI" panose="020B0502040204020203" pitchFamily="34" charset="0"/>
                <a:ea typeface="Times New Roman" panose="02020603050405020304" pitchFamily="18" charset="0"/>
                <a:cs typeface="Times New Roman" panose="02020603050405020304" pitchFamily="18" charset="0"/>
              </a:rPr>
              <a:t>: Gentle turn</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SzPts val="1000"/>
              <a:buFont typeface="Symbol" panose="05050102010706020507" pitchFamily="18" charset="2"/>
              <a:buChar char=""/>
              <a:tabLst>
                <a:tab pos="457200" algn="l"/>
              </a:tabLst>
            </a:pPr>
            <a:r>
              <a:rPr lang="en-US" dirty="0">
                <a:solidFill>
                  <a:srgbClr val="0F1115"/>
                </a:solidFill>
                <a:latin typeface="Segoe UI" panose="020B0502040204020203" pitchFamily="34" charset="0"/>
                <a:ea typeface="Times New Roman" panose="02020603050405020304" pitchFamily="18" charset="0"/>
                <a:cs typeface="Times New Roman" panose="02020603050405020304" pitchFamily="18" charset="0"/>
              </a:rPr>
              <a:t>At </a:t>
            </a:r>
            <a:r>
              <a:rPr lang="en-US" b="1" dirty="0">
                <a:solidFill>
                  <a:srgbClr val="0F1115"/>
                </a:solidFill>
                <a:latin typeface="Segoe UI" panose="020B0502040204020203" pitchFamily="34" charset="0"/>
                <a:ea typeface="Times New Roman" panose="02020603050405020304" pitchFamily="18" charset="0"/>
                <a:cs typeface="Times New Roman" panose="02020603050405020304" pitchFamily="18" charset="0"/>
              </a:rPr>
              <a:t>high speed</a:t>
            </a:r>
            <a:r>
              <a:rPr lang="en-US" dirty="0">
                <a:solidFill>
                  <a:srgbClr val="0F1115"/>
                </a:solidFill>
                <a:latin typeface="Segoe UI" panose="020B0502040204020203" pitchFamily="34" charset="0"/>
                <a:ea typeface="Times New Roman" panose="02020603050405020304" pitchFamily="18" charset="0"/>
                <a:cs typeface="Times New Roman" panose="02020603050405020304" pitchFamily="18" charset="0"/>
              </a:rPr>
              <a:t>: Sharp turn</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1200"/>
              </a:spcBef>
              <a:spcAft>
                <a:spcPts val="1200"/>
              </a:spcAft>
            </a:pPr>
            <a:r>
              <a:rPr lang="en-US" b="1" dirty="0">
                <a:solidFill>
                  <a:srgbClr val="0F1115"/>
                </a:solidFill>
                <a:latin typeface="Segoe UI" panose="020B0502040204020203" pitchFamily="34" charset="0"/>
                <a:ea typeface="Times New Roman" panose="02020603050405020304" pitchFamily="18" charset="0"/>
                <a:cs typeface="Times New Roman" panose="02020603050405020304" pitchFamily="18" charset="0"/>
              </a:rPr>
              <a:t>The "link" between input and output depends on current state.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Date Placeholder 2">
            <a:extLst>
              <a:ext uri="{FF2B5EF4-FFF2-40B4-BE49-F238E27FC236}">
                <a16:creationId xmlns:a16="http://schemas.microsoft.com/office/drawing/2014/main" id="{B7129BD2-1A3E-48C5-8C4A-80D0CB20CA7D}"/>
              </a:ext>
            </a:extLst>
          </p:cNvPr>
          <p:cNvSpPr>
            <a:spLocks noGrp="1"/>
          </p:cNvSpPr>
          <p:nvPr>
            <p:ph type="dt" sz="half" idx="10"/>
          </p:nvPr>
        </p:nvSpPr>
        <p:spPr/>
        <p:txBody>
          <a:bodyPr/>
          <a:lstStyle/>
          <a:p>
            <a:fld id="{0F0ACE18-C26F-45CA-9FFC-CB110070E1D4}" type="datetime1">
              <a:rPr lang="en-US" smtClean="0"/>
              <a:t>3/8/2026</a:t>
            </a:fld>
            <a:endParaRPr lang="en-US"/>
          </a:p>
        </p:txBody>
      </p:sp>
      <p:sp>
        <p:nvSpPr>
          <p:cNvPr id="4" name="Slide Number Placeholder 3">
            <a:extLst>
              <a:ext uri="{FF2B5EF4-FFF2-40B4-BE49-F238E27FC236}">
                <a16:creationId xmlns:a16="http://schemas.microsoft.com/office/drawing/2014/main" id="{F9605913-9AB0-47BC-B2DF-5664058AD526}"/>
              </a:ext>
            </a:extLst>
          </p:cNvPr>
          <p:cNvSpPr>
            <a:spLocks noGrp="1"/>
          </p:cNvSpPr>
          <p:nvPr>
            <p:ph type="sldNum" sz="quarter" idx="12"/>
          </p:nvPr>
        </p:nvSpPr>
        <p:spPr/>
        <p:txBody>
          <a:bodyPr/>
          <a:lstStyle/>
          <a:p>
            <a:fld id="{C29293D3-8374-41FE-B1E4-A635E9555193}" type="slidenum">
              <a:rPr lang="en-US" smtClean="0"/>
              <a:t>25</a:t>
            </a:fld>
            <a:endParaRPr lang="en-US"/>
          </a:p>
        </p:txBody>
      </p:sp>
    </p:spTree>
    <p:extLst>
      <p:ext uri="{BB962C8B-B14F-4D97-AF65-F5344CB8AC3E}">
        <p14:creationId xmlns:p14="http://schemas.microsoft.com/office/powerpoint/2010/main" val="38810528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4DEFF-4AF6-4B21-8FF6-4ADDBE0702CA}"/>
              </a:ext>
            </a:extLst>
          </p:cNvPr>
          <p:cNvSpPr>
            <a:spLocks noGrp="1"/>
          </p:cNvSpPr>
          <p:nvPr>
            <p:ph type="title"/>
          </p:nvPr>
        </p:nvSpPr>
        <p:spPr>
          <a:xfrm>
            <a:off x="838200" y="250825"/>
            <a:ext cx="10515600" cy="1325563"/>
          </a:xfrm>
        </p:spPr>
        <p:txBody>
          <a:bodyPr/>
          <a:lstStyle/>
          <a:p>
            <a:r>
              <a:rPr lang="en-US" b="1" dirty="0"/>
              <a:t>The Analogy - What's the Lesson?</a:t>
            </a:r>
            <a:endParaRPr lang="en-US" dirty="0"/>
          </a:p>
        </p:txBody>
      </p:sp>
      <p:sp>
        <p:nvSpPr>
          <p:cNvPr id="3" name="Content Placeholder 2">
            <a:extLst>
              <a:ext uri="{FF2B5EF4-FFF2-40B4-BE49-F238E27FC236}">
                <a16:creationId xmlns:a16="http://schemas.microsoft.com/office/drawing/2014/main" id="{C0045858-4B35-4608-A5EC-9E438D2317FF}"/>
              </a:ext>
            </a:extLst>
          </p:cNvPr>
          <p:cNvSpPr>
            <a:spLocks noGrp="1"/>
          </p:cNvSpPr>
          <p:nvPr>
            <p:ph idx="1"/>
          </p:nvPr>
        </p:nvSpPr>
        <p:spPr>
          <a:xfrm>
            <a:off x="704850" y="1495425"/>
            <a:ext cx="10648950" cy="4997450"/>
          </a:xfrm>
        </p:spPr>
        <p:txBody>
          <a:bodyPr>
            <a:normAutofit/>
          </a:bodyPr>
          <a:lstStyle/>
          <a:p>
            <a:pPr marL="0" lvl="0" indent="0" eaLnBrk="0" fontAlgn="base" hangingPunct="0">
              <a:lnSpc>
                <a:spcPct val="100000"/>
              </a:lnSpc>
              <a:spcBef>
                <a:spcPct val="0"/>
              </a:spcBef>
              <a:spcAft>
                <a:spcPct val="0"/>
              </a:spcAft>
              <a:buNone/>
              <a:tabLst>
                <a:tab pos="457200" algn="l"/>
              </a:tabLst>
            </a:pPr>
            <a:r>
              <a:rPr lang="en-US" altLang="en-US" b="1" dirty="0">
                <a:solidFill>
                  <a:srgbClr val="0F1115"/>
                </a:solidFill>
                <a:latin typeface="Segoe UI" panose="020B0502040204020203" pitchFamily="34" charset="0"/>
                <a:ea typeface="Times New Roman" panose="02020603050405020304" pitchFamily="18" charset="0"/>
                <a:cs typeface="Segoe UI" panose="020B0502040204020203" pitchFamily="34" charset="0"/>
              </a:rPr>
              <a:t> </a:t>
            </a:r>
            <a:r>
              <a:rPr lang="en-US" b="1" dirty="0"/>
              <a:t>The relationship is not fixed, it changes with the situation.</a:t>
            </a:r>
          </a:p>
          <a:p>
            <a:pPr marL="0" lvl="0" indent="0" eaLnBrk="0" fontAlgn="base" hangingPunct="0">
              <a:lnSpc>
                <a:spcPct val="100000"/>
              </a:lnSpc>
              <a:spcBef>
                <a:spcPct val="0"/>
              </a:spcBef>
              <a:spcAft>
                <a:spcPct val="0"/>
              </a:spcAft>
              <a:buNone/>
              <a:tabLst>
                <a:tab pos="457200" algn="l"/>
              </a:tabLst>
            </a:pPr>
            <a:r>
              <a:rPr lang="en-US" altLang="en-US" sz="2400" dirty="0">
                <a:latin typeface="Arial" panose="020B0604020202020204" pitchFamily="34" charset="0"/>
              </a:rPr>
              <a:t>Input (Your Actions)    →    [Current State]    →    Output (Car Motion)</a:t>
            </a:r>
          </a:p>
          <a:p>
            <a:pPr marL="0" lvl="0" indent="0" eaLnBrk="0" fontAlgn="base" hangingPunct="0">
              <a:lnSpc>
                <a:spcPct val="100000"/>
              </a:lnSpc>
              <a:spcBef>
                <a:spcPct val="0"/>
              </a:spcBef>
              <a:spcAft>
                <a:spcPct val="0"/>
              </a:spcAft>
              <a:buNone/>
              <a:tabLst>
                <a:tab pos="457200" algn="l"/>
              </a:tabLst>
            </a:pPr>
            <a:r>
              <a:rPr lang="en-US" altLang="en-US" sz="2400" dirty="0">
                <a:latin typeface="Arial" panose="020B0604020202020204" pitchFamily="34" charset="0"/>
              </a:rPr>
              <a:t>  (Steering wheel)             	(Car speed)           	   (Turning radius)</a:t>
            </a:r>
          </a:p>
          <a:p>
            <a:r>
              <a:rPr lang="en-US" b="1" dirty="0"/>
              <a:t>The Jacobian is exactly this kind of "link" for a robot arm!</a:t>
            </a:r>
            <a:endParaRPr lang="en-US" dirty="0"/>
          </a:p>
        </p:txBody>
      </p:sp>
      <p:graphicFrame>
        <p:nvGraphicFramePr>
          <p:cNvPr id="6" name="Table 5">
            <a:extLst>
              <a:ext uri="{FF2B5EF4-FFF2-40B4-BE49-F238E27FC236}">
                <a16:creationId xmlns:a16="http://schemas.microsoft.com/office/drawing/2014/main" id="{1AEE2B1F-4257-4635-8A93-B0525249FB1A}"/>
              </a:ext>
            </a:extLst>
          </p:cNvPr>
          <p:cNvGraphicFramePr>
            <a:graphicFrameLocks noGrp="1"/>
          </p:cNvGraphicFramePr>
          <p:nvPr>
            <p:extLst>
              <p:ext uri="{D42A27DB-BD31-4B8C-83A1-F6EECF244321}">
                <p14:modId xmlns:p14="http://schemas.microsoft.com/office/powerpoint/2010/main" val="1590172439"/>
              </p:ext>
            </p:extLst>
          </p:nvPr>
        </p:nvGraphicFramePr>
        <p:xfrm>
          <a:off x="1120775" y="3405116"/>
          <a:ext cx="8652934" cy="2118831"/>
        </p:xfrm>
        <a:graphic>
          <a:graphicData uri="http://schemas.openxmlformats.org/drawingml/2006/table">
            <a:tbl>
              <a:tblPr>
                <a:tableStyleId>{5940675A-B579-460E-94D1-54222C63F5DA}</a:tableStyleId>
              </a:tblPr>
              <a:tblGrid>
                <a:gridCol w="4326467">
                  <a:extLst>
                    <a:ext uri="{9D8B030D-6E8A-4147-A177-3AD203B41FA5}">
                      <a16:colId xmlns:a16="http://schemas.microsoft.com/office/drawing/2014/main" val="1359250665"/>
                    </a:ext>
                  </a:extLst>
                </a:gridCol>
                <a:gridCol w="4326467">
                  <a:extLst>
                    <a:ext uri="{9D8B030D-6E8A-4147-A177-3AD203B41FA5}">
                      <a16:colId xmlns:a16="http://schemas.microsoft.com/office/drawing/2014/main" val="228496017"/>
                    </a:ext>
                  </a:extLst>
                </a:gridCol>
              </a:tblGrid>
              <a:tr h="671012">
                <a:tc>
                  <a:txBody>
                    <a:bodyPr/>
                    <a:lstStyle/>
                    <a:p>
                      <a:pPr algn="l"/>
                      <a:r>
                        <a:rPr lang="en-US" dirty="0">
                          <a:effectLst/>
                        </a:rPr>
                        <a:t>Robot Actions (Inputs)</a:t>
                      </a:r>
                      <a:endParaRPr lang="en-US" b="0" dirty="0">
                        <a:effectLst/>
                        <a:latin typeface="quote-cjk-patch"/>
                      </a:endParaRPr>
                    </a:p>
                  </a:txBody>
                  <a:tcPr marR="101600" marT="63500" marB="63500" anchor="ctr">
                    <a:solidFill>
                      <a:schemeClr val="accent1">
                        <a:lumMod val="60000"/>
                        <a:lumOff val="40000"/>
                      </a:schemeClr>
                    </a:solidFill>
                  </a:tcPr>
                </a:tc>
                <a:tc>
                  <a:txBody>
                    <a:bodyPr/>
                    <a:lstStyle/>
                    <a:p>
                      <a:pPr algn="l"/>
                      <a:r>
                        <a:rPr lang="en-US" dirty="0">
                          <a:effectLst/>
                        </a:rPr>
                        <a:t>Robot Hand Movement (Output)</a:t>
                      </a:r>
                      <a:endParaRPr lang="en-US" b="0" dirty="0">
                        <a:effectLst/>
                        <a:latin typeface="quote-cjk-patch"/>
                      </a:endParaRPr>
                    </a:p>
                  </a:txBody>
                  <a:tcPr marL="101600" marR="101600" marT="63500" marB="63500" anchor="ctr">
                    <a:solidFill>
                      <a:schemeClr val="accent1">
                        <a:lumMod val="60000"/>
                        <a:lumOff val="40000"/>
                      </a:schemeClr>
                    </a:solidFill>
                  </a:tcPr>
                </a:tc>
                <a:extLst>
                  <a:ext uri="{0D108BD9-81ED-4DB2-BD59-A6C34878D82A}">
                    <a16:rowId xmlns:a16="http://schemas.microsoft.com/office/drawing/2014/main" val="2125790538"/>
                  </a:ext>
                </a:extLst>
              </a:tr>
              <a:tr h="645179">
                <a:tc>
                  <a:txBody>
                    <a:bodyPr/>
                    <a:lstStyle/>
                    <a:p>
                      <a:r>
                        <a:rPr lang="en-US">
                          <a:effectLst/>
                        </a:rPr>
                        <a:t>Shoulder motor speed</a:t>
                      </a:r>
                      <a:endParaRPr lang="en-US" b="0">
                        <a:effectLst/>
                        <a:latin typeface="quote-cjk-patch"/>
                      </a:endParaRPr>
                    </a:p>
                  </a:txBody>
                  <a:tcPr marR="101600" marT="63500" marB="63500" anchor="ctr"/>
                </a:tc>
                <a:tc>
                  <a:txBody>
                    <a:bodyPr/>
                    <a:lstStyle/>
                    <a:p>
                      <a:r>
                        <a:rPr lang="en-US" dirty="0">
                          <a:effectLst/>
                        </a:rPr>
                        <a:t>Hand moves forward/back</a:t>
                      </a:r>
                      <a:endParaRPr lang="en-US" b="0" dirty="0">
                        <a:effectLst/>
                        <a:latin typeface="quote-cjk-patch"/>
                      </a:endParaRPr>
                    </a:p>
                  </a:txBody>
                  <a:tcPr marL="101600" marT="63500" marB="63500" anchor="ctr"/>
                </a:tc>
                <a:extLst>
                  <a:ext uri="{0D108BD9-81ED-4DB2-BD59-A6C34878D82A}">
                    <a16:rowId xmlns:a16="http://schemas.microsoft.com/office/drawing/2014/main" val="2108006086"/>
                  </a:ext>
                </a:extLst>
              </a:tr>
              <a:tr h="398571">
                <a:tc>
                  <a:txBody>
                    <a:bodyPr/>
                    <a:lstStyle/>
                    <a:p>
                      <a:r>
                        <a:rPr lang="en-US">
                          <a:effectLst/>
                        </a:rPr>
                        <a:t>Elbow motor speed</a:t>
                      </a:r>
                      <a:endParaRPr lang="en-US" b="0">
                        <a:effectLst/>
                        <a:latin typeface="quote-cjk-patch"/>
                      </a:endParaRPr>
                    </a:p>
                  </a:txBody>
                  <a:tcPr marR="101600" marT="63500" marB="63500" anchor="ctr"/>
                </a:tc>
                <a:tc>
                  <a:txBody>
                    <a:bodyPr/>
                    <a:lstStyle/>
                    <a:p>
                      <a:r>
                        <a:rPr lang="en-US">
                          <a:effectLst/>
                        </a:rPr>
                        <a:t>Hand moves up/down</a:t>
                      </a:r>
                      <a:endParaRPr lang="en-US" b="0">
                        <a:effectLst/>
                        <a:latin typeface="quote-cjk-patch"/>
                      </a:endParaRPr>
                    </a:p>
                  </a:txBody>
                  <a:tcPr marL="101600" marT="63500" marB="63500" anchor="ctr"/>
                </a:tc>
                <a:extLst>
                  <a:ext uri="{0D108BD9-81ED-4DB2-BD59-A6C34878D82A}">
                    <a16:rowId xmlns:a16="http://schemas.microsoft.com/office/drawing/2014/main" val="4262466185"/>
                  </a:ext>
                </a:extLst>
              </a:tr>
              <a:tr h="398571">
                <a:tc>
                  <a:txBody>
                    <a:bodyPr/>
                    <a:lstStyle/>
                    <a:p>
                      <a:r>
                        <a:rPr lang="en-US">
                          <a:effectLst/>
                        </a:rPr>
                        <a:t>Wrist motor speed</a:t>
                      </a:r>
                      <a:endParaRPr lang="en-US" b="0">
                        <a:effectLst/>
                        <a:latin typeface="quote-cjk-patch"/>
                      </a:endParaRPr>
                    </a:p>
                  </a:txBody>
                  <a:tcPr marR="101600" marT="63500" marB="63500" anchor="ctr"/>
                </a:tc>
                <a:tc>
                  <a:txBody>
                    <a:bodyPr/>
                    <a:lstStyle/>
                    <a:p>
                      <a:r>
                        <a:rPr lang="en-US" dirty="0">
                          <a:effectLst/>
                        </a:rPr>
                        <a:t>Hand rotates</a:t>
                      </a:r>
                      <a:endParaRPr lang="en-US" b="0" dirty="0">
                        <a:effectLst/>
                        <a:latin typeface="quote-cjk-patch"/>
                      </a:endParaRPr>
                    </a:p>
                  </a:txBody>
                  <a:tcPr marL="101600" marT="63500" marB="63500" anchor="ctr"/>
                </a:tc>
                <a:extLst>
                  <a:ext uri="{0D108BD9-81ED-4DB2-BD59-A6C34878D82A}">
                    <a16:rowId xmlns:a16="http://schemas.microsoft.com/office/drawing/2014/main" val="258971939"/>
                  </a:ext>
                </a:extLst>
              </a:tr>
            </a:tbl>
          </a:graphicData>
        </a:graphic>
      </p:graphicFrame>
      <p:sp>
        <p:nvSpPr>
          <p:cNvPr id="7" name="Rectangle 6">
            <a:extLst>
              <a:ext uri="{FF2B5EF4-FFF2-40B4-BE49-F238E27FC236}">
                <a16:creationId xmlns:a16="http://schemas.microsoft.com/office/drawing/2014/main" id="{49C2EA8C-556B-4B20-8767-C5EEFA5B34A5}"/>
              </a:ext>
            </a:extLst>
          </p:cNvPr>
          <p:cNvSpPr/>
          <p:nvPr/>
        </p:nvSpPr>
        <p:spPr>
          <a:xfrm>
            <a:off x="838200" y="5850235"/>
            <a:ext cx="8504379" cy="523220"/>
          </a:xfrm>
          <a:prstGeom prst="rect">
            <a:avLst/>
          </a:prstGeom>
        </p:spPr>
        <p:txBody>
          <a:bodyPr wrap="none">
            <a:spAutoFit/>
          </a:bodyPr>
          <a:lstStyle/>
          <a:p>
            <a:pPr marL="285750" indent="-285750">
              <a:buFont typeface="Arial" panose="020B0604020202020204" pitchFamily="34" charset="0"/>
              <a:buChar char="•"/>
            </a:pPr>
            <a:r>
              <a:rPr lang="en-US" sz="2800" dirty="0">
                <a:solidFill>
                  <a:srgbClr val="0F1115"/>
                </a:solidFill>
                <a:latin typeface="quote-cjk-patch"/>
              </a:rPr>
              <a:t>The relationship depends on the robot's current pose!</a:t>
            </a:r>
            <a:endParaRPr lang="en-US" sz="2800" dirty="0"/>
          </a:p>
        </p:txBody>
      </p:sp>
      <p:sp>
        <p:nvSpPr>
          <p:cNvPr id="4" name="Date Placeholder 3">
            <a:extLst>
              <a:ext uri="{FF2B5EF4-FFF2-40B4-BE49-F238E27FC236}">
                <a16:creationId xmlns:a16="http://schemas.microsoft.com/office/drawing/2014/main" id="{1B096466-0AD5-4991-BA32-69844CE59C08}"/>
              </a:ext>
            </a:extLst>
          </p:cNvPr>
          <p:cNvSpPr>
            <a:spLocks noGrp="1"/>
          </p:cNvSpPr>
          <p:nvPr>
            <p:ph type="dt" sz="half" idx="10"/>
          </p:nvPr>
        </p:nvSpPr>
        <p:spPr/>
        <p:txBody>
          <a:bodyPr/>
          <a:lstStyle/>
          <a:p>
            <a:fld id="{49B46A1D-496B-4F38-BDBD-BD4DD578B187}" type="datetime1">
              <a:rPr lang="en-US" smtClean="0"/>
              <a:t>3/8/2026</a:t>
            </a:fld>
            <a:endParaRPr lang="en-US"/>
          </a:p>
        </p:txBody>
      </p:sp>
      <p:sp>
        <p:nvSpPr>
          <p:cNvPr id="5" name="Slide Number Placeholder 4">
            <a:extLst>
              <a:ext uri="{FF2B5EF4-FFF2-40B4-BE49-F238E27FC236}">
                <a16:creationId xmlns:a16="http://schemas.microsoft.com/office/drawing/2014/main" id="{3FE8A2E0-EC8E-4BED-A01A-763FF7435EAD}"/>
              </a:ext>
            </a:extLst>
          </p:cNvPr>
          <p:cNvSpPr>
            <a:spLocks noGrp="1"/>
          </p:cNvSpPr>
          <p:nvPr>
            <p:ph type="sldNum" sz="quarter" idx="12"/>
          </p:nvPr>
        </p:nvSpPr>
        <p:spPr/>
        <p:txBody>
          <a:bodyPr/>
          <a:lstStyle/>
          <a:p>
            <a:fld id="{C29293D3-8374-41FE-B1E4-A635E9555193}" type="slidenum">
              <a:rPr lang="en-US" smtClean="0"/>
              <a:t>26</a:t>
            </a:fld>
            <a:endParaRPr lang="en-US"/>
          </a:p>
        </p:txBody>
      </p:sp>
    </p:spTree>
    <p:extLst>
      <p:ext uri="{BB962C8B-B14F-4D97-AF65-F5344CB8AC3E}">
        <p14:creationId xmlns:p14="http://schemas.microsoft.com/office/powerpoint/2010/main" val="34933258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3E948-D9B4-4AB9-A3A3-ED433E1D6CD0}"/>
              </a:ext>
            </a:extLst>
          </p:cNvPr>
          <p:cNvSpPr>
            <a:spLocks noGrp="1"/>
          </p:cNvSpPr>
          <p:nvPr>
            <p:ph type="title"/>
          </p:nvPr>
        </p:nvSpPr>
        <p:spPr/>
        <p:txBody>
          <a:bodyPr>
            <a:normAutofit/>
          </a:bodyPr>
          <a:lstStyle/>
          <a:p>
            <a:r>
              <a:rPr lang="en-US" sz="3600" b="1" dirty="0"/>
              <a:t>Why Do We Need the Jacobian?</a:t>
            </a:r>
          </a:p>
        </p:txBody>
      </p:sp>
      <p:sp>
        <p:nvSpPr>
          <p:cNvPr id="3" name="Content Placeholder 2">
            <a:extLst>
              <a:ext uri="{FF2B5EF4-FFF2-40B4-BE49-F238E27FC236}">
                <a16:creationId xmlns:a16="http://schemas.microsoft.com/office/drawing/2014/main" id="{E9718A78-527F-457D-A0A3-BA46F2783C5E}"/>
              </a:ext>
            </a:extLst>
          </p:cNvPr>
          <p:cNvSpPr>
            <a:spLocks noGrp="1"/>
          </p:cNvSpPr>
          <p:nvPr>
            <p:ph idx="1"/>
          </p:nvPr>
        </p:nvSpPr>
        <p:spPr/>
        <p:txBody>
          <a:bodyPr>
            <a:normAutofit lnSpcReduction="10000"/>
          </a:bodyPr>
          <a:lstStyle/>
          <a:p>
            <a:r>
              <a:rPr lang="en-US" b="1" dirty="0"/>
              <a:t>Use Case:</a:t>
            </a:r>
            <a:r>
              <a:rPr lang="en-US" dirty="0"/>
              <a:t> In tasks like robotic painting, welding, or assembly, we don't just care where the robot ends up. We care about the velocity and path of the tool (end effector).</a:t>
            </a:r>
          </a:p>
          <a:p>
            <a:pPr lvl="1">
              <a:buFont typeface="Wingdings" panose="05000000000000000000" pitchFamily="2" charset="2"/>
              <a:buChar char="ü"/>
            </a:pPr>
            <a:r>
              <a:rPr lang="en-US" dirty="0"/>
              <a:t>We want the paint sprayer to move at a constant speed for a smooth coat.</a:t>
            </a:r>
          </a:p>
          <a:p>
            <a:pPr lvl="1">
              <a:buFont typeface="Wingdings" panose="05000000000000000000" pitchFamily="2" charset="2"/>
              <a:buChar char="ü"/>
            </a:pPr>
            <a:r>
              <a:rPr lang="en-US" dirty="0"/>
              <a:t>We want the welder to follow a straight line at a precise rate.</a:t>
            </a:r>
          </a:p>
          <a:p>
            <a:r>
              <a:rPr lang="en-US" b="1" dirty="0"/>
              <a:t>The Problem:</a:t>
            </a:r>
          </a:p>
          <a:p>
            <a:pPr lvl="1">
              <a:buFont typeface="Wingdings" panose="05000000000000000000" pitchFamily="2" charset="2"/>
              <a:buChar char="ü"/>
            </a:pPr>
            <a:r>
              <a:rPr lang="en-US" dirty="0"/>
              <a:t>We control </a:t>
            </a:r>
            <a:r>
              <a:rPr lang="en-US" b="1" dirty="0"/>
              <a:t>joint motor speeds</a:t>
            </a:r>
            <a:r>
              <a:rPr lang="en-US" dirty="0"/>
              <a:t> (in rad/s). </a:t>
            </a:r>
          </a:p>
          <a:p>
            <a:pPr lvl="1">
              <a:buFont typeface="Wingdings" panose="05000000000000000000" pitchFamily="2" charset="2"/>
              <a:buChar char="ü"/>
            </a:pPr>
            <a:r>
              <a:rPr lang="en-US" dirty="0"/>
              <a:t>We need to know the resulting </a:t>
            </a:r>
            <a:r>
              <a:rPr lang="en-US" b="1" dirty="0"/>
              <a:t>end effector speed</a:t>
            </a:r>
            <a:r>
              <a:rPr lang="en-US" dirty="0"/>
              <a:t> (in m/s and rad/s).</a:t>
            </a:r>
          </a:p>
          <a:p>
            <a:r>
              <a:rPr lang="en-US" b="1" dirty="0"/>
              <a:t>The Solution:</a:t>
            </a:r>
            <a:br>
              <a:rPr lang="en-US" dirty="0"/>
            </a:br>
            <a:r>
              <a:rPr lang="en-US" dirty="0"/>
              <a:t>The </a:t>
            </a:r>
            <a:r>
              <a:rPr lang="en-US" b="1" dirty="0"/>
              <a:t>Jacobian matrix</a:t>
            </a:r>
            <a:r>
              <a:rPr lang="en-US" dirty="0"/>
              <a:t> is the mathematical tool that converts </a:t>
            </a:r>
            <a:r>
              <a:rPr lang="en-US" b="1" dirty="0"/>
              <a:t>joint velocities</a:t>
            </a:r>
            <a:r>
              <a:rPr lang="en-US" dirty="0"/>
              <a:t> into </a:t>
            </a:r>
            <a:r>
              <a:rPr lang="en-US" b="1" dirty="0"/>
              <a:t>end-effector velocities</a:t>
            </a:r>
            <a:r>
              <a:rPr lang="en-US" dirty="0"/>
              <a:t>.</a:t>
            </a:r>
          </a:p>
          <a:p>
            <a:endParaRPr lang="en-US" dirty="0"/>
          </a:p>
        </p:txBody>
      </p:sp>
      <p:sp>
        <p:nvSpPr>
          <p:cNvPr id="4" name="Date Placeholder 3">
            <a:extLst>
              <a:ext uri="{FF2B5EF4-FFF2-40B4-BE49-F238E27FC236}">
                <a16:creationId xmlns:a16="http://schemas.microsoft.com/office/drawing/2014/main" id="{6D143F09-52EA-4C98-9B1E-76131CAEC385}"/>
              </a:ext>
            </a:extLst>
          </p:cNvPr>
          <p:cNvSpPr>
            <a:spLocks noGrp="1"/>
          </p:cNvSpPr>
          <p:nvPr>
            <p:ph type="dt" sz="half" idx="10"/>
          </p:nvPr>
        </p:nvSpPr>
        <p:spPr/>
        <p:txBody>
          <a:bodyPr/>
          <a:lstStyle/>
          <a:p>
            <a:fld id="{77444D98-3FD0-40D4-8245-03EE2CDDDBD5}" type="datetime1">
              <a:rPr lang="en-US" smtClean="0"/>
              <a:t>3/8/2026</a:t>
            </a:fld>
            <a:endParaRPr lang="en-US"/>
          </a:p>
        </p:txBody>
      </p:sp>
      <p:sp>
        <p:nvSpPr>
          <p:cNvPr id="5" name="Slide Number Placeholder 4">
            <a:extLst>
              <a:ext uri="{FF2B5EF4-FFF2-40B4-BE49-F238E27FC236}">
                <a16:creationId xmlns:a16="http://schemas.microsoft.com/office/drawing/2014/main" id="{3274A99F-640A-4686-977C-21F313C628F3}"/>
              </a:ext>
            </a:extLst>
          </p:cNvPr>
          <p:cNvSpPr>
            <a:spLocks noGrp="1"/>
          </p:cNvSpPr>
          <p:nvPr>
            <p:ph type="sldNum" sz="quarter" idx="12"/>
          </p:nvPr>
        </p:nvSpPr>
        <p:spPr/>
        <p:txBody>
          <a:bodyPr/>
          <a:lstStyle/>
          <a:p>
            <a:fld id="{C29293D3-8374-41FE-B1E4-A635E9555193}" type="slidenum">
              <a:rPr lang="en-US" smtClean="0"/>
              <a:t>27</a:t>
            </a:fld>
            <a:endParaRPr lang="en-US"/>
          </a:p>
        </p:txBody>
      </p:sp>
    </p:spTree>
    <p:extLst>
      <p:ext uri="{BB962C8B-B14F-4D97-AF65-F5344CB8AC3E}">
        <p14:creationId xmlns:p14="http://schemas.microsoft.com/office/powerpoint/2010/main" val="826815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Applications</a:t>
            </a:r>
          </a:p>
        </p:txBody>
      </p:sp>
      <p:sp>
        <p:nvSpPr>
          <p:cNvPr id="3" name="Content Placeholder 2"/>
          <p:cNvSpPr>
            <a:spLocks noGrp="1"/>
          </p:cNvSpPr>
          <p:nvPr>
            <p:ph idx="1"/>
          </p:nvPr>
        </p:nvSpPr>
        <p:spPr/>
        <p:txBody>
          <a:bodyPr>
            <a:normAutofit/>
          </a:bodyPr>
          <a:lstStyle/>
          <a:p>
            <a:r>
              <a:rPr sz="3200" dirty="0"/>
              <a:t>Industrial robots</a:t>
            </a:r>
          </a:p>
          <a:p>
            <a:r>
              <a:rPr sz="3200" dirty="0"/>
              <a:t>Surgical robots</a:t>
            </a:r>
          </a:p>
          <a:p>
            <a:r>
              <a:rPr sz="3200" dirty="0"/>
              <a:t>Space robotics</a:t>
            </a:r>
          </a:p>
          <a:p>
            <a:r>
              <a:rPr sz="3200" dirty="0"/>
              <a:t>Autonomous manufacturing</a:t>
            </a:r>
          </a:p>
          <a:p>
            <a:r>
              <a:rPr sz="3200" dirty="0"/>
              <a:t>Humanoid robots</a:t>
            </a:r>
          </a:p>
        </p:txBody>
      </p:sp>
      <p:sp>
        <p:nvSpPr>
          <p:cNvPr id="4" name="Date Placeholder 3">
            <a:extLst>
              <a:ext uri="{FF2B5EF4-FFF2-40B4-BE49-F238E27FC236}">
                <a16:creationId xmlns:a16="http://schemas.microsoft.com/office/drawing/2014/main" id="{F8433624-0801-496C-898B-41D3E2AD65E1}"/>
              </a:ext>
            </a:extLst>
          </p:cNvPr>
          <p:cNvSpPr>
            <a:spLocks noGrp="1"/>
          </p:cNvSpPr>
          <p:nvPr>
            <p:ph type="dt" sz="half" idx="10"/>
          </p:nvPr>
        </p:nvSpPr>
        <p:spPr/>
        <p:txBody>
          <a:bodyPr/>
          <a:lstStyle/>
          <a:p>
            <a:fld id="{790E132C-07DD-4917-B469-BC95797BD55D}" type="datetime1">
              <a:rPr lang="en-US" smtClean="0"/>
              <a:t>3/8/2026</a:t>
            </a:fld>
            <a:endParaRPr lang="en-US"/>
          </a:p>
        </p:txBody>
      </p:sp>
      <p:sp>
        <p:nvSpPr>
          <p:cNvPr id="5" name="Slide Number Placeholder 4">
            <a:extLst>
              <a:ext uri="{FF2B5EF4-FFF2-40B4-BE49-F238E27FC236}">
                <a16:creationId xmlns:a16="http://schemas.microsoft.com/office/drawing/2014/main" id="{916A8AFB-ED0F-43D3-9CCF-72E69D33AAE1}"/>
              </a:ext>
            </a:extLst>
          </p:cNvPr>
          <p:cNvSpPr>
            <a:spLocks noGrp="1"/>
          </p:cNvSpPr>
          <p:nvPr>
            <p:ph type="sldNum" sz="quarter" idx="12"/>
          </p:nvPr>
        </p:nvSpPr>
        <p:spPr/>
        <p:txBody>
          <a:bodyPr/>
          <a:lstStyle/>
          <a:p>
            <a:fld id="{C29293D3-8374-41FE-B1E4-A635E9555193}" type="slidenum">
              <a:rPr lang="en-US" smtClean="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03B90-FFEB-4AB9-A554-7F20020ED73E}"/>
              </a:ext>
            </a:extLst>
          </p:cNvPr>
          <p:cNvSpPr>
            <a:spLocks noGrp="1"/>
          </p:cNvSpPr>
          <p:nvPr>
            <p:ph type="title"/>
          </p:nvPr>
        </p:nvSpPr>
        <p:spPr/>
        <p:txBody>
          <a:bodyPr/>
          <a:lstStyle/>
          <a:p>
            <a:r>
              <a:rPr lang="en-US" b="1" dirty="0"/>
              <a:t>The Jacobian Formula</a:t>
            </a:r>
            <a:endParaRPr lang="en-US" dirty="0"/>
          </a:p>
        </p:txBody>
      </p:sp>
      <p:sp>
        <p:nvSpPr>
          <p:cNvPr id="3" name="Content Placeholder 2">
            <a:extLst>
              <a:ext uri="{FF2B5EF4-FFF2-40B4-BE49-F238E27FC236}">
                <a16:creationId xmlns:a16="http://schemas.microsoft.com/office/drawing/2014/main" id="{2D36901D-D8C9-4C84-A74B-403B57FD2ECA}"/>
              </a:ext>
            </a:extLst>
          </p:cNvPr>
          <p:cNvSpPr>
            <a:spLocks noGrp="1"/>
          </p:cNvSpPr>
          <p:nvPr>
            <p:ph idx="1"/>
          </p:nvPr>
        </p:nvSpPr>
        <p:spPr/>
        <p:txBody>
          <a:bodyPr>
            <a:normAutofit fontScale="92500" lnSpcReduction="10000"/>
          </a:bodyPr>
          <a:lstStyle/>
          <a:p>
            <a:r>
              <a:rPr lang="en-US" b="1" dirty="0"/>
              <a:t>Two important quantities</a:t>
            </a:r>
            <a:endParaRPr lang="en-US" dirty="0"/>
          </a:p>
          <a:p>
            <a:pPr marL="0" indent="0">
              <a:buNone/>
            </a:pPr>
            <a:endParaRPr lang="en-US" dirty="0"/>
          </a:p>
          <a:p>
            <a:endParaRPr lang="en-US" dirty="0"/>
          </a:p>
          <a:p>
            <a:endParaRPr lang="en-US" dirty="0"/>
          </a:p>
          <a:p>
            <a:endParaRPr lang="en-US" dirty="0"/>
          </a:p>
          <a:p>
            <a:endParaRPr lang="en-US" dirty="0"/>
          </a:p>
          <a:p>
            <a:r>
              <a:rPr lang="en-US" b="1" dirty="0"/>
              <a:t>The Jacobian connects them</a:t>
            </a:r>
          </a:p>
          <a:p>
            <a:pPr marL="0" indent="0">
              <a:buNone/>
            </a:pPr>
            <a:r>
              <a:rPr lang="en-US" i="1" dirty="0"/>
              <a:t>		x</a:t>
            </a:r>
            <a:r>
              <a:rPr lang="en-US" dirty="0"/>
              <a:t>˙=</a:t>
            </a:r>
            <a:r>
              <a:rPr lang="en-US" i="1" dirty="0"/>
              <a:t>J</a:t>
            </a:r>
            <a:r>
              <a:rPr lang="en-US" dirty="0"/>
              <a:t>(</a:t>
            </a:r>
            <a:r>
              <a:rPr lang="en-US" i="1" dirty="0"/>
              <a:t>q</a:t>
            </a:r>
            <a:r>
              <a:rPr lang="en-US" dirty="0"/>
              <a:t>)⋅</a:t>
            </a:r>
            <a:r>
              <a:rPr lang="en-US" i="1" dirty="0"/>
              <a:t>q</a:t>
            </a:r>
            <a:r>
              <a:rPr lang="en-US" dirty="0"/>
              <a:t>˙​</a:t>
            </a:r>
          </a:p>
          <a:p>
            <a:r>
              <a:rPr lang="en-US" b="1" dirty="0"/>
              <a:t>Read as:</a:t>
            </a:r>
            <a:r>
              <a:rPr lang="en-US" dirty="0"/>
              <a:t> "End-effector velocity (ẋ) equals </a:t>
            </a:r>
            <a:r>
              <a:rPr lang="en-US" b="1" dirty="0"/>
              <a:t>J</a:t>
            </a:r>
            <a:r>
              <a:rPr lang="en-US" dirty="0"/>
              <a:t> times joint velocity (</a:t>
            </a:r>
            <a:r>
              <a:rPr lang="en-US" i="1" dirty="0"/>
              <a:t>q</a:t>
            </a:r>
            <a:r>
              <a:rPr lang="en-US" dirty="0"/>
              <a:t>˙)"</a:t>
            </a:r>
            <a:br>
              <a:rPr lang="en-US" dirty="0"/>
            </a:br>
            <a:endParaRPr lang="en-US" dirty="0"/>
          </a:p>
        </p:txBody>
      </p:sp>
      <p:graphicFrame>
        <p:nvGraphicFramePr>
          <p:cNvPr id="4" name="Table 3">
            <a:extLst>
              <a:ext uri="{FF2B5EF4-FFF2-40B4-BE49-F238E27FC236}">
                <a16:creationId xmlns:a16="http://schemas.microsoft.com/office/drawing/2014/main" id="{44877729-A358-420D-A0E8-8F1979A6F765}"/>
              </a:ext>
            </a:extLst>
          </p:cNvPr>
          <p:cNvGraphicFramePr>
            <a:graphicFrameLocks noGrp="1"/>
          </p:cNvGraphicFramePr>
          <p:nvPr>
            <p:extLst>
              <p:ext uri="{D42A27DB-BD31-4B8C-83A1-F6EECF244321}">
                <p14:modId xmlns:p14="http://schemas.microsoft.com/office/powerpoint/2010/main" val="958378549"/>
              </p:ext>
            </p:extLst>
          </p:nvPr>
        </p:nvGraphicFramePr>
        <p:xfrm>
          <a:off x="1303867" y="2230913"/>
          <a:ext cx="8796866" cy="2209800"/>
        </p:xfrm>
        <a:graphic>
          <a:graphicData uri="http://schemas.openxmlformats.org/drawingml/2006/table">
            <a:tbl>
              <a:tblPr>
                <a:tableStyleId>{5940675A-B579-460E-94D1-54222C63F5DA}</a:tableStyleId>
              </a:tblPr>
              <a:tblGrid>
                <a:gridCol w="2074564">
                  <a:extLst>
                    <a:ext uri="{9D8B030D-6E8A-4147-A177-3AD203B41FA5}">
                      <a16:colId xmlns:a16="http://schemas.microsoft.com/office/drawing/2014/main" val="2262852475"/>
                    </a:ext>
                  </a:extLst>
                </a:gridCol>
                <a:gridCol w="3775167">
                  <a:extLst>
                    <a:ext uri="{9D8B030D-6E8A-4147-A177-3AD203B41FA5}">
                      <a16:colId xmlns:a16="http://schemas.microsoft.com/office/drawing/2014/main" val="2106439741"/>
                    </a:ext>
                  </a:extLst>
                </a:gridCol>
                <a:gridCol w="2947135">
                  <a:extLst>
                    <a:ext uri="{9D8B030D-6E8A-4147-A177-3AD203B41FA5}">
                      <a16:colId xmlns:a16="http://schemas.microsoft.com/office/drawing/2014/main" val="1868486859"/>
                    </a:ext>
                  </a:extLst>
                </a:gridCol>
              </a:tblGrid>
              <a:tr h="0">
                <a:tc>
                  <a:txBody>
                    <a:bodyPr/>
                    <a:lstStyle/>
                    <a:p>
                      <a:pPr algn="l"/>
                      <a:r>
                        <a:rPr lang="en-US" sz="2400" dirty="0">
                          <a:effectLst/>
                        </a:rPr>
                        <a:t>Symbol</a:t>
                      </a:r>
                      <a:endParaRPr lang="en-US" sz="2400" b="0" dirty="0">
                        <a:effectLst/>
                        <a:latin typeface="quote-cjk-patch"/>
                      </a:endParaRPr>
                    </a:p>
                  </a:txBody>
                  <a:tcPr marR="101600" marT="63500" marB="63500" anchor="ctr">
                    <a:solidFill>
                      <a:schemeClr val="accent1">
                        <a:lumMod val="60000"/>
                        <a:lumOff val="40000"/>
                      </a:schemeClr>
                    </a:solidFill>
                  </a:tcPr>
                </a:tc>
                <a:tc>
                  <a:txBody>
                    <a:bodyPr/>
                    <a:lstStyle/>
                    <a:p>
                      <a:pPr algn="l"/>
                      <a:r>
                        <a:rPr lang="en-US" sz="2400" dirty="0">
                          <a:effectLst/>
                        </a:rPr>
                        <a:t>Name</a:t>
                      </a:r>
                      <a:endParaRPr lang="en-US" sz="2400" b="0" dirty="0">
                        <a:effectLst/>
                        <a:latin typeface="quote-cjk-patch"/>
                      </a:endParaRPr>
                    </a:p>
                  </a:txBody>
                  <a:tcPr marL="101600" marR="101600" marT="63500" marB="63500" anchor="ctr">
                    <a:solidFill>
                      <a:schemeClr val="accent1">
                        <a:lumMod val="60000"/>
                        <a:lumOff val="40000"/>
                      </a:schemeClr>
                    </a:solidFill>
                  </a:tcPr>
                </a:tc>
                <a:tc>
                  <a:txBody>
                    <a:bodyPr/>
                    <a:lstStyle/>
                    <a:p>
                      <a:pPr algn="l"/>
                      <a:r>
                        <a:rPr lang="en-US" sz="2400" dirty="0">
                          <a:effectLst/>
                        </a:rPr>
                        <a:t>What it means</a:t>
                      </a:r>
                      <a:endParaRPr lang="en-US" sz="2400" b="0" dirty="0">
                        <a:effectLst/>
                        <a:latin typeface="quote-cjk-patch"/>
                      </a:endParaRPr>
                    </a:p>
                  </a:txBody>
                  <a:tcPr marL="101600" marR="101600" marT="63500" marB="63500" anchor="ctr">
                    <a:solidFill>
                      <a:schemeClr val="accent1">
                        <a:lumMod val="60000"/>
                        <a:lumOff val="40000"/>
                      </a:schemeClr>
                    </a:solidFill>
                  </a:tcPr>
                </a:tc>
                <a:extLst>
                  <a:ext uri="{0D108BD9-81ED-4DB2-BD59-A6C34878D82A}">
                    <a16:rowId xmlns:a16="http://schemas.microsoft.com/office/drawing/2014/main" val="772369330"/>
                  </a:ext>
                </a:extLst>
              </a:tr>
              <a:tr h="0">
                <a:tc>
                  <a:txBody>
                    <a:bodyPr/>
                    <a:lstStyle/>
                    <a:p>
                      <a:r>
                        <a:rPr lang="en-US" sz="2400" dirty="0">
                          <a:effectLst/>
                        </a:rPr>
                        <a:t>˙q</a:t>
                      </a:r>
                      <a:endParaRPr lang="en-US" sz="2400" b="0" dirty="0">
                        <a:effectLst/>
                        <a:latin typeface="quote-cjk-patch"/>
                      </a:endParaRPr>
                    </a:p>
                  </a:txBody>
                  <a:tcPr marR="101600" marT="63500" marB="63500" anchor="ctr"/>
                </a:tc>
                <a:tc>
                  <a:txBody>
                    <a:bodyPr/>
                    <a:lstStyle/>
                    <a:p>
                      <a:r>
                        <a:rPr lang="en-US" sz="2400" dirty="0">
                          <a:effectLst/>
                        </a:rPr>
                        <a:t>Joint Velocities</a:t>
                      </a:r>
                      <a:endParaRPr lang="en-US" sz="2400" b="0" dirty="0">
                        <a:effectLst/>
                        <a:latin typeface="quote-cjk-patch"/>
                      </a:endParaRPr>
                    </a:p>
                  </a:txBody>
                  <a:tcPr marL="101600" marR="101600" marT="63500" marB="63500" anchor="ctr"/>
                </a:tc>
                <a:tc>
                  <a:txBody>
                    <a:bodyPr/>
                    <a:lstStyle/>
                    <a:p>
                      <a:r>
                        <a:rPr lang="en-US" sz="2400" dirty="0">
                          <a:effectLst/>
                        </a:rPr>
                        <a:t>How fast each motor is turning</a:t>
                      </a:r>
                      <a:endParaRPr lang="en-US" sz="2400" b="0" dirty="0">
                        <a:effectLst/>
                        <a:latin typeface="quote-cjk-patch"/>
                      </a:endParaRPr>
                    </a:p>
                  </a:txBody>
                  <a:tcPr marL="101600" marT="63500" marB="63500" anchor="ctr"/>
                </a:tc>
                <a:extLst>
                  <a:ext uri="{0D108BD9-81ED-4DB2-BD59-A6C34878D82A}">
                    <a16:rowId xmlns:a16="http://schemas.microsoft.com/office/drawing/2014/main" val="3139704017"/>
                  </a:ext>
                </a:extLst>
              </a:tr>
              <a:tr h="0">
                <a:tc>
                  <a:txBody>
                    <a:bodyPr/>
                    <a:lstStyle/>
                    <a:p>
                      <a:r>
                        <a:rPr lang="en-US" sz="2400" dirty="0">
                          <a:effectLst/>
                        </a:rPr>
                        <a:t>ẋ</a:t>
                      </a:r>
                      <a:endParaRPr lang="en-US" sz="2400" b="0" dirty="0">
                        <a:effectLst/>
                        <a:latin typeface="quote-cjk-patch"/>
                      </a:endParaRPr>
                    </a:p>
                  </a:txBody>
                  <a:tcPr marR="101600" marT="63500" marB="63500" anchor="ctr"/>
                </a:tc>
                <a:tc>
                  <a:txBody>
                    <a:bodyPr/>
                    <a:lstStyle/>
                    <a:p>
                      <a:r>
                        <a:rPr lang="en-US" sz="2400" dirty="0">
                          <a:effectLst/>
                        </a:rPr>
                        <a:t>End-Effector Velocities</a:t>
                      </a:r>
                      <a:endParaRPr lang="en-US" sz="2400" b="0" dirty="0">
                        <a:effectLst/>
                        <a:latin typeface="quote-cjk-patch"/>
                      </a:endParaRPr>
                    </a:p>
                  </a:txBody>
                  <a:tcPr marL="101600" marR="101600" marT="63500" marB="63500" anchor="ctr"/>
                </a:tc>
                <a:tc>
                  <a:txBody>
                    <a:bodyPr/>
                    <a:lstStyle/>
                    <a:p>
                      <a:r>
                        <a:rPr lang="en-US" sz="2400" dirty="0">
                          <a:effectLst/>
                        </a:rPr>
                        <a:t>How fast the hand is moving in the world</a:t>
                      </a:r>
                      <a:endParaRPr lang="en-US" sz="2400" b="0" dirty="0">
                        <a:effectLst/>
                        <a:latin typeface="quote-cjk-patch"/>
                      </a:endParaRPr>
                    </a:p>
                  </a:txBody>
                  <a:tcPr marL="101600" marT="63500" marB="63500" anchor="ctr"/>
                </a:tc>
                <a:extLst>
                  <a:ext uri="{0D108BD9-81ED-4DB2-BD59-A6C34878D82A}">
                    <a16:rowId xmlns:a16="http://schemas.microsoft.com/office/drawing/2014/main" val="3294313418"/>
                  </a:ext>
                </a:extLst>
              </a:tr>
            </a:tbl>
          </a:graphicData>
        </a:graphic>
      </p:graphicFrame>
      <p:sp>
        <p:nvSpPr>
          <p:cNvPr id="5" name="Date Placeholder 4">
            <a:extLst>
              <a:ext uri="{FF2B5EF4-FFF2-40B4-BE49-F238E27FC236}">
                <a16:creationId xmlns:a16="http://schemas.microsoft.com/office/drawing/2014/main" id="{CEE99BB2-A00D-49DF-8EC4-662A8BC27733}"/>
              </a:ext>
            </a:extLst>
          </p:cNvPr>
          <p:cNvSpPr>
            <a:spLocks noGrp="1"/>
          </p:cNvSpPr>
          <p:nvPr>
            <p:ph type="dt" sz="half" idx="10"/>
          </p:nvPr>
        </p:nvSpPr>
        <p:spPr/>
        <p:txBody>
          <a:bodyPr/>
          <a:lstStyle/>
          <a:p>
            <a:fld id="{AF18487D-AEB2-4443-A8BE-930A8FBA4E0E}" type="datetime1">
              <a:rPr lang="en-US" smtClean="0"/>
              <a:t>3/8/2026</a:t>
            </a:fld>
            <a:endParaRPr lang="en-US"/>
          </a:p>
        </p:txBody>
      </p:sp>
      <p:sp>
        <p:nvSpPr>
          <p:cNvPr id="6" name="Slide Number Placeholder 5">
            <a:extLst>
              <a:ext uri="{FF2B5EF4-FFF2-40B4-BE49-F238E27FC236}">
                <a16:creationId xmlns:a16="http://schemas.microsoft.com/office/drawing/2014/main" id="{59F04D74-6B74-4F13-A82A-DEBD82C139D6}"/>
              </a:ext>
            </a:extLst>
          </p:cNvPr>
          <p:cNvSpPr>
            <a:spLocks noGrp="1"/>
          </p:cNvSpPr>
          <p:nvPr>
            <p:ph type="sldNum" sz="quarter" idx="12"/>
          </p:nvPr>
        </p:nvSpPr>
        <p:spPr/>
        <p:txBody>
          <a:bodyPr/>
          <a:lstStyle/>
          <a:p>
            <a:fld id="{C29293D3-8374-41FE-B1E4-A635E9555193}" type="slidenum">
              <a:rPr lang="en-US" smtClean="0"/>
              <a:t>29</a:t>
            </a:fld>
            <a:endParaRPr lang="en-US"/>
          </a:p>
        </p:txBody>
      </p:sp>
    </p:spTree>
    <p:extLst>
      <p:ext uri="{BB962C8B-B14F-4D97-AF65-F5344CB8AC3E}">
        <p14:creationId xmlns:p14="http://schemas.microsoft.com/office/powerpoint/2010/main" val="16357710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04F760D-A3C4-4ED5-B95C-4383A2F9F412}"/>
              </a:ext>
            </a:extLst>
          </p:cNvPr>
          <p:cNvSpPr>
            <a:spLocks noGrp="1"/>
          </p:cNvSpPr>
          <p:nvPr>
            <p:ph type="title"/>
          </p:nvPr>
        </p:nvSpPr>
        <p:spPr/>
        <p:txBody>
          <a:bodyPr/>
          <a:lstStyle/>
          <a:p>
            <a:r>
              <a:rPr lang="en-US" b="1" dirty="0"/>
              <a:t>The Core Concept</a:t>
            </a:r>
            <a:endParaRPr lang="en-US" dirty="0"/>
          </a:p>
        </p:txBody>
      </p:sp>
      <mc:AlternateContent xmlns:mc="http://schemas.openxmlformats.org/markup-compatibility/2006">
        <mc:Choice xmlns:a14="http://schemas.microsoft.com/office/drawing/2010/main" Requires="a14">
          <p:sp>
            <p:nvSpPr>
              <p:cNvPr id="6" name="Rectangle 2">
                <a:extLst>
                  <a:ext uri="{FF2B5EF4-FFF2-40B4-BE49-F238E27FC236}">
                    <a16:creationId xmlns:a16="http://schemas.microsoft.com/office/drawing/2014/main" id="{CD82553A-7CEA-4CD7-AC93-62C1BF470FB2}"/>
                  </a:ext>
                </a:extLst>
              </p:cNvPr>
              <p:cNvSpPr>
                <a:spLocks noChangeArrowheads="1"/>
              </p:cNvSpPr>
              <p:nvPr/>
            </p:nvSpPr>
            <p:spPr bwMode="auto">
              <a:xfrm>
                <a:off x="838200" y="1752245"/>
                <a:ext cx="10228053" cy="4611511"/>
              </a:xfrm>
              <a:prstGeom prst="rect">
                <a:avLst/>
              </a:prstGeom>
              <a:solidFill>
                <a:srgbClr val="FFFFFF"/>
              </a:solidFill>
              <a:ln>
                <a:noFill/>
              </a:ln>
              <a:effectLst/>
              <a:extLs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0" tIns="25392" rIns="0" bIns="0" numCol="1" anchor="ctr" anchorCtr="0" compatLnSpc="1">
                <a:prstTxWarp prst="textNoShape">
                  <a:avLst/>
                </a:prstTxWarp>
                <a:spAutoFit/>
              </a:bodyPr>
              <a:lstStyle/>
              <a:p>
                <a:r>
                  <a:rPr lang="en-US" sz="2800" dirty="0">
                    <a:latin typeface="+mj-lt"/>
                  </a:rPr>
                  <a:t>The fundamental equation is</a:t>
                </a:r>
                <a:r>
                  <a:rPr lang="en-US" altLang="en-US" sz="2800" dirty="0">
                    <a:solidFill>
                      <a:srgbClr val="0F1115"/>
                    </a:solidFill>
                  </a:rPr>
                  <a:t> 	</a:t>
                </a:r>
                <a:r>
                  <a:rPr lang="en-US" altLang="en-US" sz="2800" b="1" dirty="0">
                    <a:solidFill>
                      <a:srgbClr val="0F1115"/>
                    </a:solidFill>
                  </a:rPr>
                  <a:t>ẋ</a:t>
                </a:r>
                <a:r>
                  <a:rPr lang="en-US" sz="2800" b="1" dirty="0"/>
                  <a:t> </a:t>
                </a:r>
                <a:r>
                  <a:rPr lang="en-US" sz="2800" b="1" dirty="0">
                    <a:latin typeface="+mj-lt"/>
                  </a:rPr>
                  <a:t>=</a:t>
                </a:r>
                <a:r>
                  <a:rPr lang="en-US" sz="2800" b="1" i="1" dirty="0">
                    <a:latin typeface="+mj-lt"/>
                  </a:rPr>
                  <a:t>J</a:t>
                </a:r>
                <a:r>
                  <a:rPr lang="en-US" sz="2800" b="1" dirty="0">
                    <a:latin typeface="+mj-lt"/>
                  </a:rPr>
                  <a:t>(</a:t>
                </a:r>
                <a:r>
                  <a:rPr lang="en-US" sz="2800" b="1" i="1" dirty="0">
                    <a:latin typeface="+mj-lt"/>
                  </a:rPr>
                  <a:t>q</a:t>
                </a:r>
                <a:r>
                  <a:rPr lang="en-US" sz="2800" b="1" dirty="0">
                    <a:latin typeface="+mj-lt"/>
                  </a:rPr>
                  <a:t>)⋅</a:t>
                </a:r>
                <a14:m>
                  <m:oMath xmlns:m="http://schemas.openxmlformats.org/officeDocument/2006/math">
                    <m:acc>
                      <m:accPr>
                        <m:chr m:val="̇"/>
                        <m:ctrlPr>
                          <a:rPr lang="en-US" sz="2800" b="1" i="1">
                            <a:latin typeface="Cambria Math" panose="02040503050406030204" pitchFamily="18" charset="0"/>
                          </a:rPr>
                        </m:ctrlPr>
                      </m:accPr>
                      <m:e>
                        <m:r>
                          <m:rPr>
                            <m:nor/>
                          </m:rPr>
                          <a:rPr lang="en-US" sz="2800" b="1" i="1" dirty="0">
                            <a:latin typeface="+mj-lt"/>
                          </a:rPr>
                          <m:t>q</m:t>
                        </m:r>
                      </m:e>
                    </m:acc>
                  </m:oMath>
                </a14:m>
                <a:r>
                  <a:rPr lang="en-US" sz="2800" b="1" dirty="0">
                    <a:latin typeface="+mj-lt"/>
                  </a:rPr>
                  <a:t>​</a:t>
                </a:r>
                <a:endParaRPr lang="en-US" altLang="en-US" sz="2800" b="1" dirty="0">
                  <a:solidFill>
                    <a:srgbClr val="0F1115"/>
                  </a:solidFill>
                  <a:latin typeface="+mj-lt"/>
                </a:endParaRPr>
              </a:p>
              <a:p>
                <a:r>
                  <a:rPr kumimoji="0" lang="en-US" altLang="en-US" sz="2800" b="0" i="0" u="none" strike="noStrike" cap="none" normalizeH="0" baseline="0" dirty="0">
                    <a:ln>
                      <a:noFill/>
                    </a:ln>
                    <a:solidFill>
                      <a:srgbClr val="0F1115"/>
                    </a:solidFill>
                    <a:effectLst/>
                    <a:latin typeface="+mj-lt"/>
                  </a:rPr>
                  <a:t>Let's break down the notation from the website:</a:t>
                </a:r>
                <a:endParaRPr kumimoji="0" lang="en-US" altLang="en-US" sz="2800" b="0" i="0" u="none" strike="noStrike" cap="none" normalizeH="0" baseline="0" dirty="0">
                  <a:ln>
                    <a:noFill/>
                  </a:ln>
                  <a:solidFill>
                    <a:schemeClr val="tx1"/>
                  </a:solidFill>
                  <a:effectLst/>
                  <a:latin typeface="+mj-lt"/>
                </a:endParaRPr>
              </a:p>
              <a:p>
                <a:pPr marL="342900" indent="-342900" eaLnBrk="0" fontAlgn="base" hangingPunct="0">
                  <a:spcBef>
                    <a:spcPct val="0"/>
                  </a:spcBef>
                  <a:spcAft>
                    <a:spcPct val="0"/>
                  </a:spcAft>
                  <a:buFont typeface="Arial" panose="020B0604020202020204" pitchFamily="34" charset="0"/>
                  <a:buChar char="•"/>
                </a:pPr>
                <a14:m>
                  <m:oMath xmlns:m="http://schemas.openxmlformats.org/officeDocument/2006/math">
                    <m:acc>
                      <m:accPr>
                        <m:chr m:val="̇"/>
                        <m:ctrlPr>
                          <a:rPr lang="en-US" sz="2800" i="1">
                            <a:latin typeface="Cambria Math" panose="02040503050406030204" pitchFamily="18" charset="0"/>
                          </a:rPr>
                        </m:ctrlPr>
                      </m:accPr>
                      <m:e>
                        <m:r>
                          <m:rPr>
                            <m:nor/>
                          </m:rPr>
                          <a:rPr lang="en-US" sz="2800" i="1" dirty="0"/>
                          <m:t>q</m:t>
                        </m:r>
                      </m:e>
                    </m:acc>
                  </m:oMath>
                </a14:m>
                <a:r>
                  <a:rPr lang="en-US" sz="2800" dirty="0"/>
                  <a:t>​</a:t>
                </a:r>
                <a:r>
                  <a:rPr kumimoji="0" lang="en-US" altLang="en-US" sz="2800" b="1" i="0" u="none" strike="noStrike" cap="none" normalizeH="0" baseline="0" dirty="0">
                    <a:ln>
                      <a:noFill/>
                    </a:ln>
                    <a:solidFill>
                      <a:srgbClr val="0F1115"/>
                    </a:solidFill>
                    <a:effectLst/>
                    <a:latin typeface="+mj-lt"/>
                  </a:rPr>
                  <a:t> (The Input - Joint Velocities):</a:t>
                </a:r>
                <a:r>
                  <a:rPr kumimoji="0" lang="en-US" altLang="en-US" sz="2800" b="0" i="0" u="none" strike="noStrike" cap="none" normalizeH="0" baseline="0" dirty="0">
                    <a:ln>
                      <a:noFill/>
                    </a:ln>
                    <a:solidFill>
                      <a:srgbClr val="0F1115"/>
                    </a:solidFill>
                    <a:effectLst/>
                    <a:latin typeface="+mj-lt"/>
                  </a:rPr>
                  <a:t> A vector of size </a:t>
                </a:r>
                <a:r>
                  <a:rPr kumimoji="0" lang="en-US" altLang="en-US" sz="2800" b="1" i="0" u="none" strike="noStrike" cap="none" normalizeH="0" baseline="0" dirty="0">
                    <a:ln>
                      <a:noFill/>
                    </a:ln>
                    <a:solidFill>
                      <a:srgbClr val="0F1115"/>
                    </a:solidFill>
                    <a:effectLst/>
                    <a:latin typeface="+mj-lt"/>
                  </a:rPr>
                  <a:t>n x 1</a:t>
                </a:r>
                <a:r>
                  <a:rPr kumimoji="0" lang="en-US" altLang="en-US" sz="2800" b="0" i="0" u="none" strike="noStrike" cap="none" normalizeH="0" baseline="0" dirty="0">
                    <a:ln>
                      <a:noFill/>
                    </a:ln>
                    <a:solidFill>
                      <a:srgbClr val="0F1115"/>
                    </a:solidFill>
                    <a:effectLst/>
                    <a:latin typeface="+mj-lt"/>
                  </a:rPr>
                  <a:t>.</a:t>
                </a:r>
              </a:p>
              <a:p>
                <a:pPr marL="914400" marR="0" lvl="1"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800" b="0" i="0" u="none" strike="noStrike" cap="none" normalizeH="0" baseline="0" dirty="0">
                    <a:ln>
                      <a:noFill/>
                    </a:ln>
                    <a:solidFill>
                      <a:srgbClr val="0F1115"/>
                    </a:solidFill>
                    <a:effectLst/>
                    <a:latin typeface="+mj-lt"/>
                  </a:rPr>
                  <a:t>n = number of joints.</a:t>
                </a:r>
              </a:p>
              <a:p>
                <a:pPr marL="914400" marR="0" lvl="1"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800" b="0" i="0" u="none" strike="noStrike" cap="none" normalizeH="0" baseline="0" dirty="0">
                    <a:ln>
                      <a:noFill/>
                    </a:ln>
                    <a:solidFill>
                      <a:srgbClr val="0F1115"/>
                    </a:solidFill>
                    <a:effectLst/>
                    <a:latin typeface="+mj-lt"/>
                  </a:rPr>
                  <a:t>For </a:t>
                </a:r>
                <a:r>
                  <a:rPr kumimoji="0" lang="en-US" altLang="en-US" sz="2800" b="1" i="0" u="none" strike="noStrike" cap="none" normalizeH="0" baseline="0" dirty="0">
                    <a:ln>
                      <a:noFill/>
                    </a:ln>
                    <a:solidFill>
                      <a:srgbClr val="0F1115"/>
                    </a:solidFill>
                    <a:effectLst/>
                    <a:latin typeface="+mj-lt"/>
                  </a:rPr>
                  <a:t>revolute joints</a:t>
                </a:r>
                <a:r>
                  <a:rPr kumimoji="0" lang="en-US" altLang="en-US" sz="2800" b="0" i="0" u="none" strike="noStrike" cap="none" normalizeH="0" baseline="0" dirty="0">
                    <a:ln>
                      <a:noFill/>
                    </a:ln>
                    <a:solidFill>
                      <a:srgbClr val="0F1115"/>
                    </a:solidFill>
                    <a:effectLst/>
                    <a:latin typeface="+mj-lt"/>
                  </a:rPr>
                  <a:t> (rotational), q is often θ (theta) in rad/s.</a:t>
                </a:r>
              </a:p>
              <a:p>
                <a:pPr marL="914400" marR="0" lvl="1"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800" b="0" i="0" u="none" strike="noStrike" cap="none" normalizeH="0" baseline="0" dirty="0">
                    <a:ln>
                      <a:noFill/>
                    </a:ln>
                    <a:solidFill>
                      <a:srgbClr val="0F1115"/>
                    </a:solidFill>
                    <a:effectLst/>
                    <a:latin typeface="+mj-lt"/>
                  </a:rPr>
                  <a:t>For </a:t>
                </a:r>
                <a:r>
                  <a:rPr kumimoji="0" lang="en-US" altLang="en-US" sz="2800" b="1" i="0" u="none" strike="noStrike" cap="none" normalizeH="0" baseline="0" dirty="0">
                    <a:ln>
                      <a:noFill/>
                    </a:ln>
                    <a:solidFill>
                      <a:srgbClr val="0F1115"/>
                    </a:solidFill>
                    <a:effectLst/>
                    <a:latin typeface="+mj-lt"/>
                  </a:rPr>
                  <a:t>prismatic joints</a:t>
                </a:r>
                <a:r>
                  <a:rPr kumimoji="0" lang="en-US" altLang="en-US" sz="2800" b="0" i="0" u="none" strike="noStrike" cap="none" normalizeH="0" baseline="0" dirty="0">
                    <a:ln>
                      <a:noFill/>
                    </a:ln>
                    <a:solidFill>
                      <a:srgbClr val="0F1115"/>
                    </a:solidFill>
                    <a:effectLst/>
                    <a:latin typeface="+mj-lt"/>
                  </a:rPr>
                  <a:t> (linear), q is often d (displacement) in m/s.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rgbClr val="0F1115"/>
                    </a:solidFill>
                    <a:effectLst/>
                    <a:latin typeface="+mj-lt"/>
                  </a:rPr>
                  <a:t>J(q)</a:t>
                </a:r>
                <a:r>
                  <a:rPr kumimoji="0" lang="en-US" altLang="en-US" sz="2800" b="1" i="0" u="none" strike="noStrike" cap="none" normalizeH="0" baseline="0" dirty="0">
                    <a:ln>
                      <a:noFill/>
                    </a:ln>
                    <a:solidFill>
                      <a:srgbClr val="0F1115"/>
                    </a:solidFill>
                    <a:effectLst/>
                    <a:latin typeface="+mj-lt"/>
                  </a:rPr>
                  <a:t> (The Bridge - The Jacobian):</a:t>
                </a:r>
                <a:r>
                  <a:rPr kumimoji="0" lang="en-US" altLang="en-US" sz="2800" b="0" i="0" u="none" strike="noStrike" cap="none" normalizeH="0" baseline="0" dirty="0">
                    <a:ln>
                      <a:noFill/>
                    </a:ln>
                    <a:solidFill>
                      <a:srgbClr val="0F1115"/>
                    </a:solidFill>
                    <a:effectLst/>
                    <a:latin typeface="+mj-lt"/>
                  </a:rPr>
                  <a:t> An </a:t>
                </a:r>
                <a:r>
                  <a:rPr kumimoji="0" lang="en-US" altLang="en-US" sz="2800" b="1" i="0" u="none" strike="noStrike" cap="none" normalizeH="0" baseline="0" dirty="0">
                    <a:ln>
                      <a:noFill/>
                    </a:ln>
                    <a:solidFill>
                      <a:srgbClr val="0F1115"/>
                    </a:solidFill>
                    <a:effectLst/>
                    <a:latin typeface="+mj-lt"/>
                  </a:rPr>
                  <a:t>m x n</a:t>
                </a:r>
                <a:r>
                  <a:rPr kumimoji="0" lang="en-US" altLang="en-US" sz="2800" b="0" i="0" u="none" strike="noStrike" cap="none" normalizeH="0" baseline="0" dirty="0">
                    <a:ln>
                      <a:noFill/>
                    </a:ln>
                    <a:solidFill>
                      <a:srgbClr val="0F1115"/>
                    </a:solidFill>
                    <a:effectLst/>
                    <a:latin typeface="+mj-lt"/>
                  </a:rPr>
                  <a:t> matrix.</a:t>
                </a:r>
              </a:p>
              <a:p>
                <a:pPr marL="914400" marR="0" lvl="1"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800" b="0" i="0" u="none" strike="noStrike" cap="none" normalizeH="0" baseline="0" dirty="0">
                    <a:ln>
                      <a:noFill/>
                    </a:ln>
                    <a:solidFill>
                      <a:srgbClr val="0F1115"/>
                    </a:solidFill>
                    <a:effectLst/>
                    <a:latin typeface="+mj-lt"/>
                  </a:rPr>
                  <a:t>n = number of joints.</a:t>
                </a:r>
              </a:p>
              <a:p>
                <a:pPr marL="914400" marR="0" lvl="1"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800" b="0" i="0" u="none" strike="noStrike" cap="none" normalizeH="0" baseline="0" dirty="0">
                    <a:ln>
                      <a:noFill/>
                    </a:ln>
                    <a:solidFill>
                      <a:srgbClr val="0F1115"/>
                    </a:solidFill>
                    <a:effectLst/>
                    <a:latin typeface="+mj-lt"/>
                  </a:rPr>
                  <a:t>m = degrees of freedom in task space. For full 3D motion, </a:t>
                </a:r>
                <a:r>
                  <a:rPr kumimoji="0" lang="en-US" altLang="en-US" sz="2800" b="1" i="0" u="none" strike="noStrike" cap="none" normalizeH="0" baseline="0" dirty="0">
                    <a:ln>
                      <a:noFill/>
                    </a:ln>
                    <a:solidFill>
                      <a:srgbClr val="0F1115"/>
                    </a:solidFill>
                    <a:effectLst/>
                    <a:latin typeface="+mj-lt"/>
                  </a:rPr>
                  <a:t>m = 6</a:t>
                </a:r>
                <a:r>
                  <a:rPr kumimoji="0" lang="en-US" altLang="en-US" sz="2800" b="0" i="0" u="none" strike="noStrike" cap="none" normalizeH="0" baseline="0" dirty="0">
                    <a:ln>
                      <a:noFill/>
                    </a:ln>
                    <a:solidFill>
                      <a:srgbClr val="0F1115"/>
                    </a:solidFill>
                    <a:effectLst/>
                    <a:latin typeface="+mj-lt"/>
                  </a:rPr>
                  <a:t>.</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rgbClr val="0F1115"/>
                    </a:solidFill>
                    <a:effectLst/>
                    <a:latin typeface="+mj-lt"/>
                  </a:rPr>
                  <a:t>ẋ</a:t>
                </a:r>
                <a:r>
                  <a:rPr kumimoji="0" lang="en-US" altLang="en-US" sz="2800" b="1" i="0" u="none" strike="noStrike" cap="none" normalizeH="0" baseline="0" dirty="0">
                    <a:ln>
                      <a:noFill/>
                    </a:ln>
                    <a:solidFill>
                      <a:srgbClr val="0F1115"/>
                    </a:solidFill>
                    <a:effectLst/>
                    <a:latin typeface="+mj-lt"/>
                  </a:rPr>
                  <a:t> (The Output - End-Effector Velocities):</a:t>
                </a:r>
                <a:r>
                  <a:rPr kumimoji="0" lang="en-US" altLang="en-US" sz="2800" b="0" i="0" u="none" strike="noStrike" cap="none" normalizeH="0" baseline="0" dirty="0">
                    <a:ln>
                      <a:noFill/>
                    </a:ln>
                    <a:solidFill>
                      <a:srgbClr val="0F1115"/>
                    </a:solidFill>
                    <a:effectLst/>
                    <a:latin typeface="+mj-lt"/>
                  </a:rPr>
                  <a:t> A vector of size </a:t>
                </a:r>
                <a:r>
                  <a:rPr kumimoji="0" lang="en-US" altLang="en-US" sz="2800" b="1" i="0" u="none" strike="noStrike" cap="none" normalizeH="0" baseline="0" dirty="0">
                    <a:ln>
                      <a:noFill/>
                    </a:ln>
                    <a:solidFill>
                      <a:srgbClr val="0F1115"/>
                    </a:solidFill>
                    <a:effectLst/>
                    <a:latin typeface="+mj-lt"/>
                  </a:rPr>
                  <a:t>m x 1</a:t>
                </a:r>
                <a:r>
                  <a:rPr kumimoji="0" lang="en-US" altLang="en-US" sz="2800" b="0" i="0" u="none" strike="noStrike" cap="none" normalizeH="0" baseline="0" dirty="0">
                    <a:ln>
                      <a:noFill/>
                    </a:ln>
                    <a:solidFill>
                      <a:srgbClr val="0F1115"/>
                    </a:solidFill>
                    <a:effectLst/>
                    <a:latin typeface="+mj-l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mc:Choice>
        <mc:Fallback>
          <p:sp>
            <p:nvSpPr>
              <p:cNvPr id="6" name="Rectangle 2">
                <a:extLst>
                  <a:ext uri="{FF2B5EF4-FFF2-40B4-BE49-F238E27FC236}">
                    <a16:creationId xmlns:a16="http://schemas.microsoft.com/office/drawing/2014/main" id="{CD82553A-7CEA-4CD7-AC93-62C1BF470FB2}"/>
                  </a:ext>
                </a:extLst>
              </p:cNvPr>
              <p:cNvSpPr>
                <a:spLocks noRot="1" noChangeAspect="1" noMove="1" noResize="1" noEditPoints="1" noAdjustHandles="1" noChangeArrowheads="1" noChangeShapeType="1" noTextEdit="1"/>
              </p:cNvSpPr>
              <p:nvPr/>
            </p:nvSpPr>
            <p:spPr bwMode="auto">
              <a:xfrm>
                <a:off x="838200" y="1752245"/>
                <a:ext cx="10228053" cy="4611511"/>
              </a:xfrm>
              <a:prstGeom prst="rect">
                <a:avLst/>
              </a:prstGeom>
              <a:blipFill>
                <a:blip r:embed="rId2"/>
                <a:stretch>
                  <a:fillRect l="-2147" t="-1585" r="-298"/>
                </a:stretch>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2" name="Date Placeholder 1">
            <a:extLst>
              <a:ext uri="{FF2B5EF4-FFF2-40B4-BE49-F238E27FC236}">
                <a16:creationId xmlns:a16="http://schemas.microsoft.com/office/drawing/2014/main" id="{726B3507-1772-4CDE-AFAF-84DA9C4CD33C}"/>
              </a:ext>
            </a:extLst>
          </p:cNvPr>
          <p:cNvSpPr>
            <a:spLocks noGrp="1"/>
          </p:cNvSpPr>
          <p:nvPr>
            <p:ph type="dt" sz="half" idx="10"/>
          </p:nvPr>
        </p:nvSpPr>
        <p:spPr/>
        <p:txBody>
          <a:bodyPr/>
          <a:lstStyle/>
          <a:p>
            <a:fld id="{B9C2E501-663C-4C43-B0A5-24D4C16631F5}" type="datetime1">
              <a:rPr lang="en-US" smtClean="0"/>
              <a:t>3/8/2026</a:t>
            </a:fld>
            <a:endParaRPr lang="en-US"/>
          </a:p>
        </p:txBody>
      </p:sp>
      <p:sp>
        <p:nvSpPr>
          <p:cNvPr id="3" name="Slide Number Placeholder 2">
            <a:extLst>
              <a:ext uri="{FF2B5EF4-FFF2-40B4-BE49-F238E27FC236}">
                <a16:creationId xmlns:a16="http://schemas.microsoft.com/office/drawing/2014/main" id="{1C218B2A-DC1B-4C55-9221-5B16B60C1021}"/>
              </a:ext>
            </a:extLst>
          </p:cNvPr>
          <p:cNvSpPr>
            <a:spLocks noGrp="1"/>
          </p:cNvSpPr>
          <p:nvPr>
            <p:ph type="sldNum" sz="quarter" idx="12"/>
          </p:nvPr>
        </p:nvSpPr>
        <p:spPr/>
        <p:txBody>
          <a:bodyPr/>
          <a:lstStyle/>
          <a:p>
            <a:fld id="{C29293D3-8374-41FE-B1E4-A635E9555193}" type="slidenum">
              <a:rPr lang="en-US" smtClean="0"/>
              <a:t>30</a:t>
            </a:fld>
            <a:endParaRPr lang="en-US"/>
          </a:p>
        </p:txBody>
      </p:sp>
    </p:spTree>
    <p:extLst>
      <p:ext uri="{BB962C8B-B14F-4D97-AF65-F5344CB8AC3E}">
        <p14:creationId xmlns:p14="http://schemas.microsoft.com/office/powerpoint/2010/main" val="16068372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1F29E-232B-4ADD-81DA-AF5DB56BFB81}"/>
              </a:ext>
            </a:extLst>
          </p:cNvPr>
          <p:cNvSpPr>
            <a:spLocks noGrp="1"/>
          </p:cNvSpPr>
          <p:nvPr>
            <p:ph type="title"/>
          </p:nvPr>
        </p:nvSpPr>
        <p:spPr/>
        <p:txBody>
          <a:bodyPr/>
          <a:lstStyle/>
          <a:p>
            <a:r>
              <a:rPr lang="en-US" b="1" dirty="0"/>
              <a:t>The Output - What We Want to Know</a:t>
            </a:r>
            <a:endParaRPr lang="en-US" dirty="0"/>
          </a:p>
        </p:txBody>
      </p:sp>
      <p:sp>
        <p:nvSpPr>
          <p:cNvPr id="4" name="Rectangle 3">
            <a:extLst>
              <a:ext uri="{FF2B5EF4-FFF2-40B4-BE49-F238E27FC236}">
                <a16:creationId xmlns:a16="http://schemas.microsoft.com/office/drawing/2014/main" id="{60914F8B-61F7-4473-BEC9-FE2F1779D71C}"/>
              </a:ext>
            </a:extLst>
          </p:cNvPr>
          <p:cNvSpPr/>
          <p:nvPr/>
        </p:nvSpPr>
        <p:spPr>
          <a:xfrm>
            <a:off x="720435" y="1529821"/>
            <a:ext cx="10751129" cy="4524315"/>
          </a:xfrm>
          <a:prstGeom prst="rect">
            <a:avLst/>
          </a:prstGeom>
        </p:spPr>
        <p:txBody>
          <a:bodyPr wrap="square">
            <a:spAutoFit/>
          </a:bodyPr>
          <a:lstStyle/>
          <a:p>
            <a:pPr marL="342900" indent="-342900">
              <a:buFont typeface="Arial" panose="020B0604020202020204" pitchFamily="34" charset="0"/>
              <a:buChar char="•"/>
            </a:pPr>
            <a:r>
              <a:rPr lang="en-US" sz="2400" b="1" dirty="0">
                <a:solidFill>
                  <a:srgbClr val="0F1115"/>
                </a:solidFill>
                <a:latin typeface="quote-cjk-patch"/>
              </a:rPr>
              <a:t>Understanding the Velocity Vector </a:t>
            </a:r>
            <a:r>
              <a:rPr lang="en-US" altLang="en-US" sz="2400" dirty="0">
                <a:solidFill>
                  <a:srgbClr val="0F1115"/>
                </a:solidFill>
                <a:latin typeface="Menlo"/>
              </a:rPr>
              <a:t>ẋ</a:t>
            </a:r>
          </a:p>
          <a:p>
            <a:r>
              <a:rPr lang="en-US" sz="2400" dirty="0"/>
              <a:t>For a robot operating in 3D space (m=6), the end-effector velocity vector has six components</a:t>
            </a:r>
            <a:endParaRPr lang="en-US" sz="2400" b="1" dirty="0"/>
          </a:p>
          <a:p>
            <a:pPr marL="342900" indent="-342900">
              <a:buFont typeface="Arial" panose="020B0604020202020204" pitchFamily="34" charset="0"/>
              <a:buChar char="•"/>
            </a:pPr>
            <a:r>
              <a:rPr lang="en-US" sz="2400" b="1" dirty="0"/>
              <a:t>Linear Velocities.</a:t>
            </a:r>
            <a:r>
              <a:rPr lang="en-US" sz="2400" dirty="0"/>
              <a:t> How fast is the end effector moving in the X, Y, and Z directions of the </a:t>
            </a:r>
            <a:r>
              <a:rPr lang="en-US" sz="2400" b="1" dirty="0"/>
              <a:t>base frame</a:t>
            </a:r>
            <a:r>
              <a:rPr lang="en-US" sz="2400" dirty="0"/>
              <a:t>?</a:t>
            </a:r>
          </a:p>
          <a:p>
            <a:r>
              <a:rPr lang="en-US" sz="2400" dirty="0"/>
              <a:t> [ ẋ ]   	(Linear X velocity)</a:t>
            </a:r>
          </a:p>
          <a:p>
            <a:r>
              <a:rPr lang="en-US" sz="2400" dirty="0"/>
              <a:t> [ ẏ ]   	(Linear Y velocity)</a:t>
            </a:r>
          </a:p>
          <a:p>
            <a:r>
              <a:rPr lang="en-US" sz="2400" dirty="0"/>
              <a:t> [ ż ]   	(Linear Z velocity)</a:t>
            </a:r>
            <a:endParaRPr lang="en-US" sz="2400" b="1" dirty="0"/>
          </a:p>
          <a:p>
            <a:pPr marL="342900" indent="-342900">
              <a:buFont typeface="Arial" panose="020B0604020202020204" pitchFamily="34" charset="0"/>
              <a:buChar char="•"/>
            </a:pPr>
            <a:r>
              <a:rPr lang="en-US" sz="2400" b="1" dirty="0"/>
              <a:t>Angular Velocities):</a:t>
            </a:r>
            <a:r>
              <a:rPr lang="en-US" sz="2400" dirty="0"/>
              <a:t> How fast is it rotating around those same axes?</a:t>
            </a:r>
          </a:p>
          <a:p>
            <a:r>
              <a:rPr lang="en-US" sz="2400" dirty="0"/>
              <a:t>ẋ = [ </a:t>
            </a:r>
            <a:r>
              <a:rPr lang="el-GR" sz="2400" dirty="0"/>
              <a:t>ω</a:t>
            </a:r>
            <a:r>
              <a:rPr lang="en-US" sz="2400" dirty="0"/>
              <a:t>x ]   (Angular X velocity - roll)</a:t>
            </a:r>
          </a:p>
          <a:p>
            <a:r>
              <a:rPr lang="en-US" sz="2400" dirty="0"/>
              <a:t>[ </a:t>
            </a:r>
            <a:r>
              <a:rPr lang="el-GR" sz="2400" dirty="0"/>
              <a:t>ω</a:t>
            </a:r>
            <a:r>
              <a:rPr lang="en-US" sz="2400" dirty="0"/>
              <a:t>y ]   	(Angular Y velocity - pitch)</a:t>
            </a:r>
          </a:p>
          <a:p>
            <a:r>
              <a:rPr lang="en-US" sz="2400" dirty="0"/>
              <a:t> [ </a:t>
            </a:r>
            <a:r>
              <a:rPr lang="el-GR" sz="2400" dirty="0"/>
              <a:t>ω</a:t>
            </a:r>
            <a:r>
              <a:rPr lang="en-US" sz="2400" dirty="0"/>
              <a:t>z ]   (Angular Z velocity - yaw)</a:t>
            </a:r>
            <a:endParaRPr lang="en-US" dirty="0"/>
          </a:p>
        </p:txBody>
      </p:sp>
      <p:sp>
        <p:nvSpPr>
          <p:cNvPr id="3" name="Date Placeholder 2">
            <a:extLst>
              <a:ext uri="{FF2B5EF4-FFF2-40B4-BE49-F238E27FC236}">
                <a16:creationId xmlns:a16="http://schemas.microsoft.com/office/drawing/2014/main" id="{AEDC2622-0199-4F21-9636-6BA24F370E70}"/>
              </a:ext>
            </a:extLst>
          </p:cNvPr>
          <p:cNvSpPr>
            <a:spLocks noGrp="1"/>
          </p:cNvSpPr>
          <p:nvPr>
            <p:ph type="dt" sz="half" idx="10"/>
          </p:nvPr>
        </p:nvSpPr>
        <p:spPr/>
        <p:txBody>
          <a:bodyPr/>
          <a:lstStyle/>
          <a:p>
            <a:fld id="{9CFE87A9-4CB7-4D06-8675-8F9590546C27}" type="datetime1">
              <a:rPr lang="en-US" smtClean="0"/>
              <a:t>3/8/2026</a:t>
            </a:fld>
            <a:endParaRPr lang="en-US"/>
          </a:p>
        </p:txBody>
      </p:sp>
      <p:sp>
        <p:nvSpPr>
          <p:cNvPr id="5" name="Slide Number Placeholder 4">
            <a:extLst>
              <a:ext uri="{FF2B5EF4-FFF2-40B4-BE49-F238E27FC236}">
                <a16:creationId xmlns:a16="http://schemas.microsoft.com/office/drawing/2014/main" id="{4606EB51-2FDF-426B-80A5-D1DAAF09CA86}"/>
              </a:ext>
            </a:extLst>
          </p:cNvPr>
          <p:cNvSpPr>
            <a:spLocks noGrp="1"/>
          </p:cNvSpPr>
          <p:nvPr>
            <p:ph type="sldNum" sz="quarter" idx="12"/>
          </p:nvPr>
        </p:nvSpPr>
        <p:spPr/>
        <p:txBody>
          <a:bodyPr/>
          <a:lstStyle/>
          <a:p>
            <a:fld id="{C29293D3-8374-41FE-B1E4-A635E9555193}" type="slidenum">
              <a:rPr lang="en-US" smtClean="0"/>
              <a:t>31</a:t>
            </a:fld>
            <a:endParaRPr lang="en-US"/>
          </a:p>
        </p:txBody>
      </p:sp>
    </p:spTree>
    <p:extLst>
      <p:ext uri="{BB962C8B-B14F-4D97-AF65-F5344CB8AC3E}">
        <p14:creationId xmlns:p14="http://schemas.microsoft.com/office/powerpoint/2010/main" val="9302829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8420D-2F68-4281-B1DC-586D7EA0237C}"/>
              </a:ext>
            </a:extLst>
          </p:cNvPr>
          <p:cNvSpPr>
            <a:spLocks noGrp="1"/>
          </p:cNvSpPr>
          <p:nvPr>
            <p:ph type="title"/>
          </p:nvPr>
        </p:nvSpPr>
        <p:spPr/>
        <p:txBody>
          <a:bodyPr/>
          <a:lstStyle/>
          <a:p>
            <a:r>
              <a:rPr lang="en-US" b="1" dirty="0"/>
              <a:t>The Jacobian Formula</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9A94A5D-9E73-4F59-8BD3-DCC306308905}"/>
                  </a:ext>
                </a:extLst>
              </p:cNvPr>
              <p:cNvSpPr>
                <a:spLocks noGrp="1"/>
              </p:cNvSpPr>
              <p:nvPr>
                <p:ph idx="1"/>
              </p:nvPr>
            </p:nvSpPr>
            <p:spPr/>
            <p:txBody>
              <a:bodyPr>
                <a:normAutofit/>
              </a:bodyPr>
              <a:lstStyle/>
              <a:p>
                <a:r>
                  <a:rPr lang="en-US" sz="3200" dirty="0"/>
                  <a:t>For a 6-joint robot: </a:t>
                </a:r>
              </a:p>
              <a:p>
                <a:pPr lvl="1"/>
                <a14:m>
                  <m:oMath xmlns:m="http://schemas.openxmlformats.org/officeDocument/2006/math">
                    <m:acc>
                      <m:accPr>
                        <m:chr m:val="̇"/>
                        <m:ctrlPr>
                          <a:rPr lang="en-US" sz="2800" i="1">
                            <a:latin typeface="Cambria Math" panose="02040503050406030204" pitchFamily="18" charset="0"/>
                          </a:rPr>
                        </m:ctrlPr>
                      </m:accPr>
                      <m:e>
                        <m:r>
                          <m:rPr>
                            <m:nor/>
                          </m:rPr>
                          <a:rPr lang="en-US" sz="2800" i="1" dirty="0"/>
                          <m:t>q</m:t>
                        </m:r>
                      </m:e>
                    </m:acc>
                  </m:oMath>
                </a14:m>
                <a:r>
                  <a:rPr lang="en-US" sz="2800" dirty="0"/>
                  <a:t> = [speed₁, speed₂, speed₃, speed₄, speed₅, speed₆]</a:t>
                </a:r>
              </a:p>
              <a:p>
                <a:r>
                  <a:rPr lang="en-US" sz="3200" dirty="0"/>
                  <a:t>For a hand moving in 3D space: </a:t>
                </a:r>
              </a:p>
              <a:p>
                <a:pPr lvl="1"/>
                <a:r>
                  <a:rPr lang="en-US" sz="2800" dirty="0"/>
                  <a:t>ẋ = [forward speed, side speed, up speed, roll speed, pitch speed, yaw speed]</a:t>
                </a:r>
              </a:p>
              <a:p>
                <a:r>
                  <a:rPr lang="en-US" sz="3200" b="1" dirty="0"/>
                  <a:t>What you want to know:</a:t>
                </a:r>
                <a:r>
                  <a:rPr lang="en-US" sz="3200" dirty="0"/>
                  <a:t> "My hand is moving forward at 0.5 m/s and rotating at 20°/s"</a:t>
                </a:r>
              </a:p>
            </p:txBody>
          </p:sp>
        </mc:Choice>
        <mc:Fallback>
          <p:sp>
            <p:nvSpPr>
              <p:cNvPr id="3" name="Content Placeholder 2">
                <a:extLst>
                  <a:ext uri="{FF2B5EF4-FFF2-40B4-BE49-F238E27FC236}">
                    <a16:creationId xmlns:a16="http://schemas.microsoft.com/office/drawing/2014/main" id="{A9A94A5D-9E73-4F59-8BD3-DCC306308905}"/>
                  </a:ext>
                </a:extLst>
              </p:cNvPr>
              <p:cNvSpPr>
                <a:spLocks noGrp="1" noRot="1" noChangeAspect="1" noMove="1" noResize="1" noEditPoints="1" noAdjustHandles="1" noChangeArrowheads="1" noChangeShapeType="1" noTextEdit="1"/>
              </p:cNvSpPr>
              <p:nvPr>
                <p:ph idx="1"/>
              </p:nvPr>
            </p:nvSpPr>
            <p:spPr>
              <a:blipFill>
                <a:blip r:embed="rId2"/>
                <a:stretch>
                  <a:fillRect l="-1333" t="-2941" r="-110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C98A0412-1FD1-4CEF-9893-4CAF09484BF1}"/>
              </a:ext>
            </a:extLst>
          </p:cNvPr>
          <p:cNvSpPr>
            <a:spLocks noGrp="1"/>
          </p:cNvSpPr>
          <p:nvPr>
            <p:ph type="dt" sz="half" idx="10"/>
          </p:nvPr>
        </p:nvSpPr>
        <p:spPr/>
        <p:txBody>
          <a:bodyPr/>
          <a:lstStyle/>
          <a:p>
            <a:fld id="{EE017928-25D2-4F7D-96B6-6C39FB5287C8}" type="datetime1">
              <a:rPr lang="en-US" smtClean="0"/>
              <a:t>3/8/2026</a:t>
            </a:fld>
            <a:endParaRPr lang="en-US"/>
          </a:p>
        </p:txBody>
      </p:sp>
      <p:sp>
        <p:nvSpPr>
          <p:cNvPr id="5" name="Slide Number Placeholder 4">
            <a:extLst>
              <a:ext uri="{FF2B5EF4-FFF2-40B4-BE49-F238E27FC236}">
                <a16:creationId xmlns:a16="http://schemas.microsoft.com/office/drawing/2014/main" id="{D96FAE56-283C-4385-BEDD-B394FB89DE60}"/>
              </a:ext>
            </a:extLst>
          </p:cNvPr>
          <p:cNvSpPr>
            <a:spLocks noGrp="1"/>
          </p:cNvSpPr>
          <p:nvPr>
            <p:ph type="sldNum" sz="quarter" idx="12"/>
          </p:nvPr>
        </p:nvSpPr>
        <p:spPr/>
        <p:txBody>
          <a:bodyPr/>
          <a:lstStyle/>
          <a:p>
            <a:fld id="{C29293D3-8374-41FE-B1E4-A635E9555193}" type="slidenum">
              <a:rPr lang="en-US" smtClean="0"/>
              <a:t>32</a:t>
            </a:fld>
            <a:endParaRPr lang="en-US"/>
          </a:p>
        </p:txBody>
      </p:sp>
    </p:spTree>
    <p:extLst>
      <p:ext uri="{BB962C8B-B14F-4D97-AF65-F5344CB8AC3E}">
        <p14:creationId xmlns:p14="http://schemas.microsoft.com/office/powerpoint/2010/main" val="4400227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CD509-2E81-4EAA-90D7-6C822708FC89}"/>
              </a:ext>
            </a:extLst>
          </p:cNvPr>
          <p:cNvSpPr>
            <a:spLocks noGrp="1"/>
          </p:cNvSpPr>
          <p:nvPr>
            <p:ph type="title"/>
          </p:nvPr>
        </p:nvSpPr>
        <p:spPr/>
        <p:txBody>
          <a:bodyPr/>
          <a:lstStyle/>
          <a:p>
            <a:r>
              <a:rPr lang="en-US" b="1" dirty="0"/>
              <a:t>The Jacobian Formula</a:t>
            </a:r>
            <a:endParaRPr lang="en-US" dirty="0"/>
          </a:p>
        </p:txBody>
      </p:sp>
      <p:sp>
        <p:nvSpPr>
          <p:cNvPr id="3" name="Content Placeholder 2">
            <a:extLst>
              <a:ext uri="{FF2B5EF4-FFF2-40B4-BE49-F238E27FC236}">
                <a16:creationId xmlns:a16="http://schemas.microsoft.com/office/drawing/2014/main" id="{455B18A5-A0E8-4139-9E8D-05CF01EC53A9}"/>
              </a:ext>
            </a:extLst>
          </p:cNvPr>
          <p:cNvSpPr>
            <a:spLocks noGrp="1"/>
          </p:cNvSpPr>
          <p:nvPr>
            <p:ph idx="1"/>
          </p:nvPr>
        </p:nvSpPr>
        <p:spPr/>
        <p:txBody>
          <a:bodyPr/>
          <a:lstStyle/>
          <a:p>
            <a:r>
              <a:rPr lang="en-US" dirty="0"/>
              <a:t>J(q) </a:t>
            </a:r>
            <a:r>
              <a:rPr lang="en-US" b="1" dirty="0"/>
              <a:t>(The Jacobian) - The Bridge</a:t>
            </a:r>
            <a:endParaRPr lang="en-US" dirty="0"/>
          </a:p>
          <a:p>
            <a:r>
              <a:rPr lang="en-US" dirty="0"/>
              <a:t>J(q) = [ numbers that change depending on the robot's pose ]</a:t>
            </a:r>
          </a:p>
          <a:p>
            <a:r>
              <a:rPr lang="en-US" b="1" dirty="0"/>
              <a:t>Crucial point.</a:t>
            </a:r>
            <a:r>
              <a:rPr lang="en-US" dirty="0"/>
              <a:t> The Jacobian is </a:t>
            </a:r>
            <a:r>
              <a:rPr lang="en-US" b="1" dirty="0"/>
              <a:t>NOT</a:t>
            </a:r>
            <a:r>
              <a:rPr lang="en-US" dirty="0"/>
              <a:t> fixed. It changes for every single robot position!</a:t>
            </a:r>
          </a:p>
          <a:p>
            <a:pPr lvl="1"/>
            <a:r>
              <a:rPr lang="en-US" dirty="0"/>
              <a:t>Pose 1: Arm bent → Different J matrix</a:t>
            </a:r>
          </a:p>
          <a:p>
            <a:pPr lvl="1"/>
            <a:r>
              <a:rPr lang="en-US" dirty="0"/>
              <a:t>Pose 2: Arm straight → Different J matrix</a:t>
            </a:r>
          </a:p>
          <a:p>
            <a:pPr lvl="1"/>
            <a:r>
              <a:rPr lang="en-US" dirty="0"/>
              <a:t>Pose 3: Arm twisted → Different J matrix</a:t>
            </a:r>
          </a:p>
          <a:p>
            <a:endParaRPr lang="en-US" dirty="0"/>
          </a:p>
        </p:txBody>
      </p:sp>
      <p:sp>
        <p:nvSpPr>
          <p:cNvPr id="4" name="Date Placeholder 3">
            <a:extLst>
              <a:ext uri="{FF2B5EF4-FFF2-40B4-BE49-F238E27FC236}">
                <a16:creationId xmlns:a16="http://schemas.microsoft.com/office/drawing/2014/main" id="{CCA4E456-39FE-48E8-B5EF-829F60EA79FC}"/>
              </a:ext>
            </a:extLst>
          </p:cNvPr>
          <p:cNvSpPr>
            <a:spLocks noGrp="1"/>
          </p:cNvSpPr>
          <p:nvPr>
            <p:ph type="dt" sz="half" idx="10"/>
          </p:nvPr>
        </p:nvSpPr>
        <p:spPr/>
        <p:txBody>
          <a:bodyPr/>
          <a:lstStyle/>
          <a:p>
            <a:fld id="{14635F2F-4486-4A70-B36E-E3EA85BDCED2}" type="datetime1">
              <a:rPr lang="en-US" smtClean="0"/>
              <a:t>3/8/2026</a:t>
            </a:fld>
            <a:endParaRPr lang="en-US"/>
          </a:p>
        </p:txBody>
      </p:sp>
      <p:sp>
        <p:nvSpPr>
          <p:cNvPr id="5" name="Slide Number Placeholder 4">
            <a:extLst>
              <a:ext uri="{FF2B5EF4-FFF2-40B4-BE49-F238E27FC236}">
                <a16:creationId xmlns:a16="http://schemas.microsoft.com/office/drawing/2014/main" id="{D679EA76-1813-421C-AA2D-75920ABA8E91}"/>
              </a:ext>
            </a:extLst>
          </p:cNvPr>
          <p:cNvSpPr>
            <a:spLocks noGrp="1"/>
          </p:cNvSpPr>
          <p:nvPr>
            <p:ph type="sldNum" sz="quarter" idx="12"/>
          </p:nvPr>
        </p:nvSpPr>
        <p:spPr/>
        <p:txBody>
          <a:bodyPr/>
          <a:lstStyle/>
          <a:p>
            <a:fld id="{C29293D3-8374-41FE-B1E4-A635E9555193}" type="slidenum">
              <a:rPr lang="en-US" smtClean="0"/>
              <a:t>33</a:t>
            </a:fld>
            <a:endParaRPr lang="en-US"/>
          </a:p>
        </p:txBody>
      </p:sp>
    </p:spTree>
    <p:extLst>
      <p:ext uri="{BB962C8B-B14F-4D97-AF65-F5344CB8AC3E}">
        <p14:creationId xmlns:p14="http://schemas.microsoft.com/office/powerpoint/2010/main" val="28419889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CABBF-1EBE-4BB8-AC9B-A5A4CDE129BA}"/>
              </a:ext>
            </a:extLst>
          </p:cNvPr>
          <p:cNvSpPr>
            <a:spLocks noGrp="1"/>
          </p:cNvSpPr>
          <p:nvPr>
            <p:ph type="title"/>
          </p:nvPr>
        </p:nvSpPr>
        <p:spPr/>
        <p:txBody>
          <a:bodyPr/>
          <a:lstStyle/>
          <a:p>
            <a:r>
              <a:rPr lang="en-US" b="1" dirty="0"/>
              <a:t>Velocity Control</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A2C0DDE-5C8B-4126-8CB2-1F327785A61C}"/>
                  </a:ext>
                </a:extLst>
              </p:cNvPr>
              <p:cNvSpPr>
                <a:spLocks noGrp="1"/>
              </p:cNvSpPr>
              <p:nvPr>
                <p:ph idx="1"/>
              </p:nvPr>
            </p:nvSpPr>
            <p:spPr/>
            <p:txBody>
              <a:bodyPr/>
              <a:lstStyle/>
              <a:p>
                <a:r>
                  <a:rPr lang="en-US" sz="3200" b="1" dirty="0"/>
                  <a:t>Goal:</a:t>
                </a:r>
                <a:r>
                  <a:rPr lang="en-US" sz="3200" dirty="0"/>
                  <a:t> Move the robot's hand in a straight line at constant speed</a:t>
                </a:r>
              </a:p>
              <a:p>
                <a:r>
                  <a:rPr lang="en-US" sz="3200" dirty="0"/>
                  <a:t>Desired: ẋ = [0.2 m/s forward, 0 m/s others]</a:t>
                </a:r>
              </a:p>
              <a:p>
                <a:r>
                  <a:rPr lang="en-US" sz="3200" b="1" dirty="0"/>
                  <a:t>Problem:</a:t>
                </a:r>
                <a:r>
                  <a:rPr lang="en-US" sz="3200" dirty="0"/>
                  <a:t> How fast should each motor spin to achieve this?</a:t>
                </a:r>
              </a:p>
              <a:p>
                <a:r>
                  <a:rPr lang="en-US" sz="3200" b="1" dirty="0"/>
                  <a:t>Solution:</a:t>
                </a:r>
                <a:r>
                  <a:rPr lang="en-US" sz="3200" dirty="0"/>
                  <a:t> Use the Jacobian to calculate required joint speeds</a:t>
                </a:r>
              </a:p>
              <a:p>
                <a:pPr marL="0" indent="0">
                  <a:buNone/>
                </a:pPr>
                <a:r>
                  <a:rPr lang="en-US" sz="3200" dirty="0"/>
                  <a:t>		 </a:t>
                </a:r>
                <a14:m>
                  <m:oMath xmlns:m="http://schemas.openxmlformats.org/officeDocument/2006/math">
                    <m:acc>
                      <m:accPr>
                        <m:chr m:val="̇"/>
                        <m:ctrlPr>
                          <a:rPr lang="en-US" sz="3200" i="1">
                            <a:latin typeface="Cambria Math" panose="02040503050406030204" pitchFamily="18" charset="0"/>
                          </a:rPr>
                        </m:ctrlPr>
                      </m:accPr>
                      <m:e>
                        <m:r>
                          <m:rPr>
                            <m:nor/>
                          </m:rPr>
                          <a:rPr lang="en-US" sz="3200" i="1" dirty="0"/>
                          <m:t>q</m:t>
                        </m:r>
                      </m:e>
                    </m:acc>
                  </m:oMath>
                </a14:m>
                <a:r>
                  <a:rPr lang="en-US" sz="3200" dirty="0"/>
                  <a:t> = J⁻¹(q) · ẋ</a:t>
                </a:r>
              </a:p>
              <a:p>
                <a:r>
                  <a:rPr lang="en-US" sz="3200" i="1" dirty="0"/>
                  <a:t>Inverse Jacobian tells you what joint speeds produce desired hand speed</a:t>
                </a:r>
                <a:endParaRPr lang="en-US" sz="3200" dirty="0"/>
              </a:p>
              <a:p>
                <a:endParaRPr lang="en-US" dirty="0"/>
              </a:p>
            </p:txBody>
          </p:sp>
        </mc:Choice>
        <mc:Fallback>
          <p:sp>
            <p:nvSpPr>
              <p:cNvPr id="3" name="Content Placeholder 2">
                <a:extLst>
                  <a:ext uri="{FF2B5EF4-FFF2-40B4-BE49-F238E27FC236}">
                    <a16:creationId xmlns:a16="http://schemas.microsoft.com/office/drawing/2014/main" id="{7A2C0DDE-5C8B-4126-8CB2-1F327785A61C}"/>
                  </a:ext>
                </a:extLst>
              </p:cNvPr>
              <p:cNvSpPr>
                <a:spLocks noGrp="1" noRot="1" noChangeAspect="1" noMove="1" noResize="1" noEditPoints="1" noAdjustHandles="1" noChangeArrowheads="1" noChangeShapeType="1" noTextEdit="1"/>
              </p:cNvSpPr>
              <p:nvPr>
                <p:ph idx="1"/>
              </p:nvPr>
            </p:nvSpPr>
            <p:spPr>
              <a:blipFill>
                <a:blip r:embed="rId2"/>
                <a:stretch>
                  <a:fillRect l="-1333" t="-2941" r="-232" b="-210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95C125F7-DB0E-404A-9E94-716E7333A00F}"/>
              </a:ext>
            </a:extLst>
          </p:cNvPr>
          <p:cNvSpPr>
            <a:spLocks noGrp="1"/>
          </p:cNvSpPr>
          <p:nvPr>
            <p:ph type="dt" sz="half" idx="10"/>
          </p:nvPr>
        </p:nvSpPr>
        <p:spPr/>
        <p:txBody>
          <a:bodyPr/>
          <a:lstStyle/>
          <a:p>
            <a:fld id="{FBC0C330-FB2E-49B5-9489-96FE728AB598}" type="datetime1">
              <a:rPr lang="en-US" smtClean="0"/>
              <a:t>3/8/2026</a:t>
            </a:fld>
            <a:endParaRPr lang="en-US"/>
          </a:p>
        </p:txBody>
      </p:sp>
      <p:sp>
        <p:nvSpPr>
          <p:cNvPr id="5" name="Slide Number Placeholder 4">
            <a:extLst>
              <a:ext uri="{FF2B5EF4-FFF2-40B4-BE49-F238E27FC236}">
                <a16:creationId xmlns:a16="http://schemas.microsoft.com/office/drawing/2014/main" id="{1B53A88D-4334-4F26-A66F-98BFB2E48F26}"/>
              </a:ext>
            </a:extLst>
          </p:cNvPr>
          <p:cNvSpPr>
            <a:spLocks noGrp="1"/>
          </p:cNvSpPr>
          <p:nvPr>
            <p:ph type="sldNum" sz="quarter" idx="12"/>
          </p:nvPr>
        </p:nvSpPr>
        <p:spPr/>
        <p:txBody>
          <a:bodyPr/>
          <a:lstStyle/>
          <a:p>
            <a:fld id="{C29293D3-8374-41FE-B1E4-A635E9555193}" type="slidenum">
              <a:rPr lang="en-US" smtClean="0"/>
              <a:t>34</a:t>
            </a:fld>
            <a:endParaRPr lang="en-US"/>
          </a:p>
        </p:txBody>
      </p:sp>
    </p:spTree>
    <p:extLst>
      <p:ext uri="{BB962C8B-B14F-4D97-AF65-F5344CB8AC3E}">
        <p14:creationId xmlns:p14="http://schemas.microsoft.com/office/powerpoint/2010/main" val="6886102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825BA-D158-4901-A442-CC7C0BEA4CDA}"/>
              </a:ext>
            </a:extLst>
          </p:cNvPr>
          <p:cNvSpPr>
            <a:spLocks noGrp="1"/>
          </p:cNvSpPr>
          <p:nvPr>
            <p:ph type="title"/>
          </p:nvPr>
        </p:nvSpPr>
        <p:spPr/>
        <p:txBody>
          <a:bodyPr>
            <a:normAutofit/>
          </a:bodyPr>
          <a:lstStyle/>
          <a:p>
            <a:r>
              <a:rPr lang="en-US" altLang="en-US" b="1" dirty="0">
                <a:solidFill>
                  <a:srgbClr val="0F1115"/>
                </a:solidFill>
                <a:latin typeface="quote-cjk-patch"/>
              </a:rPr>
              <a:t>Jacobian – Joint and end-effector velocities</a:t>
            </a:r>
            <a:endParaRPr lang="en-US" dirty="0"/>
          </a:p>
        </p:txBody>
      </p:sp>
      <p:sp>
        <p:nvSpPr>
          <p:cNvPr id="3" name="Content Placeholder 2">
            <a:extLst>
              <a:ext uri="{FF2B5EF4-FFF2-40B4-BE49-F238E27FC236}">
                <a16:creationId xmlns:a16="http://schemas.microsoft.com/office/drawing/2014/main" id="{8D0E4BB0-EFB7-4F2B-B520-22AFEC7A48EE}"/>
              </a:ext>
            </a:extLst>
          </p:cNvPr>
          <p:cNvSpPr>
            <a:spLocks noGrp="1"/>
          </p:cNvSpPr>
          <p:nvPr>
            <p:ph idx="1"/>
          </p:nvPr>
        </p:nvSpPr>
        <p:spPr/>
        <p:txBody>
          <a:bodyPr/>
          <a:lstStyle/>
          <a:p>
            <a:r>
              <a:rPr lang="en-US" altLang="en-US" b="1" dirty="0">
                <a:solidFill>
                  <a:srgbClr val="0F1115"/>
                </a:solidFill>
                <a:latin typeface="quote-cjk-patch"/>
              </a:rPr>
              <a:t>Jacobian – </a:t>
            </a:r>
            <a:r>
              <a:rPr lang="en-US" altLang="en-US" dirty="0">
                <a:solidFill>
                  <a:srgbClr val="0F1115"/>
                </a:solidFill>
                <a:latin typeface="quote-cjk-patch"/>
              </a:rPr>
              <a:t>Relates joint velocities to end-effector velocities</a:t>
            </a:r>
          </a:p>
          <a:p>
            <a:r>
              <a:rPr lang="en-US" dirty="0"/>
              <a:t>The </a:t>
            </a:r>
            <a:r>
              <a:rPr lang="en-US" b="1" dirty="0"/>
              <a:t>joint velocities</a:t>
            </a:r>
            <a:r>
              <a:rPr lang="en-US" dirty="0"/>
              <a:t>. This is how fast each motor in the robot's shoulder, elbow, and wrist is turning. </a:t>
            </a:r>
          </a:p>
          <a:p>
            <a:r>
              <a:rPr lang="en-US" dirty="0"/>
              <a:t>The </a:t>
            </a:r>
            <a:r>
              <a:rPr lang="en-US" b="1" dirty="0"/>
              <a:t>end-effector velocities</a:t>
            </a:r>
            <a:r>
              <a:rPr lang="en-US" dirty="0"/>
              <a:t>. This is how fast the tool in the robot's hand is moving in the world (its speed forward/back, up/down, and how fast it's rotating).</a:t>
            </a:r>
          </a:p>
          <a:p>
            <a:r>
              <a:rPr lang="en-US" dirty="0"/>
              <a:t>The Jacobian matrix (</a:t>
            </a:r>
            <a:r>
              <a:rPr lang="en-US" b="1" dirty="0"/>
              <a:t>J</a:t>
            </a:r>
            <a:r>
              <a:rPr lang="en-US" dirty="0"/>
              <a:t>) answers the question: "If I move all the joints at these specific speeds, how fast will my robot's hand move in the world?"</a:t>
            </a:r>
          </a:p>
        </p:txBody>
      </p:sp>
      <p:sp>
        <p:nvSpPr>
          <p:cNvPr id="4" name="Date Placeholder 3">
            <a:extLst>
              <a:ext uri="{FF2B5EF4-FFF2-40B4-BE49-F238E27FC236}">
                <a16:creationId xmlns:a16="http://schemas.microsoft.com/office/drawing/2014/main" id="{DFE1C7F3-FBB8-4027-BD38-9210D9386828}"/>
              </a:ext>
            </a:extLst>
          </p:cNvPr>
          <p:cNvSpPr>
            <a:spLocks noGrp="1"/>
          </p:cNvSpPr>
          <p:nvPr>
            <p:ph type="dt" sz="half" idx="10"/>
          </p:nvPr>
        </p:nvSpPr>
        <p:spPr/>
        <p:txBody>
          <a:bodyPr/>
          <a:lstStyle/>
          <a:p>
            <a:fld id="{7086B578-AE42-49ED-AC01-78F7A864A5B4}" type="datetime1">
              <a:rPr lang="en-US" smtClean="0"/>
              <a:t>3/8/2026</a:t>
            </a:fld>
            <a:endParaRPr lang="en-US"/>
          </a:p>
        </p:txBody>
      </p:sp>
      <p:sp>
        <p:nvSpPr>
          <p:cNvPr id="5" name="Slide Number Placeholder 4">
            <a:extLst>
              <a:ext uri="{FF2B5EF4-FFF2-40B4-BE49-F238E27FC236}">
                <a16:creationId xmlns:a16="http://schemas.microsoft.com/office/drawing/2014/main" id="{D0494C1D-E614-4BF6-9F87-A4F361DDAA65}"/>
              </a:ext>
            </a:extLst>
          </p:cNvPr>
          <p:cNvSpPr>
            <a:spLocks noGrp="1"/>
          </p:cNvSpPr>
          <p:nvPr>
            <p:ph type="sldNum" sz="quarter" idx="12"/>
          </p:nvPr>
        </p:nvSpPr>
        <p:spPr/>
        <p:txBody>
          <a:bodyPr/>
          <a:lstStyle/>
          <a:p>
            <a:fld id="{C29293D3-8374-41FE-B1E4-A635E9555193}" type="slidenum">
              <a:rPr lang="en-US" smtClean="0"/>
              <a:t>35</a:t>
            </a:fld>
            <a:endParaRPr lang="en-US"/>
          </a:p>
        </p:txBody>
      </p:sp>
    </p:spTree>
    <p:extLst>
      <p:ext uri="{BB962C8B-B14F-4D97-AF65-F5344CB8AC3E}">
        <p14:creationId xmlns:p14="http://schemas.microsoft.com/office/powerpoint/2010/main" val="13833575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A4C8D-A0B7-4B6B-AF8F-6D946FC07ED3}"/>
              </a:ext>
            </a:extLst>
          </p:cNvPr>
          <p:cNvSpPr>
            <a:spLocks noGrp="1"/>
          </p:cNvSpPr>
          <p:nvPr>
            <p:ph type="title"/>
          </p:nvPr>
        </p:nvSpPr>
        <p:spPr/>
        <p:txBody>
          <a:bodyPr/>
          <a:lstStyle/>
          <a:p>
            <a:r>
              <a:rPr lang="en-US" b="1" dirty="0"/>
              <a:t>The Jacobian</a:t>
            </a:r>
            <a:endParaRPr lang="en-US" dirty="0"/>
          </a:p>
        </p:txBody>
      </p:sp>
      <p:sp>
        <p:nvSpPr>
          <p:cNvPr id="3" name="Content Placeholder 2">
            <a:extLst>
              <a:ext uri="{FF2B5EF4-FFF2-40B4-BE49-F238E27FC236}">
                <a16:creationId xmlns:a16="http://schemas.microsoft.com/office/drawing/2014/main" id="{25EBA809-37FC-430E-99BF-1CC6BEB72EF7}"/>
              </a:ext>
            </a:extLst>
          </p:cNvPr>
          <p:cNvSpPr>
            <a:spLocks noGrp="1"/>
          </p:cNvSpPr>
          <p:nvPr>
            <p:ph idx="1"/>
          </p:nvPr>
        </p:nvSpPr>
        <p:spPr/>
        <p:txBody>
          <a:bodyPr/>
          <a:lstStyle/>
          <a:p>
            <a:r>
              <a:rPr lang="en-US" b="1" dirty="0"/>
              <a:t>The Jacobian is the Translator</a:t>
            </a:r>
            <a:endParaRPr lang="en-US" dirty="0"/>
          </a:p>
          <a:p>
            <a:r>
              <a:rPr lang="en-US" dirty="0"/>
              <a:t>Think of the Jacobian as the </a:t>
            </a:r>
            <a:r>
              <a:rPr lang="en-US" b="1" dirty="0"/>
              <a:t>essential translator</a:t>
            </a:r>
            <a:r>
              <a:rPr lang="en-US" dirty="0"/>
              <a:t> between the world of what you control (motors spinning) and the world of what you want (a tool moving through space).</a:t>
            </a:r>
          </a:p>
          <a:p>
            <a:r>
              <a:rPr lang="en-US" dirty="0"/>
              <a:t>It enables </a:t>
            </a:r>
            <a:r>
              <a:rPr lang="en-US" b="1" dirty="0"/>
              <a:t>precision and predictability</a:t>
            </a:r>
            <a:r>
              <a:rPr lang="en-US" dirty="0"/>
              <a:t> in robot motion.</a:t>
            </a:r>
          </a:p>
          <a:p>
            <a:r>
              <a:rPr lang="en-US" dirty="0"/>
              <a:t>It is the foundation for advanced control, path planning, and understanding a robot's capabilities and limitations.</a:t>
            </a:r>
          </a:p>
          <a:p>
            <a:endParaRPr lang="en-US" dirty="0"/>
          </a:p>
        </p:txBody>
      </p:sp>
      <p:sp>
        <p:nvSpPr>
          <p:cNvPr id="4" name="Date Placeholder 3">
            <a:extLst>
              <a:ext uri="{FF2B5EF4-FFF2-40B4-BE49-F238E27FC236}">
                <a16:creationId xmlns:a16="http://schemas.microsoft.com/office/drawing/2014/main" id="{B8324820-5B15-4294-BE3D-722F8A143F32}"/>
              </a:ext>
            </a:extLst>
          </p:cNvPr>
          <p:cNvSpPr>
            <a:spLocks noGrp="1"/>
          </p:cNvSpPr>
          <p:nvPr>
            <p:ph type="dt" sz="half" idx="10"/>
          </p:nvPr>
        </p:nvSpPr>
        <p:spPr/>
        <p:txBody>
          <a:bodyPr/>
          <a:lstStyle/>
          <a:p>
            <a:fld id="{AAD3D434-A495-44B7-A6E2-C0C99D712EB3}" type="datetime1">
              <a:rPr lang="en-US" smtClean="0"/>
              <a:t>3/8/2026</a:t>
            </a:fld>
            <a:endParaRPr lang="en-US"/>
          </a:p>
        </p:txBody>
      </p:sp>
      <p:sp>
        <p:nvSpPr>
          <p:cNvPr id="5" name="Slide Number Placeholder 4">
            <a:extLst>
              <a:ext uri="{FF2B5EF4-FFF2-40B4-BE49-F238E27FC236}">
                <a16:creationId xmlns:a16="http://schemas.microsoft.com/office/drawing/2014/main" id="{D44A6F71-71BB-4EF5-A14E-1C8A364E9D4C}"/>
              </a:ext>
            </a:extLst>
          </p:cNvPr>
          <p:cNvSpPr>
            <a:spLocks noGrp="1"/>
          </p:cNvSpPr>
          <p:nvPr>
            <p:ph type="sldNum" sz="quarter" idx="12"/>
          </p:nvPr>
        </p:nvSpPr>
        <p:spPr/>
        <p:txBody>
          <a:bodyPr/>
          <a:lstStyle/>
          <a:p>
            <a:fld id="{C29293D3-8374-41FE-B1E4-A635E9555193}" type="slidenum">
              <a:rPr lang="en-US" smtClean="0"/>
              <a:t>36</a:t>
            </a:fld>
            <a:endParaRPr lang="en-US"/>
          </a:p>
        </p:txBody>
      </p:sp>
    </p:spTree>
    <p:extLst>
      <p:ext uri="{BB962C8B-B14F-4D97-AF65-F5344CB8AC3E}">
        <p14:creationId xmlns:p14="http://schemas.microsoft.com/office/powerpoint/2010/main" val="3010045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BFC12-F031-450D-83A1-2E7FB965F6C9}"/>
              </a:ext>
            </a:extLst>
          </p:cNvPr>
          <p:cNvSpPr>
            <a:spLocks noGrp="1"/>
          </p:cNvSpPr>
          <p:nvPr>
            <p:ph type="title"/>
          </p:nvPr>
        </p:nvSpPr>
        <p:spPr/>
        <p:txBody>
          <a:bodyPr/>
          <a:lstStyle/>
          <a:p>
            <a:r>
              <a:rPr lang="en-US" b="1" dirty="0"/>
              <a:t>Practical example </a:t>
            </a:r>
            <a:r>
              <a:rPr lang="en-US" dirty="0"/>
              <a:t>- </a:t>
            </a:r>
            <a:r>
              <a:rPr lang="en-US" b="1" dirty="0"/>
              <a:t>2-link planar robot arm</a:t>
            </a:r>
            <a:endParaRPr lang="en-US" dirty="0"/>
          </a:p>
        </p:txBody>
      </p:sp>
      <p:sp>
        <p:nvSpPr>
          <p:cNvPr id="5" name="Date Placeholder 4">
            <a:extLst>
              <a:ext uri="{FF2B5EF4-FFF2-40B4-BE49-F238E27FC236}">
                <a16:creationId xmlns:a16="http://schemas.microsoft.com/office/drawing/2014/main" id="{5BBD90CE-1084-41B5-9E28-30F0A31C1F72}"/>
              </a:ext>
            </a:extLst>
          </p:cNvPr>
          <p:cNvSpPr>
            <a:spLocks noGrp="1"/>
          </p:cNvSpPr>
          <p:nvPr>
            <p:ph type="dt" sz="half" idx="10"/>
          </p:nvPr>
        </p:nvSpPr>
        <p:spPr/>
        <p:txBody>
          <a:bodyPr/>
          <a:lstStyle/>
          <a:p>
            <a:fld id="{EED13638-22BF-4B20-ABB7-22ED9E88852A}" type="datetime1">
              <a:rPr lang="en-US" smtClean="0"/>
              <a:t>3/8/2026</a:t>
            </a:fld>
            <a:endParaRPr lang="en-US"/>
          </a:p>
        </p:txBody>
      </p:sp>
      <p:sp>
        <p:nvSpPr>
          <p:cNvPr id="6" name="Slide Number Placeholder 5">
            <a:extLst>
              <a:ext uri="{FF2B5EF4-FFF2-40B4-BE49-F238E27FC236}">
                <a16:creationId xmlns:a16="http://schemas.microsoft.com/office/drawing/2014/main" id="{56D81F17-550B-46A3-9D05-BBEB013BC2BC}"/>
              </a:ext>
            </a:extLst>
          </p:cNvPr>
          <p:cNvSpPr>
            <a:spLocks noGrp="1"/>
          </p:cNvSpPr>
          <p:nvPr>
            <p:ph type="sldNum" sz="quarter" idx="12"/>
          </p:nvPr>
        </p:nvSpPr>
        <p:spPr/>
        <p:txBody>
          <a:bodyPr/>
          <a:lstStyle/>
          <a:p>
            <a:fld id="{C29293D3-8374-41FE-B1E4-A635E9555193}" type="slidenum">
              <a:rPr lang="en-US" smtClean="0"/>
              <a:t>37</a:t>
            </a:fld>
            <a:endParaRPr lang="en-US"/>
          </a:p>
        </p:txBody>
      </p:sp>
      <p:sp>
        <p:nvSpPr>
          <p:cNvPr id="3" name="Content Placeholder 2">
            <a:extLst>
              <a:ext uri="{FF2B5EF4-FFF2-40B4-BE49-F238E27FC236}">
                <a16:creationId xmlns:a16="http://schemas.microsoft.com/office/drawing/2014/main" id="{DB697B07-ED34-4B3F-A2E1-DF9BE6CFDC16}"/>
              </a:ext>
            </a:extLst>
          </p:cNvPr>
          <p:cNvSpPr>
            <a:spLocks noGrp="1"/>
          </p:cNvSpPr>
          <p:nvPr>
            <p:ph idx="1"/>
          </p:nvPr>
        </p:nvSpPr>
        <p:spPr>
          <a:xfrm>
            <a:off x="838200" y="1825625"/>
            <a:ext cx="10515600" cy="4351338"/>
          </a:xfrm>
        </p:spPr>
        <p:txBody>
          <a:bodyPr>
            <a:normAutofit/>
          </a:bodyPr>
          <a:lstStyle/>
          <a:p>
            <a:r>
              <a:rPr lang="en-US" sz="3600" dirty="0"/>
              <a:t>This will show exactly how the Jacobian matrix converts joint speeds into the speed of the robot's hand (end effector).</a:t>
            </a:r>
            <a:endParaRPr lang="en-US" sz="3600" b="1" dirty="0"/>
          </a:p>
          <a:p>
            <a:r>
              <a:rPr lang="en-US" sz="3200" i="1" dirty="0"/>
              <a:t>Key steps</a:t>
            </a:r>
            <a:endParaRPr lang="en-US" sz="3200" dirty="0"/>
          </a:p>
          <a:p>
            <a:pPr lvl="1"/>
            <a:r>
              <a:rPr lang="en-US" sz="2800" dirty="0"/>
              <a:t>Get DH parameters</a:t>
            </a:r>
          </a:p>
          <a:p>
            <a:pPr lvl="1"/>
            <a:r>
              <a:rPr lang="en-US" sz="2800" dirty="0"/>
              <a:t>Forward kinematics → position</a:t>
            </a:r>
          </a:p>
          <a:p>
            <a:pPr lvl="1"/>
            <a:r>
              <a:rPr lang="en-US" sz="2800" dirty="0"/>
              <a:t>Partial derivatives → Jacobian</a:t>
            </a:r>
          </a:p>
          <a:p>
            <a:pPr lvl="1"/>
            <a:r>
              <a:rPr lang="en-US" sz="2800" dirty="0"/>
              <a:t>Matrix multiply → hand velocity</a:t>
            </a:r>
          </a:p>
          <a:p>
            <a:pPr marL="0" indent="0">
              <a:buNone/>
            </a:pPr>
            <a:endParaRPr lang="en-US" dirty="0"/>
          </a:p>
          <a:p>
            <a:endParaRPr lang="en-US" dirty="0"/>
          </a:p>
        </p:txBody>
      </p:sp>
    </p:spTree>
    <p:extLst>
      <p:ext uri="{BB962C8B-B14F-4D97-AF65-F5344CB8AC3E}">
        <p14:creationId xmlns:p14="http://schemas.microsoft.com/office/powerpoint/2010/main" val="33266248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EC678-3507-4B02-A401-B96D460280B7}"/>
              </a:ext>
            </a:extLst>
          </p:cNvPr>
          <p:cNvSpPr>
            <a:spLocks noGrp="1"/>
          </p:cNvSpPr>
          <p:nvPr>
            <p:ph type="title"/>
          </p:nvPr>
        </p:nvSpPr>
        <p:spPr/>
        <p:txBody>
          <a:bodyPr/>
          <a:lstStyle/>
          <a:p>
            <a:r>
              <a:rPr lang="en-US" b="1" dirty="0" err="1"/>
              <a:t>Denavit</a:t>
            </a:r>
            <a:r>
              <a:rPr lang="en-US" b="1" dirty="0"/>
              <a:t> - </a:t>
            </a:r>
            <a:r>
              <a:rPr lang="en-US" b="1" dirty="0" err="1"/>
              <a:t>Hartenberg</a:t>
            </a:r>
            <a:r>
              <a:rPr lang="en-US" b="1" dirty="0"/>
              <a:t> (DH) Parameters</a:t>
            </a:r>
            <a:endParaRPr lang="en-US" dirty="0"/>
          </a:p>
        </p:txBody>
      </p:sp>
      <p:graphicFrame>
        <p:nvGraphicFramePr>
          <p:cNvPr id="6" name="Content Placeholder 5">
            <a:extLst>
              <a:ext uri="{FF2B5EF4-FFF2-40B4-BE49-F238E27FC236}">
                <a16:creationId xmlns:a16="http://schemas.microsoft.com/office/drawing/2014/main" id="{9B0276E6-680C-4417-AA3A-2E8E1E0AE982}"/>
              </a:ext>
            </a:extLst>
          </p:cNvPr>
          <p:cNvGraphicFramePr>
            <a:graphicFrameLocks noGrp="1"/>
          </p:cNvGraphicFramePr>
          <p:nvPr>
            <p:ph idx="1"/>
            <p:extLst>
              <p:ext uri="{D42A27DB-BD31-4B8C-83A1-F6EECF244321}">
                <p14:modId xmlns:p14="http://schemas.microsoft.com/office/powerpoint/2010/main" val="711143645"/>
              </p:ext>
            </p:extLst>
          </p:nvPr>
        </p:nvGraphicFramePr>
        <p:xfrm>
          <a:off x="923925" y="1987385"/>
          <a:ext cx="10515600" cy="1478280"/>
        </p:xfrm>
        <a:graphic>
          <a:graphicData uri="http://schemas.openxmlformats.org/drawingml/2006/table">
            <a:tbl>
              <a:tblPr>
                <a:tableStyleId>{5940675A-B579-460E-94D1-54222C63F5DA}</a:tableStyleId>
              </a:tblPr>
              <a:tblGrid>
                <a:gridCol w="1181100">
                  <a:extLst>
                    <a:ext uri="{9D8B030D-6E8A-4147-A177-3AD203B41FA5}">
                      <a16:colId xmlns:a16="http://schemas.microsoft.com/office/drawing/2014/main" val="2319420699"/>
                    </a:ext>
                  </a:extLst>
                </a:gridCol>
                <a:gridCol w="2968554">
                  <a:extLst>
                    <a:ext uri="{9D8B030D-6E8A-4147-A177-3AD203B41FA5}">
                      <a16:colId xmlns:a16="http://schemas.microsoft.com/office/drawing/2014/main" val="2755344918"/>
                    </a:ext>
                  </a:extLst>
                </a:gridCol>
                <a:gridCol w="1498671">
                  <a:extLst>
                    <a:ext uri="{9D8B030D-6E8A-4147-A177-3AD203B41FA5}">
                      <a16:colId xmlns:a16="http://schemas.microsoft.com/office/drawing/2014/main" val="3347805474"/>
                    </a:ext>
                  </a:extLst>
                </a:gridCol>
                <a:gridCol w="2745293">
                  <a:extLst>
                    <a:ext uri="{9D8B030D-6E8A-4147-A177-3AD203B41FA5}">
                      <a16:colId xmlns:a16="http://schemas.microsoft.com/office/drawing/2014/main" val="841168115"/>
                    </a:ext>
                  </a:extLst>
                </a:gridCol>
                <a:gridCol w="2121982">
                  <a:extLst>
                    <a:ext uri="{9D8B030D-6E8A-4147-A177-3AD203B41FA5}">
                      <a16:colId xmlns:a16="http://schemas.microsoft.com/office/drawing/2014/main" val="1971078597"/>
                    </a:ext>
                  </a:extLst>
                </a:gridCol>
              </a:tblGrid>
              <a:tr h="0">
                <a:tc>
                  <a:txBody>
                    <a:bodyPr/>
                    <a:lstStyle/>
                    <a:p>
                      <a:pPr algn="l"/>
                      <a:r>
                        <a:rPr lang="en-US" sz="2400" dirty="0">
                          <a:effectLst/>
                        </a:rPr>
                        <a:t>Link </a:t>
                      </a:r>
                      <a:r>
                        <a:rPr lang="en-US" sz="2400" dirty="0" err="1">
                          <a:effectLst/>
                        </a:rPr>
                        <a:t>i</a:t>
                      </a:r>
                      <a:endParaRPr lang="en-US" sz="2400" b="0" dirty="0">
                        <a:effectLst/>
                        <a:latin typeface="quote-cjk-patch"/>
                      </a:endParaRPr>
                    </a:p>
                  </a:txBody>
                  <a:tcPr marR="101600" marT="63500" marB="63500" anchor="ctr"/>
                </a:tc>
                <a:tc>
                  <a:txBody>
                    <a:bodyPr/>
                    <a:lstStyle/>
                    <a:p>
                      <a:pPr algn="l"/>
                      <a:r>
                        <a:rPr lang="el-GR" sz="2400" dirty="0">
                          <a:effectLst/>
                        </a:rPr>
                        <a:t>θ</a:t>
                      </a:r>
                      <a:r>
                        <a:rPr lang="en-US" sz="2400" dirty="0">
                          <a:effectLst/>
                        </a:rPr>
                        <a:t>ᵢ (joint angle)</a:t>
                      </a:r>
                      <a:endParaRPr lang="en-US" sz="2400" b="0" dirty="0">
                        <a:effectLst/>
                        <a:latin typeface="quote-cjk-patch"/>
                      </a:endParaRPr>
                    </a:p>
                  </a:txBody>
                  <a:tcPr marL="101600" marR="101600" marT="63500" marB="63500" anchor="ctr"/>
                </a:tc>
                <a:tc>
                  <a:txBody>
                    <a:bodyPr/>
                    <a:lstStyle/>
                    <a:p>
                      <a:pPr algn="l"/>
                      <a:r>
                        <a:rPr lang="en-US" sz="2400">
                          <a:effectLst/>
                        </a:rPr>
                        <a:t>dᵢ</a:t>
                      </a:r>
                      <a:endParaRPr lang="en-US" sz="2400" b="0">
                        <a:effectLst/>
                        <a:latin typeface="quote-cjk-patch"/>
                      </a:endParaRPr>
                    </a:p>
                  </a:txBody>
                  <a:tcPr marL="101600" marR="101600" marT="63500" marB="63500" anchor="ctr"/>
                </a:tc>
                <a:tc>
                  <a:txBody>
                    <a:bodyPr/>
                    <a:lstStyle/>
                    <a:p>
                      <a:pPr algn="l"/>
                      <a:r>
                        <a:rPr lang="en-US" sz="2400">
                          <a:effectLst/>
                        </a:rPr>
                        <a:t>aᵢ (link length)</a:t>
                      </a:r>
                      <a:endParaRPr lang="en-US" sz="2400" b="0">
                        <a:effectLst/>
                        <a:latin typeface="quote-cjk-patch"/>
                      </a:endParaRPr>
                    </a:p>
                  </a:txBody>
                  <a:tcPr marL="101600" marR="101600" marT="63500" marB="63500" anchor="ctr"/>
                </a:tc>
                <a:tc>
                  <a:txBody>
                    <a:bodyPr/>
                    <a:lstStyle/>
                    <a:p>
                      <a:pPr algn="l"/>
                      <a:r>
                        <a:rPr lang="el-GR" sz="2400" dirty="0">
                          <a:effectLst/>
                        </a:rPr>
                        <a:t>α</a:t>
                      </a:r>
                      <a:r>
                        <a:rPr lang="en-US" sz="2400" dirty="0">
                          <a:effectLst/>
                        </a:rPr>
                        <a:t>ᵢ</a:t>
                      </a:r>
                      <a:endParaRPr lang="en-US" sz="2400" b="0" dirty="0">
                        <a:effectLst/>
                        <a:latin typeface="quote-cjk-patch"/>
                      </a:endParaRPr>
                    </a:p>
                  </a:txBody>
                  <a:tcPr marL="101600" marR="101600" marT="63500" marB="63500" anchor="ctr"/>
                </a:tc>
                <a:extLst>
                  <a:ext uri="{0D108BD9-81ED-4DB2-BD59-A6C34878D82A}">
                    <a16:rowId xmlns:a16="http://schemas.microsoft.com/office/drawing/2014/main" val="564698048"/>
                  </a:ext>
                </a:extLst>
              </a:tr>
              <a:tr h="0">
                <a:tc>
                  <a:txBody>
                    <a:bodyPr/>
                    <a:lstStyle/>
                    <a:p>
                      <a:r>
                        <a:rPr lang="en-US" sz="2400" dirty="0">
                          <a:effectLst/>
                        </a:rPr>
                        <a:t>1</a:t>
                      </a:r>
                      <a:endParaRPr lang="en-US" sz="2400" b="0" dirty="0">
                        <a:effectLst/>
                        <a:latin typeface="quote-cjk-patch"/>
                      </a:endParaRPr>
                    </a:p>
                  </a:txBody>
                  <a:tcPr marR="101600" marT="63500" marB="63500" anchor="ctr"/>
                </a:tc>
                <a:tc>
                  <a:txBody>
                    <a:bodyPr/>
                    <a:lstStyle/>
                    <a:p>
                      <a:r>
                        <a:rPr lang="el-GR" sz="2400" dirty="0">
                          <a:effectLst/>
                        </a:rPr>
                        <a:t>θ₁</a:t>
                      </a:r>
                      <a:r>
                        <a:rPr lang="en-US" sz="2400" dirty="0">
                          <a:effectLst/>
                        </a:rPr>
                        <a:t> </a:t>
                      </a:r>
                      <a:r>
                        <a:rPr lang="en-US" sz="2000" dirty="0">
                          <a:effectLst/>
                        </a:rPr>
                        <a:t>(</a:t>
                      </a:r>
                      <a:r>
                        <a:rPr lang="en-US" sz="2400" b="0" i="0" kern="1200" dirty="0">
                          <a:solidFill>
                            <a:schemeClr val="tx1"/>
                          </a:solidFill>
                          <a:effectLst/>
                          <a:latin typeface="+mn-lt"/>
                          <a:ea typeface="+mn-ea"/>
                          <a:cs typeface="+mn-cs"/>
                        </a:rPr>
                        <a:t>30°, </a:t>
                      </a:r>
                      <a:r>
                        <a:rPr lang="en-US" sz="2400" b="1" i="0" kern="1200" dirty="0">
                          <a:solidFill>
                            <a:schemeClr val="tx1"/>
                          </a:solidFill>
                          <a:effectLst/>
                          <a:latin typeface="+mn-lt"/>
                          <a:ea typeface="+mn-ea"/>
                          <a:cs typeface="+mn-cs"/>
                        </a:rPr>
                        <a:t>0.5236 rad</a:t>
                      </a:r>
                      <a:r>
                        <a:rPr lang="en-US" sz="2400" dirty="0">
                          <a:effectLst/>
                        </a:rPr>
                        <a:t>)</a:t>
                      </a:r>
                      <a:endParaRPr lang="el-GR" sz="2400" b="0" dirty="0">
                        <a:effectLst/>
                        <a:latin typeface="quote-cjk-patch"/>
                      </a:endParaRPr>
                    </a:p>
                  </a:txBody>
                  <a:tcPr marL="101600" marR="101600" marT="63500" marB="63500" anchor="ctr"/>
                </a:tc>
                <a:tc>
                  <a:txBody>
                    <a:bodyPr/>
                    <a:lstStyle/>
                    <a:p>
                      <a:r>
                        <a:rPr lang="en-US" sz="2400" dirty="0">
                          <a:effectLst/>
                        </a:rPr>
                        <a:t>0</a:t>
                      </a:r>
                      <a:endParaRPr lang="en-US" sz="2400" b="0" dirty="0">
                        <a:effectLst/>
                        <a:latin typeface="quote-cjk-patch"/>
                      </a:endParaRPr>
                    </a:p>
                  </a:txBody>
                  <a:tcPr marL="101600" marR="101600" marT="63500" marB="63500" anchor="ctr"/>
                </a:tc>
                <a:tc>
                  <a:txBody>
                    <a:bodyPr/>
                    <a:lstStyle/>
                    <a:p>
                      <a:r>
                        <a:rPr lang="en-US" sz="2400" dirty="0">
                          <a:effectLst/>
                        </a:rPr>
                        <a:t>L₁</a:t>
                      </a:r>
                      <a:endParaRPr lang="en-US" sz="2400" b="0" dirty="0">
                        <a:effectLst/>
                        <a:latin typeface="quote-cjk-patch"/>
                      </a:endParaRPr>
                    </a:p>
                  </a:txBody>
                  <a:tcPr marL="101600" marR="101600" marT="63500" marB="63500" anchor="ctr"/>
                </a:tc>
                <a:tc>
                  <a:txBody>
                    <a:bodyPr/>
                    <a:lstStyle/>
                    <a:p>
                      <a:r>
                        <a:rPr lang="en-US" sz="2400" dirty="0">
                          <a:effectLst/>
                        </a:rPr>
                        <a:t>0</a:t>
                      </a:r>
                      <a:endParaRPr lang="en-US" sz="2400" b="0" dirty="0">
                        <a:effectLst/>
                        <a:latin typeface="quote-cjk-patch"/>
                      </a:endParaRPr>
                    </a:p>
                  </a:txBody>
                  <a:tcPr marL="101600" marT="63500" marB="63500" anchor="ctr"/>
                </a:tc>
                <a:extLst>
                  <a:ext uri="{0D108BD9-81ED-4DB2-BD59-A6C34878D82A}">
                    <a16:rowId xmlns:a16="http://schemas.microsoft.com/office/drawing/2014/main" val="2508213140"/>
                  </a:ext>
                </a:extLst>
              </a:tr>
              <a:tr h="0">
                <a:tc>
                  <a:txBody>
                    <a:bodyPr/>
                    <a:lstStyle/>
                    <a:p>
                      <a:r>
                        <a:rPr lang="en-US" sz="2400">
                          <a:effectLst/>
                        </a:rPr>
                        <a:t>2</a:t>
                      </a:r>
                      <a:endParaRPr lang="en-US" sz="2400" b="0">
                        <a:effectLst/>
                        <a:latin typeface="quote-cjk-patch"/>
                      </a:endParaRPr>
                    </a:p>
                  </a:txBody>
                  <a:tcPr marR="101600" marT="63500" marB="63500" anchor="ctr"/>
                </a:tc>
                <a:tc>
                  <a:txBody>
                    <a:bodyPr/>
                    <a:lstStyle/>
                    <a:p>
                      <a:r>
                        <a:rPr lang="el-GR" sz="2400" dirty="0">
                          <a:effectLst/>
                        </a:rPr>
                        <a:t>θ₂</a:t>
                      </a:r>
                      <a:r>
                        <a:rPr lang="en-US" sz="2400" dirty="0">
                          <a:effectLst/>
                        </a:rPr>
                        <a:t> (</a:t>
                      </a:r>
                      <a:r>
                        <a:rPr lang="en-US" sz="2400" b="0" i="0" kern="1200" dirty="0">
                          <a:solidFill>
                            <a:schemeClr val="tx1"/>
                          </a:solidFill>
                          <a:effectLst/>
                          <a:latin typeface="+mn-lt"/>
                          <a:ea typeface="+mn-ea"/>
                          <a:cs typeface="+mn-cs"/>
                        </a:rPr>
                        <a:t>45°, </a:t>
                      </a:r>
                      <a:r>
                        <a:rPr lang="en-US" sz="2400" b="1" i="0" kern="1200" dirty="0">
                          <a:solidFill>
                            <a:schemeClr val="tx1"/>
                          </a:solidFill>
                          <a:effectLst/>
                          <a:latin typeface="+mn-lt"/>
                          <a:ea typeface="+mn-ea"/>
                          <a:cs typeface="+mn-cs"/>
                        </a:rPr>
                        <a:t>0.7854 rad</a:t>
                      </a:r>
                      <a:r>
                        <a:rPr lang="en-US" sz="2400" dirty="0">
                          <a:effectLst/>
                        </a:rPr>
                        <a:t>)</a:t>
                      </a:r>
                      <a:endParaRPr lang="el-GR" sz="2400" b="0" dirty="0">
                        <a:effectLst/>
                        <a:latin typeface="quote-cjk-patch"/>
                      </a:endParaRPr>
                    </a:p>
                  </a:txBody>
                  <a:tcPr marL="101600" marR="101600" marT="63500" marB="63500" anchor="ctr"/>
                </a:tc>
                <a:tc>
                  <a:txBody>
                    <a:bodyPr/>
                    <a:lstStyle/>
                    <a:p>
                      <a:r>
                        <a:rPr lang="en-US" sz="2400" dirty="0">
                          <a:effectLst/>
                        </a:rPr>
                        <a:t>0</a:t>
                      </a:r>
                      <a:endParaRPr lang="en-US" sz="2400" b="0" dirty="0">
                        <a:effectLst/>
                        <a:latin typeface="quote-cjk-patch"/>
                      </a:endParaRPr>
                    </a:p>
                  </a:txBody>
                  <a:tcPr marL="101600" marR="101600" marT="63500" marB="63500" anchor="ctr"/>
                </a:tc>
                <a:tc>
                  <a:txBody>
                    <a:bodyPr/>
                    <a:lstStyle/>
                    <a:p>
                      <a:r>
                        <a:rPr lang="en-US" sz="2400" dirty="0">
                          <a:effectLst/>
                        </a:rPr>
                        <a:t>L₂</a:t>
                      </a:r>
                      <a:endParaRPr lang="en-US" sz="2400" b="0" dirty="0">
                        <a:effectLst/>
                        <a:latin typeface="quote-cjk-patch"/>
                      </a:endParaRPr>
                    </a:p>
                  </a:txBody>
                  <a:tcPr marL="101600" marR="101600" marT="63500" marB="63500" anchor="ctr"/>
                </a:tc>
                <a:tc>
                  <a:txBody>
                    <a:bodyPr/>
                    <a:lstStyle/>
                    <a:p>
                      <a:r>
                        <a:rPr lang="en-US" sz="2400" dirty="0">
                          <a:effectLst/>
                        </a:rPr>
                        <a:t>0</a:t>
                      </a:r>
                      <a:endParaRPr lang="en-US" sz="2400" b="0" dirty="0">
                        <a:effectLst/>
                        <a:latin typeface="quote-cjk-patch"/>
                      </a:endParaRPr>
                    </a:p>
                  </a:txBody>
                  <a:tcPr marL="101600" marT="63500" marB="63500" anchor="ctr"/>
                </a:tc>
                <a:extLst>
                  <a:ext uri="{0D108BD9-81ED-4DB2-BD59-A6C34878D82A}">
                    <a16:rowId xmlns:a16="http://schemas.microsoft.com/office/drawing/2014/main" val="1233658930"/>
                  </a:ext>
                </a:extLst>
              </a:tr>
            </a:tbl>
          </a:graphicData>
        </a:graphic>
      </p:graphicFrame>
      <p:sp>
        <p:nvSpPr>
          <p:cNvPr id="4" name="Date Placeholder 3">
            <a:extLst>
              <a:ext uri="{FF2B5EF4-FFF2-40B4-BE49-F238E27FC236}">
                <a16:creationId xmlns:a16="http://schemas.microsoft.com/office/drawing/2014/main" id="{09D8A2FA-525D-48EC-97C6-89B024BE8E2F}"/>
              </a:ext>
            </a:extLst>
          </p:cNvPr>
          <p:cNvSpPr>
            <a:spLocks noGrp="1"/>
          </p:cNvSpPr>
          <p:nvPr>
            <p:ph type="dt" sz="half" idx="10"/>
          </p:nvPr>
        </p:nvSpPr>
        <p:spPr/>
        <p:txBody>
          <a:bodyPr/>
          <a:lstStyle/>
          <a:p>
            <a:fld id="{98767FAE-B6FB-42DE-8B45-DBC1FCF41C5C}" type="datetime1">
              <a:rPr lang="en-US" smtClean="0"/>
              <a:t>3/8/2026</a:t>
            </a:fld>
            <a:endParaRPr lang="en-US"/>
          </a:p>
        </p:txBody>
      </p:sp>
      <p:sp>
        <p:nvSpPr>
          <p:cNvPr id="5" name="Slide Number Placeholder 4">
            <a:extLst>
              <a:ext uri="{FF2B5EF4-FFF2-40B4-BE49-F238E27FC236}">
                <a16:creationId xmlns:a16="http://schemas.microsoft.com/office/drawing/2014/main" id="{45739A60-A9A1-47FB-9E4D-1E123F6A9E17}"/>
              </a:ext>
            </a:extLst>
          </p:cNvPr>
          <p:cNvSpPr>
            <a:spLocks noGrp="1"/>
          </p:cNvSpPr>
          <p:nvPr>
            <p:ph type="sldNum" sz="quarter" idx="12"/>
          </p:nvPr>
        </p:nvSpPr>
        <p:spPr/>
        <p:txBody>
          <a:bodyPr/>
          <a:lstStyle/>
          <a:p>
            <a:fld id="{C29293D3-8374-41FE-B1E4-A635E9555193}" type="slidenum">
              <a:rPr lang="en-US" smtClean="0"/>
              <a:t>38</a:t>
            </a:fld>
            <a:endParaRPr lang="en-US"/>
          </a:p>
        </p:txBody>
      </p:sp>
      <p:sp>
        <p:nvSpPr>
          <p:cNvPr id="7" name="Rectangle 6">
            <a:extLst>
              <a:ext uri="{FF2B5EF4-FFF2-40B4-BE49-F238E27FC236}">
                <a16:creationId xmlns:a16="http://schemas.microsoft.com/office/drawing/2014/main" id="{AB699025-2E4A-4D06-8191-86B388AFB17A}"/>
              </a:ext>
            </a:extLst>
          </p:cNvPr>
          <p:cNvSpPr/>
          <p:nvPr/>
        </p:nvSpPr>
        <p:spPr>
          <a:xfrm>
            <a:off x="838199" y="1465074"/>
            <a:ext cx="7166321" cy="523220"/>
          </a:xfrm>
          <a:prstGeom prst="rect">
            <a:avLst/>
          </a:prstGeom>
        </p:spPr>
        <p:txBody>
          <a:bodyPr wrap="none">
            <a:spAutoFit/>
          </a:bodyPr>
          <a:lstStyle/>
          <a:p>
            <a:r>
              <a:rPr lang="en-US" sz="2800" b="1" dirty="0">
                <a:solidFill>
                  <a:srgbClr val="0F1115"/>
                </a:solidFill>
                <a:latin typeface="quote-cjk-patch"/>
              </a:rPr>
              <a:t>Standard DH Convention for 2-Link Planar Arm</a:t>
            </a:r>
            <a:r>
              <a:rPr lang="en-US" b="1" dirty="0">
                <a:solidFill>
                  <a:srgbClr val="0F1115"/>
                </a:solidFill>
                <a:latin typeface="quote-cjk-patch"/>
              </a:rPr>
              <a:t>:</a:t>
            </a:r>
            <a:endParaRPr lang="en-US" dirty="0"/>
          </a:p>
        </p:txBody>
      </p:sp>
      <p:sp>
        <p:nvSpPr>
          <p:cNvPr id="8" name="Rectangle 7">
            <a:extLst>
              <a:ext uri="{FF2B5EF4-FFF2-40B4-BE49-F238E27FC236}">
                <a16:creationId xmlns:a16="http://schemas.microsoft.com/office/drawing/2014/main" id="{F5F260FF-45EE-46EA-B5AE-977D2024B14D}"/>
              </a:ext>
            </a:extLst>
          </p:cNvPr>
          <p:cNvSpPr/>
          <p:nvPr/>
        </p:nvSpPr>
        <p:spPr>
          <a:xfrm>
            <a:off x="838199" y="3573767"/>
            <a:ext cx="9172576" cy="2677656"/>
          </a:xfrm>
          <a:prstGeom prst="rect">
            <a:avLst/>
          </a:prstGeom>
        </p:spPr>
        <p:txBody>
          <a:bodyPr wrap="square">
            <a:spAutoFit/>
          </a:bodyPr>
          <a:lstStyle/>
          <a:p>
            <a:r>
              <a:rPr lang="en-US" sz="2800" b="1" dirty="0">
                <a:solidFill>
                  <a:srgbClr val="0F1115"/>
                </a:solidFill>
                <a:latin typeface="quote-cjk-patch"/>
              </a:rPr>
              <a:t>Parameters for this example:</a:t>
            </a:r>
            <a:endParaRPr lang="en-US" sz="2800" dirty="0">
              <a:solidFill>
                <a:srgbClr val="0F1115"/>
              </a:solidFill>
              <a:latin typeface="quote-cjk-patch"/>
            </a:endParaRPr>
          </a:p>
          <a:p>
            <a:pPr marL="457200" indent="-457200">
              <a:buFont typeface="Arial" panose="020B0604020202020204" pitchFamily="34" charset="0"/>
              <a:buChar char="•"/>
            </a:pPr>
            <a:r>
              <a:rPr lang="en-US" sz="2800" dirty="0">
                <a:solidFill>
                  <a:srgbClr val="0F1115"/>
                </a:solidFill>
                <a:latin typeface="quote-cjk-patch"/>
              </a:rPr>
              <a:t>L₁ = </a:t>
            </a:r>
            <a:r>
              <a:rPr lang="en-US" sz="2800" b="1" dirty="0">
                <a:solidFill>
                  <a:srgbClr val="0F1115"/>
                </a:solidFill>
                <a:latin typeface="quote-cjk-patch"/>
              </a:rPr>
              <a:t>1.0 m</a:t>
            </a:r>
            <a:r>
              <a:rPr lang="en-US" sz="2800" dirty="0">
                <a:solidFill>
                  <a:srgbClr val="0F1115"/>
                </a:solidFill>
                <a:latin typeface="quote-cjk-patch"/>
              </a:rPr>
              <a:t> (first link length)</a:t>
            </a:r>
          </a:p>
          <a:p>
            <a:pPr marL="457200" indent="-457200">
              <a:buFont typeface="Arial" panose="020B0604020202020204" pitchFamily="34" charset="0"/>
              <a:buChar char="•"/>
            </a:pPr>
            <a:r>
              <a:rPr lang="en-US" sz="2800" dirty="0">
                <a:solidFill>
                  <a:srgbClr val="0F1115"/>
                </a:solidFill>
                <a:latin typeface="quote-cjk-patch"/>
              </a:rPr>
              <a:t>L₂ = </a:t>
            </a:r>
            <a:r>
              <a:rPr lang="en-US" sz="2800" b="1" dirty="0">
                <a:solidFill>
                  <a:srgbClr val="0F1115"/>
                </a:solidFill>
                <a:latin typeface="quote-cjk-patch"/>
              </a:rPr>
              <a:t>1.0 m</a:t>
            </a:r>
            <a:r>
              <a:rPr lang="en-US" sz="2800" dirty="0">
                <a:solidFill>
                  <a:srgbClr val="0F1115"/>
                </a:solidFill>
                <a:latin typeface="quote-cjk-patch"/>
              </a:rPr>
              <a:t> (second link length)</a:t>
            </a:r>
          </a:p>
          <a:p>
            <a:pPr marL="457200" indent="-457200">
              <a:buFont typeface="Arial" panose="020B0604020202020204" pitchFamily="34" charset="0"/>
              <a:buChar char="•"/>
            </a:pPr>
            <a:r>
              <a:rPr lang="en-US" sz="2800" dirty="0">
                <a:solidFill>
                  <a:srgbClr val="0F1115"/>
                </a:solidFill>
                <a:latin typeface="quote-cjk-patch"/>
              </a:rPr>
              <a:t>Both joints are </a:t>
            </a:r>
            <a:r>
              <a:rPr lang="en-US" sz="2800" b="1" dirty="0">
                <a:solidFill>
                  <a:srgbClr val="0F1115"/>
                </a:solidFill>
                <a:latin typeface="quote-cjk-patch"/>
              </a:rPr>
              <a:t>revolute</a:t>
            </a:r>
            <a:r>
              <a:rPr lang="en-US" sz="2800" dirty="0">
                <a:solidFill>
                  <a:srgbClr val="0F1115"/>
                </a:solidFill>
                <a:latin typeface="quote-cjk-patch"/>
              </a:rPr>
              <a:t> → θ₁ and θ₂ are variables</a:t>
            </a:r>
          </a:p>
          <a:p>
            <a:pPr marL="457200" indent="-457200">
              <a:buFont typeface="Arial" panose="020B0604020202020204" pitchFamily="34" charset="0"/>
              <a:buChar char="•"/>
            </a:pPr>
            <a:r>
              <a:rPr lang="en-US" sz="2800" dirty="0"/>
              <a:t>Arm is bent at 30° at shoulder, then another 45° at elbow</a:t>
            </a:r>
          </a:p>
          <a:p>
            <a:pPr marL="457200" indent="-457200">
              <a:buFont typeface="Arial" panose="020B0604020202020204" pitchFamily="34" charset="0"/>
              <a:buChar char="•"/>
            </a:pPr>
            <a:r>
              <a:rPr lang="en-US" sz="2800" dirty="0"/>
              <a:t>Joint angular velocities. </a:t>
            </a:r>
            <a:r>
              <a:rPr lang="el-GR" sz="2800" dirty="0"/>
              <a:t>θ₁</a:t>
            </a:r>
            <a:r>
              <a:rPr lang="en-US" sz="2800" dirty="0"/>
              <a:t> = 0.1 rad/s, </a:t>
            </a:r>
            <a:r>
              <a:rPr lang="el-GR" sz="2800" dirty="0"/>
              <a:t>θ₂</a:t>
            </a:r>
            <a:r>
              <a:rPr lang="en-US" sz="2800" dirty="0"/>
              <a:t> = 0.2 rad/s </a:t>
            </a:r>
            <a:endParaRPr lang="en-US" sz="2800" b="1" dirty="0"/>
          </a:p>
        </p:txBody>
      </p:sp>
    </p:spTree>
    <p:extLst>
      <p:ext uri="{BB962C8B-B14F-4D97-AF65-F5344CB8AC3E}">
        <p14:creationId xmlns:p14="http://schemas.microsoft.com/office/powerpoint/2010/main" val="28238793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887D-518F-4F4E-BA12-E34A5E086C53}"/>
              </a:ext>
            </a:extLst>
          </p:cNvPr>
          <p:cNvSpPr>
            <a:spLocks noGrp="1"/>
          </p:cNvSpPr>
          <p:nvPr>
            <p:ph type="title"/>
          </p:nvPr>
        </p:nvSpPr>
        <p:spPr/>
        <p:txBody>
          <a:bodyPr>
            <a:normAutofit/>
          </a:bodyPr>
          <a:lstStyle/>
          <a:p>
            <a:r>
              <a:rPr lang="en-US" b="1" dirty="0"/>
              <a:t>Forward Kinematics  - Hand Position</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8D610D5-CD2F-4CB9-B935-ABD5011088EF}"/>
                  </a:ext>
                </a:extLst>
              </p:cNvPr>
              <p:cNvSpPr>
                <a:spLocks noGrp="1"/>
              </p:cNvSpPr>
              <p:nvPr>
                <p:ph idx="1"/>
              </p:nvPr>
            </p:nvSpPr>
            <p:spPr/>
            <p:txBody>
              <a:bodyPr>
                <a:normAutofit fontScale="92500" lnSpcReduction="10000"/>
              </a:bodyPr>
              <a:lstStyle/>
              <a:p>
                <a:pPr marL="0" indent="0">
                  <a:buNone/>
                </a:pPr>
                <a14:m>
                  <m:oMath xmlns:m="http://schemas.openxmlformats.org/officeDocument/2006/math">
                    <m:sSub>
                      <m:sSubPr>
                        <m:ctrlPr>
                          <a:rPr lang="en-US" sz="3200" i="1" dirty="0">
                            <a:latin typeface="Cambria Math" panose="02040503050406030204" pitchFamily="18" charset="0"/>
                          </a:rPr>
                        </m:ctrlPr>
                      </m:sSubPr>
                      <m:e>
                        <m:r>
                          <m:rPr>
                            <m:nor/>
                          </m:rPr>
                          <a:rPr lang="el-GR" sz="3200" dirty="0"/>
                          <m:t>θ</m:t>
                        </m:r>
                      </m:e>
                      <m:sub>
                        <m:r>
                          <a:rPr lang="en-US" sz="3200" i="1" dirty="0">
                            <a:latin typeface="Cambria Math" panose="02040503050406030204" pitchFamily="18" charset="0"/>
                          </a:rPr>
                          <m:t>1</m:t>
                        </m:r>
                      </m:sub>
                    </m:sSub>
                  </m:oMath>
                </a14:m>
                <a:r>
                  <a:rPr lang="el-GR" sz="3200" dirty="0"/>
                  <a:t>=</a:t>
                </a:r>
                <a:r>
                  <a:rPr lang="en-US" sz="3200" dirty="0"/>
                  <a:t> </a:t>
                </a:r>
                <a:r>
                  <a:rPr lang="el-GR" sz="3200" dirty="0"/>
                  <a:t>0.5236,</a:t>
                </a:r>
                <a:r>
                  <a:rPr lang="en-US" sz="3200" dirty="0"/>
                  <a:t> </a:t>
                </a:r>
                <a14:m>
                  <m:oMath xmlns:m="http://schemas.openxmlformats.org/officeDocument/2006/math">
                    <m:sSub>
                      <m:sSubPr>
                        <m:ctrlPr>
                          <a:rPr lang="en-US" sz="3200" i="1" dirty="0">
                            <a:latin typeface="Cambria Math" panose="02040503050406030204" pitchFamily="18" charset="0"/>
                          </a:rPr>
                        </m:ctrlPr>
                      </m:sSubPr>
                      <m:e>
                        <m:r>
                          <m:rPr>
                            <m:nor/>
                          </m:rPr>
                          <a:rPr lang="el-GR" sz="3200" dirty="0"/>
                          <m:t>θ</m:t>
                        </m:r>
                      </m:e>
                      <m:sub>
                        <m:r>
                          <a:rPr lang="en-US" sz="3200" i="1" dirty="0">
                            <a:latin typeface="Cambria Math" panose="02040503050406030204" pitchFamily="18" charset="0"/>
                          </a:rPr>
                          <m:t>2</m:t>
                        </m:r>
                      </m:sub>
                    </m:sSub>
                    <m:r>
                      <a:rPr lang="en-US" sz="3200" i="1" dirty="0">
                        <a:latin typeface="Cambria Math" panose="02040503050406030204" pitchFamily="18" charset="0"/>
                      </a:rPr>
                      <m:t> </m:t>
                    </m:r>
                  </m:oMath>
                </a14:m>
                <a:r>
                  <a:rPr lang="el-GR" sz="3200" dirty="0"/>
                  <a:t>=1.0472,</a:t>
                </a:r>
                <a:r>
                  <a:rPr lang="en-US" sz="3200" dirty="0"/>
                  <a:t> </a:t>
                </a:r>
                <a14:m>
                  <m:oMath xmlns:m="http://schemas.openxmlformats.org/officeDocument/2006/math">
                    <m:sSub>
                      <m:sSubPr>
                        <m:ctrlPr>
                          <a:rPr lang="en-US" sz="3200" i="1" dirty="0">
                            <a:latin typeface="Cambria Math" panose="02040503050406030204" pitchFamily="18" charset="0"/>
                          </a:rPr>
                        </m:ctrlPr>
                      </m:sSubPr>
                      <m:e>
                        <m:r>
                          <m:rPr>
                            <m:nor/>
                          </m:rPr>
                          <a:rPr lang="el-GR" sz="3200" dirty="0"/>
                          <m:t>θ</m:t>
                        </m:r>
                      </m:e>
                      <m:sub>
                        <m:r>
                          <a:rPr lang="en-US" sz="3200" i="1" dirty="0">
                            <a:latin typeface="Cambria Math" panose="02040503050406030204" pitchFamily="18" charset="0"/>
                          </a:rPr>
                          <m:t>1</m:t>
                        </m:r>
                      </m:sub>
                    </m:sSub>
                  </m:oMath>
                </a14:m>
                <a:r>
                  <a:rPr lang="el-GR" sz="3200" dirty="0"/>
                  <a:t>+</a:t>
                </a:r>
                <a:r>
                  <a:rPr lang="en-US" sz="3200" dirty="0"/>
                  <a:t> </a:t>
                </a:r>
                <a14:m>
                  <m:oMath xmlns:m="http://schemas.openxmlformats.org/officeDocument/2006/math">
                    <m:sSub>
                      <m:sSubPr>
                        <m:ctrlPr>
                          <a:rPr lang="en-US" sz="3200" i="1" dirty="0">
                            <a:latin typeface="Cambria Math" panose="02040503050406030204" pitchFamily="18" charset="0"/>
                          </a:rPr>
                        </m:ctrlPr>
                      </m:sSubPr>
                      <m:e>
                        <m:r>
                          <m:rPr>
                            <m:nor/>
                          </m:rPr>
                          <a:rPr lang="el-GR" sz="3200" dirty="0"/>
                          <m:t>θ</m:t>
                        </m:r>
                      </m:e>
                      <m:sub>
                        <m:r>
                          <a:rPr lang="en-US" sz="3200" i="1" dirty="0">
                            <a:latin typeface="Cambria Math" panose="02040503050406030204" pitchFamily="18" charset="0"/>
                          </a:rPr>
                          <m:t>2</m:t>
                        </m:r>
                      </m:sub>
                    </m:sSub>
                    <m:r>
                      <a:rPr lang="en-US" sz="3200" i="1" dirty="0">
                        <a:latin typeface="Cambria Math" panose="02040503050406030204" pitchFamily="18" charset="0"/>
                      </a:rPr>
                      <m:t> </m:t>
                    </m:r>
                  </m:oMath>
                </a14:m>
                <a:r>
                  <a:rPr lang="el-GR" sz="3200" dirty="0"/>
                  <a:t>=</a:t>
                </a:r>
                <a:r>
                  <a:rPr lang="en-US" sz="3200" dirty="0"/>
                  <a:t> </a:t>
                </a:r>
                <a:r>
                  <a:rPr lang="el-GR" sz="3200" dirty="0"/>
                  <a:t>1.5708  </a:t>
                </a:r>
                <a:r>
                  <a:rPr lang="en-US" sz="3200" dirty="0"/>
                  <a:t>rad</a:t>
                </a:r>
              </a:p>
              <a:p>
                <a:r>
                  <a:rPr lang="en-US" sz="3200" dirty="0"/>
                  <a:t>x = L₁·cos </a:t>
                </a:r>
                <a:r>
                  <a:rPr lang="el-GR" sz="3200" dirty="0"/>
                  <a:t>θ₁ + </a:t>
                </a:r>
                <a:r>
                  <a:rPr lang="en-US" sz="3200" dirty="0"/>
                  <a:t>L₂·cos(</a:t>
                </a:r>
                <a:r>
                  <a:rPr lang="el-GR" sz="3200" dirty="0"/>
                  <a:t>θ₁ + θ₂)</a:t>
                </a:r>
                <a:endParaRPr lang="en-US" sz="3200" dirty="0"/>
              </a:p>
              <a:p>
                <a:pPr marL="0" indent="0">
                  <a:buNone/>
                </a:pPr>
                <a:r>
                  <a:rPr lang="en-US" sz="3200" dirty="0"/>
                  <a:t>     = 1⋅cos⁡(0.5236) + 1⋅cos⁡(1.5708) </a:t>
                </a:r>
              </a:p>
              <a:p>
                <a:pPr marL="0" indent="0">
                  <a:buNone/>
                </a:pPr>
                <a:r>
                  <a:rPr lang="en-US" sz="3200" dirty="0"/>
                  <a:t>     = 0.8660 + 0 = 0.8660 m</a:t>
                </a:r>
                <a:endParaRPr lang="el-GR" sz="3200" dirty="0"/>
              </a:p>
              <a:p>
                <a:r>
                  <a:rPr lang="en-US" sz="3200" dirty="0"/>
                  <a:t>y = L₁·sin </a:t>
                </a:r>
                <a:r>
                  <a:rPr lang="el-GR" sz="3200" dirty="0"/>
                  <a:t>θ₁ + </a:t>
                </a:r>
                <a:r>
                  <a:rPr lang="en-US" sz="3200" dirty="0"/>
                  <a:t>L₂·sin(</a:t>
                </a:r>
                <a:r>
                  <a:rPr lang="el-GR" sz="3200" dirty="0"/>
                  <a:t>θ₁ + θ₂)</a:t>
                </a:r>
                <a:endParaRPr lang="en-US" sz="3200" dirty="0"/>
              </a:p>
              <a:p>
                <a:pPr marL="0" indent="0">
                  <a:buNone/>
                </a:pPr>
                <a:r>
                  <a:rPr lang="es-ES" sz="3200" dirty="0"/>
                  <a:t>      = </a:t>
                </a:r>
                <a:r>
                  <a:rPr lang="en-US" sz="3200" dirty="0"/>
                  <a:t>1⋅sin⁡(0.5236) + 1⋅sin⁡(1.5708) </a:t>
                </a:r>
              </a:p>
              <a:p>
                <a:pPr marL="0" indent="0">
                  <a:buNone/>
                </a:pPr>
                <a:r>
                  <a:rPr lang="en-US" sz="3200" dirty="0"/>
                  <a:t>      = 0.5+1 = 1.5 m</a:t>
                </a:r>
              </a:p>
              <a:p>
                <a:r>
                  <a:rPr lang="en-US" sz="3200" dirty="0"/>
                  <a:t>These equations tell us </a:t>
                </a:r>
                <a:r>
                  <a:rPr lang="en-US" sz="3200" b="1" dirty="0"/>
                  <a:t>where</a:t>
                </a:r>
                <a:r>
                  <a:rPr lang="en-US" sz="3200" dirty="0"/>
                  <a:t> the hand is. Now we need </a:t>
                </a:r>
                <a:r>
                  <a:rPr lang="en-US" sz="3200" b="1" dirty="0"/>
                  <a:t>how fast</a:t>
                </a:r>
                <a:r>
                  <a:rPr lang="en-US" sz="3200" dirty="0"/>
                  <a:t> it's moving.</a:t>
                </a:r>
                <a:endParaRPr lang="es-ES" sz="3200" dirty="0"/>
              </a:p>
              <a:p>
                <a:pPr lvl="1"/>
                <a:endParaRPr lang="en-US" dirty="0"/>
              </a:p>
            </p:txBody>
          </p:sp>
        </mc:Choice>
        <mc:Fallback>
          <p:sp>
            <p:nvSpPr>
              <p:cNvPr id="3" name="Content Placeholder 2">
                <a:extLst>
                  <a:ext uri="{FF2B5EF4-FFF2-40B4-BE49-F238E27FC236}">
                    <a16:creationId xmlns:a16="http://schemas.microsoft.com/office/drawing/2014/main" id="{48D610D5-CD2F-4CB9-B935-ABD5011088EF}"/>
                  </a:ext>
                </a:extLst>
              </p:cNvPr>
              <p:cNvSpPr>
                <a:spLocks noGrp="1" noRot="1" noChangeAspect="1" noMove="1" noResize="1" noEditPoints="1" noAdjustHandles="1" noChangeArrowheads="1" noChangeShapeType="1" noTextEdit="1"/>
              </p:cNvSpPr>
              <p:nvPr>
                <p:ph idx="1"/>
              </p:nvPr>
            </p:nvSpPr>
            <p:spPr>
              <a:blipFill>
                <a:blip r:embed="rId2"/>
                <a:stretch>
                  <a:fillRect l="-1217" t="-3641" b="-280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5F124C98-9C82-44C8-B067-7D8AB4683DF3}"/>
              </a:ext>
            </a:extLst>
          </p:cNvPr>
          <p:cNvSpPr>
            <a:spLocks noGrp="1"/>
          </p:cNvSpPr>
          <p:nvPr>
            <p:ph type="dt" sz="half" idx="10"/>
          </p:nvPr>
        </p:nvSpPr>
        <p:spPr/>
        <p:txBody>
          <a:bodyPr/>
          <a:lstStyle/>
          <a:p>
            <a:fld id="{98767FAE-B6FB-42DE-8B45-DBC1FCF41C5C}" type="datetime1">
              <a:rPr lang="en-US" smtClean="0"/>
              <a:t>3/8/2026</a:t>
            </a:fld>
            <a:endParaRPr lang="en-US"/>
          </a:p>
        </p:txBody>
      </p:sp>
      <p:sp>
        <p:nvSpPr>
          <p:cNvPr id="5" name="Slide Number Placeholder 4">
            <a:extLst>
              <a:ext uri="{FF2B5EF4-FFF2-40B4-BE49-F238E27FC236}">
                <a16:creationId xmlns:a16="http://schemas.microsoft.com/office/drawing/2014/main" id="{0D205824-E2FE-4F29-ABB8-C57EE69142BC}"/>
              </a:ext>
            </a:extLst>
          </p:cNvPr>
          <p:cNvSpPr>
            <a:spLocks noGrp="1"/>
          </p:cNvSpPr>
          <p:nvPr>
            <p:ph type="sldNum" sz="quarter" idx="12"/>
          </p:nvPr>
        </p:nvSpPr>
        <p:spPr/>
        <p:txBody>
          <a:bodyPr/>
          <a:lstStyle/>
          <a:p>
            <a:fld id="{C29293D3-8374-41FE-B1E4-A635E9555193}" type="slidenum">
              <a:rPr lang="en-US" smtClean="0"/>
              <a:t>39</a:t>
            </a:fld>
            <a:endParaRPr lang="en-US"/>
          </a:p>
        </p:txBody>
      </p:sp>
    </p:spTree>
    <p:extLst>
      <p:ext uri="{BB962C8B-B14F-4D97-AF65-F5344CB8AC3E}">
        <p14:creationId xmlns:p14="http://schemas.microsoft.com/office/powerpoint/2010/main" val="35180452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C2186-B11B-4486-9562-2C9F6ACE935B}"/>
              </a:ext>
            </a:extLst>
          </p:cNvPr>
          <p:cNvSpPr>
            <a:spLocks noGrp="1"/>
          </p:cNvSpPr>
          <p:nvPr>
            <p:ph type="title"/>
          </p:nvPr>
        </p:nvSpPr>
        <p:spPr/>
        <p:txBody>
          <a:bodyPr/>
          <a:lstStyle/>
          <a:p>
            <a:r>
              <a:rPr lang="en-US" b="1" dirty="0"/>
              <a:t>The Jacobian Matrix (Linear Velocity Only)</a:t>
            </a:r>
            <a:endParaRPr lang="en-US" dirty="0"/>
          </a:p>
        </p:txBody>
      </p:sp>
      <p:sp>
        <p:nvSpPr>
          <p:cNvPr id="3" name="Date Placeholder 2">
            <a:extLst>
              <a:ext uri="{FF2B5EF4-FFF2-40B4-BE49-F238E27FC236}">
                <a16:creationId xmlns:a16="http://schemas.microsoft.com/office/drawing/2014/main" id="{FBDC574E-433A-441D-B958-6C108BA14300}"/>
              </a:ext>
            </a:extLst>
          </p:cNvPr>
          <p:cNvSpPr>
            <a:spLocks noGrp="1"/>
          </p:cNvSpPr>
          <p:nvPr>
            <p:ph type="dt" sz="half" idx="10"/>
          </p:nvPr>
        </p:nvSpPr>
        <p:spPr/>
        <p:txBody>
          <a:bodyPr/>
          <a:lstStyle/>
          <a:p>
            <a:fld id="{AFF8A50C-CC76-4AA1-9E97-218D1EF923F8}" type="datetime1">
              <a:rPr lang="en-US" smtClean="0"/>
              <a:t>3/8/2026</a:t>
            </a:fld>
            <a:endParaRPr lang="en-US"/>
          </a:p>
        </p:txBody>
      </p:sp>
      <p:sp>
        <p:nvSpPr>
          <p:cNvPr id="5" name="Slide Number Placeholder 4">
            <a:extLst>
              <a:ext uri="{FF2B5EF4-FFF2-40B4-BE49-F238E27FC236}">
                <a16:creationId xmlns:a16="http://schemas.microsoft.com/office/drawing/2014/main" id="{2006DB13-2915-4CA5-873A-D8A1A8D6CAC0}"/>
              </a:ext>
            </a:extLst>
          </p:cNvPr>
          <p:cNvSpPr>
            <a:spLocks noGrp="1"/>
          </p:cNvSpPr>
          <p:nvPr>
            <p:ph type="sldNum" sz="quarter" idx="12"/>
          </p:nvPr>
        </p:nvSpPr>
        <p:spPr/>
        <p:txBody>
          <a:bodyPr/>
          <a:lstStyle/>
          <a:p>
            <a:fld id="{C29293D3-8374-41FE-B1E4-A635E9555193}" type="slidenum">
              <a:rPr lang="en-US" smtClean="0"/>
              <a:t>40</a:t>
            </a:fld>
            <a:endParaRPr lang="en-US"/>
          </a:p>
        </p:txBody>
      </p:sp>
      <p:sp>
        <p:nvSpPr>
          <p:cNvPr id="7" name="Content Placeholder 6">
            <a:extLst>
              <a:ext uri="{FF2B5EF4-FFF2-40B4-BE49-F238E27FC236}">
                <a16:creationId xmlns:a16="http://schemas.microsoft.com/office/drawing/2014/main" id="{91BD71BC-C827-4DB1-8795-106D825B1F8A}"/>
              </a:ext>
            </a:extLst>
          </p:cNvPr>
          <p:cNvSpPr>
            <a:spLocks noGrp="1"/>
          </p:cNvSpPr>
          <p:nvPr>
            <p:ph idx="1"/>
          </p:nvPr>
        </p:nvSpPr>
        <p:spPr/>
        <p:txBody>
          <a:bodyPr/>
          <a:lstStyle/>
          <a:p>
            <a:r>
              <a:rPr lang="en-US" dirty="0"/>
              <a:t>Relationship between joint velocities and hand velocity</a:t>
            </a:r>
          </a:p>
          <a:p>
            <a:endParaRPr lang="en-US" b="1" dirty="0"/>
          </a:p>
          <a:p>
            <a:endParaRPr lang="en-US" dirty="0"/>
          </a:p>
          <a:p>
            <a:endParaRPr lang="en-US" dirty="0"/>
          </a:p>
          <a:p>
            <a:r>
              <a:rPr lang="en-US" dirty="0"/>
              <a:t>For a 2-link planar arm, the Jacobian is a 2×2 matrix</a:t>
            </a:r>
          </a:p>
        </p:txBody>
      </p:sp>
      <p:pic>
        <p:nvPicPr>
          <p:cNvPr id="8" name="Picture 7">
            <a:extLst>
              <a:ext uri="{FF2B5EF4-FFF2-40B4-BE49-F238E27FC236}">
                <a16:creationId xmlns:a16="http://schemas.microsoft.com/office/drawing/2014/main" id="{03C9AE4C-0239-43DF-B8B5-435B4E9CD788}"/>
              </a:ext>
            </a:extLst>
          </p:cNvPr>
          <p:cNvPicPr>
            <a:picLocks noChangeAspect="1"/>
          </p:cNvPicPr>
          <p:nvPr/>
        </p:nvPicPr>
        <p:blipFill>
          <a:blip r:embed="rId2"/>
          <a:stretch>
            <a:fillRect/>
          </a:stretch>
        </p:blipFill>
        <p:spPr>
          <a:xfrm>
            <a:off x="4654505" y="2282811"/>
            <a:ext cx="3871880" cy="1146189"/>
          </a:xfrm>
          <a:prstGeom prst="rect">
            <a:avLst/>
          </a:prstGeom>
        </p:spPr>
      </p:pic>
      <p:pic>
        <p:nvPicPr>
          <p:cNvPr id="9" name="Picture 8">
            <a:extLst>
              <a:ext uri="{FF2B5EF4-FFF2-40B4-BE49-F238E27FC236}">
                <a16:creationId xmlns:a16="http://schemas.microsoft.com/office/drawing/2014/main" id="{F96C7AA4-4F08-4466-B61E-0720D4C8CD57}"/>
              </a:ext>
            </a:extLst>
          </p:cNvPr>
          <p:cNvPicPr>
            <a:picLocks noChangeAspect="1"/>
          </p:cNvPicPr>
          <p:nvPr/>
        </p:nvPicPr>
        <p:blipFill>
          <a:blip r:embed="rId3"/>
          <a:stretch>
            <a:fillRect/>
          </a:stretch>
        </p:blipFill>
        <p:spPr>
          <a:xfrm>
            <a:off x="4654505" y="4379103"/>
            <a:ext cx="3584620" cy="1887554"/>
          </a:xfrm>
          <a:prstGeom prst="rect">
            <a:avLst/>
          </a:prstGeom>
        </p:spPr>
      </p:pic>
    </p:spTree>
    <p:extLst>
      <p:ext uri="{BB962C8B-B14F-4D97-AF65-F5344CB8AC3E}">
        <p14:creationId xmlns:p14="http://schemas.microsoft.com/office/powerpoint/2010/main" val="36867589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93ACA-74CF-4723-91E0-DA7CB84F07DE}"/>
              </a:ext>
            </a:extLst>
          </p:cNvPr>
          <p:cNvSpPr>
            <a:spLocks noGrp="1"/>
          </p:cNvSpPr>
          <p:nvPr>
            <p:ph type="title"/>
          </p:nvPr>
        </p:nvSpPr>
        <p:spPr/>
        <p:txBody>
          <a:bodyPr/>
          <a:lstStyle/>
          <a:p>
            <a:r>
              <a:rPr lang="en-US" b="1" dirty="0"/>
              <a:t>Deriving the Jacobian Terms</a:t>
            </a:r>
            <a:endParaRPr lang="en-US" dirty="0"/>
          </a:p>
        </p:txBody>
      </p:sp>
      <p:graphicFrame>
        <p:nvGraphicFramePr>
          <p:cNvPr id="6" name="Content Placeholder 5">
            <a:extLst>
              <a:ext uri="{FF2B5EF4-FFF2-40B4-BE49-F238E27FC236}">
                <a16:creationId xmlns:a16="http://schemas.microsoft.com/office/drawing/2014/main" id="{DB2F8A1C-B499-4F9D-A45F-26267E515695}"/>
              </a:ext>
            </a:extLst>
          </p:cNvPr>
          <p:cNvGraphicFramePr>
            <a:graphicFrameLocks noGrp="1"/>
          </p:cNvGraphicFramePr>
          <p:nvPr>
            <p:ph idx="1"/>
            <p:extLst>
              <p:ext uri="{D42A27DB-BD31-4B8C-83A1-F6EECF244321}">
                <p14:modId xmlns:p14="http://schemas.microsoft.com/office/powerpoint/2010/main" val="387513250"/>
              </p:ext>
            </p:extLst>
          </p:nvPr>
        </p:nvGraphicFramePr>
        <p:xfrm>
          <a:off x="838200" y="2094622"/>
          <a:ext cx="10372725" cy="2463800"/>
        </p:xfrm>
        <a:graphic>
          <a:graphicData uri="http://schemas.openxmlformats.org/drawingml/2006/table">
            <a:tbl>
              <a:tblPr>
                <a:tableStyleId>{5940675A-B579-460E-94D1-54222C63F5DA}</a:tableStyleId>
              </a:tblPr>
              <a:tblGrid>
                <a:gridCol w="2009774">
                  <a:extLst>
                    <a:ext uri="{9D8B030D-6E8A-4147-A177-3AD203B41FA5}">
                      <a16:colId xmlns:a16="http://schemas.microsoft.com/office/drawing/2014/main" val="2278235699"/>
                    </a:ext>
                  </a:extLst>
                </a:gridCol>
                <a:gridCol w="3648075">
                  <a:extLst>
                    <a:ext uri="{9D8B030D-6E8A-4147-A177-3AD203B41FA5}">
                      <a16:colId xmlns:a16="http://schemas.microsoft.com/office/drawing/2014/main" val="1269738266"/>
                    </a:ext>
                  </a:extLst>
                </a:gridCol>
                <a:gridCol w="4714876">
                  <a:extLst>
                    <a:ext uri="{9D8B030D-6E8A-4147-A177-3AD203B41FA5}">
                      <a16:colId xmlns:a16="http://schemas.microsoft.com/office/drawing/2014/main" val="2192648735"/>
                    </a:ext>
                  </a:extLst>
                </a:gridCol>
              </a:tblGrid>
              <a:tr h="0">
                <a:tc>
                  <a:txBody>
                    <a:bodyPr/>
                    <a:lstStyle/>
                    <a:p>
                      <a:pPr algn="l"/>
                      <a:r>
                        <a:rPr lang="en-US" sz="2400" b="1">
                          <a:effectLst/>
                        </a:rPr>
                        <a:t>Term</a:t>
                      </a:r>
                      <a:endParaRPr lang="en-US" sz="2400" b="1">
                        <a:effectLst/>
                        <a:latin typeface="quote-cjk-patch"/>
                      </a:endParaRPr>
                    </a:p>
                  </a:txBody>
                  <a:tcPr marR="101600" marT="63500" marB="63500" anchor="ctr"/>
                </a:tc>
                <a:tc>
                  <a:txBody>
                    <a:bodyPr/>
                    <a:lstStyle/>
                    <a:p>
                      <a:pPr algn="l"/>
                      <a:r>
                        <a:rPr lang="en-US" sz="2400" b="1">
                          <a:effectLst/>
                        </a:rPr>
                        <a:t>Formula</a:t>
                      </a:r>
                      <a:endParaRPr lang="en-US" sz="2400" b="1">
                        <a:effectLst/>
                        <a:latin typeface="quote-cjk-patch"/>
                      </a:endParaRPr>
                    </a:p>
                  </a:txBody>
                  <a:tcPr marL="101600" marR="101600" marT="63500" marB="63500" anchor="ctr"/>
                </a:tc>
                <a:tc>
                  <a:txBody>
                    <a:bodyPr/>
                    <a:lstStyle/>
                    <a:p>
                      <a:pPr algn="l"/>
                      <a:r>
                        <a:rPr lang="en-US" sz="2400" b="1" dirty="0">
                          <a:effectLst/>
                        </a:rPr>
                        <a:t>Meaning</a:t>
                      </a:r>
                      <a:endParaRPr lang="en-US" sz="2400" b="1" dirty="0">
                        <a:effectLst/>
                        <a:latin typeface="quote-cjk-patch"/>
                      </a:endParaRPr>
                    </a:p>
                  </a:txBody>
                  <a:tcPr marL="101600" marR="101600" marT="63500" marB="63500" anchor="ctr"/>
                </a:tc>
                <a:extLst>
                  <a:ext uri="{0D108BD9-81ED-4DB2-BD59-A6C34878D82A}">
                    <a16:rowId xmlns:a16="http://schemas.microsoft.com/office/drawing/2014/main" val="3570763399"/>
                  </a:ext>
                </a:extLst>
              </a:tr>
              <a:tr h="0">
                <a:tc>
                  <a:txBody>
                    <a:bodyPr/>
                    <a:lstStyle/>
                    <a:p>
                      <a:r>
                        <a:rPr lang="en-US" sz="2400">
                          <a:effectLst/>
                        </a:rPr>
                        <a:t>∂x/∂</a:t>
                      </a:r>
                      <a:r>
                        <a:rPr lang="el-GR" sz="2400">
                          <a:effectLst/>
                        </a:rPr>
                        <a:t>θ₁</a:t>
                      </a:r>
                      <a:endParaRPr lang="el-GR" sz="2400" b="0">
                        <a:effectLst/>
                        <a:latin typeface="quote-cjk-patch"/>
                      </a:endParaRPr>
                    </a:p>
                  </a:txBody>
                  <a:tcPr marR="101600" marT="63500" marB="63500" anchor="ctr"/>
                </a:tc>
                <a:tc>
                  <a:txBody>
                    <a:bodyPr/>
                    <a:lstStyle/>
                    <a:p>
                      <a:r>
                        <a:rPr lang="en-US" sz="2400">
                          <a:effectLst/>
                        </a:rPr>
                        <a:t>-L₁·sin </a:t>
                      </a:r>
                      <a:r>
                        <a:rPr lang="el-GR" sz="2400">
                          <a:effectLst/>
                        </a:rPr>
                        <a:t>θ₁ - </a:t>
                      </a:r>
                      <a:r>
                        <a:rPr lang="en-US" sz="2400">
                          <a:effectLst/>
                        </a:rPr>
                        <a:t>L₂·sin(</a:t>
                      </a:r>
                      <a:r>
                        <a:rPr lang="el-GR" sz="2400">
                          <a:effectLst/>
                        </a:rPr>
                        <a:t>θ₁+θ₂)</a:t>
                      </a:r>
                      <a:endParaRPr lang="el-GR" sz="2400" b="0">
                        <a:effectLst/>
                        <a:latin typeface="quote-cjk-patch"/>
                      </a:endParaRPr>
                    </a:p>
                  </a:txBody>
                  <a:tcPr marL="101600" marR="101600" marT="63500" marB="63500" anchor="ctr"/>
                </a:tc>
                <a:tc>
                  <a:txBody>
                    <a:bodyPr/>
                    <a:lstStyle/>
                    <a:p>
                      <a:r>
                        <a:rPr lang="en-US" sz="2400" dirty="0">
                          <a:effectLst/>
                        </a:rPr>
                        <a:t>How x changes with shoulder angle</a:t>
                      </a:r>
                      <a:endParaRPr lang="en-US" sz="2400" b="0" dirty="0">
                        <a:effectLst/>
                        <a:latin typeface="quote-cjk-patch"/>
                      </a:endParaRPr>
                    </a:p>
                  </a:txBody>
                  <a:tcPr marL="101600" marT="63500" marB="63500" anchor="ctr"/>
                </a:tc>
                <a:extLst>
                  <a:ext uri="{0D108BD9-81ED-4DB2-BD59-A6C34878D82A}">
                    <a16:rowId xmlns:a16="http://schemas.microsoft.com/office/drawing/2014/main" val="2735350016"/>
                  </a:ext>
                </a:extLst>
              </a:tr>
              <a:tr h="0">
                <a:tc>
                  <a:txBody>
                    <a:bodyPr/>
                    <a:lstStyle/>
                    <a:p>
                      <a:r>
                        <a:rPr lang="en-US" sz="2400">
                          <a:effectLst/>
                        </a:rPr>
                        <a:t>∂x/∂</a:t>
                      </a:r>
                      <a:r>
                        <a:rPr lang="el-GR" sz="2400">
                          <a:effectLst/>
                        </a:rPr>
                        <a:t>θ₂</a:t>
                      </a:r>
                      <a:endParaRPr lang="el-GR" sz="2400" b="0">
                        <a:effectLst/>
                        <a:latin typeface="quote-cjk-patch"/>
                      </a:endParaRPr>
                    </a:p>
                  </a:txBody>
                  <a:tcPr marR="101600" marT="63500" marB="63500" anchor="ctr"/>
                </a:tc>
                <a:tc>
                  <a:txBody>
                    <a:bodyPr/>
                    <a:lstStyle/>
                    <a:p>
                      <a:r>
                        <a:rPr lang="en-US" sz="2400">
                          <a:effectLst/>
                        </a:rPr>
                        <a:t>-L₂·sin(</a:t>
                      </a:r>
                      <a:r>
                        <a:rPr lang="el-GR" sz="2400">
                          <a:effectLst/>
                        </a:rPr>
                        <a:t>θ₁+θ₂)</a:t>
                      </a:r>
                      <a:endParaRPr lang="el-GR" sz="2400" b="0">
                        <a:effectLst/>
                        <a:latin typeface="quote-cjk-patch"/>
                      </a:endParaRPr>
                    </a:p>
                  </a:txBody>
                  <a:tcPr marL="101600" marR="101600" marT="63500" marB="63500" anchor="ctr"/>
                </a:tc>
                <a:tc>
                  <a:txBody>
                    <a:bodyPr/>
                    <a:lstStyle/>
                    <a:p>
                      <a:r>
                        <a:rPr lang="en-US" sz="2400" dirty="0">
                          <a:effectLst/>
                        </a:rPr>
                        <a:t>How x changes with elbow angle</a:t>
                      </a:r>
                      <a:endParaRPr lang="en-US" sz="2400" b="0" dirty="0">
                        <a:effectLst/>
                        <a:latin typeface="quote-cjk-patch"/>
                      </a:endParaRPr>
                    </a:p>
                  </a:txBody>
                  <a:tcPr marL="101600" marT="63500" marB="63500" anchor="ctr"/>
                </a:tc>
                <a:extLst>
                  <a:ext uri="{0D108BD9-81ED-4DB2-BD59-A6C34878D82A}">
                    <a16:rowId xmlns:a16="http://schemas.microsoft.com/office/drawing/2014/main" val="890198887"/>
                  </a:ext>
                </a:extLst>
              </a:tr>
              <a:tr h="0">
                <a:tc>
                  <a:txBody>
                    <a:bodyPr/>
                    <a:lstStyle/>
                    <a:p>
                      <a:r>
                        <a:rPr lang="en-US" sz="2400">
                          <a:effectLst/>
                        </a:rPr>
                        <a:t>∂y/∂</a:t>
                      </a:r>
                      <a:r>
                        <a:rPr lang="el-GR" sz="2400">
                          <a:effectLst/>
                        </a:rPr>
                        <a:t>θ₁</a:t>
                      </a:r>
                      <a:endParaRPr lang="el-GR" sz="2400" b="0">
                        <a:effectLst/>
                        <a:latin typeface="quote-cjk-patch"/>
                      </a:endParaRPr>
                    </a:p>
                  </a:txBody>
                  <a:tcPr marR="101600" marT="63500" marB="63500" anchor="ctr"/>
                </a:tc>
                <a:tc>
                  <a:txBody>
                    <a:bodyPr/>
                    <a:lstStyle/>
                    <a:p>
                      <a:r>
                        <a:rPr lang="en-US" sz="2400">
                          <a:effectLst/>
                        </a:rPr>
                        <a:t>L₁·cos </a:t>
                      </a:r>
                      <a:r>
                        <a:rPr lang="el-GR" sz="2400">
                          <a:effectLst/>
                        </a:rPr>
                        <a:t>θ₁ + </a:t>
                      </a:r>
                      <a:r>
                        <a:rPr lang="en-US" sz="2400">
                          <a:effectLst/>
                        </a:rPr>
                        <a:t>L₂·cos(</a:t>
                      </a:r>
                      <a:r>
                        <a:rPr lang="el-GR" sz="2400">
                          <a:effectLst/>
                        </a:rPr>
                        <a:t>θ₁+θ₂)</a:t>
                      </a:r>
                      <a:endParaRPr lang="el-GR" sz="2400" b="0">
                        <a:effectLst/>
                        <a:latin typeface="quote-cjk-patch"/>
                      </a:endParaRPr>
                    </a:p>
                  </a:txBody>
                  <a:tcPr marL="101600" marR="101600" marT="63500" marB="63500" anchor="ctr"/>
                </a:tc>
                <a:tc>
                  <a:txBody>
                    <a:bodyPr/>
                    <a:lstStyle/>
                    <a:p>
                      <a:r>
                        <a:rPr lang="en-US" sz="2400" dirty="0">
                          <a:effectLst/>
                        </a:rPr>
                        <a:t>How y changes with shoulder angle</a:t>
                      </a:r>
                      <a:endParaRPr lang="en-US" sz="2400" b="0" dirty="0">
                        <a:effectLst/>
                        <a:latin typeface="quote-cjk-patch"/>
                      </a:endParaRPr>
                    </a:p>
                  </a:txBody>
                  <a:tcPr marL="101600" marT="63500" marB="63500" anchor="ctr"/>
                </a:tc>
                <a:extLst>
                  <a:ext uri="{0D108BD9-81ED-4DB2-BD59-A6C34878D82A}">
                    <a16:rowId xmlns:a16="http://schemas.microsoft.com/office/drawing/2014/main" val="3303559110"/>
                  </a:ext>
                </a:extLst>
              </a:tr>
              <a:tr h="0">
                <a:tc>
                  <a:txBody>
                    <a:bodyPr/>
                    <a:lstStyle/>
                    <a:p>
                      <a:r>
                        <a:rPr lang="en-US" sz="2400">
                          <a:effectLst/>
                        </a:rPr>
                        <a:t>∂y/∂</a:t>
                      </a:r>
                      <a:r>
                        <a:rPr lang="el-GR" sz="2400">
                          <a:effectLst/>
                        </a:rPr>
                        <a:t>θ₂</a:t>
                      </a:r>
                      <a:endParaRPr lang="el-GR" sz="2400" b="0">
                        <a:effectLst/>
                        <a:latin typeface="quote-cjk-patch"/>
                      </a:endParaRPr>
                    </a:p>
                  </a:txBody>
                  <a:tcPr marR="101600" marT="63500" marB="63500" anchor="ctr"/>
                </a:tc>
                <a:tc>
                  <a:txBody>
                    <a:bodyPr/>
                    <a:lstStyle/>
                    <a:p>
                      <a:r>
                        <a:rPr lang="en-US" sz="2400">
                          <a:effectLst/>
                        </a:rPr>
                        <a:t>L₂·cos(</a:t>
                      </a:r>
                      <a:r>
                        <a:rPr lang="el-GR" sz="2400">
                          <a:effectLst/>
                        </a:rPr>
                        <a:t>θ₁+θ₂)</a:t>
                      </a:r>
                      <a:endParaRPr lang="el-GR" sz="2400" b="0">
                        <a:effectLst/>
                        <a:latin typeface="quote-cjk-patch"/>
                      </a:endParaRPr>
                    </a:p>
                  </a:txBody>
                  <a:tcPr marL="101600" marR="101600" marT="63500" marB="63500" anchor="ctr"/>
                </a:tc>
                <a:tc>
                  <a:txBody>
                    <a:bodyPr/>
                    <a:lstStyle/>
                    <a:p>
                      <a:r>
                        <a:rPr lang="en-US" sz="2400" dirty="0">
                          <a:effectLst/>
                        </a:rPr>
                        <a:t>How y changes with elbow angle</a:t>
                      </a:r>
                      <a:endParaRPr lang="en-US" sz="2400" b="0" dirty="0">
                        <a:effectLst/>
                        <a:latin typeface="quote-cjk-patch"/>
                      </a:endParaRPr>
                    </a:p>
                  </a:txBody>
                  <a:tcPr marL="101600" marT="63500" marB="63500" anchor="ctr"/>
                </a:tc>
                <a:extLst>
                  <a:ext uri="{0D108BD9-81ED-4DB2-BD59-A6C34878D82A}">
                    <a16:rowId xmlns:a16="http://schemas.microsoft.com/office/drawing/2014/main" val="2783249756"/>
                  </a:ext>
                </a:extLst>
              </a:tr>
            </a:tbl>
          </a:graphicData>
        </a:graphic>
      </p:graphicFrame>
      <p:sp>
        <p:nvSpPr>
          <p:cNvPr id="4" name="Date Placeholder 3">
            <a:extLst>
              <a:ext uri="{FF2B5EF4-FFF2-40B4-BE49-F238E27FC236}">
                <a16:creationId xmlns:a16="http://schemas.microsoft.com/office/drawing/2014/main" id="{F56E5767-9F60-4145-B3A2-1FC26BF84034}"/>
              </a:ext>
            </a:extLst>
          </p:cNvPr>
          <p:cNvSpPr>
            <a:spLocks noGrp="1"/>
          </p:cNvSpPr>
          <p:nvPr>
            <p:ph type="dt" sz="half" idx="10"/>
          </p:nvPr>
        </p:nvSpPr>
        <p:spPr/>
        <p:txBody>
          <a:bodyPr/>
          <a:lstStyle/>
          <a:p>
            <a:fld id="{98767FAE-B6FB-42DE-8B45-DBC1FCF41C5C}" type="datetime1">
              <a:rPr lang="en-US" smtClean="0"/>
              <a:t>3/8/2026</a:t>
            </a:fld>
            <a:endParaRPr lang="en-US"/>
          </a:p>
        </p:txBody>
      </p:sp>
      <p:sp>
        <p:nvSpPr>
          <p:cNvPr id="5" name="Slide Number Placeholder 4">
            <a:extLst>
              <a:ext uri="{FF2B5EF4-FFF2-40B4-BE49-F238E27FC236}">
                <a16:creationId xmlns:a16="http://schemas.microsoft.com/office/drawing/2014/main" id="{B1C2CDD8-314A-48B0-B558-E35504B8A3AC}"/>
              </a:ext>
            </a:extLst>
          </p:cNvPr>
          <p:cNvSpPr>
            <a:spLocks noGrp="1"/>
          </p:cNvSpPr>
          <p:nvPr>
            <p:ph type="sldNum" sz="quarter" idx="12"/>
          </p:nvPr>
        </p:nvSpPr>
        <p:spPr/>
        <p:txBody>
          <a:bodyPr/>
          <a:lstStyle/>
          <a:p>
            <a:fld id="{C29293D3-8374-41FE-B1E4-A635E9555193}" type="slidenum">
              <a:rPr lang="en-US" smtClean="0"/>
              <a:t>41</a:t>
            </a:fld>
            <a:endParaRPr lang="en-US"/>
          </a:p>
        </p:txBody>
      </p:sp>
      <p:sp>
        <p:nvSpPr>
          <p:cNvPr id="7" name="Rectangle 6">
            <a:extLst>
              <a:ext uri="{FF2B5EF4-FFF2-40B4-BE49-F238E27FC236}">
                <a16:creationId xmlns:a16="http://schemas.microsoft.com/office/drawing/2014/main" id="{F9467C05-57CB-4055-8B8A-0BCEBBEE2F72}"/>
              </a:ext>
            </a:extLst>
          </p:cNvPr>
          <p:cNvSpPr/>
          <p:nvPr/>
        </p:nvSpPr>
        <p:spPr>
          <a:xfrm>
            <a:off x="838200" y="1612106"/>
            <a:ext cx="7045070" cy="523220"/>
          </a:xfrm>
          <a:prstGeom prst="rect">
            <a:avLst/>
          </a:prstGeom>
        </p:spPr>
        <p:txBody>
          <a:bodyPr wrap="none">
            <a:spAutoFit/>
          </a:bodyPr>
          <a:lstStyle/>
          <a:p>
            <a:r>
              <a:rPr lang="en-US" sz="2800" dirty="0">
                <a:solidFill>
                  <a:srgbClr val="0F1115"/>
                </a:solidFill>
                <a:latin typeface="quote-cjk-patch"/>
              </a:rPr>
              <a:t>Taking partial derivatives of forward kinematics</a:t>
            </a:r>
            <a:endParaRPr lang="en-US" sz="2800" dirty="0"/>
          </a:p>
        </p:txBody>
      </p:sp>
      <p:sp>
        <p:nvSpPr>
          <p:cNvPr id="8" name="Rectangle 7">
            <a:extLst>
              <a:ext uri="{FF2B5EF4-FFF2-40B4-BE49-F238E27FC236}">
                <a16:creationId xmlns:a16="http://schemas.microsoft.com/office/drawing/2014/main" id="{2C06C38D-BD9C-44C8-8FDC-8F9F4F988491}"/>
              </a:ext>
            </a:extLst>
          </p:cNvPr>
          <p:cNvSpPr/>
          <p:nvPr/>
        </p:nvSpPr>
        <p:spPr>
          <a:xfrm>
            <a:off x="838200" y="4584623"/>
            <a:ext cx="3094425" cy="523220"/>
          </a:xfrm>
          <a:prstGeom prst="rect">
            <a:avLst/>
          </a:prstGeom>
        </p:spPr>
        <p:txBody>
          <a:bodyPr wrap="square">
            <a:spAutoFit/>
          </a:bodyPr>
          <a:lstStyle/>
          <a:p>
            <a:r>
              <a:rPr lang="en-US" sz="2800" dirty="0">
                <a:solidFill>
                  <a:srgbClr val="0F1115"/>
                </a:solidFill>
                <a:latin typeface="quote-cjk-patch"/>
              </a:rPr>
              <a:t>With L₁ = L₂ = 1.0 m</a:t>
            </a:r>
            <a:endParaRPr lang="en-US" sz="2800" dirty="0"/>
          </a:p>
        </p:txBody>
      </p:sp>
      <p:pic>
        <p:nvPicPr>
          <p:cNvPr id="9" name="Picture 8">
            <a:extLst>
              <a:ext uri="{FF2B5EF4-FFF2-40B4-BE49-F238E27FC236}">
                <a16:creationId xmlns:a16="http://schemas.microsoft.com/office/drawing/2014/main" id="{44505989-320D-4053-A6E4-A96E4F2D8C23}"/>
              </a:ext>
            </a:extLst>
          </p:cNvPr>
          <p:cNvPicPr>
            <a:picLocks noChangeAspect="1"/>
          </p:cNvPicPr>
          <p:nvPr/>
        </p:nvPicPr>
        <p:blipFill>
          <a:blip r:embed="rId2"/>
          <a:stretch>
            <a:fillRect/>
          </a:stretch>
        </p:blipFill>
        <p:spPr>
          <a:xfrm>
            <a:off x="3914814" y="5134044"/>
            <a:ext cx="7438986" cy="1134543"/>
          </a:xfrm>
          <a:prstGeom prst="rect">
            <a:avLst/>
          </a:prstGeom>
        </p:spPr>
      </p:pic>
      <p:pic>
        <p:nvPicPr>
          <p:cNvPr id="10" name="Picture 9">
            <a:extLst>
              <a:ext uri="{FF2B5EF4-FFF2-40B4-BE49-F238E27FC236}">
                <a16:creationId xmlns:a16="http://schemas.microsoft.com/office/drawing/2014/main" id="{8F49E385-98BA-4FBB-A73F-4EDEF38F841B}"/>
              </a:ext>
            </a:extLst>
          </p:cNvPr>
          <p:cNvPicPr>
            <a:picLocks noChangeAspect="1"/>
          </p:cNvPicPr>
          <p:nvPr/>
        </p:nvPicPr>
        <p:blipFill>
          <a:blip r:embed="rId3"/>
          <a:stretch>
            <a:fillRect/>
          </a:stretch>
        </p:blipFill>
        <p:spPr>
          <a:xfrm>
            <a:off x="1362076" y="5004660"/>
            <a:ext cx="2400300" cy="1263927"/>
          </a:xfrm>
          <a:prstGeom prst="rect">
            <a:avLst/>
          </a:prstGeom>
        </p:spPr>
      </p:pic>
    </p:spTree>
    <p:extLst>
      <p:ext uri="{BB962C8B-B14F-4D97-AF65-F5344CB8AC3E}">
        <p14:creationId xmlns:p14="http://schemas.microsoft.com/office/powerpoint/2010/main" val="33151645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79ED2-3610-49CF-9C75-3E58B060B9AF}"/>
              </a:ext>
            </a:extLst>
          </p:cNvPr>
          <p:cNvSpPr>
            <a:spLocks noGrp="1"/>
          </p:cNvSpPr>
          <p:nvPr>
            <p:ph type="title"/>
          </p:nvPr>
        </p:nvSpPr>
        <p:spPr/>
        <p:txBody>
          <a:bodyPr/>
          <a:lstStyle/>
          <a:p>
            <a:r>
              <a:rPr lang="en-US" b="1" dirty="0"/>
              <a:t>The Jacobian Matrix</a:t>
            </a:r>
            <a:endParaRPr lang="en-US" dirty="0"/>
          </a:p>
        </p:txBody>
      </p:sp>
      <p:sp>
        <p:nvSpPr>
          <p:cNvPr id="3" name="Content Placeholder 2">
            <a:extLst>
              <a:ext uri="{FF2B5EF4-FFF2-40B4-BE49-F238E27FC236}">
                <a16:creationId xmlns:a16="http://schemas.microsoft.com/office/drawing/2014/main" id="{B74E6122-581E-44C9-A328-409A41523303}"/>
              </a:ext>
            </a:extLst>
          </p:cNvPr>
          <p:cNvSpPr>
            <a:spLocks noGrp="1"/>
          </p:cNvSpPr>
          <p:nvPr>
            <p:ph idx="1"/>
          </p:nvPr>
        </p:nvSpPr>
        <p:spPr/>
        <p:txBody>
          <a:bodyPr/>
          <a:lstStyle/>
          <a:p>
            <a:r>
              <a:rPr lang="en-US" b="1" dirty="0"/>
              <a:t>Given:</a:t>
            </a:r>
            <a:r>
              <a:rPr lang="en-US" dirty="0"/>
              <a:t> </a:t>
            </a:r>
            <a:r>
              <a:rPr lang="el-GR" dirty="0"/>
              <a:t>θ₁ = 30° (0.5236 </a:t>
            </a:r>
            <a:r>
              <a:rPr lang="en-US" dirty="0"/>
              <a:t>rad), </a:t>
            </a:r>
            <a:r>
              <a:rPr lang="el-GR" dirty="0"/>
              <a:t>θ₂ = 45° (0.7854 </a:t>
            </a:r>
            <a:r>
              <a:rPr lang="en-US" dirty="0"/>
              <a:t>rad)</a:t>
            </a:r>
            <a:br>
              <a:rPr lang="en-US" dirty="0"/>
            </a:br>
            <a:r>
              <a:rPr lang="en-US" b="1" dirty="0"/>
              <a:t>Therefore:</a:t>
            </a:r>
            <a:r>
              <a:rPr lang="en-US" dirty="0"/>
              <a:t> </a:t>
            </a:r>
            <a:r>
              <a:rPr lang="el-GR" dirty="0"/>
              <a:t>θ₁ + θ₂ = 75° (1.3090 </a:t>
            </a:r>
            <a:r>
              <a:rPr lang="en-US" dirty="0"/>
              <a:t>rad)</a:t>
            </a:r>
          </a:p>
          <a:p>
            <a:r>
              <a:rPr lang="en-US" dirty="0"/>
              <a:t>Sin </a:t>
            </a:r>
            <a:r>
              <a:rPr lang="el-GR" dirty="0"/>
              <a:t>θ₁ = </a:t>
            </a:r>
            <a:r>
              <a:rPr lang="en-US" dirty="0"/>
              <a:t>sin </a:t>
            </a:r>
            <a:r>
              <a:rPr lang="el-GR" dirty="0"/>
              <a:t>30° </a:t>
            </a:r>
            <a:r>
              <a:rPr lang="en-US" dirty="0"/>
              <a:t>= 0.500, sin </a:t>
            </a:r>
            <a:r>
              <a:rPr lang="el-GR" dirty="0"/>
              <a:t>θ₁ + θ₂ = </a:t>
            </a:r>
            <a:r>
              <a:rPr lang="en-US" dirty="0"/>
              <a:t>sin </a:t>
            </a:r>
            <a:r>
              <a:rPr lang="el-GR" dirty="0"/>
              <a:t>75°</a:t>
            </a:r>
            <a:r>
              <a:rPr lang="en-US" dirty="0"/>
              <a:t> = 0.9659</a:t>
            </a:r>
          </a:p>
          <a:p>
            <a:r>
              <a:rPr lang="el-GR" dirty="0"/>
              <a:t> </a:t>
            </a:r>
            <a:r>
              <a:rPr lang="en-US" dirty="0"/>
              <a:t>cos </a:t>
            </a:r>
            <a:r>
              <a:rPr lang="el-GR" dirty="0"/>
              <a:t>θ₁ = </a:t>
            </a:r>
            <a:r>
              <a:rPr lang="en-US" dirty="0"/>
              <a:t>sin </a:t>
            </a:r>
            <a:r>
              <a:rPr lang="el-GR" dirty="0"/>
              <a:t>30° </a:t>
            </a:r>
            <a:r>
              <a:rPr lang="en-US" dirty="0"/>
              <a:t>= 0.8660, cos </a:t>
            </a:r>
            <a:r>
              <a:rPr lang="el-GR" dirty="0"/>
              <a:t>θ₁ + θ₂ = </a:t>
            </a:r>
            <a:r>
              <a:rPr lang="en-US" dirty="0"/>
              <a:t>cos </a:t>
            </a:r>
            <a:r>
              <a:rPr lang="el-GR" dirty="0"/>
              <a:t>75°</a:t>
            </a:r>
            <a:r>
              <a:rPr lang="en-US" dirty="0"/>
              <a:t> = 0.2588</a:t>
            </a:r>
          </a:p>
          <a:p>
            <a:endParaRPr lang="en-US" dirty="0"/>
          </a:p>
        </p:txBody>
      </p:sp>
      <p:sp>
        <p:nvSpPr>
          <p:cNvPr id="4" name="Date Placeholder 3">
            <a:extLst>
              <a:ext uri="{FF2B5EF4-FFF2-40B4-BE49-F238E27FC236}">
                <a16:creationId xmlns:a16="http://schemas.microsoft.com/office/drawing/2014/main" id="{763AD704-4E1F-48AD-B75A-8E9D9BBE61FF}"/>
              </a:ext>
            </a:extLst>
          </p:cNvPr>
          <p:cNvSpPr>
            <a:spLocks noGrp="1"/>
          </p:cNvSpPr>
          <p:nvPr>
            <p:ph type="dt" sz="half" idx="10"/>
          </p:nvPr>
        </p:nvSpPr>
        <p:spPr/>
        <p:txBody>
          <a:bodyPr/>
          <a:lstStyle/>
          <a:p>
            <a:fld id="{98767FAE-B6FB-42DE-8B45-DBC1FCF41C5C}" type="datetime1">
              <a:rPr lang="en-US" smtClean="0"/>
              <a:t>3/8/2026</a:t>
            </a:fld>
            <a:endParaRPr lang="en-US"/>
          </a:p>
        </p:txBody>
      </p:sp>
      <p:sp>
        <p:nvSpPr>
          <p:cNvPr id="5" name="Slide Number Placeholder 4">
            <a:extLst>
              <a:ext uri="{FF2B5EF4-FFF2-40B4-BE49-F238E27FC236}">
                <a16:creationId xmlns:a16="http://schemas.microsoft.com/office/drawing/2014/main" id="{8412C40F-234B-43B2-BEE1-5F5A977A9586}"/>
              </a:ext>
            </a:extLst>
          </p:cNvPr>
          <p:cNvSpPr>
            <a:spLocks noGrp="1"/>
          </p:cNvSpPr>
          <p:nvPr>
            <p:ph type="sldNum" sz="quarter" idx="12"/>
          </p:nvPr>
        </p:nvSpPr>
        <p:spPr/>
        <p:txBody>
          <a:bodyPr/>
          <a:lstStyle/>
          <a:p>
            <a:fld id="{C29293D3-8374-41FE-B1E4-A635E9555193}" type="slidenum">
              <a:rPr lang="en-US" smtClean="0"/>
              <a:t>42</a:t>
            </a:fld>
            <a:endParaRPr lang="en-US"/>
          </a:p>
        </p:txBody>
      </p:sp>
      <p:pic>
        <p:nvPicPr>
          <p:cNvPr id="6" name="Picture 5">
            <a:extLst>
              <a:ext uri="{FF2B5EF4-FFF2-40B4-BE49-F238E27FC236}">
                <a16:creationId xmlns:a16="http://schemas.microsoft.com/office/drawing/2014/main" id="{06FCBE1E-1458-41F1-AA3A-57AA45B105AA}"/>
              </a:ext>
            </a:extLst>
          </p:cNvPr>
          <p:cNvPicPr>
            <a:picLocks noChangeAspect="1"/>
          </p:cNvPicPr>
          <p:nvPr/>
        </p:nvPicPr>
        <p:blipFill>
          <a:blip r:embed="rId2"/>
          <a:stretch>
            <a:fillRect/>
          </a:stretch>
        </p:blipFill>
        <p:spPr>
          <a:xfrm>
            <a:off x="600114" y="3876744"/>
            <a:ext cx="6120004" cy="933381"/>
          </a:xfrm>
          <a:prstGeom prst="rect">
            <a:avLst/>
          </a:prstGeom>
        </p:spPr>
      </p:pic>
      <p:pic>
        <p:nvPicPr>
          <p:cNvPr id="7" name="Picture 6">
            <a:extLst>
              <a:ext uri="{FF2B5EF4-FFF2-40B4-BE49-F238E27FC236}">
                <a16:creationId xmlns:a16="http://schemas.microsoft.com/office/drawing/2014/main" id="{C8FE7246-7735-4057-AB6C-B4D4BBFB8044}"/>
              </a:ext>
            </a:extLst>
          </p:cNvPr>
          <p:cNvPicPr>
            <a:picLocks noChangeAspect="1"/>
          </p:cNvPicPr>
          <p:nvPr/>
        </p:nvPicPr>
        <p:blipFill>
          <a:blip r:embed="rId3"/>
          <a:stretch>
            <a:fillRect/>
          </a:stretch>
        </p:blipFill>
        <p:spPr>
          <a:xfrm>
            <a:off x="7058025" y="3876744"/>
            <a:ext cx="5011691" cy="1011229"/>
          </a:xfrm>
          <a:prstGeom prst="rect">
            <a:avLst/>
          </a:prstGeom>
        </p:spPr>
      </p:pic>
      <p:pic>
        <p:nvPicPr>
          <p:cNvPr id="8" name="Picture 7">
            <a:extLst>
              <a:ext uri="{FF2B5EF4-FFF2-40B4-BE49-F238E27FC236}">
                <a16:creationId xmlns:a16="http://schemas.microsoft.com/office/drawing/2014/main" id="{09CD0367-1DE4-4AE5-B53E-87231688D19C}"/>
              </a:ext>
            </a:extLst>
          </p:cNvPr>
          <p:cNvPicPr>
            <a:picLocks noChangeAspect="1"/>
          </p:cNvPicPr>
          <p:nvPr/>
        </p:nvPicPr>
        <p:blipFill>
          <a:blip r:embed="rId4"/>
          <a:stretch>
            <a:fillRect/>
          </a:stretch>
        </p:blipFill>
        <p:spPr>
          <a:xfrm>
            <a:off x="4467225" y="5391152"/>
            <a:ext cx="4362450" cy="1007665"/>
          </a:xfrm>
          <a:prstGeom prst="rect">
            <a:avLst/>
          </a:prstGeom>
        </p:spPr>
      </p:pic>
    </p:spTree>
    <p:extLst>
      <p:ext uri="{BB962C8B-B14F-4D97-AF65-F5344CB8AC3E}">
        <p14:creationId xmlns:p14="http://schemas.microsoft.com/office/powerpoint/2010/main" val="23723729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813CC-4600-4339-9AF4-5102729CFAF3}"/>
              </a:ext>
            </a:extLst>
          </p:cNvPr>
          <p:cNvSpPr>
            <a:spLocks noGrp="1"/>
          </p:cNvSpPr>
          <p:nvPr>
            <p:ph type="title"/>
          </p:nvPr>
        </p:nvSpPr>
        <p:spPr/>
        <p:txBody>
          <a:bodyPr/>
          <a:lstStyle/>
          <a:p>
            <a:r>
              <a:rPr lang="en-US" b="1" dirty="0"/>
              <a:t>Set Up the Velocity Equation</a:t>
            </a:r>
            <a:endParaRPr lang="en-US" dirty="0"/>
          </a:p>
        </p:txBody>
      </p:sp>
      <p:sp>
        <p:nvSpPr>
          <p:cNvPr id="3" name="Content Placeholder 2">
            <a:extLst>
              <a:ext uri="{FF2B5EF4-FFF2-40B4-BE49-F238E27FC236}">
                <a16:creationId xmlns:a16="http://schemas.microsoft.com/office/drawing/2014/main" id="{8DE49A1B-74A0-493D-8A6F-003C2CC66274}"/>
              </a:ext>
            </a:extLst>
          </p:cNvPr>
          <p:cNvSpPr>
            <a:spLocks noGrp="1"/>
          </p:cNvSpPr>
          <p:nvPr>
            <p:ph idx="1"/>
          </p:nvPr>
        </p:nvSpPr>
        <p:spPr>
          <a:xfrm>
            <a:off x="838200" y="1825625"/>
            <a:ext cx="6867525" cy="4351338"/>
          </a:xfrm>
        </p:spPr>
        <p:txBody>
          <a:bodyPr/>
          <a:lstStyle/>
          <a:p>
            <a:r>
              <a:rPr lang="en-US" b="1" dirty="0"/>
              <a:t>Recall the relationship</a:t>
            </a:r>
          </a:p>
          <a:p>
            <a:endParaRPr lang="en-US" b="1" dirty="0"/>
          </a:p>
          <a:p>
            <a:endParaRPr lang="en-US" b="1" dirty="0"/>
          </a:p>
          <a:p>
            <a:endParaRPr lang="en-US" b="1" dirty="0"/>
          </a:p>
          <a:p>
            <a:r>
              <a:rPr lang="en-US" b="1" dirty="0"/>
              <a:t>Substituting the values</a:t>
            </a:r>
            <a:endParaRPr lang="en-US" dirty="0"/>
          </a:p>
        </p:txBody>
      </p:sp>
      <p:sp>
        <p:nvSpPr>
          <p:cNvPr id="4" name="Date Placeholder 3">
            <a:extLst>
              <a:ext uri="{FF2B5EF4-FFF2-40B4-BE49-F238E27FC236}">
                <a16:creationId xmlns:a16="http://schemas.microsoft.com/office/drawing/2014/main" id="{E9D67D35-E732-4606-AE19-6DA6689011FD}"/>
              </a:ext>
            </a:extLst>
          </p:cNvPr>
          <p:cNvSpPr>
            <a:spLocks noGrp="1"/>
          </p:cNvSpPr>
          <p:nvPr>
            <p:ph type="dt" sz="half" idx="10"/>
          </p:nvPr>
        </p:nvSpPr>
        <p:spPr/>
        <p:txBody>
          <a:bodyPr/>
          <a:lstStyle/>
          <a:p>
            <a:fld id="{98767FAE-B6FB-42DE-8B45-DBC1FCF41C5C}" type="datetime1">
              <a:rPr lang="en-US" smtClean="0"/>
              <a:t>3/8/2026</a:t>
            </a:fld>
            <a:endParaRPr lang="en-US"/>
          </a:p>
        </p:txBody>
      </p:sp>
      <p:sp>
        <p:nvSpPr>
          <p:cNvPr id="5" name="Slide Number Placeholder 4">
            <a:extLst>
              <a:ext uri="{FF2B5EF4-FFF2-40B4-BE49-F238E27FC236}">
                <a16:creationId xmlns:a16="http://schemas.microsoft.com/office/drawing/2014/main" id="{A10A2F82-0065-4C53-9638-595045FDA27F}"/>
              </a:ext>
            </a:extLst>
          </p:cNvPr>
          <p:cNvSpPr>
            <a:spLocks noGrp="1"/>
          </p:cNvSpPr>
          <p:nvPr>
            <p:ph type="sldNum" sz="quarter" idx="12"/>
          </p:nvPr>
        </p:nvSpPr>
        <p:spPr/>
        <p:txBody>
          <a:bodyPr/>
          <a:lstStyle/>
          <a:p>
            <a:fld id="{C29293D3-8374-41FE-B1E4-A635E9555193}" type="slidenum">
              <a:rPr lang="en-US" smtClean="0"/>
              <a:t>43</a:t>
            </a:fld>
            <a:endParaRPr lang="en-US"/>
          </a:p>
        </p:txBody>
      </p:sp>
      <p:pic>
        <p:nvPicPr>
          <p:cNvPr id="6" name="Picture 5">
            <a:extLst>
              <a:ext uri="{FF2B5EF4-FFF2-40B4-BE49-F238E27FC236}">
                <a16:creationId xmlns:a16="http://schemas.microsoft.com/office/drawing/2014/main" id="{B217F212-4892-4107-931E-DCC9637CEFC4}"/>
              </a:ext>
            </a:extLst>
          </p:cNvPr>
          <p:cNvPicPr>
            <a:picLocks noChangeAspect="1"/>
          </p:cNvPicPr>
          <p:nvPr/>
        </p:nvPicPr>
        <p:blipFill>
          <a:blip r:embed="rId2"/>
          <a:stretch>
            <a:fillRect/>
          </a:stretch>
        </p:blipFill>
        <p:spPr>
          <a:xfrm>
            <a:off x="911192" y="2212201"/>
            <a:ext cx="3260758" cy="1372102"/>
          </a:xfrm>
          <a:prstGeom prst="rect">
            <a:avLst/>
          </a:prstGeom>
        </p:spPr>
      </p:pic>
      <p:pic>
        <p:nvPicPr>
          <p:cNvPr id="7" name="Picture 6">
            <a:extLst>
              <a:ext uri="{FF2B5EF4-FFF2-40B4-BE49-F238E27FC236}">
                <a16:creationId xmlns:a16="http://schemas.microsoft.com/office/drawing/2014/main" id="{1D467D61-6174-4A59-9AE6-22285D0A1D6D}"/>
              </a:ext>
            </a:extLst>
          </p:cNvPr>
          <p:cNvPicPr>
            <a:picLocks noChangeAspect="1"/>
          </p:cNvPicPr>
          <p:nvPr/>
        </p:nvPicPr>
        <p:blipFill>
          <a:blip r:embed="rId3"/>
          <a:stretch>
            <a:fillRect/>
          </a:stretch>
        </p:blipFill>
        <p:spPr>
          <a:xfrm>
            <a:off x="838200" y="4337822"/>
            <a:ext cx="6343728" cy="1285890"/>
          </a:xfrm>
          <a:prstGeom prst="rect">
            <a:avLst/>
          </a:prstGeom>
        </p:spPr>
      </p:pic>
    </p:spTree>
    <p:extLst>
      <p:ext uri="{BB962C8B-B14F-4D97-AF65-F5344CB8AC3E}">
        <p14:creationId xmlns:p14="http://schemas.microsoft.com/office/powerpoint/2010/main" val="10344017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526C5-6CA2-4D51-874A-7EE214A8D3BE}"/>
              </a:ext>
            </a:extLst>
          </p:cNvPr>
          <p:cNvSpPr>
            <a:spLocks noGrp="1"/>
          </p:cNvSpPr>
          <p:nvPr>
            <p:ph type="title"/>
          </p:nvPr>
        </p:nvSpPr>
        <p:spPr/>
        <p:txBody>
          <a:bodyPr/>
          <a:lstStyle/>
          <a:p>
            <a:r>
              <a:rPr lang="en-US" b="1" dirty="0"/>
              <a:t>Hand Velocities - Matrix Multiplication</a:t>
            </a:r>
            <a:endParaRPr lang="en-US" dirty="0"/>
          </a:p>
        </p:txBody>
      </p:sp>
      <p:sp>
        <p:nvSpPr>
          <p:cNvPr id="4" name="Date Placeholder 3">
            <a:extLst>
              <a:ext uri="{FF2B5EF4-FFF2-40B4-BE49-F238E27FC236}">
                <a16:creationId xmlns:a16="http://schemas.microsoft.com/office/drawing/2014/main" id="{AA47CC63-8867-4E6D-8054-1938E66B9330}"/>
              </a:ext>
            </a:extLst>
          </p:cNvPr>
          <p:cNvSpPr>
            <a:spLocks noGrp="1"/>
          </p:cNvSpPr>
          <p:nvPr>
            <p:ph type="dt" sz="half" idx="10"/>
          </p:nvPr>
        </p:nvSpPr>
        <p:spPr/>
        <p:txBody>
          <a:bodyPr/>
          <a:lstStyle/>
          <a:p>
            <a:fld id="{98767FAE-B6FB-42DE-8B45-DBC1FCF41C5C}" type="datetime1">
              <a:rPr lang="en-US" smtClean="0"/>
              <a:t>3/8/2026</a:t>
            </a:fld>
            <a:endParaRPr lang="en-US"/>
          </a:p>
        </p:txBody>
      </p:sp>
      <p:sp>
        <p:nvSpPr>
          <p:cNvPr id="5" name="Slide Number Placeholder 4">
            <a:extLst>
              <a:ext uri="{FF2B5EF4-FFF2-40B4-BE49-F238E27FC236}">
                <a16:creationId xmlns:a16="http://schemas.microsoft.com/office/drawing/2014/main" id="{047666EE-A17D-47BC-8B7E-795BC80C8A4B}"/>
              </a:ext>
            </a:extLst>
          </p:cNvPr>
          <p:cNvSpPr>
            <a:spLocks noGrp="1"/>
          </p:cNvSpPr>
          <p:nvPr>
            <p:ph type="sldNum" sz="quarter" idx="12"/>
          </p:nvPr>
        </p:nvSpPr>
        <p:spPr/>
        <p:txBody>
          <a:bodyPr/>
          <a:lstStyle/>
          <a:p>
            <a:fld id="{C29293D3-8374-41FE-B1E4-A635E9555193}" type="slidenum">
              <a:rPr lang="en-US" smtClean="0"/>
              <a:t>44</a:t>
            </a:fld>
            <a:endParaRPr lang="en-US"/>
          </a:p>
        </p:txBody>
      </p:sp>
      <p:sp>
        <p:nvSpPr>
          <p:cNvPr id="6" name="Content Placeholder 5">
            <a:extLst>
              <a:ext uri="{FF2B5EF4-FFF2-40B4-BE49-F238E27FC236}">
                <a16:creationId xmlns:a16="http://schemas.microsoft.com/office/drawing/2014/main" id="{C883A1DB-CD4D-4DFB-8702-6110D097F95E}"/>
              </a:ext>
            </a:extLst>
          </p:cNvPr>
          <p:cNvSpPr>
            <a:spLocks noGrp="1"/>
          </p:cNvSpPr>
          <p:nvPr>
            <p:ph idx="1"/>
          </p:nvPr>
        </p:nvSpPr>
        <p:spPr>
          <a:xfrm>
            <a:off x="838200" y="1825625"/>
            <a:ext cx="10515600" cy="4535601"/>
          </a:xfrm>
          <a:prstGeom prst="rect">
            <a:avLst/>
          </a:prstGeom>
        </p:spPr>
        <p:txBody>
          <a:bodyPr wrap="square">
            <a:spAutoFit/>
          </a:bodyPr>
          <a:lstStyle/>
          <a:p>
            <a:r>
              <a:rPr lang="en-US" sz="3200" dirty="0"/>
              <a:t>ẋ = (-1.4659 × 0.1) + (-0.9659 × 0.2), for ẋ (first row)</a:t>
            </a:r>
          </a:p>
          <a:p>
            <a:pPr marL="0" indent="0">
              <a:buNone/>
            </a:pPr>
            <a:r>
              <a:rPr lang="en-US" sz="3200" dirty="0"/>
              <a:t>     = -0.14659 + (-0.19318)</a:t>
            </a:r>
          </a:p>
          <a:p>
            <a:pPr marL="0" indent="0">
              <a:buNone/>
            </a:pPr>
            <a:r>
              <a:rPr lang="en-US" sz="3200" dirty="0"/>
              <a:t>     = -0.33977 m/s  </a:t>
            </a:r>
          </a:p>
          <a:p>
            <a:r>
              <a:rPr lang="en-US" sz="3200" dirty="0"/>
              <a:t>Hand velocity moving left, negative result</a:t>
            </a:r>
          </a:p>
          <a:p>
            <a:r>
              <a:rPr lang="en-US" sz="3200" dirty="0"/>
              <a:t>ẏ = (1.1248 × 0.1) + (0.2588 × 0.2), for ẏ (second row)</a:t>
            </a:r>
          </a:p>
          <a:p>
            <a:pPr marL="0" indent="0">
              <a:buNone/>
            </a:pPr>
            <a:r>
              <a:rPr lang="en-US" sz="3200" dirty="0"/>
              <a:t>      = 0.11248 + 0.05176</a:t>
            </a:r>
          </a:p>
          <a:p>
            <a:pPr marL="0" indent="0">
              <a:buNone/>
            </a:pPr>
            <a:r>
              <a:rPr lang="en-US" sz="3200" dirty="0"/>
              <a:t>      = 0.16424 m/s </a:t>
            </a:r>
          </a:p>
          <a:p>
            <a:r>
              <a:rPr lang="en-US" sz="3200" dirty="0"/>
              <a:t>Hand velocity moving up</a:t>
            </a:r>
          </a:p>
        </p:txBody>
      </p:sp>
    </p:spTree>
    <p:extLst>
      <p:ext uri="{BB962C8B-B14F-4D97-AF65-F5344CB8AC3E}">
        <p14:creationId xmlns:p14="http://schemas.microsoft.com/office/powerpoint/2010/main" val="33750050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58D87-39F6-48E9-87A0-AA17C80BDBEE}"/>
              </a:ext>
            </a:extLst>
          </p:cNvPr>
          <p:cNvSpPr>
            <a:spLocks noGrp="1"/>
          </p:cNvSpPr>
          <p:nvPr>
            <p:ph type="title"/>
          </p:nvPr>
        </p:nvSpPr>
        <p:spPr/>
        <p:txBody>
          <a:bodyPr/>
          <a:lstStyle/>
          <a:p>
            <a:r>
              <a:rPr lang="en-US" b="1" dirty="0"/>
              <a:t>Key Takeaways</a:t>
            </a:r>
            <a:endParaRPr lang="en-US" dirty="0"/>
          </a:p>
        </p:txBody>
      </p:sp>
      <p:sp>
        <p:nvSpPr>
          <p:cNvPr id="3" name="Content Placeholder 2">
            <a:extLst>
              <a:ext uri="{FF2B5EF4-FFF2-40B4-BE49-F238E27FC236}">
                <a16:creationId xmlns:a16="http://schemas.microsoft.com/office/drawing/2014/main" id="{5057FF2D-C2ED-41D5-A9AE-967FC03EA9F5}"/>
              </a:ext>
            </a:extLst>
          </p:cNvPr>
          <p:cNvSpPr>
            <a:spLocks noGrp="1"/>
          </p:cNvSpPr>
          <p:nvPr>
            <p:ph idx="1"/>
          </p:nvPr>
        </p:nvSpPr>
        <p:spPr/>
        <p:txBody>
          <a:bodyPr/>
          <a:lstStyle/>
          <a:p>
            <a:r>
              <a:rPr lang="en-US" b="1" dirty="0"/>
              <a:t>DH parameters</a:t>
            </a:r>
            <a:r>
              <a:rPr lang="en-US" dirty="0"/>
              <a:t> provide the foundation for kinematic modeling</a:t>
            </a:r>
          </a:p>
          <a:p>
            <a:r>
              <a:rPr lang="en-US" b="1" dirty="0"/>
              <a:t>Forward kinematics</a:t>
            </a:r>
            <a:r>
              <a:rPr lang="en-US" dirty="0"/>
              <a:t> gives position (x, y)</a:t>
            </a:r>
          </a:p>
          <a:p>
            <a:r>
              <a:rPr lang="en-US" b="1" dirty="0"/>
              <a:t>Jacobian matrix</a:t>
            </a:r>
            <a:r>
              <a:rPr lang="en-US" dirty="0"/>
              <a:t> captures the velocity relationship</a:t>
            </a:r>
          </a:p>
          <a:p>
            <a:r>
              <a:rPr lang="en-US" dirty="0"/>
              <a:t>The Jacobian matrix connects joint velocities with end-effector velocity.</a:t>
            </a:r>
          </a:p>
          <a:p>
            <a:r>
              <a:rPr lang="en-US" dirty="0"/>
              <a:t>It shows how small joint movements affect the movement of the robot hand.</a:t>
            </a:r>
          </a:p>
          <a:p>
            <a:endParaRPr lang="en-US" dirty="0"/>
          </a:p>
        </p:txBody>
      </p:sp>
      <p:sp>
        <p:nvSpPr>
          <p:cNvPr id="4" name="Date Placeholder 3">
            <a:extLst>
              <a:ext uri="{FF2B5EF4-FFF2-40B4-BE49-F238E27FC236}">
                <a16:creationId xmlns:a16="http://schemas.microsoft.com/office/drawing/2014/main" id="{5EABB38E-D675-40D4-8A5F-FDEE7C8CC1AC}"/>
              </a:ext>
            </a:extLst>
          </p:cNvPr>
          <p:cNvSpPr>
            <a:spLocks noGrp="1"/>
          </p:cNvSpPr>
          <p:nvPr>
            <p:ph type="dt" sz="half" idx="10"/>
          </p:nvPr>
        </p:nvSpPr>
        <p:spPr/>
        <p:txBody>
          <a:bodyPr/>
          <a:lstStyle/>
          <a:p>
            <a:fld id="{98767FAE-B6FB-42DE-8B45-DBC1FCF41C5C}" type="datetime1">
              <a:rPr lang="en-US" smtClean="0"/>
              <a:t>3/8/2026</a:t>
            </a:fld>
            <a:endParaRPr lang="en-US"/>
          </a:p>
        </p:txBody>
      </p:sp>
      <p:sp>
        <p:nvSpPr>
          <p:cNvPr id="5" name="Slide Number Placeholder 4">
            <a:extLst>
              <a:ext uri="{FF2B5EF4-FFF2-40B4-BE49-F238E27FC236}">
                <a16:creationId xmlns:a16="http://schemas.microsoft.com/office/drawing/2014/main" id="{CF547FEB-7709-4CE6-9BD3-959572739195}"/>
              </a:ext>
            </a:extLst>
          </p:cNvPr>
          <p:cNvSpPr>
            <a:spLocks noGrp="1"/>
          </p:cNvSpPr>
          <p:nvPr>
            <p:ph type="sldNum" sz="quarter" idx="12"/>
          </p:nvPr>
        </p:nvSpPr>
        <p:spPr/>
        <p:txBody>
          <a:bodyPr/>
          <a:lstStyle/>
          <a:p>
            <a:fld id="{C29293D3-8374-41FE-B1E4-A635E9555193}" type="slidenum">
              <a:rPr lang="en-US" smtClean="0"/>
              <a:t>45</a:t>
            </a:fld>
            <a:endParaRPr lang="en-US"/>
          </a:p>
        </p:txBody>
      </p:sp>
    </p:spTree>
    <p:extLst>
      <p:ext uri="{BB962C8B-B14F-4D97-AF65-F5344CB8AC3E}">
        <p14:creationId xmlns:p14="http://schemas.microsoft.com/office/powerpoint/2010/main" val="18342196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EF80C-8256-4EDA-8B2D-BB079160C3CA}"/>
              </a:ext>
            </a:extLst>
          </p:cNvPr>
          <p:cNvSpPr>
            <a:spLocks noGrp="1"/>
          </p:cNvSpPr>
          <p:nvPr>
            <p:ph type="title"/>
          </p:nvPr>
        </p:nvSpPr>
        <p:spPr>
          <a:xfrm>
            <a:off x="742950" y="67469"/>
            <a:ext cx="10515600" cy="1056482"/>
          </a:xfrm>
        </p:spPr>
        <p:txBody>
          <a:bodyPr/>
          <a:lstStyle/>
          <a:p>
            <a:r>
              <a:rPr lang="en-US" b="1" dirty="0"/>
              <a:t>Summary of the Calculation</a:t>
            </a:r>
            <a:endParaRPr lang="en-US" dirty="0"/>
          </a:p>
        </p:txBody>
      </p:sp>
      <p:sp>
        <p:nvSpPr>
          <p:cNvPr id="3" name="Date Placeholder 2">
            <a:extLst>
              <a:ext uri="{FF2B5EF4-FFF2-40B4-BE49-F238E27FC236}">
                <a16:creationId xmlns:a16="http://schemas.microsoft.com/office/drawing/2014/main" id="{9CC0682F-986D-453B-B5CB-9815A49F1FF3}"/>
              </a:ext>
            </a:extLst>
          </p:cNvPr>
          <p:cNvSpPr>
            <a:spLocks noGrp="1"/>
          </p:cNvSpPr>
          <p:nvPr>
            <p:ph type="dt" sz="half" idx="10"/>
          </p:nvPr>
        </p:nvSpPr>
        <p:spPr/>
        <p:txBody>
          <a:bodyPr/>
          <a:lstStyle/>
          <a:p>
            <a:fld id="{CC098C93-D50A-4C6F-9214-082168923CCC}" type="datetime1">
              <a:rPr lang="en-US" smtClean="0"/>
              <a:t>3/8/2026</a:t>
            </a:fld>
            <a:endParaRPr lang="en-US"/>
          </a:p>
        </p:txBody>
      </p:sp>
      <p:sp>
        <p:nvSpPr>
          <p:cNvPr id="5" name="Slide Number Placeholder 4">
            <a:extLst>
              <a:ext uri="{FF2B5EF4-FFF2-40B4-BE49-F238E27FC236}">
                <a16:creationId xmlns:a16="http://schemas.microsoft.com/office/drawing/2014/main" id="{A97E35B9-931E-4C10-AF6B-7A1A9B3E8015}"/>
              </a:ext>
            </a:extLst>
          </p:cNvPr>
          <p:cNvSpPr>
            <a:spLocks noGrp="1"/>
          </p:cNvSpPr>
          <p:nvPr>
            <p:ph type="sldNum" sz="quarter" idx="12"/>
          </p:nvPr>
        </p:nvSpPr>
        <p:spPr/>
        <p:txBody>
          <a:bodyPr/>
          <a:lstStyle/>
          <a:p>
            <a:fld id="{C29293D3-8374-41FE-B1E4-A635E9555193}" type="slidenum">
              <a:rPr lang="en-US" smtClean="0"/>
              <a:t>46</a:t>
            </a:fld>
            <a:endParaRPr lang="en-US"/>
          </a:p>
        </p:txBody>
      </p:sp>
      <mc:AlternateContent xmlns:mc="http://schemas.openxmlformats.org/markup-compatibility/2006">
        <mc:Choice xmlns:a14="http://schemas.microsoft.com/office/drawing/2010/main" Requires="a14">
          <p:graphicFrame>
            <p:nvGraphicFramePr>
              <p:cNvPr id="8" name="Content Placeholder 7">
                <a:extLst>
                  <a:ext uri="{FF2B5EF4-FFF2-40B4-BE49-F238E27FC236}">
                    <a16:creationId xmlns:a16="http://schemas.microsoft.com/office/drawing/2014/main" id="{4A9FD0E8-09FF-4E8D-8674-CCB695398CD8}"/>
                  </a:ext>
                </a:extLst>
              </p:cNvPr>
              <p:cNvGraphicFramePr>
                <a:graphicFrameLocks noGrp="1"/>
              </p:cNvGraphicFramePr>
              <p:nvPr>
                <p:ph idx="1"/>
                <p:extLst>
                  <p:ext uri="{D42A27DB-BD31-4B8C-83A1-F6EECF244321}">
                    <p14:modId xmlns:p14="http://schemas.microsoft.com/office/powerpoint/2010/main" val="3470247152"/>
                  </p:ext>
                </p:extLst>
              </p:nvPr>
            </p:nvGraphicFramePr>
            <p:xfrm>
              <a:off x="933450" y="960636"/>
              <a:ext cx="8439150" cy="5428988"/>
            </p:xfrm>
            <a:graphic>
              <a:graphicData uri="http://schemas.openxmlformats.org/drawingml/2006/table">
                <a:tbl>
                  <a:tblPr>
                    <a:tableStyleId>{5940675A-B579-460E-94D1-54222C63F5DA}</a:tableStyleId>
                  </a:tblPr>
                  <a:tblGrid>
                    <a:gridCol w="2828925">
                      <a:extLst>
                        <a:ext uri="{9D8B030D-6E8A-4147-A177-3AD203B41FA5}">
                          <a16:colId xmlns:a16="http://schemas.microsoft.com/office/drawing/2014/main" val="882593603"/>
                        </a:ext>
                      </a:extLst>
                    </a:gridCol>
                    <a:gridCol w="2797175">
                      <a:extLst>
                        <a:ext uri="{9D8B030D-6E8A-4147-A177-3AD203B41FA5}">
                          <a16:colId xmlns:a16="http://schemas.microsoft.com/office/drawing/2014/main" val="550782556"/>
                        </a:ext>
                      </a:extLst>
                    </a:gridCol>
                    <a:gridCol w="2813050">
                      <a:extLst>
                        <a:ext uri="{9D8B030D-6E8A-4147-A177-3AD203B41FA5}">
                          <a16:colId xmlns:a16="http://schemas.microsoft.com/office/drawing/2014/main" val="1943719333"/>
                        </a:ext>
                      </a:extLst>
                    </a:gridCol>
                  </a:tblGrid>
                  <a:tr h="316825">
                    <a:tc>
                      <a:txBody>
                        <a:bodyPr/>
                        <a:lstStyle/>
                        <a:p>
                          <a:pPr algn="l"/>
                          <a:r>
                            <a:rPr lang="en-US" sz="2400" b="1">
                              <a:effectLst/>
                            </a:rPr>
                            <a:t>Quantity</a:t>
                          </a:r>
                          <a:endParaRPr lang="en-US" sz="2400" b="1">
                            <a:effectLst/>
                            <a:latin typeface="quote-cjk-patch"/>
                          </a:endParaRPr>
                        </a:p>
                      </a:txBody>
                      <a:tcPr marL="72188" marR="80209" marT="50131" marB="50131" anchor="ctr"/>
                    </a:tc>
                    <a:tc>
                      <a:txBody>
                        <a:bodyPr/>
                        <a:lstStyle/>
                        <a:p>
                          <a:pPr algn="l"/>
                          <a:r>
                            <a:rPr lang="en-US" sz="2400" b="1">
                              <a:effectLst/>
                            </a:rPr>
                            <a:t>Symbol</a:t>
                          </a:r>
                          <a:endParaRPr lang="en-US" sz="2400" b="1">
                            <a:effectLst/>
                            <a:latin typeface="quote-cjk-patch"/>
                          </a:endParaRPr>
                        </a:p>
                      </a:txBody>
                      <a:tcPr marL="80209" marR="80209" marT="50131" marB="50131" anchor="ctr"/>
                    </a:tc>
                    <a:tc>
                      <a:txBody>
                        <a:bodyPr/>
                        <a:lstStyle/>
                        <a:p>
                          <a:pPr algn="l"/>
                          <a:r>
                            <a:rPr lang="en-US" sz="2400" b="1" dirty="0">
                              <a:effectLst/>
                            </a:rPr>
                            <a:t>Value</a:t>
                          </a:r>
                          <a:endParaRPr lang="en-US" sz="2400" b="1" dirty="0">
                            <a:effectLst/>
                            <a:latin typeface="quote-cjk-patch"/>
                          </a:endParaRPr>
                        </a:p>
                      </a:txBody>
                      <a:tcPr marL="80209" marR="80209" marT="50131" marB="50131" anchor="ctr"/>
                    </a:tc>
                    <a:extLst>
                      <a:ext uri="{0D108BD9-81ED-4DB2-BD59-A6C34878D82A}">
                        <a16:rowId xmlns:a16="http://schemas.microsoft.com/office/drawing/2014/main" val="563426201"/>
                      </a:ext>
                    </a:extLst>
                  </a:tr>
                  <a:tr h="533390">
                    <a:tc>
                      <a:txBody>
                        <a:bodyPr/>
                        <a:lstStyle/>
                        <a:p>
                          <a:r>
                            <a:rPr lang="en-US" sz="2400">
                              <a:effectLst/>
                            </a:rPr>
                            <a:t>Joint 1 angle</a:t>
                          </a:r>
                          <a:endParaRPr lang="en-US" sz="2400" b="0">
                            <a:effectLst/>
                            <a:latin typeface="quote-cjk-patch"/>
                          </a:endParaRPr>
                        </a:p>
                      </a:txBody>
                      <a:tcPr marL="72188" marR="80209" marT="50131" marB="50131" anchor="ctr"/>
                    </a:tc>
                    <a:tc>
                      <a:txBody>
                        <a:bodyPr/>
                        <a:lstStyle/>
                        <a:p>
                          <a:r>
                            <a:rPr lang="el-GR" sz="2400">
                              <a:effectLst/>
                            </a:rPr>
                            <a:t>θ₁</a:t>
                          </a:r>
                          <a:endParaRPr lang="el-GR" sz="2400" b="0">
                            <a:effectLst/>
                            <a:latin typeface="quote-cjk-patch"/>
                          </a:endParaRPr>
                        </a:p>
                      </a:txBody>
                      <a:tcPr marL="80209" marR="80209" marT="50131" marB="50131" anchor="ctr"/>
                    </a:tc>
                    <a:tc>
                      <a:txBody>
                        <a:bodyPr/>
                        <a:lstStyle/>
                        <a:p>
                          <a:r>
                            <a:rPr lang="en-US" sz="2400" dirty="0">
                              <a:effectLst/>
                            </a:rPr>
                            <a:t>30° (0.5236 rad)</a:t>
                          </a:r>
                          <a:endParaRPr lang="en-US" sz="2400" b="0" dirty="0">
                            <a:effectLst/>
                            <a:latin typeface="quote-cjk-patch"/>
                          </a:endParaRPr>
                        </a:p>
                      </a:txBody>
                      <a:tcPr marL="80209" marR="72188" marT="50131" marB="50131" anchor="ctr"/>
                    </a:tc>
                    <a:extLst>
                      <a:ext uri="{0D108BD9-81ED-4DB2-BD59-A6C34878D82A}">
                        <a16:rowId xmlns:a16="http://schemas.microsoft.com/office/drawing/2014/main" val="1127051551"/>
                      </a:ext>
                    </a:extLst>
                  </a:tr>
                  <a:tr h="533390">
                    <a:tc>
                      <a:txBody>
                        <a:bodyPr/>
                        <a:lstStyle/>
                        <a:p>
                          <a:r>
                            <a:rPr lang="en-US" sz="2400">
                              <a:effectLst/>
                            </a:rPr>
                            <a:t>Joint 2 angle</a:t>
                          </a:r>
                          <a:endParaRPr lang="en-US" sz="2400" b="0">
                            <a:effectLst/>
                            <a:latin typeface="quote-cjk-patch"/>
                          </a:endParaRPr>
                        </a:p>
                      </a:txBody>
                      <a:tcPr marL="72188" marR="80209" marT="50131" marB="50131" anchor="ctr"/>
                    </a:tc>
                    <a:tc>
                      <a:txBody>
                        <a:bodyPr/>
                        <a:lstStyle/>
                        <a:p>
                          <a:r>
                            <a:rPr lang="el-GR" sz="2400" dirty="0">
                              <a:effectLst/>
                            </a:rPr>
                            <a:t>θ₂</a:t>
                          </a:r>
                          <a:endParaRPr lang="el-GR" sz="2400" b="0" dirty="0">
                            <a:effectLst/>
                            <a:latin typeface="quote-cjk-patch"/>
                          </a:endParaRPr>
                        </a:p>
                      </a:txBody>
                      <a:tcPr marL="80209" marR="80209" marT="50131" marB="50131" anchor="ctr"/>
                    </a:tc>
                    <a:tc>
                      <a:txBody>
                        <a:bodyPr/>
                        <a:lstStyle/>
                        <a:p>
                          <a:r>
                            <a:rPr lang="en-US" sz="2400" dirty="0">
                              <a:effectLst/>
                            </a:rPr>
                            <a:t>45° (0.7854 rad)</a:t>
                          </a:r>
                          <a:endParaRPr lang="en-US" sz="2400" b="0" dirty="0">
                            <a:effectLst/>
                            <a:latin typeface="quote-cjk-patch"/>
                          </a:endParaRPr>
                        </a:p>
                      </a:txBody>
                      <a:tcPr marL="80209" marR="72188" marT="50131" marB="50131" anchor="ctr"/>
                    </a:tc>
                    <a:extLst>
                      <a:ext uri="{0D108BD9-81ED-4DB2-BD59-A6C34878D82A}">
                        <a16:rowId xmlns:a16="http://schemas.microsoft.com/office/drawing/2014/main" val="2462442819"/>
                      </a:ext>
                    </a:extLst>
                  </a:tr>
                  <a:tr h="316825">
                    <a:tc>
                      <a:txBody>
                        <a:bodyPr/>
                        <a:lstStyle/>
                        <a:p>
                          <a:r>
                            <a:rPr lang="en-US" sz="2400">
                              <a:effectLst/>
                            </a:rPr>
                            <a:t>Joint 1 speed</a:t>
                          </a:r>
                          <a:endParaRPr lang="en-US" sz="2400" b="0">
                            <a:effectLst/>
                            <a:latin typeface="quote-cjk-patch"/>
                          </a:endParaRPr>
                        </a:p>
                      </a:txBody>
                      <a:tcPr marL="72188" marR="80209" marT="50131" marB="50131" anchor="ctr"/>
                    </a:tc>
                    <a:tc>
                      <a:txBody>
                        <a:bodyPr/>
                        <a:lstStyle/>
                        <a:p>
                          <a:pPr/>
                          <a14:m>
                            <m:oMathPara xmlns:m="http://schemas.openxmlformats.org/officeDocument/2006/math">
                              <m:oMathParaPr>
                                <m:jc m:val="left"/>
                              </m:oMathParaPr>
                              <m:oMath xmlns:m="http://schemas.openxmlformats.org/officeDocument/2006/math">
                                <m:acc>
                                  <m:accPr>
                                    <m:chr m:val="̇"/>
                                    <m:ctrlPr>
                                      <a:rPr lang="el-GR" sz="2400" i="1" smtClean="0">
                                        <a:effectLst/>
                                        <a:latin typeface="Cambria Math" panose="02040503050406030204" pitchFamily="18" charset="0"/>
                                      </a:rPr>
                                    </m:ctrlPr>
                                  </m:accPr>
                                  <m:e>
                                    <m:r>
                                      <m:rPr>
                                        <m:nor/>
                                      </m:rPr>
                                      <a:rPr lang="el-GR" sz="2400" dirty="0" smtClean="0">
                                        <a:effectLst/>
                                      </a:rPr>
                                      <m:t>θ</m:t>
                                    </m:r>
                                    <m:r>
                                      <m:rPr>
                                        <m:nor/>
                                      </m:rPr>
                                      <a:rPr lang="el-GR" sz="2400" dirty="0" smtClean="0">
                                        <a:effectLst/>
                                      </a:rPr>
                                      <m:t>₁</m:t>
                                    </m:r>
                                  </m:e>
                                </m:acc>
                              </m:oMath>
                            </m:oMathPara>
                          </a14:m>
                          <a:endParaRPr lang="el-GR" sz="2400" b="0" dirty="0">
                            <a:effectLst/>
                            <a:latin typeface="quote-cjk-patch"/>
                          </a:endParaRPr>
                        </a:p>
                      </a:txBody>
                      <a:tcPr marL="80209" marR="80209" marT="50131" marB="50131" anchor="ctr"/>
                    </a:tc>
                    <a:tc>
                      <a:txBody>
                        <a:bodyPr/>
                        <a:lstStyle/>
                        <a:p>
                          <a:r>
                            <a:rPr lang="en-US" sz="2400" dirty="0">
                              <a:effectLst/>
                            </a:rPr>
                            <a:t>0.1 rad/s</a:t>
                          </a:r>
                          <a:endParaRPr lang="en-US" sz="2400" b="0" dirty="0">
                            <a:effectLst/>
                            <a:latin typeface="quote-cjk-patch"/>
                          </a:endParaRPr>
                        </a:p>
                      </a:txBody>
                      <a:tcPr marL="80209" marR="72188" marT="50131" marB="50131" anchor="ctr"/>
                    </a:tc>
                    <a:extLst>
                      <a:ext uri="{0D108BD9-81ED-4DB2-BD59-A6C34878D82A}">
                        <a16:rowId xmlns:a16="http://schemas.microsoft.com/office/drawing/2014/main" val="831627564"/>
                      </a:ext>
                    </a:extLst>
                  </a:tr>
                  <a:tr h="316825">
                    <a:tc>
                      <a:txBody>
                        <a:bodyPr/>
                        <a:lstStyle/>
                        <a:p>
                          <a:r>
                            <a:rPr lang="en-US" sz="2400">
                              <a:effectLst/>
                            </a:rPr>
                            <a:t>Joint 2 speed</a:t>
                          </a:r>
                          <a:endParaRPr lang="en-US" sz="2400" b="0">
                            <a:effectLst/>
                            <a:latin typeface="quote-cjk-patch"/>
                          </a:endParaRPr>
                        </a:p>
                      </a:txBody>
                      <a:tcPr marL="72188" marR="80209" marT="50131" marB="50131" anchor="ctr"/>
                    </a:tc>
                    <a:tc>
                      <a:txBody>
                        <a:bodyPr/>
                        <a:lstStyle/>
                        <a:p>
                          <a:pPr/>
                          <a14:m>
                            <m:oMathPara xmlns:m="http://schemas.openxmlformats.org/officeDocument/2006/math">
                              <m:oMathParaPr>
                                <m:jc m:val="left"/>
                              </m:oMathParaPr>
                              <m:oMath xmlns:m="http://schemas.openxmlformats.org/officeDocument/2006/math">
                                <m:acc>
                                  <m:accPr>
                                    <m:chr m:val="̇"/>
                                    <m:ctrlPr>
                                      <a:rPr lang="el-GR" sz="2400" b="0" i="1" smtClean="0">
                                        <a:effectLst/>
                                        <a:latin typeface="Cambria Math" panose="02040503050406030204" pitchFamily="18" charset="0"/>
                                      </a:rPr>
                                    </m:ctrlPr>
                                  </m:accPr>
                                  <m:e>
                                    <m:r>
                                      <m:rPr>
                                        <m:nor/>
                                      </m:rPr>
                                      <a:rPr lang="el-GR" sz="2400" dirty="0" smtClean="0">
                                        <a:effectLst/>
                                      </a:rPr>
                                      <m:t>θ</m:t>
                                    </m:r>
                                    <m:r>
                                      <m:rPr>
                                        <m:nor/>
                                      </m:rPr>
                                      <a:rPr lang="el-GR" sz="2400" dirty="0" smtClean="0">
                                        <a:effectLst/>
                                      </a:rPr>
                                      <m:t>₂</m:t>
                                    </m:r>
                                    <m:r>
                                      <m:rPr>
                                        <m:nor/>
                                      </m:rPr>
                                      <a:rPr lang="el-GR" sz="2400" b="0" dirty="0" smtClean="0">
                                        <a:effectLst/>
                                        <a:latin typeface="quote-cjk-patch"/>
                                      </a:rPr>
                                      <m:t> </m:t>
                                    </m:r>
                                  </m:e>
                                </m:acc>
                              </m:oMath>
                            </m:oMathPara>
                          </a14:m>
                          <a:endParaRPr lang="el-GR" sz="2400" b="0" dirty="0">
                            <a:effectLst/>
                            <a:latin typeface="quote-cjk-patch"/>
                          </a:endParaRPr>
                        </a:p>
                      </a:txBody>
                      <a:tcPr marL="80209" marR="80209" marT="50131" marB="50131" anchor="ctr"/>
                    </a:tc>
                    <a:tc>
                      <a:txBody>
                        <a:bodyPr/>
                        <a:lstStyle/>
                        <a:p>
                          <a:r>
                            <a:rPr lang="en-US" sz="2400" dirty="0">
                              <a:effectLst/>
                            </a:rPr>
                            <a:t>0.2 rad/s</a:t>
                          </a:r>
                          <a:endParaRPr lang="en-US" sz="2400" b="0" dirty="0">
                            <a:effectLst/>
                            <a:latin typeface="quote-cjk-patch"/>
                          </a:endParaRPr>
                        </a:p>
                      </a:txBody>
                      <a:tcPr marL="80209" marR="72188" marT="50131" marB="50131" anchor="ctr"/>
                    </a:tc>
                    <a:extLst>
                      <a:ext uri="{0D108BD9-81ED-4DB2-BD59-A6C34878D82A}">
                        <a16:rowId xmlns:a16="http://schemas.microsoft.com/office/drawing/2014/main" val="3457871352"/>
                      </a:ext>
                    </a:extLst>
                  </a:tr>
                  <a:tr h="316825">
                    <a:tc>
                      <a:txBody>
                        <a:bodyPr/>
                        <a:lstStyle/>
                        <a:p>
                          <a:r>
                            <a:rPr lang="en-US" sz="2400">
                              <a:effectLst/>
                            </a:rPr>
                            <a:t>Jacobian J₁₁</a:t>
                          </a:r>
                          <a:endParaRPr lang="en-US" sz="2400" b="0">
                            <a:effectLst/>
                            <a:latin typeface="quote-cjk-patch"/>
                          </a:endParaRPr>
                        </a:p>
                      </a:txBody>
                      <a:tcPr marL="72188" marR="80209" marT="50131" marB="50131" anchor="ctr"/>
                    </a:tc>
                    <a:tc>
                      <a:txBody>
                        <a:bodyPr/>
                        <a:lstStyle/>
                        <a:p>
                          <a:r>
                            <a:rPr lang="en-US" sz="2400" dirty="0">
                              <a:effectLst/>
                            </a:rPr>
                            <a:t>∂x/∂</a:t>
                          </a:r>
                          <a:r>
                            <a:rPr lang="el-GR" sz="2400" dirty="0">
                              <a:effectLst/>
                            </a:rPr>
                            <a:t>θ₁</a:t>
                          </a:r>
                          <a:endParaRPr lang="el-GR" sz="2400" b="0" dirty="0">
                            <a:effectLst/>
                            <a:latin typeface="quote-cjk-patch"/>
                          </a:endParaRPr>
                        </a:p>
                      </a:txBody>
                      <a:tcPr marL="80209" marR="80209" marT="50131" marB="50131" anchor="ctr"/>
                    </a:tc>
                    <a:tc>
                      <a:txBody>
                        <a:bodyPr/>
                        <a:lstStyle/>
                        <a:p>
                          <a:r>
                            <a:rPr lang="en-US" sz="2400" dirty="0">
                              <a:effectLst/>
                            </a:rPr>
                            <a:t>-1.4659</a:t>
                          </a:r>
                          <a:endParaRPr lang="en-US" sz="2400" b="0" dirty="0">
                            <a:effectLst/>
                            <a:latin typeface="quote-cjk-patch"/>
                          </a:endParaRPr>
                        </a:p>
                      </a:txBody>
                      <a:tcPr marL="80209" marR="72188" marT="50131" marB="50131" anchor="ctr"/>
                    </a:tc>
                    <a:extLst>
                      <a:ext uri="{0D108BD9-81ED-4DB2-BD59-A6C34878D82A}">
                        <a16:rowId xmlns:a16="http://schemas.microsoft.com/office/drawing/2014/main" val="479815171"/>
                      </a:ext>
                    </a:extLst>
                  </a:tr>
                  <a:tr h="316825">
                    <a:tc>
                      <a:txBody>
                        <a:bodyPr/>
                        <a:lstStyle/>
                        <a:p>
                          <a:r>
                            <a:rPr lang="en-US" sz="2400">
                              <a:effectLst/>
                            </a:rPr>
                            <a:t>Jacobian J₁₂</a:t>
                          </a:r>
                          <a:endParaRPr lang="en-US" sz="2400" b="0">
                            <a:effectLst/>
                            <a:latin typeface="quote-cjk-patch"/>
                          </a:endParaRPr>
                        </a:p>
                      </a:txBody>
                      <a:tcPr marL="72188" marR="80209" marT="50131" marB="50131" anchor="ctr"/>
                    </a:tc>
                    <a:tc>
                      <a:txBody>
                        <a:bodyPr/>
                        <a:lstStyle/>
                        <a:p>
                          <a:r>
                            <a:rPr lang="en-US" sz="2400">
                              <a:effectLst/>
                            </a:rPr>
                            <a:t>∂x/∂</a:t>
                          </a:r>
                          <a:r>
                            <a:rPr lang="el-GR" sz="2400">
                              <a:effectLst/>
                            </a:rPr>
                            <a:t>θ₂</a:t>
                          </a:r>
                          <a:endParaRPr lang="el-GR" sz="2400" b="0">
                            <a:effectLst/>
                            <a:latin typeface="quote-cjk-patch"/>
                          </a:endParaRPr>
                        </a:p>
                      </a:txBody>
                      <a:tcPr marL="80209" marR="80209" marT="50131" marB="50131" anchor="ctr"/>
                    </a:tc>
                    <a:tc>
                      <a:txBody>
                        <a:bodyPr/>
                        <a:lstStyle/>
                        <a:p>
                          <a:r>
                            <a:rPr lang="en-US" sz="2400" dirty="0">
                              <a:effectLst/>
                            </a:rPr>
                            <a:t>-0.9659</a:t>
                          </a:r>
                          <a:endParaRPr lang="en-US" sz="2400" b="0" dirty="0">
                            <a:effectLst/>
                            <a:latin typeface="quote-cjk-patch"/>
                          </a:endParaRPr>
                        </a:p>
                      </a:txBody>
                      <a:tcPr marL="80209" marR="72188" marT="50131" marB="50131" anchor="ctr"/>
                    </a:tc>
                    <a:extLst>
                      <a:ext uri="{0D108BD9-81ED-4DB2-BD59-A6C34878D82A}">
                        <a16:rowId xmlns:a16="http://schemas.microsoft.com/office/drawing/2014/main" val="3823719787"/>
                      </a:ext>
                    </a:extLst>
                  </a:tr>
                  <a:tr h="316825">
                    <a:tc>
                      <a:txBody>
                        <a:bodyPr/>
                        <a:lstStyle/>
                        <a:p>
                          <a:r>
                            <a:rPr lang="en-US" sz="2400">
                              <a:effectLst/>
                            </a:rPr>
                            <a:t>Jacobian J₂₁</a:t>
                          </a:r>
                          <a:endParaRPr lang="en-US" sz="2400" b="0">
                            <a:effectLst/>
                            <a:latin typeface="quote-cjk-patch"/>
                          </a:endParaRPr>
                        </a:p>
                      </a:txBody>
                      <a:tcPr marL="72188" marR="80209" marT="50131" marB="50131" anchor="ctr"/>
                    </a:tc>
                    <a:tc>
                      <a:txBody>
                        <a:bodyPr/>
                        <a:lstStyle/>
                        <a:p>
                          <a:r>
                            <a:rPr lang="en-US" sz="2400">
                              <a:effectLst/>
                            </a:rPr>
                            <a:t>∂y/∂</a:t>
                          </a:r>
                          <a:r>
                            <a:rPr lang="el-GR" sz="2400">
                              <a:effectLst/>
                            </a:rPr>
                            <a:t>θ₁</a:t>
                          </a:r>
                          <a:endParaRPr lang="el-GR" sz="2400" b="0">
                            <a:effectLst/>
                            <a:latin typeface="quote-cjk-patch"/>
                          </a:endParaRPr>
                        </a:p>
                      </a:txBody>
                      <a:tcPr marL="80209" marR="80209" marT="50131" marB="50131" anchor="ctr"/>
                    </a:tc>
                    <a:tc>
                      <a:txBody>
                        <a:bodyPr/>
                        <a:lstStyle/>
                        <a:p>
                          <a:r>
                            <a:rPr lang="en-US" sz="2400" dirty="0">
                              <a:effectLst/>
                            </a:rPr>
                            <a:t>1.1248</a:t>
                          </a:r>
                          <a:endParaRPr lang="en-US" sz="2400" b="0" dirty="0">
                            <a:effectLst/>
                            <a:latin typeface="quote-cjk-patch"/>
                          </a:endParaRPr>
                        </a:p>
                      </a:txBody>
                      <a:tcPr marL="80209" marR="72188" marT="50131" marB="50131" anchor="ctr"/>
                    </a:tc>
                    <a:extLst>
                      <a:ext uri="{0D108BD9-81ED-4DB2-BD59-A6C34878D82A}">
                        <a16:rowId xmlns:a16="http://schemas.microsoft.com/office/drawing/2014/main" val="974025167"/>
                      </a:ext>
                    </a:extLst>
                  </a:tr>
                  <a:tr h="316825">
                    <a:tc>
                      <a:txBody>
                        <a:bodyPr/>
                        <a:lstStyle/>
                        <a:p>
                          <a:r>
                            <a:rPr lang="en-US" sz="2400">
                              <a:effectLst/>
                            </a:rPr>
                            <a:t>Jacobian J₂₂</a:t>
                          </a:r>
                          <a:endParaRPr lang="en-US" sz="2400" b="0">
                            <a:effectLst/>
                            <a:latin typeface="quote-cjk-patch"/>
                          </a:endParaRPr>
                        </a:p>
                      </a:txBody>
                      <a:tcPr marL="72188" marR="80209" marT="50131" marB="50131" anchor="ctr"/>
                    </a:tc>
                    <a:tc>
                      <a:txBody>
                        <a:bodyPr/>
                        <a:lstStyle/>
                        <a:p>
                          <a:r>
                            <a:rPr lang="en-US" sz="2400">
                              <a:effectLst/>
                            </a:rPr>
                            <a:t>∂y/∂</a:t>
                          </a:r>
                          <a:r>
                            <a:rPr lang="el-GR" sz="2400">
                              <a:effectLst/>
                            </a:rPr>
                            <a:t>θ₂</a:t>
                          </a:r>
                          <a:endParaRPr lang="el-GR" sz="2400" b="0">
                            <a:effectLst/>
                            <a:latin typeface="quote-cjk-patch"/>
                          </a:endParaRPr>
                        </a:p>
                      </a:txBody>
                      <a:tcPr marL="80209" marR="80209" marT="50131" marB="50131" anchor="ctr"/>
                    </a:tc>
                    <a:tc>
                      <a:txBody>
                        <a:bodyPr/>
                        <a:lstStyle/>
                        <a:p>
                          <a:r>
                            <a:rPr lang="en-US" sz="2400" dirty="0">
                              <a:effectLst/>
                            </a:rPr>
                            <a:t>0.2588</a:t>
                          </a:r>
                          <a:endParaRPr lang="en-US" sz="2400" b="0" dirty="0">
                            <a:effectLst/>
                            <a:latin typeface="quote-cjk-patch"/>
                          </a:endParaRPr>
                        </a:p>
                      </a:txBody>
                      <a:tcPr marL="80209" marR="72188" marT="50131" marB="50131" anchor="ctr"/>
                    </a:tc>
                    <a:extLst>
                      <a:ext uri="{0D108BD9-81ED-4DB2-BD59-A6C34878D82A}">
                        <a16:rowId xmlns:a16="http://schemas.microsoft.com/office/drawing/2014/main" val="59614458"/>
                      </a:ext>
                    </a:extLst>
                  </a:tr>
                  <a:tr h="533390">
                    <a:tc>
                      <a:txBody>
                        <a:bodyPr/>
                        <a:lstStyle/>
                        <a:p>
                          <a:r>
                            <a:rPr lang="en-US" sz="2400">
                              <a:effectLst/>
                            </a:rPr>
                            <a:t>Hand X velocity</a:t>
                          </a:r>
                          <a:endParaRPr lang="en-US" sz="2400" b="0">
                            <a:effectLst/>
                            <a:latin typeface="quote-cjk-patch"/>
                          </a:endParaRPr>
                        </a:p>
                      </a:txBody>
                      <a:tcPr marL="72188" marR="80209" marT="50131" marB="50131" anchor="ctr"/>
                    </a:tc>
                    <a:tc>
                      <a:txBody>
                        <a:bodyPr/>
                        <a:lstStyle/>
                        <a:p>
                          <a:r>
                            <a:rPr lang="en-US" sz="2400" dirty="0"/>
                            <a:t>ẋ</a:t>
                          </a:r>
                          <a:endParaRPr lang="en-US" sz="2400" b="0" dirty="0">
                            <a:effectLst/>
                            <a:latin typeface="quote-cjk-patch"/>
                          </a:endParaRPr>
                        </a:p>
                      </a:txBody>
                      <a:tcPr marL="80209" marR="80209" marT="50131" marB="50131" anchor="ctr"/>
                    </a:tc>
                    <a:tc>
                      <a:txBody>
                        <a:bodyPr/>
                        <a:lstStyle/>
                        <a:p>
                          <a:r>
                            <a:rPr lang="en-US" sz="2400" dirty="0">
                              <a:effectLst/>
                            </a:rPr>
                            <a:t>-0.34 m/s</a:t>
                          </a:r>
                          <a:endParaRPr lang="en-US" sz="2400" b="0" dirty="0">
                            <a:effectLst/>
                            <a:latin typeface="quote-cjk-patch"/>
                          </a:endParaRPr>
                        </a:p>
                      </a:txBody>
                      <a:tcPr marL="80209" marR="72188" marT="50131" marB="50131" anchor="ctr"/>
                    </a:tc>
                    <a:extLst>
                      <a:ext uri="{0D108BD9-81ED-4DB2-BD59-A6C34878D82A}">
                        <a16:rowId xmlns:a16="http://schemas.microsoft.com/office/drawing/2014/main" val="2574319239"/>
                      </a:ext>
                    </a:extLst>
                  </a:tr>
                  <a:tr h="533390">
                    <a:tc>
                      <a:txBody>
                        <a:bodyPr/>
                        <a:lstStyle/>
                        <a:p>
                          <a:r>
                            <a:rPr lang="en-US" sz="2400">
                              <a:effectLst/>
                            </a:rPr>
                            <a:t>Hand Y velocity</a:t>
                          </a:r>
                          <a:endParaRPr lang="en-US" sz="2400" b="0">
                            <a:effectLst/>
                            <a:latin typeface="quote-cjk-patch"/>
                          </a:endParaRPr>
                        </a:p>
                      </a:txBody>
                      <a:tcPr marL="72188" marR="80209" marT="50131" marB="50131" anchor="ctr"/>
                    </a:tc>
                    <a:tc>
                      <a:txBody>
                        <a:bodyPr/>
                        <a:lstStyle/>
                        <a:p>
                          <a:r>
                            <a:rPr lang="en-US" sz="2400" dirty="0"/>
                            <a:t>ẏ</a:t>
                          </a:r>
                          <a:endParaRPr lang="en-US" sz="2400" b="0" dirty="0">
                            <a:effectLst/>
                            <a:latin typeface="quote-cjk-patch"/>
                          </a:endParaRPr>
                        </a:p>
                      </a:txBody>
                      <a:tcPr marL="80209" marR="80209" marT="50131" marB="50131" anchor="ctr"/>
                    </a:tc>
                    <a:tc>
                      <a:txBody>
                        <a:bodyPr/>
                        <a:lstStyle/>
                        <a:p>
                          <a:r>
                            <a:rPr lang="en-US" sz="2400" dirty="0">
                              <a:effectLst/>
                            </a:rPr>
                            <a:t>0.16 m/s</a:t>
                          </a:r>
                          <a:endParaRPr lang="en-US" sz="2400" b="0" dirty="0">
                            <a:effectLst/>
                            <a:latin typeface="quote-cjk-patch"/>
                          </a:endParaRPr>
                        </a:p>
                      </a:txBody>
                      <a:tcPr marL="80209" marR="72188" marT="50131" marB="50131" anchor="ctr"/>
                    </a:tc>
                    <a:extLst>
                      <a:ext uri="{0D108BD9-81ED-4DB2-BD59-A6C34878D82A}">
                        <a16:rowId xmlns:a16="http://schemas.microsoft.com/office/drawing/2014/main" val="3150880979"/>
                      </a:ext>
                    </a:extLst>
                  </a:tr>
                </a:tbl>
              </a:graphicData>
            </a:graphic>
          </p:graphicFrame>
        </mc:Choice>
        <mc:Fallback>
          <p:graphicFrame>
            <p:nvGraphicFramePr>
              <p:cNvPr id="8" name="Content Placeholder 7">
                <a:extLst>
                  <a:ext uri="{FF2B5EF4-FFF2-40B4-BE49-F238E27FC236}">
                    <a16:creationId xmlns:a16="http://schemas.microsoft.com/office/drawing/2014/main" id="{4A9FD0E8-09FF-4E8D-8674-CCB695398CD8}"/>
                  </a:ext>
                </a:extLst>
              </p:cNvPr>
              <p:cNvGraphicFramePr>
                <a:graphicFrameLocks noGrp="1"/>
              </p:cNvGraphicFramePr>
              <p:nvPr>
                <p:ph idx="1"/>
                <p:extLst>
                  <p:ext uri="{D42A27DB-BD31-4B8C-83A1-F6EECF244321}">
                    <p14:modId xmlns:p14="http://schemas.microsoft.com/office/powerpoint/2010/main" val="3470247152"/>
                  </p:ext>
                </p:extLst>
              </p:nvPr>
            </p:nvGraphicFramePr>
            <p:xfrm>
              <a:off x="933450" y="960636"/>
              <a:ext cx="8439150" cy="5428988"/>
            </p:xfrm>
            <a:graphic>
              <a:graphicData uri="http://schemas.openxmlformats.org/drawingml/2006/table">
                <a:tbl>
                  <a:tblPr>
                    <a:tableStyleId>{5940675A-B579-460E-94D1-54222C63F5DA}</a:tableStyleId>
                  </a:tblPr>
                  <a:tblGrid>
                    <a:gridCol w="2828925">
                      <a:extLst>
                        <a:ext uri="{9D8B030D-6E8A-4147-A177-3AD203B41FA5}">
                          <a16:colId xmlns:a16="http://schemas.microsoft.com/office/drawing/2014/main" val="882593603"/>
                        </a:ext>
                      </a:extLst>
                    </a:gridCol>
                    <a:gridCol w="2797175">
                      <a:extLst>
                        <a:ext uri="{9D8B030D-6E8A-4147-A177-3AD203B41FA5}">
                          <a16:colId xmlns:a16="http://schemas.microsoft.com/office/drawing/2014/main" val="550782556"/>
                        </a:ext>
                      </a:extLst>
                    </a:gridCol>
                    <a:gridCol w="2813050">
                      <a:extLst>
                        <a:ext uri="{9D8B030D-6E8A-4147-A177-3AD203B41FA5}">
                          <a16:colId xmlns:a16="http://schemas.microsoft.com/office/drawing/2014/main" val="1943719333"/>
                        </a:ext>
                      </a:extLst>
                    </a:gridCol>
                  </a:tblGrid>
                  <a:tr h="466022">
                    <a:tc>
                      <a:txBody>
                        <a:bodyPr/>
                        <a:lstStyle/>
                        <a:p>
                          <a:pPr algn="l"/>
                          <a:r>
                            <a:rPr lang="en-US" sz="2400" b="1">
                              <a:effectLst/>
                            </a:rPr>
                            <a:t>Quantity</a:t>
                          </a:r>
                          <a:endParaRPr lang="en-US" sz="2400" b="1">
                            <a:effectLst/>
                            <a:latin typeface="quote-cjk-patch"/>
                          </a:endParaRPr>
                        </a:p>
                      </a:txBody>
                      <a:tcPr marL="72188" marR="80209" marT="50131" marB="50131" anchor="ctr"/>
                    </a:tc>
                    <a:tc>
                      <a:txBody>
                        <a:bodyPr/>
                        <a:lstStyle/>
                        <a:p>
                          <a:pPr algn="l"/>
                          <a:r>
                            <a:rPr lang="en-US" sz="2400" b="1">
                              <a:effectLst/>
                            </a:rPr>
                            <a:t>Symbol</a:t>
                          </a:r>
                          <a:endParaRPr lang="en-US" sz="2400" b="1">
                            <a:effectLst/>
                            <a:latin typeface="quote-cjk-patch"/>
                          </a:endParaRPr>
                        </a:p>
                      </a:txBody>
                      <a:tcPr marL="80209" marR="80209" marT="50131" marB="50131" anchor="ctr"/>
                    </a:tc>
                    <a:tc>
                      <a:txBody>
                        <a:bodyPr/>
                        <a:lstStyle/>
                        <a:p>
                          <a:pPr algn="l"/>
                          <a:r>
                            <a:rPr lang="en-US" sz="2400" b="1" dirty="0">
                              <a:effectLst/>
                            </a:rPr>
                            <a:t>Value</a:t>
                          </a:r>
                          <a:endParaRPr lang="en-US" sz="2400" b="1" dirty="0">
                            <a:effectLst/>
                            <a:latin typeface="quote-cjk-patch"/>
                          </a:endParaRPr>
                        </a:p>
                      </a:txBody>
                      <a:tcPr marL="80209" marR="80209" marT="50131" marB="50131" anchor="ctr"/>
                    </a:tc>
                    <a:extLst>
                      <a:ext uri="{0D108BD9-81ED-4DB2-BD59-A6C34878D82A}">
                        <a16:rowId xmlns:a16="http://schemas.microsoft.com/office/drawing/2014/main" val="563426201"/>
                      </a:ext>
                    </a:extLst>
                  </a:tr>
                  <a:tr h="533390">
                    <a:tc>
                      <a:txBody>
                        <a:bodyPr/>
                        <a:lstStyle/>
                        <a:p>
                          <a:r>
                            <a:rPr lang="en-US" sz="2400">
                              <a:effectLst/>
                            </a:rPr>
                            <a:t>Joint 1 angle</a:t>
                          </a:r>
                          <a:endParaRPr lang="en-US" sz="2400" b="0">
                            <a:effectLst/>
                            <a:latin typeface="quote-cjk-patch"/>
                          </a:endParaRPr>
                        </a:p>
                      </a:txBody>
                      <a:tcPr marL="72188" marR="80209" marT="50131" marB="50131" anchor="ctr"/>
                    </a:tc>
                    <a:tc>
                      <a:txBody>
                        <a:bodyPr/>
                        <a:lstStyle/>
                        <a:p>
                          <a:r>
                            <a:rPr lang="el-GR" sz="2400">
                              <a:effectLst/>
                            </a:rPr>
                            <a:t>θ₁</a:t>
                          </a:r>
                          <a:endParaRPr lang="el-GR" sz="2400" b="0">
                            <a:effectLst/>
                            <a:latin typeface="quote-cjk-patch"/>
                          </a:endParaRPr>
                        </a:p>
                      </a:txBody>
                      <a:tcPr marL="80209" marR="80209" marT="50131" marB="50131" anchor="ctr"/>
                    </a:tc>
                    <a:tc>
                      <a:txBody>
                        <a:bodyPr/>
                        <a:lstStyle/>
                        <a:p>
                          <a:r>
                            <a:rPr lang="en-US" sz="2400" dirty="0">
                              <a:effectLst/>
                            </a:rPr>
                            <a:t>30° (0.5236 rad)</a:t>
                          </a:r>
                          <a:endParaRPr lang="en-US" sz="2400" b="0" dirty="0">
                            <a:effectLst/>
                            <a:latin typeface="quote-cjk-patch"/>
                          </a:endParaRPr>
                        </a:p>
                      </a:txBody>
                      <a:tcPr marL="80209" marR="72188" marT="50131" marB="50131" anchor="ctr"/>
                    </a:tc>
                    <a:extLst>
                      <a:ext uri="{0D108BD9-81ED-4DB2-BD59-A6C34878D82A}">
                        <a16:rowId xmlns:a16="http://schemas.microsoft.com/office/drawing/2014/main" val="1127051551"/>
                      </a:ext>
                    </a:extLst>
                  </a:tr>
                  <a:tr h="533390">
                    <a:tc>
                      <a:txBody>
                        <a:bodyPr/>
                        <a:lstStyle/>
                        <a:p>
                          <a:r>
                            <a:rPr lang="en-US" sz="2400">
                              <a:effectLst/>
                            </a:rPr>
                            <a:t>Joint 2 angle</a:t>
                          </a:r>
                          <a:endParaRPr lang="en-US" sz="2400" b="0">
                            <a:effectLst/>
                            <a:latin typeface="quote-cjk-patch"/>
                          </a:endParaRPr>
                        </a:p>
                      </a:txBody>
                      <a:tcPr marL="72188" marR="80209" marT="50131" marB="50131" anchor="ctr"/>
                    </a:tc>
                    <a:tc>
                      <a:txBody>
                        <a:bodyPr/>
                        <a:lstStyle/>
                        <a:p>
                          <a:r>
                            <a:rPr lang="el-GR" sz="2400" dirty="0">
                              <a:effectLst/>
                            </a:rPr>
                            <a:t>θ₂</a:t>
                          </a:r>
                          <a:endParaRPr lang="el-GR" sz="2400" b="0" dirty="0">
                            <a:effectLst/>
                            <a:latin typeface="quote-cjk-patch"/>
                          </a:endParaRPr>
                        </a:p>
                      </a:txBody>
                      <a:tcPr marL="80209" marR="80209" marT="50131" marB="50131" anchor="ctr"/>
                    </a:tc>
                    <a:tc>
                      <a:txBody>
                        <a:bodyPr/>
                        <a:lstStyle/>
                        <a:p>
                          <a:r>
                            <a:rPr lang="en-US" sz="2400" dirty="0">
                              <a:effectLst/>
                            </a:rPr>
                            <a:t>45° (0.7854 rad)</a:t>
                          </a:r>
                          <a:endParaRPr lang="en-US" sz="2400" b="0" dirty="0">
                            <a:effectLst/>
                            <a:latin typeface="quote-cjk-patch"/>
                          </a:endParaRPr>
                        </a:p>
                      </a:txBody>
                      <a:tcPr marL="80209" marR="72188" marT="50131" marB="50131" anchor="ctr"/>
                    </a:tc>
                    <a:extLst>
                      <a:ext uri="{0D108BD9-81ED-4DB2-BD59-A6C34878D82A}">
                        <a16:rowId xmlns:a16="http://schemas.microsoft.com/office/drawing/2014/main" val="2462442819"/>
                      </a:ext>
                    </a:extLst>
                  </a:tr>
                  <a:tr h="482659">
                    <a:tc>
                      <a:txBody>
                        <a:bodyPr/>
                        <a:lstStyle/>
                        <a:p>
                          <a:r>
                            <a:rPr lang="en-US" sz="2400">
                              <a:effectLst/>
                            </a:rPr>
                            <a:t>Joint 1 speed</a:t>
                          </a:r>
                          <a:endParaRPr lang="en-US" sz="2400" b="0">
                            <a:effectLst/>
                            <a:latin typeface="quote-cjk-patch"/>
                          </a:endParaRPr>
                        </a:p>
                      </a:txBody>
                      <a:tcPr marL="72188" marR="80209" marT="50131" marB="50131" anchor="ctr"/>
                    </a:tc>
                    <a:tc>
                      <a:txBody>
                        <a:bodyPr/>
                        <a:lstStyle/>
                        <a:p>
                          <a:endParaRPr lang="en-US"/>
                        </a:p>
                      </a:txBody>
                      <a:tcPr marL="80209" marR="80209" marT="50131" marB="50131" anchor="ctr">
                        <a:blipFill>
                          <a:blip r:embed="rId2"/>
                          <a:stretch>
                            <a:fillRect l="-101307" t="-327848" r="-101089" b="-730380"/>
                          </a:stretch>
                        </a:blipFill>
                      </a:tcPr>
                    </a:tc>
                    <a:tc>
                      <a:txBody>
                        <a:bodyPr/>
                        <a:lstStyle/>
                        <a:p>
                          <a:r>
                            <a:rPr lang="en-US" sz="2400" dirty="0">
                              <a:effectLst/>
                            </a:rPr>
                            <a:t>0.1 rad/s</a:t>
                          </a:r>
                          <a:endParaRPr lang="en-US" sz="2400" b="0" dirty="0">
                            <a:effectLst/>
                            <a:latin typeface="quote-cjk-patch"/>
                          </a:endParaRPr>
                        </a:p>
                      </a:txBody>
                      <a:tcPr marL="80209" marR="72188" marT="50131" marB="50131" anchor="ctr"/>
                    </a:tc>
                    <a:extLst>
                      <a:ext uri="{0D108BD9-81ED-4DB2-BD59-A6C34878D82A}">
                        <a16:rowId xmlns:a16="http://schemas.microsoft.com/office/drawing/2014/main" val="831627564"/>
                      </a:ext>
                    </a:extLst>
                  </a:tr>
                  <a:tr h="482659">
                    <a:tc>
                      <a:txBody>
                        <a:bodyPr/>
                        <a:lstStyle/>
                        <a:p>
                          <a:r>
                            <a:rPr lang="en-US" sz="2400">
                              <a:effectLst/>
                            </a:rPr>
                            <a:t>Joint 2 speed</a:t>
                          </a:r>
                          <a:endParaRPr lang="en-US" sz="2400" b="0">
                            <a:effectLst/>
                            <a:latin typeface="quote-cjk-patch"/>
                          </a:endParaRPr>
                        </a:p>
                      </a:txBody>
                      <a:tcPr marL="72188" marR="80209" marT="50131" marB="50131" anchor="ctr"/>
                    </a:tc>
                    <a:tc>
                      <a:txBody>
                        <a:bodyPr/>
                        <a:lstStyle/>
                        <a:p>
                          <a:endParaRPr lang="en-US"/>
                        </a:p>
                      </a:txBody>
                      <a:tcPr marL="80209" marR="80209" marT="50131" marB="50131" anchor="ctr">
                        <a:blipFill>
                          <a:blip r:embed="rId2"/>
                          <a:stretch>
                            <a:fillRect l="-101307" t="-427848" r="-101089" b="-630380"/>
                          </a:stretch>
                        </a:blipFill>
                      </a:tcPr>
                    </a:tc>
                    <a:tc>
                      <a:txBody>
                        <a:bodyPr/>
                        <a:lstStyle/>
                        <a:p>
                          <a:r>
                            <a:rPr lang="en-US" sz="2400" dirty="0">
                              <a:effectLst/>
                            </a:rPr>
                            <a:t>0.2 rad/s</a:t>
                          </a:r>
                          <a:endParaRPr lang="en-US" sz="2400" b="0" dirty="0">
                            <a:effectLst/>
                            <a:latin typeface="quote-cjk-patch"/>
                          </a:endParaRPr>
                        </a:p>
                      </a:txBody>
                      <a:tcPr marL="80209" marR="72188" marT="50131" marB="50131" anchor="ctr"/>
                    </a:tc>
                    <a:extLst>
                      <a:ext uri="{0D108BD9-81ED-4DB2-BD59-A6C34878D82A}">
                        <a16:rowId xmlns:a16="http://schemas.microsoft.com/office/drawing/2014/main" val="3457871352"/>
                      </a:ext>
                    </a:extLst>
                  </a:tr>
                  <a:tr h="466022">
                    <a:tc>
                      <a:txBody>
                        <a:bodyPr/>
                        <a:lstStyle/>
                        <a:p>
                          <a:r>
                            <a:rPr lang="en-US" sz="2400">
                              <a:effectLst/>
                            </a:rPr>
                            <a:t>Jacobian J₁₁</a:t>
                          </a:r>
                          <a:endParaRPr lang="en-US" sz="2400" b="0">
                            <a:effectLst/>
                            <a:latin typeface="quote-cjk-patch"/>
                          </a:endParaRPr>
                        </a:p>
                      </a:txBody>
                      <a:tcPr marL="72188" marR="80209" marT="50131" marB="50131" anchor="ctr"/>
                    </a:tc>
                    <a:tc>
                      <a:txBody>
                        <a:bodyPr/>
                        <a:lstStyle/>
                        <a:p>
                          <a:r>
                            <a:rPr lang="en-US" sz="2400" dirty="0">
                              <a:effectLst/>
                            </a:rPr>
                            <a:t>∂x/∂</a:t>
                          </a:r>
                          <a:r>
                            <a:rPr lang="el-GR" sz="2400" dirty="0">
                              <a:effectLst/>
                            </a:rPr>
                            <a:t>θ₁</a:t>
                          </a:r>
                          <a:endParaRPr lang="el-GR" sz="2400" b="0" dirty="0">
                            <a:effectLst/>
                            <a:latin typeface="quote-cjk-patch"/>
                          </a:endParaRPr>
                        </a:p>
                      </a:txBody>
                      <a:tcPr marL="80209" marR="80209" marT="50131" marB="50131" anchor="ctr"/>
                    </a:tc>
                    <a:tc>
                      <a:txBody>
                        <a:bodyPr/>
                        <a:lstStyle/>
                        <a:p>
                          <a:r>
                            <a:rPr lang="en-US" sz="2400" dirty="0">
                              <a:effectLst/>
                            </a:rPr>
                            <a:t>-1.4659</a:t>
                          </a:r>
                          <a:endParaRPr lang="en-US" sz="2400" b="0" dirty="0">
                            <a:effectLst/>
                            <a:latin typeface="quote-cjk-patch"/>
                          </a:endParaRPr>
                        </a:p>
                      </a:txBody>
                      <a:tcPr marL="80209" marR="72188" marT="50131" marB="50131" anchor="ctr"/>
                    </a:tc>
                    <a:extLst>
                      <a:ext uri="{0D108BD9-81ED-4DB2-BD59-A6C34878D82A}">
                        <a16:rowId xmlns:a16="http://schemas.microsoft.com/office/drawing/2014/main" val="479815171"/>
                      </a:ext>
                    </a:extLst>
                  </a:tr>
                  <a:tr h="466022">
                    <a:tc>
                      <a:txBody>
                        <a:bodyPr/>
                        <a:lstStyle/>
                        <a:p>
                          <a:r>
                            <a:rPr lang="en-US" sz="2400">
                              <a:effectLst/>
                            </a:rPr>
                            <a:t>Jacobian J₁₂</a:t>
                          </a:r>
                          <a:endParaRPr lang="en-US" sz="2400" b="0">
                            <a:effectLst/>
                            <a:latin typeface="quote-cjk-patch"/>
                          </a:endParaRPr>
                        </a:p>
                      </a:txBody>
                      <a:tcPr marL="72188" marR="80209" marT="50131" marB="50131" anchor="ctr"/>
                    </a:tc>
                    <a:tc>
                      <a:txBody>
                        <a:bodyPr/>
                        <a:lstStyle/>
                        <a:p>
                          <a:r>
                            <a:rPr lang="en-US" sz="2400">
                              <a:effectLst/>
                            </a:rPr>
                            <a:t>∂x/∂</a:t>
                          </a:r>
                          <a:r>
                            <a:rPr lang="el-GR" sz="2400">
                              <a:effectLst/>
                            </a:rPr>
                            <a:t>θ₂</a:t>
                          </a:r>
                          <a:endParaRPr lang="el-GR" sz="2400" b="0">
                            <a:effectLst/>
                            <a:latin typeface="quote-cjk-patch"/>
                          </a:endParaRPr>
                        </a:p>
                      </a:txBody>
                      <a:tcPr marL="80209" marR="80209" marT="50131" marB="50131" anchor="ctr"/>
                    </a:tc>
                    <a:tc>
                      <a:txBody>
                        <a:bodyPr/>
                        <a:lstStyle/>
                        <a:p>
                          <a:r>
                            <a:rPr lang="en-US" sz="2400" dirty="0">
                              <a:effectLst/>
                            </a:rPr>
                            <a:t>-0.9659</a:t>
                          </a:r>
                          <a:endParaRPr lang="en-US" sz="2400" b="0" dirty="0">
                            <a:effectLst/>
                            <a:latin typeface="quote-cjk-patch"/>
                          </a:endParaRPr>
                        </a:p>
                      </a:txBody>
                      <a:tcPr marL="80209" marR="72188" marT="50131" marB="50131" anchor="ctr"/>
                    </a:tc>
                    <a:extLst>
                      <a:ext uri="{0D108BD9-81ED-4DB2-BD59-A6C34878D82A}">
                        <a16:rowId xmlns:a16="http://schemas.microsoft.com/office/drawing/2014/main" val="3823719787"/>
                      </a:ext>
                    </a:extLst>
                  </a:tr>
                  <a:tr h="466022">
                    <a:tc>
                      <a:txBody>
                        <a:bodyPr/>
                        <a:lstStyle/>
                        <a:p>
                          <a:r>
                            <a:rPr lang="en-US" sz="2400">
                              <a:effectLst/>
                            </a:rPr>
                            <a:t>Jacobian J₂₁</a:t>
                          </a:r>
                          <a:endParaRPr lang="en-US" sz="2400" b="0">
                            <a:effectLst/>
                            <a:latin typeface="quote-cjk-patch"/>
                          </a:endParaRPr>
                        </a:p>
                      </a:txBody>
                      <a:tcPr marL="72188" marR="80209" marT="50131" marB="50131" anchor="ctr"/>
                    </a:tc>
                    <a:tc>
                      <a:txBody>
                        <a:bodyPr/>
                        <a:lstStyle/>
                        <a:p>
                          <a:r>
                            <a:rPr lang="en-US" sz="2400">
                              <a:effectLst/>
                            </a:rPr>
                            <a:t>∂y/∂</a:t>
                          </a:r>
                          <a:r>
                            <a:rPr lang="el-GR" sz="2400">
                              <a:effectLst/>
                            </a:rPr>
                            <a:t>θ₁</a:t>
                          </a:r>
                          <a:endParaRPr lang="el-GR" sz="2400" b="0">
                            <a:effectLst/>
                            <a:latin typeface="quote-cjk-patch"/>
                          </a:endParaRPr>
                        </a:p>
                      </a:txBody>
                      <a:tcPr marL="80209" marR="80209" marT="50131" marB="50131" anchor="ctr"/>
                    </a:tc>
                    <a:tc>
                      <a:txBody>
                        <a:bodyPr/>
                        <a:lstStyle/>
                        <a:p>
                          <a:r>
                            <a:rPr lang="en-US" sz="2400" dirty="0">
                              <a:effectLst/>
                            </a:rPr>
                            <a:t>1.1248</a:t>
                          </a:r>
                          <a:endParaRPr lang="en-US" sz="2400" b="0" dirty="0">
                            <a:effectLst/>
                            <a:latin typeface="quote-cjk-patch"/>
                          </a:endParaRPr>
                        </a:p>
                      </a:txBody>
                      <a:tcPr marL="80209" marR="72188" marT="50131" marB="50131" anchor="ctr"/>
                    </a:tc>
                    <a:extLst>
                      <a:ext uri="{0D108BD9-81ED-4DB2-BD59-A6C34878D82A}">
                        <a16:rowId xmlns:a16="http://schemas.microsoft.com/office/drawing/2014/main" val="974025167"/>
                      </a:ext>
                    </a:extLst>
                  </a:tr>
                  <a:tr h="466022">
                    <a:tc>
                      <a:txBody>
                        <a:bodyPr/>
                        <a:lstStyle/>
                        <a:p>
                          <a:r>
                            <a:rPr lang="en-US" sz="2400">
                              <a:effectLst/>
                            </a:rPr>
                            <a:t>Jacobian J₂₂</a:t>
                          </a:r>
                          <a:endParaRPr lang="en-US" sz="2400" b="0">
                            <a:effectLst/>
                            <a:latin typeface="quote-cjk-patch"/>
                          </a:endParaRPr>
                        </a:p>
                      </a:txBody>
                      <a:tcPr marL="72188" marR="80209" marT="50131" marB="50131" anchor="ctr"/>
                    </a:tc>
                    <a:tc>
                      <a:txBody>
                        <a:bodyPr/>
                        <a:lstStyle/>
                        <a:p>
                          <a:r>
                            <a:rPr lang="en-US" sz="2400">
                              <a:effectLst/>
                            </a:rPr>
                            <a:t>∂y/∂</a:t>
                          </a:r>
                          <a:r>
                            <a:rPr lang="el-GR" sz="2400">
                              <a:effectLst/>
                            </a:rPr>
                            <a:t>θ₂</a:t>
                          </a:r>
                          <a:endParaRPr lang="el-GR" sz="2400" b="0">
                            <a:effectLst/>
                            <a:latin typeface="quote-cjk-patch"/>
                          </a:endParaRPr>
                        </a:p>
                      </a:txBody>
                      <a:tcPr marL="80209" marR="80209" marT="50131" marB="50131" anchor="ctr"/>
                    </a:tc>
                    <a:tc>
                      <a:txBody>
                        <a:bodyPr/>
                        <a:lstStyle/>
                        <a:p>
                          <a:r>
                            <a:rPr lang="en-US" sz="2400" dirty="0">
                              <a:effectLst/>
                            </a:rPr>
                            <a:t>0.2588</a:t>
                          </a:r>
                          <a:endParaRPr lang="en-US" sz="2400" b="0" dirty="0">
                            <a:effectLst/>
                            <a:latin typeface="quote-cjk-patch"/>
                          </a:endParaRPr>
                        </a:p>
                      </a:txBody>
                      <a:tcPr marL="80209" marR="72188" marT="50131" marB="50131" anchor="ctr"/>
                    </a:tc>
                    <a:extLst>
                      <a:ext uri="{0D108BD9-81ED-4DB2-BD59-A6C34878D82A}">
                        <a16:rowId xmlns:a16="http://schemas.microsoft.com/office/drawing/2014/main" val="59614458"/>
                      </a:ext>
                    </a:extLst>
                  </a:tr>
                  <a:tr h="533390">
                    <a:tc>
                      <a:txBody>
                        <a:bodyPr/>
                        <a:lstStyle/>
                        <a:p>
                          <a:r>
                            <a:rPr lang="en-US" sz="2400">
                              <a:effectLst/>
                            </a:rPr>
                            <a:t>Hand X velocity</a:t>
                          </a:r>
                          <a:endParaRPr lang="en-US" sz="2400" b="0">
                            <a:effectLst/>
                            <a:latin typeface="quote-cjk-patch"/>
                          </a:endParaRPr>
                        </a:p>
                      </a:txBody>
                      <a:tcPr marL="72188" marR="80209" marT="50131" marB="50131" anchor="ctr"/>
                    </a:tc>
                    <a:tc>
                      <a:txBody>
                        <a:bodyPr/>
                        <a:lstStyle/>
                        <a:p>
                          <a:r>
                            <a:rPr lang="en-US" sz="2400" dirty="0"/>
                            <a:t>ẋ</a:t>
                          </a:r>
                          <a:endParaRPr lang="en-US" sz="2400" b="0" dirty="0">
                            <a:effectLst/>
                            <a:latin typeface="quote-cjk-patch"/>
                          </a:endParaRPr>
                        </a:p>
                      </a:txBody>
                      <a:tcPr marL="80209" marR="80209" marT="50131" marB="50131" anchor="ctr"/>
                    </a:tc>
                    <a:tc>
                      <a:txBody>
                        <a:bodyPr/>
                        <a:lstStyle/>
                        <a:p>
                          <a:r>
                            <a:rPr lang="en-US" sz="2400" dirty="0">
                              <a:effectLst/>
                            </a:rPr>
                            <a:t>-0.34 m/s</a:t>
                          </a:r>
                          <a:endParaRPr lang="en-US" sz="2400" b="0" dirty="0">
                            <a:effectLst/>
                            <a:latin typeface="quote-cjk-patch"/>
                          </a:endParaRPr>
                        </a:p>
                      </a:txBody>
                      <a:tcPr marL="80209" marR="72188" marT="50131" marB="50131" anchor="ctr"/>
                    </a:tc>
                    <a:extLst>
                      <a:ext uri="{0D108BD9-81ED-4DB2-BD59-A6C34878D82A}">
                        <a16:rowId xmlns:a16="http://schemas.microsoft.com/office/drawing/2014/main" val="2574319239"/>
                      </a:ext>
                    </a:extLst>
                  </a:tr>
                  <a:tr h="533390">
                    <a:tc>
                      <a:txBody>
                        <a:bodyPr/>
                        <a:lstStyle/>
                        <a:p>
                          <a:r>
                            <a:rPr lang="en-US" sz="2400">
                              <a:effectLst/>
                            </a:rPr>
                            <a:t>Hand Y velocity</a:t>
                          </a:r>
                          <a:endParaRPr lang="en-US" sz="2400" b="0">
                            <a:effectLst/>
                            <a:latin typeface="quote-cjk-patch"/>
                          </a:endParaRPr>
                        </a:p>
                      </a:txBody>
                      <a:tcPr marL="72188" marR="80209" marT="50131" marB="50131" anchor="ctr"/>
                    </a:tc>
                    <a:tc>
                      <a:txBody>
                        <a:bodyPr/>
                        <a:lstStyle/>
                        <a:p>
                          <a:r>
                            <a:rPr lang="en-US" sz="2400" dirty="0"/>
                            <a:t>ẏ</a:t>
                          </a:r>
                          <a:endParaRPr lang="en-US" sz="2400" b="0" dirty="0">
                            <a:effectLst/>
                            <a:latin typeface="quote-cjk-patch"/>
                          </a:endParaRPr>
                        </a:p>
                      </a:txBody>
                      <a:tcPr marL="80209" marR="80209" marT="50131" marB="50131" anchor="ctr"/>
                    </a:tc>
                    <a:tc>
                      <a:txBody>
                        <a:bodyPr/>
                        <a:lstStyle/>
                        <a:p>
                          <a:r>
                            <a:rPr lang="en-US" sz="2400" dirty="0">
                              <a:effectLst/>
                            </a:rPr>
                            <a:t>0.16 m/s</a:t>
                          </a:r>
                          <a:endParaRPr lang="en-US" sz="2400" b="0" dirty="0">
                            <a:effectLst/>
                            <a:latin typeface="quote-cjk-patch"/>
                          </a:endParaRPr>
                        </a:p>
                      </a:txBody>
                      <a:tcPr marL="80209" marR="72188" marT="50131" marB="50131" anchor="ctr"/>
                    </a:tc>
                    <a:extLst>
                      <a:ext uri="{0D108BD9-81ED-4DB2-BD59-A6C34878D82A}">
                        <a16:rowId xmlns:a16="http://schemas.microsoft.com/office/drawing/2014/main" val="3150880979"/>
                      </a:ext>
                    </a:extLst>
                  </a:tr>
                </a:tbl>
              </a:graphicData>
            </a:graphic>
          </p:graphicFrame>
        </mc:Fallback>
      </mc:AlternateContent>
    </p:spTree>
    <p:extLst>
      <p:ext uri="{BB962C8B-B14F-4D97-AF65-F5344CB8AC3E}">
        <p14:creationId xmlns:p14="http://schemas.microsoft.com/office/powerpoint/2010/main" val="33394142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BFC12-F031-450D-83A1-2E7FB965F6C9}"/>
              </a:ext>
            </a:extLst>
          </p:cNvPr>
          <p:cNvSpPr>
            <a:spLocks noGrp="1"/>
          </p:cNvSpPr>
          <p:nvPr>
            <p:ph type="title"/>
          </p:nvPr>
        </p:nvSpPr>
        <p:spPr/>
        <p:txBody>
          <a:bodyPr/>
          <a:lstStyle/>
          <a:p>
            <a:r>
              <a:rPr lang="en-US" b="1" dirty="0"/>
              <a:t>Practical example </a:t>
            </a:r>
            <a:r>
              <a:rPr lang="en-US" dirty="0"/>
              <a:t>- </a:t>
            </a:r>
            <a:r>
              <a:rPr lang="en-US" b="1" dirty="0"/>
              <a:t>2-link planar robot arm</a:t>
            </a:r>
            <a:endParaRPr lang="en-US" dirty="0"/>
          </a:p>
        </p:txBody>
      </p:sp>
      <p:sp>
        <p:nvSpPr>
          <p:cNvPr id="5" name="Date Placeholder 4">
            <a:extLst>
              <a:ext uri="{FF2B5EF4-FFF2-40B4-BE49-F238E27FC236}">
                <a16:creationId xmlns:a16="http://schemas.microsoft.com/office/drawing/2014/main" id="{5BBD90CE-1084-41B5-9E28-30F0A31C1F72}"/>
              </a:ext>
            </a:extLst>
          </p:cNvPr>
          <p:cNvSpPr>
            <a:spLocks noGrp="1"/>
          </p:cNvSpPr>
          <p:nvPr>
            <p:ph type="dt" sz="half" idx="10"/>
          </p:nvPr>
        </p:nvSpPr>
        <p:spPr/>
        <p:txBody>
          <a:bodyPr/>
          <a:lstStyle/>
          <a:p>
            <a:fld id="{EED13638-22BF-4B20-ABB7-22ED9E88852A}" type="datetime1">
              <a:rPr lang="en-US" smtClean="0"/>
              <a:t>3/9/2026</a:t>
            </a:fld>
            <a:endParaRPr lang="en-US"/>
          </a:p>
        </p:txBody>
      </p:sp>
      <p:sp>
        <p:nvSpPr>
          <p:cNvPr id="6" name="Slide Number Placeholder 5">
            <a:extLst>
              <a:ext uri="{FF2B5EF4-FFF2-40B4-BE49-F238E27FC236}">
                <a16:creationId xmlns:a16="http://schemas.microsoft.com/office/drawing/2014/main" id="{56D81F17-550B-46A3-9D05-BBEB013BC2BC}"/>
              </a:ext>
            </a:extLst>
          </p:cNvPr>
          <p:cNvSpPr>
            <a:spLocks noGrp="1"/>
          </p:cNvSpPr>
          <p:nvPr>
            <p:ph type="sldNum" sz="quarter" idx="12"/>
          </p:nvPr>
        </p:nvSpPr>
        <p:spPr/>
        <p:txBody>
          <a:bodyPr/>
          <a:lstStyle/>
          <a:p>
            <a:fld id="{C29293D3-8374-41FE-B1E4-A635E9555193}" type="slidenum">
              <a:rPr lang="en-US" smtClean="0"/>
              <a:t>47</a:t>
            </a:fld>
            <a:endParaRPr lang="en-US"/>
          </a:p>
        </p:txBody>
      </p:sp>
      <p:sp>
        <p:nvSpPr>
          <p:cNvPr id="3" name="Content Placeholder 2">
            <a:extLst>
              <a:ext uri="{FF2B5EF4-FFF2-40B4-BE49-F238E27FC236}">
                <a16:creationId xmlns:a16="http://schemas.microsoft.com/office/drawing/2014/main" id="{DB697B07-ED34-4B3F-A2E1-DF9BE6CFDC16}"/>
              </a:ext>
            </a:extLst>
          </p:cNvPr>
          <p:cNvSpPr>
            <a:spLocks noGrp="1"/>
          </p:cNvSpPr>
          <p:nvPr>
            <p:ph idx="1"/>
          </p:nvPr>
        </p:nvSpPr>
        <p:spPr>
          <a:xfrm>
            <a:off x="838200" y="1825625"/>
            <a:ext cx="10515600" cy="4351338"/>
          </a:xfrm>
        </p:spPr>
        <p:txBody>
          <a:bodyPr>
            <a:normAutofit/>
          </a:bodyPr>
          <a:lstStyle/>
          <a:p>
            <a:r>
              <a:rPr lang="en-US" sz="3600" dirty="0"/>
              <a:t>This will show exactly how the Jacobian matrix converts joint speeds into the speed of the robot's hand (end effector).</a:t>
            </a:r>
            <a:endParaRPr lang="en-US" sz="3600" b="1" dirty="0"/>
          </a:p>
          <a:p>
            <a:r>
              <a:rPr lang="en-US" sz="3200" i="1" dirty="0"/>
              <a:t>Key steps</a:t>
            </a:r>
            <a:endParaRPr lang="en-US" sz="3200" dirty="0"/>
          </a:p>
          <a:p>
            <a:pPr lvl="1"/>
            <a:r>
              <a:rPr lang="en-US" sz="2800" dirty="0"/>
              <a:t>Get DH parameters</a:t>
            </a:r>
          </a:p>
          <a:p>
            <a:pPr lvl="1"/>
            <a:r>
              <a:rPr lang="en-US" sz="2800" dirty="0"/>
              <a:t>Forward kinematics → position</a:t>
            </a:r>
          </a:p>
          <a:p>
            <a:pPr lvl="1"/>
            <a:r>
              <a:rPr lang="en-US" sz="2800" dirty="0"/>
              <a:t>Partial derivatives → Jacobian</a:t>
            </a:r>
          </a:p>
          <a:p>
            <a:pPr lvl="1"/>
            <a:r>
              <a:rPr lang="en-US" sz="2800" dirty="0"/>
              <a:t>Matrix multiply → hand velocity</a:t>
            </a:r>
          </a:p>
          <a:p>
            <a:pPr marL="0" indent="0">
              <a:buNone/>
            </a:pPr>
            <a:endParaRPr lang="en-US" dirty="0"/>
          </a:p>
          <a:p>
            <a:endParaRPr lang="en-US" dirty="0"/>
          </a:p>
        </p:txBody>
      </p:sp>
    </p:spTree>
    <p:extLst>
      <p:ext uri="{BB962C8B-B14F-4D97-AF65-F5344CB8AC3E}">
        <p14:creationId xmlns:p14="http://schemas.microsoft.com/office/powerpoint/2010/main" val="22605130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Jacobian for a 6-DOF Robot</a:t>
            </a:r>
          </a:p>
        </p:txBody>
      </p:sp>
      <p:sp>
        <p:nvSpPr>
          <p:cNvPr id="3" name="Content Placeholder 2"/>
          <p:cNvSpPr>
            <a:spLocks noGrp="1"/>
          </p:cNvSpPr>
          <p:nvPr>
            <p:ph idx="1"/>
          </p:nvPr>
        </p:nvSpPr>
        <p:spPr/>
        <p:txBody>
          <a:bodyPr>
            <a:normAutofit/>
          </a:bodyPr>
          <a:lstStyle/>
          <a:p>
            <a:r>
              <a:rPr sz="3200" dirty="0"/>
              <a:t>The Jacobian is a 6×6 matrix.</a:t>
            </a:r>
          </a:p>
          <a:p>
            <a:r>
              <a:rPr sz="3200" dirty="0"/>
              <a:t>Top rows describe linear motion.</a:t>
            </a:r>
          </a:p>
          <a:p>
            <a:r>
              <a:rPr sz="3200" dirty="0"/>
              <a:t>Bottom rows describe rotational motion.</a:t>
            </a:r>
          </a:p>
          <a:p>
            <a:r>
              <a:rPr sz="3200" dirty="0"/>
              <a:t>It is used to solve inverse kinematics.</a:t>
            </a:r>
          </a:p>
        </p:txBody>
      </p:sp>
      <p:sp>
        <p:nvSpPr>
          <p:cNvPr id="4" name="Date Placeholder 3">
            <a:extLst>
              <a:ext uri="{FF2B5EF4-FFF2-40B4-BE49-F238E27FC236}">
                <a16:creationId xmlns:a16="http://schemas.microsoft.com/office/drawing/2014/main" id="{6A860B3A-2BB2-4CE0-B3D4-ED4DE26F98E4}"/>
              </a:ext>
            </a:extLst>
          </p:cNvPr>
          <p:cNvSpPr>
            <a:spLocks noGrp="1"/>
          </p:cNvSpPr>
          <p:nvPr>
            <p:ph type="dt" sz="half" idx="10"/>
          </p:nvPr>
        </p:nvSpPr>
        <p:spPr/>
        <p:txBody>
          <a:bodyPr/>
          <a:lstStyle/>
          <a:p>
            <a:fld id="{0936C7D6-6941-4D56-9D0B-1551E2867CE7}" type="datetime1">
              <a:rPr lang="en-US" smtClean="0"/>
              <a:t>3/8/2026</a:t>
            </a:fld>
            <a:endParaRPr lang="en-US"/>
          </a:p>
        </p:txBody>
      </p:sp>
      <p:sp>
        <p:nvSpPr>
          <p:cNvPr id="5" name="Slide Number Placeholder 4">
            <a:extLst>
              <a:ext uri="{FF2B5EF4-FFF2-40B4-BE49-F238E27FC236}">
                <a16:creationId xmlns:a16="http://schemas.microsoft.com/office/drawing/2014/main" id="{029C0DC1-D350-4A95-AC82-B9DF47991EEC}"/>
              </a:ext>
            </a:extLst>
          </p:cNvPr>
          <p:cNvSpPr>
            <a:spLocks noGrp="1"/>
          </p:cNvSpPr>
          <p:nvPr>
            <p:ph type="sldNum" sz="quarter" idx="12"/>
          </p:nvPr>
        </p:nvSpPr>
        <p:spPr/>
        <p:txBody>
          <a:bodyPr/>
          <a:lstStyle/>
          <a:p>
            <a:fld id="{C29293D3-8374-41FE-B1E4-A635E9555193}" type="slidenum">
              <a:rPr lang="en-US" smtClean="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Inverse Kinematics</a:t>
            </a:r>
          </a:p>
        </p:txBody>
      </p:sp>
      <p:sp>
        <p:nvSpPr>
          <p:cNvPr id="3" name="Content Placeholder 2"/>
          <p:cNvSpPr>
            <a:spLocks noGrp="1"/>
          </p:cNvSpPr>
          <p:nvPr>
            <p:ph idx="1"/>
          </p:nvPr>
        </p:nvSpPr>
        <p:spPr/>
        <p:txBody>
          <a:bodyPr>
            <a:normAutofit/>
          </a:bodyPr>
          <a:lstStyle/>
          <a:p>
            <a:r>
              <a:rPr sz="3200" dirty="0"/>
              <a:t>Inverse kinematics finds the joint angles needed</a:t>
            </a:r>
            <a:r>
              <a:rPr lang="en-US" sz="3200" dirty="0"/>
              <a:t> </a:t>
            </a:r>
            <a:r>
              <a:rPr sz="3200" dirty="0"/>
              <a:t>to reach a desired target position.</a:t>
            </a:r>
          </a:p>
          <a:p>
            <a:r>
              <a:rPr sz="3200" dirty="0"/>
              <a:t>Input: Desired end-effector position</a:t>
            </a:r>
          </a:p>
          <a:p>
            <a:r>
              <a:rPr sz="3200" dirty="0"/>
              <a:t>Output: Joint angles.</a:t>
            </a:r>
          </a:p>
        </p:txBody>
      </p:sp>
      <p:sp>
        <p:nvSpPr>
          <p:cNvPr id="4" name="Date Placeholder 3">
            <a:extLst>
              <a:ext uri="{FF2B5EF4-FFF2-40B4-BE49-F238E27FC236}">
                <a16:creationId xmlns:a16="http://schemas.microsoft.com/office/drawing/2014/main" id="{A10028A7-FB66-48E0-9B4C-456597A0CA77}"/>
              </a:ext>
            </a:extLst>
          </p:cNvPr>
          <p:cNvSpPr>
            <a:spLocks noGrp="1"/>
          </p:cNvSpPr>
          <p:nvPr>
            <p:ph type="dt" sz="half" idx="10"/>
          </p:nvPr>
        </p:nvSpPr>
        <p:spPr/>
        <p:txBody>
          <a:bodyPr/>
          <a:lstStyle/>
          <a:p>
            <a:fld id="{DD886510-CAC1-42E0-821B-8FCEC9C1A8B2}" type="datetime1">
              <a:rPr lang="en-US" smtClean="0"/>
              <a:t>3/8/2026</a:t>
            </a:fld>
            <a:endParaRPr lang="en-US"/>
          </a:p>
        </p:txBody>
      </p:sp>
      <p:sp>
        <p:nvSpPr>
          <p:cNvPr id="5" name="Slide Number Placeholder 4">
            <a:extLst>
              <a:ext uri="{FF2B5EF4-FFF2-40B4-BE49-F238E27FC236}">
                <a16:creationId xmlns:a16="http://schemas.microsoft.com/office/drawing/2014/main" id="{208B9044-80E9-41B8-9623-38B283A8F34D}"/>
              </a:ext>
            </a:extLst>
          </p:cNvPr>
          <p:cNvSpPr>
            <a:spLocks noGrp="1"/>
          </p:cNvSpPr>
          <p:nvPr>
            <p:ph type="sldNum" sz="quarter" idx="12"/>
          </p:nvPr>
        </p:nvSpPr>
        <p:spPr/>
        <p:txBody>
          <a:bodyPr/>
          <a:lstStyle/>
          <a:p>
            <a:fld id="{C29293D3-8374-41FE-B1E4-A635E9555193}" type="slidenum">
              <a:rPr lang="en-US" smtClean="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Inverse Kinematics Using Jacobian</a:t>
            </a:r>
          </a:p>
        </p:txBody>
      </p:sp>
      <p:sp>
        <p:nvSpPr>
          <p:cNvPr id="3" name="Content Placeholder 2"/>
          <p:cNvSpPr>
            <a:spLocks noGrp="1"/>
          </p:cNvSpPr>
          <p:nvPr>
            <p:ph idx="1"/>
          </p:nvPr>
        </p:nvSpPr>
        <p:spPr/>
        <p:txBody>
          <a:bodyPr/>
          <a:lstStyle/>
          <a:p>
            <a:pPr marL="0" indent="0">
              <a:buNone/>
            </a:pPr>
            <a:r>
              <a:rPr sz="3200" dirty="0"/>
              <a:t>Steps:</a:t>
            </a:r>
          </a:p>
          <a:p>
            <a:pPr marL="0" indent="0">
              <a:buNone/>
            </a:pPr>
            <a:r>
              <a:rPr sz="3200" dirty="0"/>
              <a:t>1. Compute current end-effector position</a:t>
            </a:r>
          </a:p>
          <a:p>
            <a:pPr marL="0" indent="0">
              <a:buNone/>
            </a:pPr>
            <a:r>
              <a:rPr sz="3200" dirty="0"/>
              <a:t>2. Calculate error to target</a:t>
            </a:r>
          </a:p>
          <a:p>
            <a:pPr marL="0" indent="0">
              <a:buNone/>
            </a:pPr>
            <a:r>
              <a:rPr sz="3200" dirty="0"/>
              <a:t>3. Compute Jacobian matrix</a:t>
            </a:r>
          </a:p>
          <a:p>
            <a:pPr marL="0" indent="0">
              <a:buNone/>
            </a:pPr>
            <a:r>
              <a:rPr sz="3200" dirty="0"/>
              <a:t>4. Compute pseudo-inverse of Jacobian</a:t>
            </a:r>
          </a:p>
          <a:p>
            <a:pPr marL="0" indent="0">
              <a:buNone/>
            </a:pPr>
            <a:r>
              <a:rPr sz="3200" dirty="0"/>
              <a:t>5. Update joint angles</a:t>
            </a:r>
          </a:p>
          <a:p>
            <a:pPr marL="0" indent="0">
              <a:buNone/>
            </a:pPr>
            <a:r>
              <a:rPr sz="3200" dirty="0"/>
              <a:t>6. Repeat until robot reaches target.</a:t>
            </a:r>
            <a:endParaRPr dirty="0"/>
          </a:p>
        </p:txBody>
      </p:sp>
      <p:sp>
        <p:nvSpPr>
          <p:cNvPr id="4" name="Date Placeholder 3">
            <a:extLst>
              <a:ext uri="{FF2B5EF4-FFF2-40B4-BE49-F238E27FC236}">
                <a16:creationId xmlns:a16="http://schemas.microsoft.com/office/drawing/2014/main" id="{1B9166D8-71DA-4606-8AB1-1C8C349C1A23}"/>
              </a:ext>
            </a:extLst>
          </p:cNvPr>
          <p:cNvSpPr>
            <a:spLocks noGrp="1"/>
          </p:cNvSpPr>
          <p:nvPr>
            <p:ph type="dt" sz="half" idx="10"/>
          </p:nvPr>
        </p:nvSpPr>
        <p:spPr/>
        <p:txBody>
          <a:bodyPr/>
          <a:lstStyle/>
          <a:p>
            <a:fld id="{E1AB3391-9590-469B-BB94-1CAB1D00228B}" type="datetime1">
              <a:rPr lang="en-US" smtClean="0"/>
              <a:t>3/8/2026</a:t>
            </a:fld>
            <a:endParaRPr lang="en-US"/>
          </a:p>
        </p:txBody>
      </p:sp>
      <p:sp>
        <p:nvSpPr>
          <p:cNvPr id="5" name="Slide Number Placeholder 4">
            <a:extLst>
              <a:ext uri="{FF2B5EF4-FFF2-40B4-BE49-F238E27FC236}">
                <a16:creationId xmlns:a16="http://schemas.microsoft.com/office/drawing/2014/main" id="{04F6270F-9F92-40A6-B6D7-D0BF5B730C2D}"/>
              </a:ext>
            </a:extLst>
          </p:cNvPr>
          <p:cNvSpPr>
            <a:spLocks noGrp="1"/>
          </p:cNvSpPr>
          <p:nvPr>
            <p:ph type="sldNum" sz="quarter" idx="12"/>
          </p:nvPr>
        </p:nvSpPr>
        <p:spPr/>
        <p:txBody>
          <a:bodyPr/>
          <a:lstStyle/>
          <a:p>
            <a:fld id="{C29293D3-8374-41FE-B1E4-A635E9555193}" type="slidenum">
              <a:rPr lang="en-US" smtClean="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CD6FE-EDBE-478D-A4E8-95D8C5F96392}"/>
              </a:ext>
            </a:extLst>
          </p:cNvPr>
          <p:cNvSpPr>
            <a:spLocks noGrp="1"/>
          </p:cNvSpPr>
          <p:nvPr>
            <p:ph type="title"/>
          </p:nvPr>
        </p:nvSpPr>
        <p:spPr/>
        <p:txBody>
          <a:bodyPr>
            <a:normAutofit/>
          </a:bodyPr>
          <a:lstStyle/>
          <a:p>
            <a:r>
              <a:rPr lang="en-US" altLang="en-US" b="1" dirty="0">
                <a:solidFill>
                  <a:srgbClr val="0F1115"/>
                </a:solidFill>
                <a:latin typeface="quote-cjk-patch"/>
              </a:rPr>
              <a:t> Introduction to Kinematics  - Fundamental Problems</a:t>
            </a:r>
            <a:endParaRPr lang="en-US" dirty="0"/>
          </a:p>
        </p:txBody>
      </p:sp>
      <p:sp>
        <p:nvSpPr>
          <p:cNvPr id="5" name="Rectangle 1">
            <a:extLst>
              <a:ext uri="{FF2B5EF4-FFF2-40B4-BE49-F238E27FC236}">
                <a16:creationId xmlns:a16="http://schemas.microsoft.com/office/drawing/2014/main" id="{56DA8C12-ECB0-47B3-A615-B8F3A85090C7}"/>
              </a:ext>
            </a:extLst>
          </p:cNvPr>
          <p:cNvSpPr>
            <a:spLocks noChangeArrowheads="1"/>
          </p:cNvSpPr>
          <p:nvPr/>
        </p:nvSpPr>
        <p:spPr bwMode="auto">
          <a:xfrm>
            <a:off x="3781973" y="2173145"/>
            <a:ext cx="65" cy="4154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559CD933-60C3-42FF-A3A4-417F78899E7D}"/>
              </a:ext>
            </a:extLst>
          </p:cNvPr>
          <p:cNvSpPr>
            <a:spLocks noChangeArrowheads="1"/>
          </p:cNvSpPr>
          <p:nvPr/>
        </p:nvSpPr>
        <p:spPr bwMode="auto">
          <a:xfrm>
            <a:off x="3708400" y="3154574"/>
            <a:ext cx="65" cy="48852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04742" rIns="0" bIns="10474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7" name="Content Placeholder 3">
            <a:extLst>
              <a:ext uri="{FF2B5EF4-FFF2-40B4-BE49-F238E27FC236}">
                <a16:creationId xmlns:a16="http://schemas.microsoft.com/office/drawing/2014/main" id="{6ABA5EC4-F56A-4850-8301-3BF5FAC0CB11}"/>
              </a:ext>
            </a:extLst>
          </p:cNvPr>
          <p:cNvGraphicFramePr>
            <a:graphicFrameLocks/>
          </p:cNvGraphicFramePr>
          <p:nvPr>
            <p:extLst>
              <p:ext uri="{D42A27DB-BD31-4B8C-83A1-F6EECF244321}">
                <p14:modId xmlns:p14="http://schemas.microsoft.com/office/powerpoint/2010/main" val="1382540100"/>
              </p:ext>
            </p:extLst>
          </p:nvPr>
        </p:nvGraphicFramePr>
        <p:xfrm>
          <a:off x="626199" y="2173145"/>
          <a:ext cx="10939602" cy="2725431"/>
        </p:xfrm>
        <a:graphic>
          <a:graphicData uri="http://schemas.openxmlformats.org/drawingml/2006/table">
            <a:tbl>
              <a:tblPr>
                <a:tableStyleId>{5940675A-B579-460E-94D1-54222C63F5DA}</a:tableStyleId>
              </a:tblPr>
              <a:tblGrid>
                <a:gridCol w="3137453">
                  <a:extLst>
                    <a:ext uri="{9D8B030D-6E8A-4147-A177-3AD203B41FA5}">
                      <a16:colId xmlns:a16="http://schemas.microsoft.com/office/drawing/2014/main" val="787716451"/>
                    </a:ext>
                  </a:extLst>
                </a:gridCol>
                <a:gridCol w="3935896">
                  <a:extLst>
                    <a:ext uri="{9D8B030D-6E8A-4147-A177-3AD203B41FA5}">
                      <a16:colId xmlns:a16="http://schemas.microsoft.com/office/drawing/2014/main" val="2365349908"/>
                    </a:ext>
                  </a:extLst>
                </a:gridCol>
                <a:gridCol w="3866253">
                  <a:extLst>
                    <a:ext uri="{9D8B030D-6E8A-4147-A177-3AD203B41FA5}">
                      <a16:colId xmlns:a16="http://schemas.microsoft.com/office/drawing/2014/main" val="3712708916"/>
                    </a:ext>
                  </a:extLst>
                </a:gridCol>
              </a:tblGrid>
              <a:tr h="390499">
                <a:tc>
                  <a:txBody>
                    <a:bodyPr/>
                    <a:lstStyle/>
                    <a:p>
                      <a:pPr algn="l"/>
                      <a:r>
                        <a:rPr lang="en-US" sz="2800" b="1" dirty="0">
                          <a:effectLst/>
                        </a:rPr>
                        <a:t>Problem</a:t>
                      </a:r>
                      <a:endParaRPr lang="en-US" sz="2800" b="1" dirty="0">
                        <a:effectLst/>
                        <a:latin typeface="quote-cjk-patch"/>
                      </a:endParaRPr>
                    </a:p>
                  </a:txBody>
                  <a:tcPr marR="101600" marT="63500" marB="63500" anchor="ctr"/>
                </a:tc>
                <a:tc>
                  <a:txBody>
                    <a:bodyPr/>
                    <a:lstStyle/>
                    <a:p>
                      <a:pPr algn="l"/>
                      <a:r>
                        <a:rPr lang="en-US" sz="2800" b="1" dirty="0">
                          <a:effectLst/>
                        </a:rPr>
                        <a:t>Description</a:t>
                      </a:r>
                      <a:endParaRPr lang="en-US" sz="2800" b="1" dirty="0">
                        <a:effectLst/>
                        <a:latin typeface="quote-cjk-patch"/>
                      </a:endParaRPr>
                    </a:p>
                  </a:txBody>
                  <a:tcPr marL="101600" marR="101600" marT="63500" marB="63500" anchor="ctr"/>
                </a:tc>
                <a:tc>
                  <a:txBody>
                    <a:bodyPr/>
                    <a:lstStyle/>
                    <a:p>
                      <a:pPr algn="l"/>
                      <a:r>
                        <a:rPr lang="en-US" sz="2800" b="1" dirty="0">
                          <a:effectLst/>
                        </a:rPr>
                        <a:t>Difficulty</a:t>
                      </a:r>
                      <a:endParaRPr lang="en-US" sz="2800" b="1" dirty="0">
                        <a:effectLst/>
                        <a:latin typeface="quote-cjk-patch"/>
                      </a:endParaRPr>
                    </a:p>
                  </a:txBody>
                  <a:tcPr marL="101600" marR="101600" marT="63500" marB="63500" anchor="ctr"/>
                </a:tc>
                <a:extLst>
                  <a:ext uri="{0D108BD9-81ED-4DB2-BD59-A6C34878D82A}">
                    <a16:rowId xmlns:a16="http://schemas.microsoft.com/office/drawing/2014/main" val="2445704752"/>
                  </a:ext>
                </a:extLst>
              </a:tr>
              <a:tr h="1191271">
                <a:tc>
                  <a:txBody>
                    <a:bodyPr/>
                    <a:lstStyle/>
                    <a:p>
                      <a:r>
                        <a:rPr lang="en-US" sz="2800" dirty="0">
                          <a:effectLst/>
                        </a:rPr>
                        <a:t>Forward Kinematics</a:t>
                      </a:r>
                      <a:endParaRPr lang="en-US" sz="2800" b="0" dirty="0">
                        <a:effectLst/>
                        <a:latin typeface="quote-cjk-patch"/>
                      </a:endParaRPr>
                    </a:p>
                  </a:txBody>
                  <a:tcPr marR="101600" marT="63500" marB="63500" anchor="ctr"/>
                </a:tc>
                <a:tc>
                  <a:txBody>
                    <a:bodyPr/>
                    <a:lstStyle/>
                    <a:p>
                      <a:r>
                        <a:rPr lang="en-US" sz="2800" dirty="0">
                          <a:effectLst/>
                        </a:rPr>
                        <a:t>Given joint angles, find end-effector pose</a:t>
                      </a:r>
                      <a:endParaRPr lang="en-US" sz="2800" b="0" dirty="0">
                        <a:effectLst/>
                        <a:latin typeface="quote-cjk-patch"/>
                      </a:endParaRPr>
                    </a:p>
                  </a:txBody>
                  <a:tcPr marL="101600" marR="101600" marT="63500" marB="63500" anchor="ctr"/>
                </a:tc>
                <a:tc>
                  <a:txBody>
                    <a:bodyPr/>
                    <a:lstStyle/>
                    <a:p>
                      <a:r>
                        <a:rPr lang="en-US" sz="2800" dirty="0">
                          <a:effectLst/>
                        </a:rPr>
                        <a:t>Always solvable, unique</a:t>
                      </a:r>
                      <a:endParaRPr lang="en-US" sz="2800" b="0" dirty="0">
                        <a:effectLst/>
                        <a:latin typeface="quote-cjk-patch"/>
                      </a:endParaRPr>
                    </a:p>
                  </a:txBody>
                  <a:tcPr marL="101600" marT="63500" marB="63500" anchor="ctr"/>
                </a:tc>
                <a:extLst>
                  <a:ext uri="{0D108BD9-81ED-4DB2-BD59-A6C34878D82A}">
                    <a16:rowId xmlns:a16="http://schemas.microsoft.com/office/drawing/2014/main" val="1741546182"/>
                  </a:ext>
                </a:extLst>
              </a:tr>
              <a:tr h="924347">
                <a:tc>
                  <a:txBody>
                    <a:bodyPr/>
                    <a:lstStyle/>
                    <a:p>
                      <a:r>
                        <a:rPr lang="en-US" sz="2800">
                          <a:effectLst/>
                        </a:rPr>
                        <a:t>Inverse Kinematics</a:t>
                      </a:r>
                      <a:endParaRPr lang="en-US" sz="2800" b="0">
                        <a:effectLst/>
                        <a:latin typeface="quote-cjk-patch"/>
                      </a:endParaRPr>
                    </a:p>
                  </a:txBody>
                  <a:tcPr marR="101600" marT="63500" marB="63500" anchor="ctr"/>
                </a:tc>
                <a:tc>
                  <a:txBody>
                    <a:bodyPr/>
                    <a:lstStyle/>
                    <a:p>
                      <a:r>
                        <a:rPr lang="en-US" sz="2800" dirty="0">
                          <a:effectLst/>
                        </a:rPr>
                        <a:t>Given desired pose, find joint angles</a:t>
                      </a:r>
                      <a:endParaRPr lang="en-US" sz="2800" b="0" dirty="0">
                        <a:effectLst/>
                        <a:latin typeface="quote-cjk-patch"/>
                      </a:endParaRPr>
                    </a:p>
                  </a:txBody>
                  <a:tcPr marL="101600" marR="101600" marT="63500" marB="63500" anchor="ctr"/>
                </a:tc>
                <a:tc>
                  <a:txBody>
                    <a:bodyPr/>
                    <a:lstStyle/>
                    <a:p>
                      <a:r>
                        <a:rPr lang="en-US" sz="2800" dirty="0">
                          <a:effectLst/>
                        </a:rPr>
                        <a:t>May have no/multiple solutions</a:t>
                      </a:r>
                      <a:endParaRPr lang="en-US" sz="2800" b="0" dirty="0">
                        <a:effectLst/>
                        <a:latin typeface="quote-cjk-patch"/>
                      </a:endParaRPr>
                    </a:p>
                  </a:txBody>
                  <a:tcPr marL="101600" marT="63500" marB="63500" anchor="ctr"/>
                </a:tc>
                <a:extLst>
                  <a:ext uri="{0D108BD9-81ED-4DB2-BD59-A6C34878D82A}">
                    <a16:rowId xmlns:a16="http://schemas.microsoft.com/office/drawing/2014/main" val="1751920423"/>
                  </a:ext>
                </a:extLst>
              </a:tr>
            </a:tbl>
          </a:graphicData>
        </a:graphic>
      </p:graphicFrame>
      <p:sp>
        <p:nvSpPr>
          <p:cNvPr id="3" name="Date Placeholder 2">
            <a:extLst>
              <a:ext uri="{FF2B5EF4-FFF2-40B4-BE49-F238E27FC236}">
                <a16:creationId xmlns:a16="http://schemas.microsoft.com/office/drawing/2014/main" id="{A0B413BA-4B4C-40B6-83BA-638B5085AB0F}"/>
              </a:ext>
            </a:extLst>
          </p:cNvPr>
          <p:cNvSpPr>
            <a:spLocks noGrp="1"/>
          </p:cNvSpPr>
          <p:nvPr>
            <p:ph type="dt" sz="half" idx="10"/>
          </p:nvPr>
        </p:nvSpPr>
        <p:spPr/>
        <p:txBody>
          <a:bodyPr/>
          <a:lstStyle/>
          <a:p>
            <a:fld id="{D482E201-02CB-48A5-93BA-5B46D09087F5}" type="datetime1">
              <a:rPr lang="en-US" smtClean="0"/>
              <a:t>3/8/2026</a:t>
            </a:fld>
            <a:endParaRPr lang="en-US"/>
          </a:p>
        </p:txBody>
      </p:sp>
      <p:sp>
        <p:nvSpPr>
          <p:cNvPr id="4" name="Slide Number Placeholder 3">
            <a:extLst>
              <a:ext uri="{FF2B5EF4-FFF2-40B4-BE49-F238E27FC236}">
                <a16:creationId xmlns:a16="http://schemas.microsoft.com/office/drawing/2014/main" id="{8C167953-AFCC-4DEF-8A44-6FAB1C2C1BCF}"/>
              </a:ext>
            </a:extLst>
          </p:cNvPr>
          <p:cNvSpPr>
            <a:spLocks noGrp="1"/>
          </p:cNvSpPr>
          <p:nvPr>
            <p:ph type="sldNum" sz="quarter" idx="12"/>
          </p:nvPr>
        </p:nvSpPr>
        <p:spPr/>
        <p:txBody>
          <a:bodyPr/>
          <a:lstStyle/>
          <a:p>
            <a:fld id="{C29293D3-8374-41FE-B1E4-A635E9555193}" type="slidenum">
              <a:rPr lang="en-US" smtClean="0"/>
              <a:t>51</a:t>
            </a:fld>
            <a:endParaRPr lang="en-US"/>
          </a:p>
        </p:txBody>
      </p:sp>
    </p:spTree>
    <p:extLst>
      <p:ext uri="{BB962C8B-B14F-4D97-AF65-F5344CB8AC3E}">
        <p14:creationId xmlns:p14="http://schemas.microsoft.com/office/powerpoint/2010/main" val="10380199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B7A87-39D0-4920-BBB8-0BB3939D9C4D}"/>
              </a:ext>
            </a:extLst>
          </p:cNvPr>
          <p:cNvSpPr>
            <a:spLocks noGrp="1"/>
          </p:cNvSpPr>
          <p:nvPr>
            <p:ph type="title"/>
          </p:nvPr>
        </p:nvSpPr>
        <p:spPr/>
        <p:txBody>
          <a:bodyPr/>
          <a:lstStyle/>
          <a:p>
            <a:r>
              <a:rPr lang="en-US" altLang="en-US" b="1" dirty="0">
                <a:solidFill>
                  <a:srgbClr val="0F1115"/>
                </a:solidFill>
                <a:latin typeface="quote-cjk-patch"/>
              </a:rPr>
              <a:t>Summary – Locomotion and Kinematics</a:t>
            </a:r>
            <a:endParaRPr lang="en-US" dirty="0"/>
          </a:p>
        </p:txBody>
      </p:sp>
      <p:graphicFrame>
        <p:nvGraphicFramePr>
          <p:cNvPr id="4" name="Content Placeholder 3">
            <a:extLst>
              <a:ext uri="{FF2B5EF4-FFF2-40B4-BE49-F238E27FC236}">
                <a16:creationId xmlns:a16="http://schemas.microsoft.com/office/drawing/2014/main" id="{4590FB06-8CDA-4E45-A90D-7661EE6C5C07}"/>
              </a:ext>
            </a:extLst>
          </p:cNvPr>
          <p:cNvGraphicFramePr>
            <a:graphicFrameLocks noGrp="1"/>
          </p:cNvGraphicFramePr>
          <p:nvPr>
            <p:ph idx="1"/>
            <p:extLst>
              <p:ext uri="{D42A27DB-BD31-4B8C-83A1-F6EECF244321}">
                <p14:modId xmlns:p14="http://schemas.microsoft.com/office/powerpoint/2010/main" val="2528092329"/>
              </p:ext>
            </p:extLst>
          </p:nvPr>
        </p:nvGraphicFramePr>
        <p:xfrm>
          <a:off x="927652" y="1846682"/>
          <a:ext cx="10426148" cy="3648805"/>
        </p:xfrm>
        <a:graphic>
          <a:graphicData uri="http://schemas.openxmlformats.org/drawingml/2006/table">
            <a:tbl>
              <a:tblPr>
                <a:tableStyleId>{5940675A-B579-460E-94D1-54222C63F5DA}</a:tableStyleId>
              </a:tblPr>
              <a:tblGrid>
                <a:gridCol w="5473148">
                  <a:extLst>
                    <a:ext uri="{9D8B030D-6E8A-4147-A177-3AD203B41FA5}">
                      <a16:colId xmlns:a16="http://schemas.microsoft.com/office/drawing/2014/main" val="4055574668"/>
                    </a:ext>
                  </a:extLst>
                </a:gridCol>
                <a:gridCol w="4953000">
                  <a:extLst>
                    <a:ext uri="{9D8B030D-6E8A-4147-A177-3AD203B41FA5}">
                      <a16:colId xmlns:a16="http://schemas.microsoft.com/office/drawing/2014/main" val="1562236522"/>
                    </a:ext>
                  </a:extLst>
                </a:gridCol>
              </a:tblGrid>
              <a:tr h="578450">
                <a:tc>
                  <a:txBody>
                    <a:bodyPr/>
                    <a:lstStyle/>
                    <a:p>
                      <a:pPr algn="l"/>
                      <a:r>
                        <a:rPr lang="en-US" sz="2800" b="1" dirty="0">
                          <a:effectLst/>
                        </a:rPr>
                        <a:t>Locomotion</a:t>
                      </a:r>
                      <a:endParaRPr lang="en-US" sz="2800" b="1" dirty="0">
                        <a:effectLst/>
                        <a:latin typeface="quote-cjk-patch"/>
                      </a:endParaRPr>
                    </a:p>
                  </a:txBody>
                  <a:tcPr marR="101600" marT="63500" marB="63500" anchor="ctr"/>
                </a:tc>
                <a:tc>
                  <a:txBody>
                    <a:bodyPr/>
                    <a:lstStyle/>
                    <a:p>
                      <a:pPr algn="l"/>
                      <a:r>
                        <a:rPr lang="en-US" sz="2800" b="1" dirty="0">
                          <a:effectLst/>
                        </a:rPr>
                        <a:t>Kinematics</a:t>
                      </a:r>
                      <a:endParaRPr lang="en-US" sz="2800" b="1" dirty="0">
                        <a:effectLst/>
                        <a:latin typeface="quote-cjk-patch"/>
                      </a:endParaRPr>
                    </a:p>
                  </a:txBody>
                  <a:tcPr marL="101600" marR="101600" marT="63500" marB="63500" anchor="ctr"/>
                </a:tc>
                <a:extLst>
                  <a:ext uri="{0D108BD9-81ED-4DB2-BD59-A6C34878D82A}">
                    <a16:rowId xmlns:a16="http://schemas.microsoft.com/office/drawing/2014/main" val="1933812609"/>
                  </a:ext>
                </a:extLst>
              </a:tr>
              <a:tr h="1024228">
                <a:tc>
                  <a:txBody>
                    <a:bodyPr/>
                    <a:lstStyle/>
                    <a:p>
                      <a:r>
                        <a:rPr lang="en-US" sz="2800" dirty="0">
                          <a:effectLst/>
                        </a:rPr>
                        <a:t>Robot moving through environment</a:t>
                      </a:r>
                      <a:endParaRPr lang="en-US" sz="2800" b="0" dirty="0">
                        <a:effectLst/>
                        <a:latin typeface="quote-cjk-patch"/>
                      </a:endParaRPr>
                    </a:p>
                  </a:txBody>
                  <a:tcPr marR="101600" marT="63500" marB="63500" anchor="ctr"/>
                </a:tc>
                <a:tc>
                  <a:txBody>
                    <a:bodyPr/>
                    <a:lstStyle/>
                    <a:p>
                      <a:r>
                        <a:rPr lang="en-US" sz="2800" dirty="0">
                          <a:effectLst/>
                        </a:rPr>
                        <a:t>Robot arm positioning tool</a:t>
                      </a:r>
                      <a:endParaRPr lang="en-US" sz="2800" b="0" dirty="0">
                        <a:effectLst/>
                        <a:latin typeface="quote-cjk-patch"/>
                      </a:endParaRPr>
                    </a:p>
                  </a:txBody>
                  <a:tcPr marL="101600" marT="63500" marB="63500" anchor="ctr"/>
                </a:tc>
                <a:extLst>
                  <a:ext uri="{0D108BD9-81ED-4DB2-BD59-A6C34878D82A}">
                    <a16:rowId xmlns:a16="http://schemas.microsoft.com/office/drawing/2014/main" val="3004500301"/>
                  </a:ext>
                </a:extLst>
              </a:tr>
              <a:tr h="578450">
                <a:tc>
                  <a:txBody>
                    <a:bodyPr/>
                    <a:lstStyle/>
                    <a:p>
                      <a:r>
                        <a:rPr lang="en-US" sz="2800" dirty="0">
                          <a:effectLst/>
                        </a:rPr>
                        <a:t>"Travel"</a:t>
                      </a:r>
                      <a:endParaRPr lang="en-US" sz="2800" b="0" dirty="0">
                        <a:effectLst/>
                        <a:latin typeface="quote-cjk-patch"/>
                      </a:endParaRPr>
                    </a:p>
                  </a:txBody>
                  <a:tcPr marR="101600" marT="63500" marB="63500" anchor="ctr"/>
                </a:tc>
                <a:tc>
                  <a:txBody>
                    <a:bodyPr/>
                    <a:lstStyle/>
                    <a:p>
                      <a:r>
                        <a:rPr lang="en-US" sz="2800" dirty="0">
                          <a:effectLst/>
                        </a:rPr>
                        <a:t>"Reach"</a:t>
                      </a:r>
                      <a:endParaRPr lang="en-US" sz="2800" b="0" dirty="0">
                        <a:effectLst/>
                        <a:latin typeface="quote-cjk-patch"/>
                      </a:endParaRPr>
                    </a:p>
                  </a:txBody>
                  <a:tcPr marL="101600" marT="63500" marB="63500" anchor="ctr"/>
                </a:tc>
                <a:extLst>
                  <a:ext uri="{0D108BD9-81ED-4DB2-BD59-A6C34878D82A}">
                    <a16:rowId xmlns:a16="http://schemas.microsoft.com/office/drawing/2014/main" val="1660218118"/>
                  </a:ext>
                </a:extLst>
              </a:tr>
              <a:tr h="889227">
                <a:tc>
                  <a:txBody>
                    <a:bodyPr/>
                    <a:lstStyle/>
                    <a:p>
                      <a:r>
                        <a:rPr lang="en-US" sz="2800" dirty="0">
                          <a:effectLst/>
                        </a:rPr>
                        <a:t>Changes robot's location</a:t>
                      </a:r>
                      <a:endParaRPr lang="en-US" sz="2800" b="0" dirty="0">
                        <a:effectLst/>
                        <a:latin typeface="quote-cjk-patch"/>
                      </a:endParaRPr>
                    </a:p>
                  </a:txBody>
                  <a:tcPr marR="101600" marT="63500" marB="63500" anchor="ctr"/>
                </a:tc>
                <a:tc>
                  <a:txBody>
                    <a:bodyPr/>
                    <a:lstStyle/>
                    <a:p>
                      <a:r>
                        <a:rPr lang="en-US" sz="2800" dirty="0">
                          <a:effectLst/>
                        </a:rPr>
                        <a:t>Changes robot's configuration</a:t>
                      </a:r>
                      <a:endParaRPr lang="en-US" sz="2800" b="0" dirty="0">
                        <a:effectLst/>
                        <a:latin typeface="quote-cjk-patch"/>
                      </a:endParaRPr>
                    </a:p>
                  </a:txBody>
                  <a:tcPr marL="101600" marT="63500" marB="63500" anchor="ctr"/>
                </a:tc>
                <a:extLst>
                  <a:ext uri="{0D108BD9-81ED-4DB2-BD59-A6C34878D82A}">
                    <a16:rowId xmlns:a16="http://schemas.microsoft.com/office/drawing/2014/main" val="1309297497"/>
                  </a:ext>
                </a:extLst>
              </a:tr>
              <a:tr h="578450">
                <a:tc>
                  <a:txBody>
                    <a:bodyPr/>
                    <a:lstStyle/>
                    <a:p>
                      <a:r>
                        <a:rPr lang="en-US" sz="2800">
                          <a:effectLst/>
                        </a:rPr>
                        <a:t>Interaction with terrain</a:t>
                      </a:r>
                      <a:endParaRPr lang="en-US" sz="2800" b="0">
                        <a:effectLst/>
                        <a:latin typeface="quote-cjk-patch"/>
                      </a:endParaRPr>
                    </a:p>
                  </a:txBody>
                  <a:tcPr marR="101600" marT="63500" marB="63500" anchor="ctr"/>
                </a:tc>
                <a:tc>
                  <a:txBody>
                    <a:bodyPr/>
                    <a:lstStyle/>
                    <a:p>
                      <a:r>
                        <a:rPr lang="en-US" sz="2800" dirty="0">
                          <a:effectLst/>
                        </a:rPr>
                        <a:t>Geometry of motion</a:t>
                      </a:r>
                      <a:endParaRPr lang="en-US" sz="2800" b="0" dirty="0">
                        <a:effectLst/>
                        <a:latin typeface="quote-cjk-patch"/>
                      </a:endParaRPr>
                    </a:p>
                  </a:txBody>
                  <a:tcPr marL="101600" marT="63500" marB="63500" anchor="ctr"/>
                </a:tc>
                <a:extLst>
                  <a:ext uri="{0D108BD9-81ED-4DB2-BD59-A6C34878D82A}">
                    <a16:rowId xmlns:a16="http://schemas.microsoft.com/office/drawing/2014/main" val="1492418720"/>
                  </a:ext>
                </a:extLst>
              </a:tr>
            </a:tbl>
          </a:graphicData>
        </a:graphic>
      </p:graphicFrame>
      <p:sp>
        <p:nvSpPr>
          <p:cNvPr id="8" name="Rectangle 7">
            <a:extLst>
              <a:ext uri="{FF2B5EF4-FFF2-40B4-BE49-F238E27FC236}">
                <a16:creationId xmlns:a16="http://schemas.microsoft.com/office/drawing/2014/main" id="{56BA0222-AE00-4663-85DD-203363EF4A77}"/>
              </a:ext>
            </a:extLst>
          </p:cNvPr>
          <p:cNvSpPr/>
          <p:nvPr/>
        </p:nvSpPr>
        <p:spPr>
          <a:xfrm>
            <a:off x="927652" y="5651481"/>
            <a:ext cx="10426148" cy="400110"/>
          </a:xfrm>
          <a:prstGeom prst="rect">
            <a:avLst/>
          </a:prstGeom>
        </p:spPr>
        <p:txBody>
          <a:bodyPr wrap="square">
            <a:spAutoFit/>
          </a:bodyPr>
          <a:lstStyle/>
          <a:p>
            <a:pPr lvl="0" eaLnBrk="0" fontAlgn="base" hangingPunct="0">
              <a:spcBef>
                <a:spcPct val="0"/>
              </a:spcBef>
              <a:spcAft>
                <a:spcPct val="0"/>
              </a:spcAft>
            </a:pPr>
            <a:r>
              <a:rPr lang="en-US" altLang="en-US" sz="2000" b="1" dirty="0">
                <a:solidFill>
                  <a:srgbClr val="0F1115"/>
                </a:solidFill>
                <a:latin typeface="quote-cjk-patch"/>
              </a:rPr>
              <a:t>One key takeaway:</a:t>
            </a:r>
            <a:r>
              <a:rPr lang="en-US" altLang="en-US" sz="2000" dirty="0">
                <a:solidFill>
                  <a:srgbClr val="0F1115"/>
                </a:solidFill>
                <a:latin typeface="quote-cjk-patch"/>
              </a:rPr>
              <a:t> Locomotion = </a:t>
            </a:r>
            <a:r>
              <a:rPr lang="en-US" altLang="en-US" sz="2000" b="1" dirty="0">
                <a:solidFill>
                  <a:srgbClr val="0F1115"/>
                </a:solidFill>
                <a:latin typeface="quote-cjk-patch"/>
              </a:rPr>
              <a:t>moving the whole robot</a:t>
            </a:r>
            <a:r>
              <a:rPr lang="en-US" altLang="en-US" sz="2000" dirty="0">
                <a:solidFill>
                  <a:srgbClr val="0F1115"/>
                </a:solidFill>
                <a:latin typeface="quote-cjk-patch"/>
              </a:rPr>
              <a:t>; Kinematics = </a:t>
            </a:r>
            <a:r>
              <a:rPr lang="en-US" altLang="en-US" sz="2000" b="1" dirty="0">
                <a:solidFill>
                  <a:srgbClr val="0F1115"/>
                </a:solidFill>
                <a:latin typeface="quote-cjk-patch"/>
              </a:rPr>
              <a:t>moving the robot's parts</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3" name="Date Placeholder 2">
            <a:extLst>
              <a:ext uri="{FF2B5EF4-FFF2-40B4-BE49-F238E27FC236}">
                <a16:creationId xmlns:a16="http://schemas.microsoft.com/office/drawing/2014/main" id="{0C790745-012C-456F-9732-F0296F79E1E2}"/>
              </a:ext>
            </a:extLst>
          </p:cNvPr>
          <p:cNvSpPr>
            <a:spLocks noGrp="1"/>
          </p:cNvSpPr>
          <p:nvPr>
            <p:ph type="dt" sz="half" idx="10"/>
          </p:nvPr>
        </p:nvSpPr>
        <p:spPr/>
        <p:txBody>
          <a:bodyPr/>
          <a:lstStyle/>
          <a:p>
            <a:fld id="{8C60E5E4-B4A3-49B3-81B2-3D173649C6C7}" type="datetime1">
              <a:rPr lang="en-US" smtClean="0"/>
              <a:t>3/8/2026</a:t>
            </a:fld>
            <a:endParaRPr lang="en-US"/>
          </a:p>
        </p:txBody>
      </p:sp>
      <p:sp>
        <p:nvSpPr>
          <p:cNvPr id="5" name="Slide Number Placeholder 4">
            <a:extLst>
              <a:ext uri="{FF2B5EF4-FFF2-40B4-BE49-F238E27FC236}">
                <a16:creationId xmlns:a16="http://schemas.microsoft.com/office/drawing/2014/main" id="{968356B9-612B-4359-8647-839B0998347D}"/>
              </a:ext>
            </a:extLst>
          </p:cNvPr>
          <p:cNvSpPr>
            <a:spLocks noGrp="1"/>
          </p:cNvSpPr>
          <p:nvPr>
            <p:ph type="sldNum" sz="quarter" idx="12"/>
          </p:nvPr>
        </p:nvSpPr>
        <p:spPr/>
        <p:txBody>
          <a:bodyPr/>
          <a:lstStyle/>
          <a:p>
            <a:fld id="{C29293D3-8374-41FE-B1E4-A635E9555193}" type="slidenum">
              <a:rPr lang="en-US" smtClean="0"/>
              <a:t>52</a:t>
            </a:fld>
            <a:endParaRPr lang="en-US"/>
          </a:p>
        </p:txBody>
      </p:sp>
    </p:spTree>
    <p:extLst>
      <p:ext uri="{BB962C8B-B14F-4D97-AF65-F5344CB8AC3E}">
        <p14:creationId xmlns:p14="http://schemas.microsoft.com/office/powerpoint/2010/main" val="36852055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1D96F-E274-4818-A5C8-E30AAE3B8995}"/>
              </a:ext>
            </a:extLst>
          </p:cNvPr>
          <p:cNvSpPr>
            <a:spLocks noGrp="1"/>
          </p:cNvSpPr>
          <p:nvPr>
            <p:ph type="title"/>
          </p:nvPr>
        </p:nvSpPr>
        <p:spPr/>
        <p:txBody>
          <a:bodyPr/>
          <a:lstStyle/>
          <a:p>
            <a:r>
              <a:rPr lang="en-US" b="1" dirty="0"/>
              <a:t>To do – Reading tasks.</a:t>
            </a:r>
          </a:p>
        </p:txBody>
      </p:sp>
      <p:sp>
        <p:nvSpPr>
          <p:cNvPr id="3" name="Content Placeholder 2">
            <a:extLst>
              <a:ext uri="{FF2B5EF4-FFF2-40B4-BE49-F238E27FC236}">
                <a16:creationId xmlns:a16="http://schemas.microsoft.com/office/drawing/2014/main" id="{6E341CEE-820B-4BDE-874E-9948D54C2E56}"/>
              </a:ext>
            </a:extLst>
          </p:cNvPr>
          <p:cNvSpPr>
            <a:spLocks noGrp="1"/>
          </p:cNvSpPr>
          <p:nvPr>
            <p:ph idx="1"/>
          </p:nvPr>
        </p:nvSpPr>
        <p:spPr/>
        <p:txBody>
          <a:bodyPr/>
          <a:lstStyle/>
          <a:p>
            <a:r>
              <a:rPr lang="en-US" dirty="0"/>
              <a:t>For a 3D space, how do we calculate the value of z-coordinate in a forward kinematic?</a:t>
            </a:r>
          </a:p>
          <a:p>
            <a:r>
              <a:rPr lang="en-US" dirty="0"/>
              <a:t>Compute a </a:t>
            </a:r>
            <a:r>
              <a:rPr lang="en-US" b="1" dirty="0"/>
              <a:t>Jacobian matrix</a:t>
            </a:r>
            <a:r>
              <a:rPr lang="en-US" dirty="0"/>
              <a:t> for a </a:t>
            </a:r>
            <a:r>
              <a:rPr lang="en-US" b="1" dirty="0"/>
              <a:t>6-DOF revolute robot arm</a:t>
            </a:r>
            <a:r>
              <a:rPr lang="en-US" dirty="0"/>
              <a:t> given link lengths and joint angles </a:t>
            </a:r>
          </a:p>
          <a:p>
            <a:r>
              <a:rPr lang="en-US" dirty="0"/>
              <a:t>Demonstrate with relevant example, how Jacobian can be used to determine the end-effector velocities (x, y and z) for </a:t>
            </a:r>
            <a:r>
              <a:rPr lang="en-US" b="1" dirty="0"/>
              <a:t>6-DOF revolute robot arm</a:t>
            </a:r>
            <a:r>
              <a:rPr lang="en-US" dirty="0"/>
              <a:t> </a:t>
            </a:r>
          </a:p>
          <a:p>
            <a:r>
              <a:rPr lang="en-US" dirty="0"/>
              <a:t>Use Jacobian for reverse kinematics, where end effector position is known but angular velocities are not known</a:t>
            </a:r>
          </a:p>
        </p:txBody>
      </p:sp>
      <p:sp>
        <p:nvSpPr>
          <p:cNvPr id="4" name="Date Placeholder 3">
            <a:extLst>
              <a:ext uri="{FF2B5EF4-FFF2-40B4-BE49-F238E27FC236}">
                <a16:creationId xmlns:a16="http://schemas.microsoft.com/office/drawing/2014/main" id="{5D721FD2-DD35-47EE-81CD-CC5A1555AF6F}"/>
              </a:ext>
            </a:extLst>
          </p:cNvPr>
          <p:cNvSpPr>
            <a:spLocks noGrp="1"/>
          </p:cNvSpPr>
          <p:nvPr>
            <p:ph type="dt" sz="half" idx="10"/>
          </p:nvPr>
        </p:nvSpPr>
        <p:spPr/>
        <p:txBody>
          <a:bodyPr/>
          <a:lstStyle/>
          <a:p>
            <a:fld id="{84665356-9A07-47AE-A6F4-BEC79814732C}" type="datetime1">
              <a:rPr lang="en-US" smtClean="0"/>
              <a:t>3/8/2026</a:t>
            </a:fld>
            <a:endParaRPr lang="en-US"/>
          </a:p>
        </p:txBody>
      </p:sp>
      <p:sp>
        <p:nvSpPr>
          <p:cNvPr id="5" name="Slide Number Placeholder 4">
            <a:extLst>
              <a:ext uri="{FF2B5EF4-FFF2-40B4-BE49-F238E27FC236}">
                <a16:creationId xmlns:a16="http://schemas.microsoft.com/office/drawing/2014/main" id="{BDD31351-16C9-4030-AF85-DE44FB242F93}"/>
              </a:ext>
            </a:extLst>
          </p:cNvPr>
          <p:cNvSpPr>
            <a:spLocks noGrp="1"/>
          </p:cNvSpPr>
          <p:nvPr>
            <p:ph type="sldNum" sz="quarter" idx="12"/>
          </p:nvPr>
        </p:nvSpPr>
        <p:spPr/>
        <p:txBody>
          <a:bodyPr/>
          <a:lstStyle/>
          <a:p>
            <a:fld id="{C29293D3-8374-41FE-B1E4-A635E9555193}" type="slidenum">
              <a:rPr lang="en-US" smtClean="0"/>
              <a:t>53</a:t>
            </a:fld>
            <a:endParaRPr lang="en-US"/>
          </a:p>
        </p:txBody>
      </p:sp>
    </p:spTree>
    <p:extLst>
      <p:ext uri="{BB962C8B-B14F-4D97-AF65-F5344CB8AC3E}">
        <p14:creationId xmlns:p14="http://schemas.microsoft.com/office/powerpoint/2010/main" val="21412644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5135</TotalTime>
  <Words>3826</Words>
  <Application>Microsoft Office PowerPoint</Application>
  <PresentationFormat>Widescreen</PresentationFormat>
  <Paragraphs>543</Paragraphs>
  <Slides>53</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53</vt:i4>
      </vt:variant>
    </vt:vector>
  </HeadingPairs>
  <TitlesOfParts>
    <vt:vector size="67" baseType="lpstr">
      <vt:lpstr>Arial</vt:lpstr>
      <vt:lpstr>Calibri</vt:lpstr>
      <vt:lpstr>Calibri Light</vt:lpstr>
      <vt:lpstr>Cambria Math</vt:lpstr>
      <vt:lpstr>Google Sans</vt:lpstr>
      <vt:lpstr>Menlo</vt:lpstr>
      <vt:lpstr>quote-cjk-patch</vt:lpstr>
      <vt:lpstr>Roboto</vt:lpstr>
      <vt:lpstr>Segoe UI</vt:lpstr>
      <vt:lpstr>Siemens Sans</vt:lpstr>
      <vt:lpstr>Symbol</vt:lpstr>
      <vt:lpstr>Times New Roman</vt:lpstr>
      <vt:lpstr>Wingdings</vt:lpstr>
      <vt:lpstr>Office Theme</vt:lpstr>
      <vt:lpstr>Locomotion and Kinematics in Robotics</vt:lpstr>
      <vt:lpstr>Introduction to Locomotion</vt:lpstr>
      <vt:lpstr>Types of Locomotion</vt:lpstr>
      <vt:lpstr>Introduction to Locomotion - Key Challenges </vt:lpstr>
      <vt:lpstr>Robot Arm</vt:lpstr>
      <vt:lpstr>Coordinate Frames in Robot Arms</vt:lpstr>
      <vt:lpstr>Denavit - Hartenberg (DH) Parameters</vt:lpstr>
      <vt:lpstr>Introduction to Kinematics</vt:lpstr>
      <vt:lpstr>Robot Kinematics</vt:lpstr>
      <vt:lpstr>Introduction to Kinematics </vt:lpstr>
      <vt:lpstr>Forward Kinematics</vt:lpstr>
      <vt:lpstr>Forward kinematics example</vt:lpstr>
      <vt:lpstr>Introduction to Kinematics - Key Elements</vt:lpstr>
      <vt:lpstr>Joints</vt:lpstr>
      <vt:lpstr>Kinematics – Degree of Freedom</vt:lpstr>
      <vt:lpstr>Six degrees of freedom</vt:lpstr>
      <vt:lpstr>PowerPoint Presentation</vt:lpstr>
      <vt:lpstr>Six Degree of Freedom</vt:lpstr>
      <vt:lpstr>Translational Degrees of Freedom (3DoF)</vt:lpstr>
      <vt:lpstr>Rotational degrees of freedom (3DoF)</vt:lpstr>
      <vt:lpstr>Application of six degrees of freedom</vt:lpstr>
      <vt:lpstr>What is a 6 degrees of freedom sensor?</vt:lpstr>
      <vt:lpstr>PowerPoint Presentation</vt:lpstr>
      <vt:lpstr>Introduction to Kinematics - Key Elements</vt:lpstr>
      <vt:lpstr>The Jacobian Matrix – Bridging Joint Motion and Hand Motion</vt:lpstr>
      <vt:lpstr>The Analogy - What's the Lesson?</vt:lpstr>
      <vt:lpstr>Why Do We Need the Jacobian?</vt:lpstr>
      <vt:lpstr>Applications</vt:lpstr>
      <vt:lpstr>The Jacobian Formula</vt:lpstr>
      <vt:lpstr>The Core Concept</vt:lpstr>
      <vt:lpstr>The Output - What We Want to Know</vt:lpstr>
      <vt:lpstr>The Jacobian Formula</vt:lpstr>
      <vt:lpstr>The Jacobian Formula</vt:lpstr>
      <vt:lpstr>Velocity Control</vt:lpstr>
      <vt:lpstr>Jacobian – Joint and end-effector velocities</vt:lpstr>
      <vt:lpstr>The Jacobian</vt:lpstr>
      <vt:lpstr>Practical example - 2-link planar robot arm</vt:lpstr>
      <vt:lpstr>Denavit - Hartenberg (DH) Parameters</vt:lpstr>
      <vt:lpstr>Forward Kinematics  - Hand Position</vt:lpstr>
      <vt:lpstr>The Jacobian Matrix (Linear Velocity Only)</vt:lpstr>
      <vt:lpstr>Deriving the Jacobian Terms</vt:lpstr>
      <vt:lpstr>The Jacobian Matrix</vt:lpstr>
      <vt:lpstr>Set Up the Velocity Equation</vt:lpstr>
      <vt:lpstr>Hand Velocities - Matrix Multiplication</vt:lpstr>
      <vt:lpstr>Key Takeaways</vt:lpstr>
      <vt:lpstr>Summary of the Calculation</vt:lpstr>
      <vt:lpstr>Practical example - 2-link planar robot arm</vt:lpstr>
      <vt:lpstr>Jacobian for a 6-DOF Robot</vt:lpstr>
      <vt:lpstr>Inverse Kinematics</vt:lpstr>
      <vt:lpstr>Inverse Kinematics Using Jacobian</vt:lpstr>
      <vt:lpstr> Introduction to Kinematics  - Fundamental Problems</vt:lpstr>
      <vt:lpstr>Summary – Locomotion and Kinematics</vt:lpstr>
      <vt:lpstr>To do – Reading tasks.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Locomotion and Kinematics in Robotics</dc:title>
  <dc:creator>DSI</dc:creator>
  <cp:lastModifiedBy>DSI</cp:lastModifiedBy>
  <cp:revision>68</cp:revision>
  <dcterms:created xsi:type="dcterms:W3CDTF">2026-02-19T11:31:39Z</dcterms:created>
  <dcterms:modified xsi:type="dcterms:W3CDTF">2026-03-09T16:31:52Z</dcterms:modified>
</cp:coreProperties>
</file>