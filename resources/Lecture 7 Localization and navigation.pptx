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0" r:id="rId5"/>
    <p:sldId id="259" r:id="rId6"/>
    <p:sldId id="260" r:id="rId7"/>
    <p:sldId id="271" r:id="rId8"/>
    <p:sldId id="261" r:id="rId9"/>
    <p:sldId id="262" r:id="rId10"/>
    <p:sldId id="272" r:id="rId11"/>
    <p:sldId id="273" r:id="rId12"/>
    <p:sldId id="274" r:id="rId13"/>
    <p:sldId id="263" r:id="rId14"/>
    <p:sldId id="275" r:id="rId15"/>
    <p:sldId id="264" r:id="rId16"/>
    <p:sldId id="276" r:id="rId17"/>
    <p:sldId id="277" r:id="rId18"/>
    <p:sldId id="265" r:id="rId19"/>
    <p:sldId id="266" r:id="rId20"/>
    <p:sldId id="267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CC89D-8D69-484F-95D5-5090291F99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BDD10-2048-4462-832D-2553ACBF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2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4426-DCD6-4975-A945-8A5E06E7C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78115-8A32-4170-B99D-B75890DE2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6F227-7F4E-4DC5-8C62-F75B45421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5A9A2-CB7C-43F6-B73A-73633597C085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F5596-2250-4DA6-A01D-9F2B17C4D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03606-7BEF-402D-904D-CE100580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3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C27D-4571-4221-9F5E-1424DA7B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44E21-8758-49CB-98B5-0F246CBDA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BED65-E786-4B17-8F99-F0486329C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BB39-4667-4618-A432-5255C8706654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4FF8A-0884-4487-863C-49E433C5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0DD7B-161A-4A7B-BA2B-755946DC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78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CA11-0652-447E-945D-E4445B687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2F8DB-39A0-4241-BEBE-AEE957898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D47DE-EA8D-43F6-8129-5A708368A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E1D1-BF3F-420C-9788-5F11CB604B13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2C8FB-C5C4-44AD-9B85-B575A769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4E31A-96D1-489C-9757-79EDAE96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6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BE42-0388-40C0-B3AF-FD8F8B08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A5337-4A8A-4402-97BD-CC523D679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77AF6-6A36-472E-BA6A-DC7288D41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83985-BAF2-4AEA-8B82-8133757E5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1D9B8-454B-4808-B8F5-E9940BE4DB46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81192-9E39-4770-8EDF-06057CEF4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45686-B63F-45EF-8F67-B3887F1D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1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9B1C4-0A8B-49F1-9B90-EA44489B2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61653-4CB4-4F43-B6DC-D5EBEFFE7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C1861-A7A8-47E6-A9B2-16E8357D1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BA7B72-8EEC-4E60-A3C5-CF080296E9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E02FAF-450E-410D-9016-462ADEE79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75DF34-D80E-4D28-864A-C8DB88DDC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FD6E-2050-473B-B54E-87443E9BB38D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9ADDD8-384B-40E9-BC9A-CA51240E4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E55280-1BF9-443E-B6B9-45B3BBE8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5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58E7-CD7C-41EB-B1A0-F0AD6514F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097DF-A93A-4ABF-B676-6A1F77F7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95E7-5AFA-4996-8964-01798F45D592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F0D14-E4A1-4CC9-A49D-35872F727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A8968-04ED-45DA-BEEE-6F5F8CAB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7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15EE3-B229-4A1D-8237-E4610725D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0FBB5-E3AC-447F-B087-C9A2AD2124A9}" type="datetime1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0A309-3585-48A7-8A65-832B8C2C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791C1-5DCD-42A0-92E9-2F51267E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67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30E8-15A7-40BB-8FC5-00186B8AA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87C54-0D8E-45C1-A97E-F9E58912E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B7AFD-8288-46CF-B15D-3DF8D22DA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572C1-1547-4412-8B69-5EFF29DA0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791C-6C82-4B3C-85AC-594144EB559B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1B08D-9090-4BCF-9B9B-2BE8FC968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4391B-B8C7-449A-89AE-4B76C807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3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4B1C-DB6B-4924-9B8E-64CFBF06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7F7B90-81D7-4888-918E-08B165040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50D83-E3DB-474A-BABD-CB0823249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2981A-1D8D-43C2-8303-36711F685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4813-1539-430F-AC8E-8041B30D2ED7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EACBA-4DB3-402C-A3C1-C2CA92D1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6CDB8-B730-42A9-9B0A-D4531953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5C6C-7D71-4429-A76D-D0B8E54E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8C9E68-152E-470E-979C-2BC6248EC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9F877-D09C-4675-84EE-0EFEC1167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72E3C-EEEC-4CE3-AC36-2CEB1B7B665D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6D667-683D-4F06-A495-8F6BBA77B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B71E0-AF7D-46DF-85C2-3F2F7DF4A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1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0A4FE0-7FD3-44E5-9625-CFDA86DFC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A79E2-E644-4DF1-9898-79858CE55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31DCA-5909-4C7E-9B54-E568EEE5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5521-FE36-463D-876E-361B16B1D81E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68DD2-16EA-491F-B7BA-F9A98D16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8AA66-2B5F-4A61-B642-8FDAF775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07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C78995-C124-4D00-AC81-D340BD25C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C89D6-B7FA-49EB-AB13-AC5DFB827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36AD8-77C4-4E88-AD96-A1EF77670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82E91-6E5C-4EEE-B3A4-8743A53DCFA1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99AC7-A118-4461-A17C-80B9FA1CC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E4360-359B-42BB-8BCC-81E3E565E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60722-8E36-4F23-9814-1EF5149A9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0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392F2-EB1B-4943-A65F-D66F275C47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Localization and Navigation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ADC20E-6150-489D-810D-C61B35BD16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ED70-8866-484F-A9B4-EAE37692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DB3EA-4E5A-4761-909A-60B78227397A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CA75D-89B8-4828-96DB-9FB9A17B6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6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11D96-F3D5-49DE-B163-ED966921A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87F2D-AC59-449C-8D16-73F9523DFA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Localization</a:t>
            </a:r>
            <a:r>
              <a:rPr lang="en-US" dirty="0"/>
              <a:t> is the process by which a robot determines </a:t>
            </a:r>
            <a:r>
              <a:rPr lang="en-US" b="1" dirty="0"/>
              <a:t>its position and orientation (pose)</a:t>
            </a:r>
            <a:r>
              <a:rPr lang="en-US" dirty="0"/>
              <a:t> within an environment using sensor data and a given map.</a:t>
            </a:r>
          </a:p>
          <a:p>
            <a:r>
              <a:rPr lang="en-US" dirty="0"/>
              <a:t>Pose is typically represented as (x, y, θ)  </a:t>
            </a:r>
          </a:p>
          <a:p>
            <a:r>
              <a:rPr lang="en-US" dirty="0"/>
              <a:t>where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800" dirty="0"/>
              <a:t>x, y represents position in space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l-GR" sz="2800" dirty="0"/>
              <a:t>Θ</a:t>
            </a:r>
            <a:r>
              <a:rPr lang="en-US" sz="2800" dirty="0"/>
              <a:t> represents orientation (heading angle)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6B37A-6BE3-4A87-AFD5-E45F4781E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2450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Why Localization Matters</a:t>
            </a:r>
          </a:p>
          <a:p>
            <a:r>
              <a:rPr lang="en-US" dirty="0"/>
              <a:t>A robot cannot navigate effectively unless it knows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Where it is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Where it is going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How to get there </a:t>
            </a:r>
          </a:p>
          <a:p>
            <a:r>
              <a:rPr lang="en-US" b="1" dirty="0"/>
              <a:t>Localization vs. Navigation</a:t>
            </a:r>
          </a:p>
          <a:p>
            <a:pPr lvl="0"/>
            <a:r>
              <a:rPr lang="en-US" b="1" dirty="0"/>
              <a:t>Localization.</a:t>
            </a:r>
            <a:r>
              <a:rPr lang="en-US" dirty="0"/>
              <a:t> Knowing </a:t>
            </a:r>
            <a:r>
              <a:rPr lang="en-US" i="1" dirty="0"/>
              <a:t>where</a:t>
            </a:r>
            <a:r>
              <a:rPr lang="en-US" dirty="0"/>
              <a:t> you are.  </a:t>
            </a:r>
          </a:p>
          <a:p>
            <a:pPr lvl="0"/>
            <a:r>
              <a:rPr lang="en-US" b="1" dirty="0"/>
              <a:t>Navigation.</a:t>
            </a:r>
            <a:r>
              <a:rPr lang="en-US" dirty="0"/>
              <a:t> The combination of localization, path planning, and control to get from point A to point B.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DAA6B-F947-4055-9AEA-C60748DF2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E4C4-3647-49A3-B402-6F78FA50FF38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9E971-EE74-4440-802D-90FC1C6E9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5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8EB6A-8A52-4D14-B8E1-66E79577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localization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F8D92-4FBC-4603-8F6C-7CD8D1F72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sz="3200" b="1" dirty="0"/>
              <a:t>Local Localization</a:t>
            </a:r>
            <a:r>
              <a:rPr lang="en-US" sz="3200" dirty="0"/>
              <a:t> – Robot knows its approximate starting position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200" b="1" dirty="0"/>
              <a:t>Global Localization</a:t>
            </a:r>
            <a:r>
              <a:rPr lang="en-US" sz="3200" dirty="0"/>
              <a:t> – Robot has no idea where it is initially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200" b="1" dirty="0"/>
              <a:t>Kidnapped Robot Problem</a:t>
            </a:r>
            <a:r>
              <a:rPr lang="en-US" sz="3200" dirty="0"/>
              <a:t> – Robot is suddenly moved to an unknown location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131D3-8646-46AD-A97F-E22BD4AE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6073-7202-4408-94D6-E156F6FF516F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9B1DB-713F-41EE-AD27-51DAD1058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43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9823A-BA89-453E-A62A-E1DCA44EE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Localization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E06C10-8EB8-4A37-9D4B-10CEF32EA2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726298"/>
              </p:ext>
            </p:extLst>
          </p:nvPr>
        </p:nvGraphicFramePr>
        <p:xfrm>
          <a:off x="590550" y="1764799"/>
          <a:ext cx="10925175" cy="47280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21236">
                  <a:extLst>
                    <a:ext uri="{9D8B030D-6E8A-4147-A177-3AD203B41FA5}">
                      <a16:colId xmlns:a16="http://schemas.microsoft.com/office/drawing/2014/main" val="2225115287"/>
                    </a:ext>
                  </a:extLst>
                </a:gridCol>
                <a:gridCol w="4093286">
                  <a:extLst>
                    <a:ext uri="{9D8B030D-6E8A-4147-A177-3AD203B41FA5}">
                      <a16:colId xmlns:a16="http://schemas.microsoft.com/office/drawing/2014/main" val="1670138296"/>
                    </a:ext>
                  </a:extLst>
                </a:gridCol>
                <a:gridCol w="3810653">
                  <a:extLst>
                    <a:ext uri="{9D8B030D-6E8A-4147-A177-3AD203B41FA5}">
                      <a16:colId xmlns:a16="http://schemas.microsoft.com/office/drawing/2014/main" val="2775074276"/>
                    </a:ext>
                  </a:extLst>
                </a:gridCol>
              </a:tblGrid>
              <a:tr h="560820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Type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Description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Analogy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200729505"/>
                  </a:ext>
                </a:extLst>
              </a:tr>
              <a:tr h="1222760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 Position Tracking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Initial pose known; track changes over time. Most common.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Driving with a GPS that occasionally loses signal but knows where you started.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90282551"/>
                  </a:ext>
                </a:extLst>
              </a:tr>
              <a:tr h="1222760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 Global Localization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Initial pose unknown; robot must determine where it is from scratch.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Waking up in a hotel room with no idea which city you're in.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296427278"/>
                  </a:ext>
                </a:extLst>
              </a:tr>
              <a:tr h="1222760"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 Kidnapped Robot Problem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Robot is secretly moved without its knowledge; must re-localize.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You close your eyes, someone spins you around and moves you, now find the door.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224004598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53057-9343-4970-9440-53FB09B2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8B3ED-E383-4735-A83B-C7E571B0D3DA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934A0-FF0E-43B6-8202-C7250A14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3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8D4A3-68CE-499E-9942-606BD4995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of Uncertainty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CC724-53C5-427E-8EA8-12BBC4883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7675" y="1854200"/>
            <a:ext cx="5648325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Real-world robotics operates under </a:t>
            </a:r>
            <a:r>
              <a:rPr lang="en-US" b="1" dirty="0"/>
              <a:t>uncertainty</a:t>
            </a:r>
            <a:r>
              <a:rPr lang="en-US" dirty="0"/>
              <a:t>, due to imperfect sensors and actuators.</a:t>
            </a:r>
          </a:p>
          <a:p>
            <a:r>
              <a:rPr lang="en-US" dirty="0"/>
              <a:t>Sources of Uncertainty</a:t>
            </a:r>
            <a:endParaRPr lang="en-US" b="1" dirty="0"/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Sensor Noise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GPS inaccuracies 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Noisy camera or LiDAR readings. E.g. </a:t>
            </a:r>
            <a:r>
              <a:rPr lang="en-US" dirty="0" err="1"/>
              <a:t>LiDR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Arial" panose="020B0604020202020204" pitchFamily="34" charset="0"/>
                <a:cs typeface="Segoe UI" panose="020B0502040204020203" pitchFamily="34" charset="0"/>
              </a:rPr>
              <a:t> returns </a:t>
            </a:r>
            <a:r>
              <a:rPr lang="en-US" altLang="en-US" sz="1800" dirty="0">
                <a:solidFill>
                  <a:srgbClr val="0F1115"/>
                </a:solidFill>
                <a:latin typeface="Consolas" panose="020B0609020204030204" pitchFamily="49" charset="0"/>
                <a:ea typeface="Arial" panose="020B0604020202020204" pitchFamily="34" charset="0"/>
                <a:cs typeface="Courier New" panose="02070309020205020404" pitchFamily="49" charset="0"/>
              </a:rPr>
              <a:t>5.0 meters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Arial" panose="020B0604020202020204" pitchFamily="34" charset="0"/>
                <a:cs typeface="Segoe UI" panose="020B0502040204020203" pitchFamily="34" charset="0"/>
              </a:rPr>
              <a:t> to a wall, but the true distance is </a:t>
            </a:r>
            <a:r>
              <a:rPr lang="en-US" altLang="en-US" sz="1800" dirty="0">
                <a:solidFill>
                  <a:srgbClr val="0F1115"/>
                </a:solidFill>
                <a:latin typeface="Consolas" panose="020B0609020204030204" pitchFamily="49" charset="0"/>
                <a:ea typeface="Arial" panose="020B0604020202020204" pitchFamily="34" charset="0"/>
                <a:cs typeface="Courier New" panose="02070309020205020404" pitchFamily="49" charset="0"/>
              </a:rPr>
              <a:t>5.02 m</a:t>
            </a:r>
            <a:r>
              <a:rPr lang="en-US" dirty="0"/>
              <a:t>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Actuator Noise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Wheels slip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Motors don’t move exact distances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Friction, surface texture, motor heating, all introduce errors.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49A8A-A05B-451B-A4D8-1A2CAE5AE5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E.g. A differential drive robot commanded to turn 90° might turn 87° on carpet, 91° on tile.</a:t>
            </a:r>
            <a:endParaRPr lang="en-US" b="1" dirty="0"/>
          </a:p>
          <a:p>
            <a:pPr marL="0" lvl="0" indent="0">
              <a:buNone/>
            </a:pPr>
            <a:r>
              <a:rPr lang="en-US" b="1" dirty="0"/>
              <a:t>3. Environmental Uncertainty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Dynamic obstacles (people, cars)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Changing environments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Perceptual Aliasing - Different locations look identical to the robot's sensors</a:t>
            </a:r>
          </a:p>
          <a:p>
            <a:r>
              <a:rPr lang="en-US" dirty="0"/>
              <a:t>E.g. A robot is commanded to move 1 meter forward, but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It actually moves </a:t>
            </a:r>
            <a:r>
              <a:rPr lang="en-US" b="1" dirty="0"/>
              <a:t>0.95 m or 1.05 m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Over time, small errors accumulate → </a:t>
            </a:r>
            <a:r>
              <a:rPr lang="en-US" b="1" dirty="0"/>
              <a:t>drift</a:t>
            </a:r>
            <a:r>
              <a:rPr lang="en-US" dirty="0"/>
              <a:t> </a:t>
            </a:r>
          </a:p>
          <a:p>
            <a:r>
              <a:rPr lang="en-US" dirty="0"/>
              <a:t>Insight: Localization is not about exact position, it is about </a:t>
            </a:r>
            <a:r>
              <a:rPr lang="en-US" b="1" dirty="0"/>
              <a:t>probability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490A18C-60CB-479B-A198-40E1DB0C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FEBC-B2CD-4FCD-B7AC-2CD0540644D4}" type="datetime1">
              <a:rPr lang="en-US" smtClean="0"/>
              <a:t>4/18/2026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28D63-DA70-4C67-A7A4-048821DE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28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0C146-47FD-4FB6-B555-81743FEB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Belief Representation - Where is the Robot?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5385F-FB6C-47D1-8F1F-0DEE711382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Because of uncertainty, robots represent their position as a </a:t>
            </a:r>
            <a:r>
              <a:rPr lang="en-US" b="1" dirty="0"/>
              <a:t>belief</a:t>
            </a:r>
            <a:r>
              <a:rPr lang="en-US" dirty="0"/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probability distribution over possible locations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belief</a:t>
            </a:r>
            <a:r>
              <a:rPr lang="en-US" dirty="0"/>
              <a:t> 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Bel(x) = P(robot is at position x)   </a:t>
            </a:r>
          </a:p>
          <a:p>
            <a:r>
              <a:rPr lang="en-US" dirty="0"/>
              <a:t>Types of Belief Representations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1. Discrete Representation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Environment divided into cells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Each cell has a probability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E.g.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3F313-F71E-483D-AEDB-A6A3DB517A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Robot is most likely in Cell B</a:t>
            </a:r>
          </a:p>
          <a:p>
            <a:pPr marL="0" indent="0">
              <a:buNone/>
            </a:pPr>
            <a:r>
              <a:rPr lang="en-US" dirty="0"/>
              <a:t>2. Continuous Representation</a:t>
            </a:r>
            <a:endParaRPr lang="en-US" b="1" dirty="0"/>
          </a:p>
          <a:p>
            <a:pPr lvl="0"/>
            <a:r>
              <a:rPr lang="en-US" dirty="0"/>
              <a:t>Uses probability density functions (e.g., </a:t>
            </a:r>
            <a:r>
              <a:rPr lang="en-US" dirty="0">
                <a:highlight>
                  <a:srgbClr val="FFFF00"/>
                </a:highlight>
              </a:rPr>
              <a:t>Gaussian</a:t>
            </a:r>
            <a:r>
              <a:rPr lang="en-US" dirty="0"/>
              <a:t>). E.g.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Mean = estimated position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Variance = uncertainty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73D4A0-0975-4303-9034-1E31B3FCC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739491"/>
              </p:ext>
            </p:extLst>
          </p:nvPr>
        </p:nvGraphicFramePr>
        <p:xfrm>
          <a:off x="6914320" y="1938130"/>
          <a:ext cx="4214194" cy="15742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7097">
                  <a:extLst>
                    <a:ext uri="{9D8B030D-6E8A-4147-A177-3AD203B41FA5}">
                      <a16:colId xmlns:a16="http://schemas.microsoft.com/office/drawing/2014/main" val="3409278547"/>
                    </a:ext>
                  </a:extLst>
                </a:gridCol>
                <a:gridCol w="2107097">
                  <a:extLst>
                    <a:ext uri="{9D8B030D-6E8A-4147-A177-3AD203B41FA5}">
                      <a16:colId xmlns:a16="http://schemas.microsoft.com/office/drawing/2014/main" val="269972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Cell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Probability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648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0.1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7868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B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0.6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6009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0.3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973107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253FBA9-C7B3-453E-B4AE-6EE2DB5A7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512" y="5338763"/>
            <a:ext cx="2733675" cy="16764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B79032-5AD1-4C6F-A71F-6129A663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3F766-EEBD-4165-A2EF-8901DC9D99E7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DF6132-392B-4551-AA42-6D092B88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8A0DD1D8-24D3-45C2-8432-19F6BADA21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458595"/>
            <a:ext cx="6291338" cy="1138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04704" rIns="0" bIns="15235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Probabilistic Solution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43434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DE203-14A5-4B41-B161-BB6A3BD34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We don't ask "Where is the robot?"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We ask: </a:t>
            </a: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"What is the probability distribution over all possible poses?"</a:t>
            </a:r>
            <a:endParaRPr lang="en-US" altLang="en-US" sz="14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Belief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r>
              <a:rPr lang="en-US" altLang="en-US" sz="2400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bel(</a:t>
            </a:r>
            <a:r>
              <a:rPr lang="en-US" altLang="en-US" sz="2400" dirty="0" err="1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x_t</a:t>
            </a:r>
            <a:r>
              <a:rPr lang="en-US" altLang="en-US" sz="2400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= P(</a:t>
            </a:r>
            <a:r>
              <a:rPr lang="en-US" altLang="en-US" sz="2400" dirty="0" err="1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x_t</a:t>
            </a:r>
            <a:r>
              <a:rPr lang="en-US" altLang="en-US" sz="2400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| z_{1:t}, u_{1:t})</a:t>
            </a:r>
            <a:endParaRPr lang="en-US" altLang="en-US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altLang="en-US" sz="2800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2800" dirty="0" err="1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x_t</a:t>
            </a:r>
            <a:r>
              <a:rPr lang="en-US" altLang="en-US" sz="2800" dirty="0">
                <a:solidFill>
                  <a:srgbClr val="0F1115"/>
                </a:solidFill>
                <a:ea typeface="Times New Roman" panose="02020603050405020304" pitchFamily="18" charset="0"/>
                <a:cs typeface="Segoe UI" panose="020B0502040204020203" pitchFamily="34" charset="0"/>
              </a:rPr>
              <a:t> = robot state (pose) at time </a:t>
            </a:r>
            <a:r>
              <a:rPr lang="en-US" altLang="en-US" sz="2800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t</a:t>
            </a:r>
            <a:endParaRPr lang="en-US" altLang="en-US" sz="28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altLang="en-US" sz="2800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z_{1:t}</a:t>
            </a:r>
            <a:r>
              <a:rPr lang="en-US" altLang="en-US" sz="2800" dirty="0">
                <a:solidFill>
                  <a:srgbClr val="0F1115"/>
                </a:solidFill>
                <a:ea typeface="Times New Roman" panose="02020603050405020304" pitchFamily="18" charset="0"/>
                <a:cs typeface="Segoe UI" panose="020B0502040204020203" pitchFamily="34" charset="0"/>
              </a:rPr>
              <a:t> = all sensor measurements from time 1 to </a:t>
            </a:r>
            <a:r>
              <a:rPr lang="en-US" altLang="en-US" sz="2800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t</a:t>
            </a:r>
            <a:endParaRPr lang="en-US" altLang="en-US" sz="28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altLang="en-US" sz="2800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u_{1:t}</a:t>
            </a:r>
            <a:r>
              <a:rPr lang="en-US" altLang="en-US" sz="2800" dirty="0">
                <a:solidFill>
                  <a:srgbClr val="0F1115"/>
                </a:solidFill>
                <a:ea typeface="Times New Roman" panose="02020603050405020304" pitchFamily="18" charset="0"/>
                <a:cs typeface="Segoe UI" panose="020B0502040204020203" pitchFamily="34" charset="0"/>
              </a:rPr>
              <a:t> = all control commands from time 1 to </a:t>
            </a:r>
            <a:r>
              <a:rPr lang="en-US" altLang="en-US" sz="2800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t</a:t>
            </a:r>
            <a:endParaRPr lang="en-US" altLang="en-US" sz="2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This is a </a:t>
            </a: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conditional probability.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The probability of being at </a:t>
            </a:r>
            <a:r>
              <a:rPr lang="en-US" altLang="en-US" dirty="0" err="1">
                <a:solidFill>
                  <a:srgbClr val="0F11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x_t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r>
              <a:rPr lang="en-US" altLang="en-US" i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given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everything we have seen and done.</a:t>
            </a:r>
            <a:endParaRPr lang="en-US" altLang="en-US" sz="36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E159F2D-4660-4A9D-BB27-519A45BD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39EA4-E4EF-465E-8EB8-C070FF400060}" type="datetime1">
              <a:rPr lang="en-US" smtClean="0"/>
              <a:t>4/18/2026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E9D021-BE5A-490C-9EEE-D67466AA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53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A84B1-8FD4-4D74-B6B6-63419A90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Update (Core Idea)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9329F-80EE-4678-876A-E0568A699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Localization uses a cycle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Prediction (Motion Update)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Correction (Sensor Update) </a:t>
            </a:r>
          </a:p>
          <a:p>
            <a:r>
              <a:rPr lang="en-US" dirty="0"/>
              <a:t>Bel(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) = η P(</a:t>
            </a:r>
            <a:r>
              <a:rPr lang="en-US" dirty="0" err="1"/>
              <a:t>z</a:t>
            </a:r>
            <a:r>
              <a:rPr lang="en-US" baseline="-25000" dirty="0" err="1"/>
              <a:t>t</a:t>
            </a:r>
            <a:r>
              <a:rPr lang="en-US" baseline="-25000" dirty="0"/>
              <a:t> </a:t>
            </a:r>
            <a:r>
              <a:rPr lang="en-US" dirty="0"/>
              <a:t>∣ 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) ∫ 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 ∣ x</a:t>
            </a:r>
            <a:r>
              <a:rPr lang="en-US" baseline="-25000" dirty="0"/>
              <a:t>t−1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) Bel(x</a:t>
            </a:r>
            <a:r>
              <a:rPr lang="en-US" baseline="-25000" dirty="0"/>
              <a:t>t−1</a:t>
            </a:r>
            <a:r>
              <a:rPr lang="en-US" dirty="0"/>
              <a:t>) dx</a:t>
            </a:r>
            <a:r>
              <a:rPr lang="en-US" baseline="-25000" dirty="0"/>
              <a:t>t−1</a:t>
            </a:r>
            <a:endParaRPr lang="en-US" dirty="0"/>
          </a:p>
          <a:p>
            <a:r>
              <a:rPr lang="en-US" dirty="0"/>
              <a:t>Where: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Bel 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) is updated belief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 (</a:t>
            </a:r>
            <a:r>
              <a:rPr lang="en-US" dirty="0" err="1"/>
              <a:t>z</a:t>
            </a:r>
            <a:r>
              <a:rPr lang="en-US" baseline="-25000" dirty="0" err="1"/>
              <a:t>t</a:t>
            </a:r>
            <a:r>
              <a:rPr lang="en-US" baseline="-25000" dirty="0"/>
              <a:t> </a:t>
            </a:r>
            <a:r>
              <a:rPr lang="en-US" dirty="0"/>
              <a:t>∣ 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) is sensor model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 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 ∣ x</a:t>
            </a:r>
            <a:r>
              <a:rPr lang="en-US" baseline="-25000" dirty="0"/>
              <a:t>t−1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) is the motion model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η is the normalization constant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02796-585F-449C-8D18-EDE48066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071D-D8A2-461E-955E-C666B2F2E755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F7080-6EE3-44A3-B6FA-C9A3E9F7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95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A84B1-8FD4-4D74-B6B6-63419A90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Update (Core Idea)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B9887-57E1-4367-B44E-6A0D1F229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E.g.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Robot thinks it's near a door (prediction)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Sensor detects a wall instead, then belief shifts </a:t>
            </a:r>
          </a:p>
          <a:p>
            <a:r>
              <a:rPr lang="en-US" dirty="0"/>
              <a:t>Common Localization Algorithms</a:t>
            </a:r>
            <a:endParaRPr lang="en-US" b="1" dirty="0"/>
          </a:p>
          <a:p>
            <a:pPr lvl="1"/>
            <a:r>
              <a:rPr lang="en-US" b="1" dirty="0"/>
              <a:t>Kalman Filter</a:t>
            </a:r>
            <a:r>
              <a:rPr lang="en-US" dirty="0"/>
              <a:t> (linear systems) </a:t>
            </a:r>
          </a:p>
          <a:p>
            <a:pPr lvl="1"/>
            <a:r>
              <a:rPr lang="en-US" b="1" dirty="0"/>
              <a:t>Extended Kalman Filter (EKF)</a:t>
            </a:r>
            <a:r>
              <a:rPr lang="en-US" dirty="0"/>
              <a:t> (nonlinear) </a:t>
            </a:r>
          </a:p>
          <a:p>
            <a:pPr lvl="1"/>
            <a:r>
              <a:rPr lang="en-US" b="1" dirty="0"/>
              <a:t>Particle Filter</a:t>
            </a:r>
            <a:r>
              <a:rPr lang="en-US" dirty="0"/>
              <a:t> (non-parametric, widely used)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C20C5-8A7A-4A48-8B7C-B794075D5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FC52F-8888-4ABD-B8CB-9F98FF802EBB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47C5A-F994-425F-B187-DC3A16E4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97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867CD-F761-4ED8-9644-F821C3404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How do we store and update this probability distribution in memory?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Three common approaches</a:t>
            </a:r>
            <a:endParaRPr lang="en-US" altLang="en-US" sz="3200" dirty="0">
              <a:solidFill>
                <a:srgbClr val="434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3600" dirty="0">
                <a:solidFill>
                  <a:srgbClr val="0F111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 Parametric (Gaussian / Kalman Filter)</a:t>
            </a:r>
            <a:endParaRPr lang="en-US" altLang="en-US" sz="3200" dirty="0">
              <a:solidFill>
                <a:srgbClr val="434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Idea: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Represent belief as a single peak (mean) with an uncertainty (covariance).</a:t>
            </a:r>
            <a:endParaRPr lang="en-US" altLang="en-US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Shape: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Unimodal (one "best guess").</a:t>
            </a:r>
            <a:endParaRPr lang="en-US" altLang="en-US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Good for: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Position tracking when uncertainty is small.</a:t>
            </a:r>
            <a:endParaRPr lang="en-US" altLang="en-US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Bad for: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Global localization (multiple possible poses).</a:t>
            </a:r>
            <a:endParaRPr lang="en-US" altLang="en-US" sz="14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sz="3000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Example Belief: x = 5.2m, σ² = 0.1m² → "I'm 95% confident I'm between 5.0m and 5.4m"</a:t>
            </a:r>
            <a:r>
              <a:rPr lang="en-US" altLang="en-US" sz="3000" dirty="0"/>
              <a:t> </a:t>
            </a:r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EB5D83-845E-4DE5-AE17-0A1A7425C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20132"/>
            <a:ext cx="10131300" cy="6155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Belief Representation - "Where is the Robot?"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569D1-CD27-4788-A4BE-DEF247DEF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9429" y="3571802"/>
            <a:ext cx="2737341" cy="167654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EED241-9693-4F33-89EA-AD7031C3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79D6-AF30-4070-A5ED-4364435E414E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DE3D3E-9518-4995-BC11-153AAC00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36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0480E-4511-413A-B429-959D6B8D6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Idea.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Discretize the world into bins. Each bin has a probability.</a:t>
            </a:r>
            <a:endParaRPr lang="en-US" altLang="en-US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Shape.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Can represent multiple hypotheses (multimodal).</a:t>
            </a:r>
            <a:endParaRPr lang="en-US" altLang="en-US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Memory.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O(N) where N = number of bins. World gets large quickly.</a:t>
            </a:r>
            <a:endParaRPr lang="en-US" altLang="en-US" sz="1800" dirty="0">
              <a:solidFill>
                <a:srgbClr val="0F1115"/>
              </a:solidFill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Example: Corridor of 20m, discretized into 1m bins. Bin 0: 0.01, Bin 1: 0.01, ..., Bin 7: 0.70, Bin 8: 0.25, Bin 9: 0.01... → "I'm probably at 7m, possibly at 8m, not elsewhere"</a:t>
            </a: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9BBF759-911B-4AC7-A150-91A43AEDC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695324"/>
            <a:ext cx="11146898" cy="6771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Non-Parametric - Histogram / Discrete Bayes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43434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9738EAA-36FB-42ED-B774-5FBDC397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8D53F-9410-48EE-AFFF-8238A186C1A8}" type="datetime1">
              <a:rPr lang="en-US" smtClean="0"/>
              <a:t>4/18/2026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47915-49FD-4030-8AE8-C493CDC56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32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A11B9-3E6B-470C-AD29-1748C69D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Idea.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Represent belief as a set of random samples ("particles"). Each particle is a hypothesis.</a:t>
            </a:r>
            <a:endParaRPr lang="en-US" altLang="en-US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Shape.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Highly flexible, any distribution.</a:t>
            </a:r>
            <a:endParaRPr lang="en-US" altLang="en-US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Popular because.</a:t>
            </a:r>
            <a:r>
              <a:rPr lang="en-US" altLang="en-US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Efficient, handles ambiguity well, easy to implement.</a:t>
            </a:r>
            <a:endParaRPr lang="en-US" altLang="en-US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endParaRPr lang="en-US" altLang="en-US" sz="1800" dirty="0">
              <a:solidFill>
                <a:srgbClr val="0F1115"/>
              </a:solidFill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3200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Example: 100 particles.47 particles at x=7m, 38 at x=8m, 10 at x=12m, 5 elsewhere.</a:t>
            </a:r>
            <a:r>
              <a:rPr lang="en-US" altLang="en-US" sz="3200" dirty="0">
                <a:solidFill>
                  <a:srgbClr val="0F1115"/>
                </a:solidFill>
                <a:ea typeface="Arial" panose="020B0604020202020204" pitchFamily="34" charset="0"/>
                <a:cs typeface="Arial" panose="020B0604020202020204" pitchFamily="34" charset="0"/>
              </a:rPr>
              <a:t>→ "Strong belief in two places (7m and 8m), weak third hypothesis at 12m"</a:t>
            </a:r>
            <a:r>
              <a:rPr lang="en-US" altLang="en-US" sz="3200" dirty="0"/>
              <a:t> 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56A023-C14F-4307-9FBE-BF727984C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00199" y="440930"/>
            <a:ext cx="8001001" cy="12311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Non-Parametric - Particle Filter 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(Monte Carlo Localization - MCL)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6E769-BC52-4E9E-ADEA-A8864F6E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0B9E-27C6-43A1-91B8-441C984E5567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DD2A-1B50-45D9-8FC4-390410AC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4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5FE4-AD43-4332-BB6D-894193B8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Representation - Occupancy Grids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72119-B508-4F1B-8E67-762D7D48C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620659"/>
          </a:xfrm>
        </p:spPr>
        <p:txBody>
          <a:bodyPr>
            <a:normAutofit fontScale="55000" lnSpcReduction="20000"/>
          </a:bodyPr>
          <a:lstStyle/>
          <a:p>
            <a:r>
              <a:rPr lang="en-US" sz="4400" dirty="0"/>
              <a:t>An </a:t>
            </a:r>
            <a:r>
              <a:rPr lang="en-US" sz="4400" b="1" dirty="0"/>
              <a:t>occupancy grid</a:t>
            </a:r>
            <a:r>
              <a:rPr lang="en-US" sz="4400" dirty="0"/>
              <a:t> divides the environment into a grid of cells where each cell stores the probability of being </a:t>
            </a:r>
            <a:r>
              <a:rPr lang="en-US" sz="4400" b="1" dirty="0"/>
              <a:t>occupied</a:t>
            </a:r>
            <a:r>
              <a:rPr lang="en-US" sz="5100" dirty="0"/>
              <a:t>.</a:t>
            </a:r>
          </a:p>
          <a:p>
            <a:r>
              <a:rPr lang="en-US" sz="4400" dirty="0"/>
              <a:t>Each cell has a value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4400" b="1" dirty="0"/>
              <a:t>0</a:t>
            </a:r>
            <a:r>
              <a:rPr lang="en-US" sz="4400" dirty="0"/>
              <a:t> → Free space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4400" b="1" dirty="0"/>
              <a:t>1</a:t>
            </a:r>
            <a:r>
              <a:rPr lang="en-US" sz="4400" dirty="0"/>
              <a:t> → Occupied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4400" b="1" dirty="0"/>
              <a:t>0.5</a:t>
            </a:r>
            <a:r>
              <a:rPr lang="en-US" sz="4400" dirty="0"/>
              <a:t> → Unknown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 Grid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4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[0.1, 0.2, 0.9]</a:t>
            </a:r>
            <a:br>
              <a:rPr lang="en-US" altLang="en-US" sz="44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44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[0.0, 0.8, 0.7]</a:t>
            </a:r>
            <a:br>
              <a:rPr lang="en-US" altLang="en-US" sz="44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44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[0.0, 0.1, 0.2]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High values → obstacles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Low values → free space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E58774-3CEA-4A08-BC9F-072F39ED59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5100" dirty="0"/>
              <a:t>Visualization</a:t>
            </a:r>
            <a:endParaRPr lang="en-US" sz="51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4400" dirty="0"/>
              <a:t>Dark cells → obstacles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4400" dirty="0"/>
              <a:t>Light cells → free space </a:t>
            </a:r>
          </a:p>
          <a:p>
            <a:r>
              <a:rPr lang="en-US" sz="5100" dirty="0"/>
              <a:t>Updating Occupancy Grids</a:t>
            </a:r>
            <a:endParaRPr lang="en-US" sz="8700" dirty="0"/>
          </a:p>
          <a:p>
            <a:r>
              <a:rPr lang="en-US" sz="5100" dirty="0"/>
              <a:t>Sensor readings update the probability of each cell</a:t>
            </a:r>
            <a:r>
              <a:rPr lang="en-US" sz="40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4400" dirty="0"/>
              <a:t>Laser scan detects obstacle → increase occupancy probability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4400" dirty="0"/>
              <a:t>No obstacle detected → decrease probability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9B643-238A-4CA4-9B74-170DE2040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61A42-8670-4267-BF81-8E73D36C1ADC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DF071-79C3-4838-9A42-34F91E0E5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48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6B8A-B141-48DD-9547-E0DE57682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Map Representation - Occupancy Grids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1F3D9-EB47-47D6-B2C4-3431F2F5AF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have a belief. But what map are we localizing against? The classic answer: </a:t>
            </a:r>
            <a:r>
              <a:rPr lang="en-US" b="1" dirty="0"/>
              <a:t>Occupancy Grid Maps</a:t>
            </a:r>
            <a:r>
              <a:rPr lang="en-US" dirty="0"/>
              <a:t>.</a:t>
            </a:r>
          </a:p>
          <a:p>
            <a:r>
              <a:rPr lang="en-US" b="1" dirty="0"/>
              <a:t>The Core Idea</a:t>
            </a:r>
          </a:p>
          <a:p>
            <a:r>
              <a:rPr lang="en-US" dirty="0"/>
              <a:t>Discretize the world into a grid of cells. Each cell stores the </a:t>
            </a:r>
            <a:r>
              <a:rPr lang="en-US" b="1" dirty="0"/>
              <a:t>probability that it is occupied</a:t>
            </a:r>
            <a:r>
              <a:rPr lang="en-US" dirty="0"/>
              <a:t>.</a:t>
            </a:r>
          </a:p>
          <a:p>
            <a:r>
              <a:rPr lang="en-US" b="1" dirty="0"/>
              <a:t>How to Update an Occupancy Grid (Log-Odds Form)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We don't store raw probabilities (too numerically unstable). We store </a:t>
            </a:r>
            <a:r>
              <a:rPr lang="en-US" sz="2600" b="1" dirty="0"/>
              <a:t>log-odds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3BFD8-71EF-4489-AE1A-DE3A796404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600" dirty="0"/>
              <a:t>l(</a:t>
            </a:r>
            <a:r>
              <a:rPr lang="en-US" sz="2600" dirty="0" err="1"/>
              <a:t>x,y</a:t>
            </a:r>
            <a:r>
              <a:rPr lang="en-US" sz="2600" dirty="0"/>
              <a:t>) = log( P(</a:t>
            </a:r>
            <a:r>
              <a:rPr lang="en-US" sz="2600" dirty="0" err="1"/>
              <a:t>x,y</a:t>
            </a:r>
            <a:r>
              <a:rPr lang="en-US" sz="2600" dirty="0"/>
              <a:t>) / (1 - P(</a:t>
            </a:r>
            <a:r>
              <a:rPr lang="en-US" sz="2600" dirty="0" err="1"/>
              <a:t>x,y</a:t>
            </a:r>
            <a:r>
              <a:rPr lang="en-US" sz="2600" dirty="0"/>
              <a:t>)) )</a:t>
            </a:r>
          </a:p>
          <a:p>
            <a:r>
              <a:rPr lang="en-US" b="1" dirty="0"/>
              <a:t>Update rule (simple version)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200" dirty="0" err="1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l_new</a:t>
            </a:r>
            <a:r>
              <a:rPr lang="en-US" altLang="en-US" sz="2200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altLang="en-US" sz="2200" dirty="0" err="1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l_old+log</a:t>
            </a:r>
            <a:r>
              <a:rPr lang="en-US" altLang="en-US" sz="2200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2200" dirty="0" err="1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p_meas</a:t>
            </a:r>
            <a:r>
              <a:rPr lang="en-US" altLang="en-US" sz="2200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/(1-p_meas)) - log( </a:t>
            </a:r>
            <a:r>
              <a:rPr lang="en-US" altLang="en-US" sz="2200" dirty="0" err="1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p_prior</a:t>
            </a:r>
            <a:r>
              <a:rPr lang="en-US" altLang="en-US" sz="2200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/(1-p_prior))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rgbClr val="0F1115"/>
                </a:solidFill>
                <a:ea typeface="Arial" panose="020B0604020202020204" pitchFamily="34" charset="0"/>
                <a:cs typeface="Segoe UI" panose="020B0502040204020203" pitchFamily="34" charset="0"/>
              </a:rPr>
              <a:t>Where</a:t>
            </a:r>
            <a:r>
              <a:rPr lang="en-US" altLang="en-US" sz="2200" dirty="0"/>
              <a:t> </a:t>
            </a:r>
            <a:r>
              <a:rPr lang="en-US" altLang="en-US" sz="2200" dirty="0" err="1">
                <a:solidFill>
                  <a:srgbClr val="0F1115"/>
                </a:solidFill>
                <a:ea typeface="Arial" panose="020B0604020202020204" pitchFamily="34" charset="0"/>
                <a:cs typeface="Courier New" panose="02070309020205020404" pitchFamily="49" charset="0"/>
              </a:rPr>
              <a:t>p_meas</a:t>
            </a:r>
            <a:r>
              <a:rPr lang="en-US" altLang="en-US" sz="2200" dirty="0"/>
              <a:t> </a:t>
            </a:r>
            <a:r>
              <a:rPr lang="en-US" sz="2200" dirty="0"/>
              <a:t>is the sensor's model (e.g., "LiDAR returns occupied with probability 0.9 if cell is truly occupied").</a:t>
            </a:r>
            <a:endParaRPr lang="en-US" altLang="en-US" sz="2200" dirty="0"/>
          </a:p>
          <a:p>
            <a:r>
              <a:rPr lang="en-US" b="1" dirty="0"/>
              <a:t>Intuition:</a:t>
            </a:r>
            <a:r>
              <a:rPr lang="en-US" dirty="0"/>
              <a:t> Each sensor reading adds evidence for or against occupancy.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4E838D-C067-430C-9C5C-8109DB97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8C46-A888-44B5-BA71-1C8A039667E4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0716683-D917-4CD1-B51A-DA4367D7B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81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A4283-798D-45B8-ABA0-3A04A0EE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Update Rule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BF6513-F627-4AE6-BD01-9D4F54BAD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409" y="4860235"/>
            <a:ext cx="5764695" cy="171946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Advantages of Occupancy Grids</a:t>
            </a:r>
          </a:p>
          <a:p>
            <a:pPr lvl="1"/>
            <a:r>
              <a:rPr lang="en-US" dirty="0"/>
              <a:t>Simple and intuitive </a:t>
            </a:r>
          </a:p>
          <a:p>
            <a:pPr lvl="1"/>
            <a:r>
              <a:rPr lang="en-US" dirty="0"/>
              <a:t>Works well with sensor fusion </a:t>
            </a:r>
          </a:p>
          <a:p>
            <a:pPr lvl="1"/>
            <a:r>
              <a:rPr lang="en-US" dirty="0"/>
              <a:t>Suitable for unknown environments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5281088-0B13-4414-A31B-7DA4E08E43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6514" y="1331843"/>
            <a:ext cx="8074057" cy="33693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089D531-D331-47C5-A9C0-1D8F2A0068A1}"/>
              </a:ext>
            </a:extLst>
          </p:cNvPr>
          <p:cNvSpPr/>
          <p:nvPr/>
        </p:nvSpPr>
        <p:spPr>
          <a:xfrm>
            <a:off x="6450496" y="2704839"/>
            <a:ext cx="5526156" cy="31085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Limitations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Memory intensive for large environments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Resolution trade-off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High resolution → accurate but slow 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Low resolution → fast but less precise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B9C25-7F7C-48DC-863B-BBF97CFA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7A4AD-7B80-41E1-9B3F-4657859DA381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B3EB5-71A9-476C-8248-E12A2DFE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4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06457A-96CF-4BD9-84DE-36EA9221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Localization on an Occupancy Grid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15294-7FD2-4424-A65F-D839C7E25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robot's localization algorithm (e.g., Particle Filter) uses the occupancy grid as the reference map.</a:t>
            </a:r>
          </a:p>
          <a:p>
            <a:r>
              <a:rPr lang="en-US" b="1" dirty="0"/>
              <a:t>How a particle gets a "weight" (importance) during localization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For each particle with pose (x, y, θ):    </a:t>
            </a:r>
          </a:p>
          <a:p>
            <a:pPr marL="971550" lvl="1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Project the robot's expected sensor readings using the occupancy grid.    </a:t>
            </a:r>
          </a:p>
          <a:p>
            <a:pPr marL="971550" lvl="1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Compare to actual sensor readings.    </a:t>
            </a:r>
          </a:p>
          <a:p>
            <a:pPr marL="971550" lvl="1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Weight = similarity (e.g., number of matching occupied cells).</a:t>
            </a:r>
            <a:r>
              <a:rPr lang="en-US" altLang="en-US" dirty="0"/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F1115"/>
                </a:solidFill>
                <a:ea typeface="Times New Roman" panose="02020603050405020304" pitchFamily="18" charset="0"/>
                <a:cs typeface="Segoe UI" panose="020B0502040204020203" pitchFamily="34" charset="0"/>
              </a:rPr>
              <a:t>Particles that agree with the map get high weight. Particles that suggest the robot is inside a wall get low weight (and are eventually discarded).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017111-D047-42E7-9D82-7FD54D2D2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CD6D-C0D1-409A-8D0D-B45C3E072151}" type="datetime1">
              <a:rPr lang="en-US" smtClean="0"/>
              <a:t>4/18/2026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03DFA-5119-41A8-84FF-563DF123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035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D6093-98C8-4A48-A3CB-5B6CFD03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Localization Loop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9DF3B4-D3A6-4CE1-B9D1-DA40941D8C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1378" y="1894484"/>
            <a:ext cx="11009243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Initialize: 1000 particles uniformly across free space (from occupancy grid) Repeat every 50ms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Motion prediction</a:t>
            </a:r>
            <a:r>
              <a:rPr lang="en-US" altLang="en-US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Move each particle according to odometry + noise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Sensor update</a:t>
            </a:r>
            <a:r>
              <a:rPr lang="en-US" altLang="en-US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Weight particles by how well their expected scan matches actual scan (using grid)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Resample 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Draw new particles proportional to weights (low weight particles die)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dirty="0">
                <a:solidFill>
                  <a:srgbClr val="0F1115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Estimate pose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- Weighted average of all particles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dirty="0">
                <a:solidFill>
                  <a:srgbClr val="0F1115"/>
                </a:solidFill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Update occupancy grid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- Add new free/occupied evidence to map (if building map online)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95840-54F0-49FC-8498-E08C642D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01E6-33B7-42C3-80ED-3FA9ADDA8377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A99C9-CD65-4988-8B92-C9429634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14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D2B28-E015-4D05-9227-F993BD27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Linking Localization &amp;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AF8D7-65F9-4723-BFC6-6B82938F62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Localization and mapping work together</a:t>
            </a:r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1666A59-8C87-4E9A-9BD6-BB7541A51D4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37406984"/>
              </p:ext>
            </p:extLst>
          </p:nvPr>
        </p:nvGraphicFramePr>
        <p:xfrm>
          <a:off x="571498" y="2872309"/>
          <a:ext cx="5367339" cy="2604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19947">
                  <a:extLst>
                    <a:ext uri="{9D8B030D-6E8A-4147-A177-3AD203B41FA5}">
                      <a16:colId xmlns:a16="http://schemas.microsoft.com/office/drawing/2014/main" val="1334015811"/>
                    </a:ext>
                  </a:extLst>
                </a:gridCol>
                <a:gridCol w="3147392">
                  <a:extLst>
                    <a:ext uri="{9D8B030D-6E8A-4147-A177-3AD203B41FA5}">
                      <a16:colId xmlns:a16="http://schemas.microsoft.com/office/drawing/2014/main" val="3219746757"/>
                    </a:ext>
                  </a:extLst>
                </a:gridCol>
              </a:tblGrid>
              <a:tr h="516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Component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Role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62756538"/>
                  </a:ext>
                </a:extLst>
              </a:tr>
              <a:tr h="5163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Localization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Where am I?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499608697"/>
                  </a:ext>
                </a:extLst>
              </a:tr>
              <a:tr h="10554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Mapping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What does the world look like?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747014953"/>
                  </a:ext>
                </a:extLst>
              </a:tr>
              <a:tr h="5163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Navigation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How do I move safely?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174242464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9B58D99-32DB-47AC-B12A-6BCED31F931A}"/>
              </a:ext>
            </a:extLst>
          </p:cNvPr>
          <p:cNvSpPr/>
          <p:nvPr/>
        </p:nvSpPr>
        <p:spPr>
          <a:xfrm>
            <a:off x="6286502" y="1676401"/>
            <a:ext cx="5486397" cy="4606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</a:pPr>
            <a:r>
              <a:rPr lang="en-US" sz="2400" dirty="0">
                <a:solidFill>
                  <a:srgbClr val="434343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SLAM (Simultaneous Localization and Mapping)</a:t>
            </a:r>
            <a:endParaRPr lang="en-US" sz="2400" b="1" dirty="0">
              <a:solidFill>
                <a:srgbClr val="434343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sz="2800" dirty="0">
                <a:ea typeface="Times New Roman" panose="02020603050405020304" pitchFamily="18" charset="0"/>
              </a:rPr>
              <a:t>When the robot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a typeface="Arial" panose="020B0604020202020204" pitchFamily="34" charset="0"/>
              </a:rPr>
              <a:t>Does not know the map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a typeface="Arial" panose="020B0604020202020204" pitchFamily="34" charset="0"/>
              </a:rPr>
              <a:t>Must build the map </a:t>
            </a:r>
            <a:r>
              <a:rPr lang="en-US" sz="2400" b="1" dirty="0">
                <a:ea typeface="Arial" panose="020B0604020202020204" pitchFamily="34" charset="0"/>
              </a:rPr>
              <a:t>and</a:t>
            </a:r>
            <a:r>
              <a:rPr lang="en-US" sz="2400" dirty="0">
                <a:ea typeface="Arial" panose="020B0604020202020204" pitchFamily="34" charset="0"/>
              </a:rPr>
              <a:t> localize simultaneously</a:t>
            </a:r>
          </a:p>
          <a:p>
            <a:r>
              <a:rPr lang="en-US" sz="2800" dirty="0"/>
              <a:t>Example Scenario - A robot vacuum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Builds a map of your house (occupancy grid)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Tracks its position (localization)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Plans cleaning paths (navigation)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0F3DB-5262-4E8A-9EB1-21D4FF26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5E93-613E-4F8D-A227-58E86AA28442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7E13A2-6300-41C6-9AB7-174099A9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13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A9E0A-1398-4510-B14C-32FC13959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Example: Mobile Robot in a Corridor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CC412-2E00-4968-99D6-D4122EDE3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200" b="1" dirty="0"/>
              <a:t>Initial Belief</a:t>
            </a:r>
            <a:r>
              <a:rPr lang="en-US" sz="3200" dirty="0"/>
              <a:t>  - Robot uncertain → spread across multiple positions </a:t>
            </a:r>
          </a:p>
          <a:p>
            <a:pPr lvl="0"/>
            <a:r>
              <a:rPr lang="en-US" sz="3200" b="1" dirty="0"/>
              <a:t>Movement</a:t>
            </a:r>
            <a:r>
              <a:rPr lang="en-US" sz="3200" dirty="0"/>
              <a:t>  - Moves forward → belief shifts </a:t>
            </a:r>
          </a:p>
          <a:p>
            <a:pPr lvl="0"/>
            <a:r>
              <a:rPr lang="en-US" sz="3200" b="1" dirty="0"/>
              <a:t>Sensor Reading</a:t>
            </a:r>
            <a:r>
              <a:rPr lang="en-US" sz="3200" dirty="0"/>
              <a:t>  - Detects door → probabilities updated </a:t>
            </a:r>
          </a:p>
          <a:p>
            <a:pPr lvl="0"/>
            <a:r>
              <a:rPr lang="en-US" sz="3200" b="1" dirty="0"/>
              <a:t>Convergence</a:t>
            </a:r>
            <a:r>
              <a:rPr lang="en-US" sz="3200" dirty="0"/>
              <a:t> - Belief becomes concentrated → robot localized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6E5A2-8A92-4FAE-81AB-19468751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6DF-EB62-4823-943B-DDDA32A79F91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4860E-39C2-4ECF-8EA3-607D3F38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58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AE1B-C933-482A-B1C2-7B235402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21E58-B58E-4C37-81E1-840BA1E53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200" dirty="0"/>
              <a:t>Localization is about </a:t>
            </a:r>
            <a:r>
              <a:rPr lang="en-US" sz="3200" b="1" dirty="0"/>
              <a:t>estimating position under uncertainty</a:t>
            </a:r>
            <a:r>
              <a:rPr lang="en-US" sz="3200" dirty="0"/>
              <a:t> </a:t>
            </a:r>
          </a:p>
          <a:p>
            <a:pPr lvl="0"/>
            <a:r>
              <a:rPr lang="en-US" sz="3200" dirty="0"/>
              <a:t>Robots use </a:t>
            </a:r>
            <a:r>
              <a:rPr lang="en-US" sz="3200" b="1" dirty="0"/>
              <a:t>probability distributions (beliefs)</a:t>
            </a:r>
            <a:r>
              <a:rPr lang="en-US" sz="3200" dirty="0"/>
              <a:t> instead of exact positions </a:t>
            </a:r>
          </a:p>
          <a:p>
            <a:pPr lvl="0"/>
            <a:r>
              <a:rPr lang="en-US" sz="3200" b="1" dirty="0"/>
              <a:t>Bayesian filtering</a:t>
            </a:r>
            <a:r>
              <a:rPr lang="en-US" sz="3200" dirty="0"/>
              <a:t> is the foundation of localization </a:t>
            </a:r>
          </a:p>
          <a:p>
            <a:pPr lvl="0"/>
            <a:r>
              <a:rPr lang="en-US" sz="3200" b="1" dirty="0"/>
              <a:t>Occupancy grids</a:t>
            </a:r>
            <a:r>
              <a:rPr lang="en-US" sz="3200" dirty="0"/>
              <a:t> provide a practical way to represent maps </a:t>
            </a:r>
          </a:p>
          <a:p>
            <a:pPr lvl="0"/>
            <a:r>
              <a:rPr lang="en-US" sz="3200" dirty="0"/>
              <a:t>Localization + Mapping = </a:t>
            </a:r>
            <a:r>
              <a:rPr lang="en-US" sz="3200" b="1" dirty="0"/>
              <a:t>SLAM</a:t>
            </a:r>
            <a:r>
              <a:rPr lang="en-US" sz="3200" dirty="0"/>
              <a:t>, a core robotics problem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22131-84C8-49BA-A93D-42D98CB35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9631-BA4F-44EE-99E5-88A7024F55FB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E621E-F657-4203-9E8D-9BF3F975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185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B158AA-B2EB-4A75-BD48-8223502F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away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1B60624-16C5-4655-9011-1239496901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1012787"/>
              </p:ext>
            </p:extLst>
          </p:nvPr>
        </p:nvGraphicFramePr>
        <p:xfrm>
          <a:off x="666749" y="1690688"/>
          <a:ext cx="10906125" cy="48284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19426">
                  <a:extLst>
                    <a:ext uri="{9D8B030D-6E8A-4147-A177-3AD203B41FA5}">
                      <a16:colId xmlns:a16="http://schemas.microsoft.com/office/drawing/2014/main" val="1288846863"/>
                    </a:ext>
                  </a:extLst>
                </a:gridCol>
                <a:gridCol w="4086225">
                  <a:extLst>
                    <a:ext uri="{9D8B030D-6E8A-4147-A177-3AD203B41FA5}">
                      <a16:colId xmlns:a16="http://schemas.microsoft.com/office/drawing/2014/main" val="2256559599"/>
                    </a:ext>
                  </a:extLst>
                </a:gridCol>
                <a:gridCol w="3800474">
                  <a:extLst>
                    <a:ext uri="{9D8B030D-6E8A-4147-A177-3AD203B41FA5}">
                      <a16:colId xmlns:a16="http://schemas.microsoft.com/office/drawing/2014/main" val="3572489257"/>
                    </a:ext>
                  </a:extLst>
                </a:gridCol>
              </a:tblGrid>
              <a:tr h="748246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 Concept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Key Takeaway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Example</a:t>
                      </a:r>
                      <a:endParaRPr lang="en-US" sz="3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657369083"/>
                  </a:ext>
                </a:extLst>
              </a:tr>
              <a:tr h="1189825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Localization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Estimating pose relative to a map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"I am at x=3.2m, y=1.5m, facing north"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077568369"/>
                  </a:ext>
                </a:extLst>
              </a:tr>
              <a:tr h="1189825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Uncertainty</a:t>
                      </a:r>
                      <a:endParaRPr lang="en-US" sz="3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Belief is a probability distribution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70% at 3m, 30% at 8m (perceptual aliasing)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17846264"/>
                  </a:ext>
                </a:extLst>
              </a:tr>
              <a:tr h="748246"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Belief Representation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Gaussian, Histogram, or Particles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Particle filter: 500 hypotheses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819297650"/>
                  </a:ext>
                </a:extLst>
              </a:tr>
              <a:tr h="748246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Occupancy Grid</a:t>
                      </a:r>
                      <a:endParaRPr lang="en-US" sz="3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Map as probability per grid cell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0.9 = wall, 0.1 = free, 0.5 = unknown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798273447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A5A137F-00AC-4992-A56C-AB5B8233B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A537-1DB3-4453-949E-5B2E7DBD4D58}" type="datetime1">
              <a:rPr lang="en-US" smtClean="0"/>
              <a:t>4/18/2026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E504ED-A20B-4CCA-9CDB-DE07EF58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0722-8E36-4F23-9814-1EF5149A9EA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5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1943</Words>
  <Application>Microsoft Office PowerPoint</Application>
  <PresentationFormat>Widescreen</PresentationFormat>
  <Paragraphs>267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Arial Unicode MS</vt:lpstr>
      <vt:lpstr>Calibri</vt:lpstr>
      <vt:lpstr>Calibri Light</vt:lpstr>
      <vt:lpstr>Consolas</vt:lpstr>
      <vt:lpstr>Courier New</vt:lpstr>
      <vt:lpstr>Segoe UI</vt:lpstr>
      <vt:lpstr>Symbol</vt:lpstr>
      <vt:lpstr>Times New Roman</vt:lpstr>
      <vt:lpstr>Wingdings</vt:lpstr>
      <vt:lpstr>Office Theme</vt:lpstr>
      <vt:lpstr>Localization and Navigation</vt:lpstr>
      <vt:lpstr>Localization</vt:lpstr>
      <vt:lpstr>Types of localization </vt:lpstr>
      <vt:lpstr>Types of Localization </vt:lpstr>
      <vt:lpstr>The Challenge of Uncertainty </vt:lpstr>
      <vt:lpstr>Belief Representation - Where is the Robot?</vt:lpstr>
      <vt:lpstr>The Probabilistic Solution</vt:lpstr>
      <vt:lpstr>Bayesian Update (Core Idea)</vt:lpstr>
      <vt:lpstr>Bayesian Update (Core Idea)</vt:lpstr>
      <vt:lpstr>Belief Representation - "Where is the Robot?"</vt:lpstr>
      <vt:lpstr>Non-Parametric - Histogram / Discrete Bayes</vt:lpstr>
      <vt:lpstr>Non-Parametric - Particle Filter  (Monte Carlo Localization - MCL)</vt:lpstr>
      <vt:lpstr>Map Representation - Occupancy Grids</vt:lpstr>
      <vt:lpstr>Map Representation - Occupancy Grids</vt:lpstr>
      <vt:lpstr>Mathematical Update Rule</vt:lpstr>
      <vt:lpstr>Localization on an Occupancy Grid</vt:lpstr>
      <vt:lpstr>Complete Localization Loop</vt:lpstr>
      <vt:lpstr>Linking Localization &amp; Navigation</vt:lpstr>
      <vt:lpstr>Practical Example: Mobile Robot in a Corridor</vt:lpstr>
      <vt:lpstr>Key Takeaways</vt:lpstr>
      <vt:lpstr>Take away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DSI</dc:creator>
  <cp:lastModifiedBy>DSI</cp:lastModifiedBy>
  <cp:revision>36</cp:revision>
  <dcterms:created xsi:type="dcterms:W3CDTF">2026-04-17T08:53:45Z</dcterms:created>
  <dcterms:modified xsi:type="dcterms:W3CDTF">2026-04-18T14:07:48Z</dcterms:modified>
</cp:coreProperties>
</file>