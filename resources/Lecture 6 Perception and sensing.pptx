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6" r:id="rId13"/>
    <p:sldId id="264" r:id="rId14"/>
    <p:sldId id="269" r:id="rId15"/>
    <p:sldId id="270" r:id="rId16"/>
    <p:sldId id="271" r:id="rId17"/>
    <p:sldId id="272" r:id="rId18"/>
    <p:sldId id="273" r:id="rId19"/>
    <p:sldId id="274" r:id="rId20"/>
    <p:sldId id="301" r:id="rId21"/>
    <p:sldId id="275" r:id="rId22"/>
    <p:sldId id="276" r:id="rId23"/>
    <p:sldId id="277" r:id="rId24"/>
    <p:sldId id="278" r:id="rId25"/>
    <p:sldId id="286" r:id="rId26"/>
    <p:sldId id="280" r:id="rId27"/>
    <p:sldId id="279" r:id="rId28"/>
    <p:sldId id="281" r:id="rId29"/>
    <p:sldId id="282" r:id="rId30"/>
    <p:sldId id="283" r:id="rId31"/>
    <p:sldId id="284" r:id="rId32"/>
    <p:sldId id="285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9" r:id="rId41"/>
    <p:sldId id="294" r:id="rId42"/>
    <p:sldId id="295" r:id="rId43"/>
    <p:sldId id="296" r:id="rId44"/>
    <p:sldId id="300" r:id="rId45"/>
    <p:sldId id="297" r:id="rId46"/>
    <p:sldId id="29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5B6F9-AB71-4650-81BD-4E2018CCE7B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0E8F6-4FBB-46AD-AF75-991F20084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5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CB27-5F75-4969-92C1-69C85150F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112E0-F298-496C-8BD6-21033E989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C9845-3509-48E7-927E-F94E4C42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441A-A45F-448C-A19C-E32E979943D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AACF-BCFD-4278-BFA8-018628AC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D9705-609F-4B7A-89CB-EB6DC707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1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7A98-D9D7-4143-AA9B-C1B6E584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56C50-1A44-443B-8438-38C0C1D7E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76734-F886-4E32-A5D8-C53232C3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CEBE-1EAF-4697-AB15-7E2EA6BD0A69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CB42-C9B0-4BF6-8BF7-4B3DAE51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B3E2A-73E5-4B87-A939-600B41B1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9D53-E802-4DBE-898D-F0C66D41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94469-81BA-4632-86B5-2D1D652AA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C197-3D2A-4566-AC86-0D22E092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6475-FBF9-4868-90BE-417B42BBC20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4CF8E-E5F8-4543-B084-A33F9463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44B3F-FAE8-43EE-B113-A75EBE60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8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9592-7EA9-469E-ACD4-BB795C26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28AAE-F938-4719-BDE6-DBAB73380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CFADB-09DC-45D6-8888-BA506D739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29F96-6A37-4FCA-A73D-2C9D14A50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51E0-E1F5-43F8-9ADF-59FB0A318B75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16F5A-2E67-4422-A7B8-D0A3BDC1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F1EC8-F150-41DF-8D04-65F323AA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8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89E5-C8B4-4CD0-A6F6-5ABB466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D5B4C-3E35-4ABD-BE94-2B8922510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00BB7-2DD3-412C-9F2A-15E01921E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72519-905A-4D5F-8E6A-5B1EFB388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45287-304B-43AA-90BC-D8ED2F7BF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DAA0D-8E17-48F2-9BDA-7EABB410A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948A-935D-4AD8-B11C-BBB6F6BB13D6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F4372-D267-434D-B63A-A2E4F031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488A8-6423-45C7-8132-EC8C1FB1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66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21DD6-5EFA-4739-AE16-E0C2ADAE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FC1E8-242A-40C4-B3D9-125B2A25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C75A-11CF-4551-B2D0-6A1BA8497213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31533-7902-45CF-B945-9E79B4F0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4B354-C140-4430-831D-73F618E0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98318-F20C-43E9-BE4C-BEDCF9B4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7820-32C7-4658-8854-723379D427D8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EBD95-049C-4AE5-9C74-9DC94713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F8E66-4316-43A5-8C94-E6CCD192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6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C202-E180-4390-A01F-D463A164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335E-8B1B-42BE-AC6A-A04209764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1B6F7-A52B-404F-82F4-8BE71B881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B9CB7-1473-42CF-9F78-8E6D5995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F667-0334-4623-A69C-95C037142E82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058AB-E3BA-4983-BC13-F7EB6E63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B7D69-7059-4492-B896-F523476B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2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EBA1-30FD-4E27-97B1-2DBAD1E4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338D6A-81C2-45FE-9DC7-E0A332751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B5A06-C5B9-4F87-9F82-F3AE1352C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BAC77-8839-4677-B2F8-A112F587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D975-0162-4507-A88C-FDC79371A08C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2A2C5-AB54-4E22-9A56-B3538F0D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6FA88-6DB9-41A8-A1FD-1E1C4C3D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1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E74A-9FE9-4A77-91E9-CCB06A1BB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87740-35D3-4A1C-9531-5FB2458FE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7084A-D2B1-43DB-9E02-8EF8EF3D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0EA9-8BA9-44AF-A9FD-4650206C1107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C83C-CB27-4B4F-B59E-D264171B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91E4E-234D-404A-A66F-CEE1C21C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1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04DB78-9685-4245-9EE6-9E3828D13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9DDB7-5159-4F92-BEBE-FB4D3131A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0535D-BC58-44DF-9CE9-AC6E4D03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5754-EAFC-4B10-8A41-0E61241FBC37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A3D2C-C6A6-4977-8C08-44282199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3BF2-FC04-4CEB-AD85-32B000CD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04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005D33-6B12-4434-BC52-C9757280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53A81-FE48-432B-BEB1-FE9B2251A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6A15F-5E92-4F07-84CB-2B70BEB66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462AC-800C-4585-934B-BAD8E28CA633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5D633-BAFB-4A80-8726-92C5C885F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E13CB-BBF0-4730-8AE9-38BF2CEE9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3E85B-E3FB-43A1-BE23-9BAFD013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3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AF7B-C648-47BE-9DD1-8A438FDC25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Perception and sensing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5C204-8741-445F-9A13-0C384D02D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3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F627-2AE1-41F1-AC3E-30DDC1E2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Perception in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0573D-D3FE-4CD3-A6B9-99B8DA996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67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Perception</a:t>
            </a:r>
            <a:r>
              <a:rPr lang="en-US" dirty="0"/>
              <a:t> in robotics is the process by which a robot</a:t>
            </a:r>
          </a:p>
          <a:p>
            <a:pPr lvl="1"/>
            <a:r>
              <a:rPr lang="en-US" sz="2600" dirty="0"/>
              <a:t>Acquires raw data from sensors </a:t>
            </a:r>
          </a:p>
          <a:p>
            <a:pPr lvl="1"/>
            <a:r>
              <a:rPr lang="en-US" sz="2600" dirty="0"/>
              <a:t>Processes and interprets that data </a:t>
            </a:r>
          </a:p>
          <a:p>
            <a:pPr lvl="1"/>
            <a:r>
              <a:rPr lang="en-US" sz="2600" dirty="0"/>
              <a:t>Builds a meaningful representation of the environment </a:t>
            </a:r>
          </a:p>
          <a:p>
            <a:r>
              <a:rPr lang="en-US" dirty="0"/>
              <a:t>It transforms sensor data into knowledge about the world (environment).</a:t>
            </a:r>
          </a:p>
          <a:p>
            <a:pPr lvl="0"/>
            <a:r>
              <a:rPr lang="en-US" dirty="0"/>
              <a:t>Perception converts sensor signals into state estimates (e.g., position, obstacles, objects). </a:t>
            </a:r>
          </a:p>
          <a:p>
            <a:pPr lvl="0"/>
            <a:r>
              <a:rPr lang="en-US" dirty="0"/>
              <a:t>The algorithmic interpretation of that sensor data into a representation the robot can </a:t>
            </a:r>
            <a:r>
              <a:rPr lang="en-US" i="1" dirty="0"/>
              <a:t>reason</a:t>
            </a:r>
            <a:r>
              <a:rPr lang="en-US" dirty="0"/>
              <a:t> about and </a:t>
            </a:r>
            <a:r>
              <a:rPr lang="en-US" i="1" dirty="0"/>
              <a:t>act</a:t>
            </a:r>
            <a:r>
              <a:rPr lang="en-US" dirty="0"/>
              <a:t> upon.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990BC-F7A9-4706-95D8-7BF8476E6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600200"/>
            <a:ext cx="5381625" cy="4576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perception is about </a:t>
            </a:r>
            <a:r>
              <a:rPr lang="en-US" b="1" dirty="0"/>
              <a:t>sense – plan – act pipeline</a:t>
            </a:r>
            <a:r>
              <a:rPr lang="en-US" dirty="0"/>
              <a:t>, where sensing data is processed into a representation used for decision-making .</a:t>
            </a:r>
          </a:p>
          <a:p>
            <a:pPr lvl="0"/>
            <a:r>
              <a:rPr lang="en-US" dirty="0"/>
              <a:t>A robot vacuum uses </a:t>
            </a:r>
          </a:p>
          <a:p>
            <a:pPr lvl="1"/>
            <a:r>
              <a:rPr lang="en-US" sz="2600" dirty="0"/>
              <a:t>Sensors → detect walls and obstacles </a:t>
            </a:r>
          </a:p>
          <a:p>
            <a:pPr lvl="1"/>
            <a:r>
              <a:rPr lang="en-US" sz="2600" dirty="0"/>
              <a:t>Perception → interprets distances and shapes </a:t>
            </a:r>
          </a:p>
          <a:p>
            <a:pPr lvl="1"/>
            <a:r>
              <a:rPr lang="en-US" sz="2600" dirty="0"/>
              <a:t>Output → “There is a wall ahead” </a:t>
            </a:r>
          </a:p>
          <a:p>
            <a:r>
              <a:rPr lang="en-US" b="1" dirty="0"/>
              <a:t>Perception = Sensing + Interpretation + State Estimation</a:t>
            </a:r>
          </a:p>
          <a:p>
            <a:r>
              <a:rPr lang="en-US" dirty="0"/>
              <a:t>Perception is not about truth; it is about building a </a:t>
            </a:r>
            <a:r>
              <a:rPr lang="en-US" b="1" dirty="0"/>
              <a:t>Belief State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Due to sensor noise and environmental ambiguity, the robot maintains a </a:t>
            </a:r>
            <a:r>
              <a:rPr lang="en-US" i="1" dirty="0"/>
              <a:t>probabilistic belief</a:t>
            </a:r>
            <a:r>
              <a:rPr lang="en-US" dirty="0"/>
              <a:t> (e.g., "I am 95% certain this is a door and 5% otherwise").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3BE5E-F87D-4325-BA3C-D5EE3C61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1950-4DD5-459A-A360-9ABDCD6C898E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E0111-9EFF-4F69-A46A-860C536A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2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E352-A1F4-4C9B-AFFC-702EB4C5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Perception Challenge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D39-C1FD-4C7B-93D3-AE822D0C33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Why is Perception Difficult?</a:t>
            </a:r>
          </a:p>
          <a:p>
            <a:pPr marL="0" indent="0">
              <a:buNone/>
            </a:pPr>
            <a:r>
              <a:rPr lang="en-US" b="1" dirty="0"/>
              <a:t>1. Uncertainty and Noise</a:t>
            </a:r>
          </a:p>
          <a:p>
            <a:pPr lvl="1"/>
            <a:r>
              <a:rPr lang="en-US" dirty="0"/>
              <a:t>Sensors produce </a:t>
            </a:r>
            <a:r>
              <a:rPr lang="en-US" b="1" dirty="0"/>
              <a:t>imperfect data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A camera may misinterpret shadows as obstacles </a:t>
            </a:r>
          </a:p>
          <a:p>
            <a:pPr marL="0" indent="0">
              <a:buNone/>
            </a:pPr>
            <a:r>
              <a:rPr lang="en-US" b="1" dirty="0"/>
              <a:t>2. Partial Observability</a:t>
            </a:r>
          </a:p>
          <a:p>
            <a:pPr lvl="1"/>
            <a:r>
              <a:rPr lang="en-US" dirty="0"/>
              <a:t>Robots cannot see everything </a:t>
            </a:r>
            <a:r>
              <a:rPr lang="en-US" dirty="0" err="1"/>
              <a:t>e.g</a:t>
            </a:r>
            <a:r>
              <a:rPr lang="en-US" dirty="0"/>
              <a:t> Objects hidden behind walls </a:t>
            </a:r>
          </a:p>
          <a:p>
            <a:pPr marL="0" indent="0">
              <a:buNone/>
            </a:pPr>
            <a:r>
              <a:rPr lang="en-US" b="1" dirty="0"/>
              <a:t>3. Dynamic Environments</a:t>
            </a:r>
          </a:p>
          <a:p>
            <a:pPr lvl="1"/>
            <a:r>
              <a:rPr lang="en-US" dirty="0"/>
              <a:t>Environment changes constantly </a:t>
            </a:r>
            <a:r>
              <a:rPr lang="en-US" dirty="0" err="1"/>
              <a:t>e.g</a:t>
            </a:r>
            <a:r>
              <a:rPr lang="en-US" dirty="0"/>
              <a:t> moving cars, people </a:t>
            </a:r>
          </a:p>
          <a:p>
            <a:pPr marL="0" indent="0">
              <a:buNone/>
            </a:pPr>
            <a:r>
              <a:rPr lang="en-US" b="1" dirty="0"/>
              <a:t>4. High Dimensional Data</a:t>
            </a:r>
          </a:p>
          <a:p>
            <a:pPr lvl="1"/>
            <a:r>
              <a:rPr lang="en-US" dirty="0"/>
              <a:t>Sensors like cameras generate </a:t>
            </a:r>
            <a:r>
              <a:rPr lang="en-US" b="1" dirty="0"/>
              <a:t>massive data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Requires real-time processing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CC0B1-15DE-401B-A4F5-9DC0EAD5A7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5. Ambiguity</a:t>
            </a:r>
          </a:p>
          <a:p>
            <a:pPr lvl="1"/>
            <a:r>
              <a:rPr lang="en-US" dirty="0"/>
              <a:t>Same sensor data can have multiple interpretations </a:t>
            </a:r>
            <a:r>
              <a:rPr lang="en-US" dirty="0" err="1"/>
              <a:t>e.g</a:t>
            </a:r>
            <a:r>
              <a:rPr lang="en-US" dirty="0"/>
              <a:t> Is that a rock or a shadow? </a:t>
            </a:r>
          </a:p>
          <a:p>
            <a:pPr marL="0" indent="0">
              <a:buNone/>
            </a:pPr>
            <a:r>
              <a:rPr lang="en-US" b="1" dirty="0"/>
              <a:t>6. Sensor Limitations</a:t>
            </a:r>
          </a:p>
          <a:p>
            <a:pPr lvl="0"/>
            <a:r>
              <a:rPr lang="en-US" dirty="0"/>
              <a:t>Each sensor has weaknesses: </a:t>
            </a:r>
          </a:p>
          <a:p>
            <a:pPr lvl="1"/>
            <a:r>
              <a:rPr lang="en-US" dirty="0"/>
              <a:t>Camera → affected by lighting </a:t>
            </a:r>
          </a:p>
          <a:p>
            <a:pPr lvl="1"/>
            <a:r>
              <a:rPr lang="en-US" dirty="0"/>
              <a:t>LiDAR → expensive </a:t>
            </a:r>
          </a:p>
          <a:p>
            <a:pPr lvl="1"/>
            <a:r>
              <a:rPr lang="en-US" dirty="0"/>
              <a:t>Ultrasonic → low resolution </a:t>
            </a:r>
          </a:p>
          <a:p>
            <a:r>
              <a:rPr lang="en-US" dirty="0"/>
              <a:t>Perception is not just sensing, it involves </a:t>
            </a:r>
            <a:r>
              <a:rPr lang="en-US" b="1" dirty="0"/>
              <a:t>reasoning under uncertainty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61A1E-B2AC-41DD-AD8C-140D7C78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149A-ADC3-4E35-8A16-B52457EB651E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6EDB7-BB23-46C1-A6AA-23F84D18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2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94E1-B616-4489-B053-AA3594F3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Perception Challenge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80C4600-2844-449E-9AAA-AE86B8E979E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08313669"/>
              </p:ext>
            </p:extLst>
          </p:nvPr>
        </p:nvGraphicFramePr>
        <p:xfrm>
          <a:off x="838201" y="1557867"/>
          <a:ext cx="10608731" cy="4851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3188">
                  <a:extLst>
                    <a:ext uri="{9D8B030D-6E8A-4147-A177-3AD203B41FA5}">
                      <a16:colId xmlns:a16="http://schemas.microsoft.com/office/drawing/2014/main" val="7036410"/>
                    </a:ext>
                  </a:extLst>
                </a:gridCol>
                <a:gridCol w="2731857">
                  <a:extLst>
                    <a:ext uri="{9D8B030D-6E8A-4147-A177-3AD203B41FA5}">
                      <a16:colId xmlns:a16="http://schemas.microsoft.com/office/drawing/2014/main" val="521912032"/>
                    </a:ext>
                  </a:extLst>
                </a:gridCol>
                <a:gridCol w="5403686">
                  <a:extLst>
                    <a:ext uri="{9D8B030D-6E8A-4147-A177-3AD203B41FA5}">
                      <a16:colId xmlns:a16="http://schemas.microsoft.com/office/drawing/2014/main" val="371703797"/>
                    </a:ext>
                  </a:extLst>
                </a:gridCol>
              </a:tblGrid>
              <a:tr h="549307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Challenge Category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Description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Concrete Example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extLst>
                  <a:ext uri="{0D108BD9-81ED-4DB2-BD59-A6C34878D82A}">
                    <a16:rowId xmlns:a16="http://schemas.microsoft.com/office/drawing/2014/main" val="827601788"/>
                  </a:ext>
                </a:extLst>
              </a:tr>
              <a:tr h="81420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Noise &amp; Uncertainty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All sensors are corrupted by random statistical error.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 LIDAR beam hitting a glass window. Some photons pass through, some reflect. The distance reading becomes erratic or "infinite."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extLst>
                  <a:ext uri="{0D108BD9-81ED-4DB2-BD59-A6C34878D82A}">
                    <a16:rowId xmlns:a16="http://schemas.microsoft.com/office/drawing/2014/main" val="658912714"/>
                  </a:ext>
                </a:extLst>
              </a:tr>
              <a:tr h="1079095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Ambiguity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The same sensor data can correspond to multiple world states.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 Camera sees a dark rectangular shape on the floor. Is it a hole (danger), a shadow (safe), or a stain (safe)? Vision alone cannot disambiguate this reliably.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extLst>
                  <a:ext uri="{0D108BD9-81ED-4DB2-BD59-A6C34878D82A}">
                    <a16:rowId xmlns:a16="http://schemas.microsoft.com/office/drawing/2014/main" val="2129992568"/>
                  </a:ext>
                </a:extLst>
              </a:tr>
              <a:tr h="1064805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Dimensionality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Sensors produce massive data streams (e.g., 2D images, 3D point clouds).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 standard HD Camera produces ~30 MB of raw data per second. A robot must process this in real-time on embedded hardware with limited power.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extLst>
                  <a:ext uri="{0D108BD9-81ED-4DB2-BD59-A6C34878D82A}">
                    <a16:rowId xmlns:a16="http://schemas.microsoft.com/office/drawing/2014/main" val="4231916190"/>
                  </a:ext>
                </a:extLst>
              </a:tr>
              <a:tr h="134399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Dynamic Range &amp; Environment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Lighting, weather, and texture vary wildly.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SLAM (Simultaneous Localization and Mapping) works perfectly indoors but fails in a featureless cornfield or a foggy construction site where LIDAR beams scatter.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73" marR="57573" marT="0" marB="0"/>
                </a:tc>
                <a:extLst>
                  <a:ext uri="{0D108BD9-81ED-4DB2-BD59-A6C34878D82A}">
                    <a16:rowId xmlns:a16="http://schemas.microsoft.com/office/drawing/2014/main" val="393164236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36F70-F99C-4E8E-AD96-B08A5B8F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EFD73-27AB-432D-A0BD-0EC049FA7651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2A815-4CD1-4978-8C8F-20C0F79F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5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C6EE-72C1-433F-A740-7B8E20EBA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Mobile Robot Control System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9D795-9B6D-4762-A066-2BC2C5C7BA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Sense – Plan – Act (SPA)</a:t>
            </a:r>
            <a:r>
              <a:rPr lang="en-US" dirty="0"/>
              <a:t> architecture is the classical framework for robot control.</a:t>
            </a:r>
          </a:p>
          <a:p>
            <a:r>
              <a:rPr lang="en-US" b="1" dirty="0"/>
              <a:t> The SPA Loop</a:t>
            </a:r>
          </a:p>
          <a:p>
            <a:r>
              <a:rPr lang="en-US" dirty="0"/>
              <a:t>Robots operate in a continuous loop:</a:t>
            </a:r>
          </a:p>
          <a:p>
            <a:pPr lvl="1"/>
            <a:r>
              <a:rPr lang="en-US" b="1" dirty="0"/>
              <a:t>Sense</a:t>
            </a:r>
            <a:r>
              <a:rPr lang="en-US" dirty="0"/>
              <a:t> → collect data from sensor. Process data into a </a:t>
            </a:r>
            <a:r>
              <a:rPr lang="en-US" b="1" dirty="0"/>
              <a:t>World Model</a:t>
            </a:r>
            <a:r>
              <a:rPr lang="en-US" dirty="0"/>
              <a:t> (Map + Localization).</a:t>
            </a:r>
          </a:p>
          <a:p>
            <a:pPr lvl="1"/>
            <a:r>
              <a:rPr lang="en-US" b="1" dirty="0"/>
              <a:t>Plan</a:t>
            </a:r>
            <a:r>
              <a:rPr lang="en-US" dirty="0"/>
              <a:t> → decide what to do. Use the World Model to compute a path or trajectory from current state to goal state (e.g., A* algorithm, RRT).</a:t>
            </a:r>
          </a:p>
          <a:p>
            <a:pPr lvl="1"/>
            <a:r>
              <a:rPr lang="en-US" b="1" dirty="0"/>
              <a:t>Act</a:t>
            </a:r>
            <a:r>
              <a:rPr lang="en-US" dirty="0"/>
              <a:t> → execute actions. Send low-level commands (velocity, steering angle) to the </a:t>
            </a:r>
            <a:r>
              <a:rPr lang="en-US" b="1" dirty="0"/>
              <a:t>Actuators</a:t>
            </a:r>
            <a:r>
              <a:rPr lang="en-US" dirty="0"/>
              <a:t> (motors).</a:t>
            </a:r>
          </a:p>
          <a:p>
            <a:r>
              <a:rPr lang="en-US" dirty="0"/>
              <a:t>This cycle repeats continuously 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8DBC3-69B2-42EC-A320-06EE627456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Sense Layer (Perception Stage)</a:t>
            </a:r>
          </a:p>
          <a:p>
            <a:pPr lvl="0"/>
            <a:r>
              <a:rPr lang="en-US" dirty="0"/>
              <a:t>Collects data from sensors </a:t>
            </a:r>
          </a:p>
          <a:p>
            <a:pPr lvl="0"/>
            <a:r>
              <a:rPr lang="en-US" dirty="0"/>
              <a:t>Processes it into meaningful information. E.g. </a:t>
            </a:r>
          </a:p>
          <a:p>
            <a:pPr lvl="1"/>
            <a:r>
              <a:rPr lang="en-US" dirty="0"/>
              <a:t>Camera detects a pedestrian </a:t>
            </a:r>
          </a:p>
          <a:p>
            <a:pPr lvl="1"/>
            <a:r>
              <a:rPr lang="en-US" dirty="0"/>
              <a:t>LiDAR measures distance </a:t>
            </a:r>
          </a:p>
          <a:p>
            <a:pPr marL="0" indent="0">
              <a:buNone/>
            </a:pPr>
            <a:r>
              <a:rPr lang="en-US" b="1" dirty="0"/>
              <a:t>2. Plan Layer</a:t>
            </a:r>
          </a:p>
          <a:p>
            <a:pPr lvl="0"/>
            <a:r>
              <a:rPr lang="en-US" dirty="0"/>
              <a:t>Builds a </a:t>
            </a:r>
            <a:r>
              <a:rPr lang="en-US" b="1" dirty="0"/>
              <a:t>world model, d</a:t>
            </a:r>
            <a:r>
              <a:rPr lang="en-US" dirty="0"/>
              <a:t>ecides next action e.g. </a:t>
            </a:r>
          </a:p>
          <a:p>
            <a:pPr lvl="1"/>
            <a:r>
              <a:rPr lang="en-US" dirty="0"/>
              <a:t>“Obstacle ahead → turn left” </a:t>
            </a:r>
          </a:p>
          <a:p>
            <a:r>
              <a:rPr lang="en-US" b="1" dirty="0"/>
              <a:t>3. Act Layer</a:t>
            </a:r>
          </a:p>
          <a:p>
            <a:pPr lvl="0"/>
            <a:r>
              <a:rPr lang="en-US" dirty="0"/>
              <a:t>Executes commands via actuators e.g. Motors rotate wheels 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D30EC-2917-4A9A-93E1-AF7CE46E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F8B99-B745-4205-A21B-B1D320600D61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97DDB-C68D-4138-9C91-CFA3452D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76E8-EFE2-482C-86C9-3C57E7AA2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Sense – Plan – Act (SPA)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0CEF1-8A9E-4344-A55F-4A1BCFEF42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Real-Life Example (Self-driving car)</a:t>
            </a:r>
          </a:p>
          <a:p>
            <a:pPr lvl="1"/>
            <a:r>
              <a:rPr lang="en-US" dirty="0"/>
              <a:t>Sense → detect traffic lights </a:t>
            </a:r>
          </a:p>
          <a:p>
            <a:pPr lvl="1"/>
            <a:r>
              <a:rPr lang="en-US" dirty="0"/>
              <a:t>Plan → decide to stop </a:t>
            </a:r>
          </a:p>
          <a:p>
            <a:pPr lvl="1"/>
            <a:r>
              <a:rPr lang="en-US" dirty="0"/>
              <a:t>Act → apply brakes </a:t>
            </a:r>
          </a:p>
          <a:p>
            <a:r>
              <a:rPr lang="en-US" b="1" dirty="0"/>
              <a:t>Limitations of SPA</a:t>
            </a:r>
          </a:p>
          <a:p>
            <a:pPr lvl="0"/>
            <a:r>
              <a:rPr lang="en-US" dirty="0"/>
              <a:t>Slow in dynamic environments</a:t>
            </a:r>
          </a:p>
          <a:p>
            <a:pPr lvl="1"/>
            <a:r>
              <a:rPr lang="en-US" dirty="0"/>
              <a:t>Pure SPA is </a:t>
            </a:r>
            <a:r>
              <a:rPr lang="en-US" b="1" dirty="0"/>
              <a:t>open-loop</a:t>
            </a:r>
            <a:r>
              <a:rPr lang="en-US" dirty="0"/>
              <a:t> within each cycle. If the environment changes </a:t>
            </a:r>
            <a:r>
              <a:rPr lang="en-US" i="1" dirty="0"/>
              <a:t>while</a:t>
            </a:r>
            <a:r>
              <a:rPr lang="en-US" dirty="0"/>
              <a:t> the robot is moving between Sense and Act, the robot will execute a plan based on </a:t>
            </a:r>
            <a:r>
              <a:rPr lang="en-US" i="1" dirty="0"/>
              <a:t>stale data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F8353-E64D-448F-A24B-9A675EF82F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Heavy reliance on accurate world models </a:t>
            </a:r>
          </a:p>
          <a:p>
            <a:r>
              <a:rPr lang="en-US" dirty="0"/>
              <a:t>Sequential processing can delay response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85237-BB6A-4E39-A0DE-E19844B5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E343-9EA0-47CA-A762-C7B1484A07A5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12251-67AB-454B-B8E3-4B51A631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5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8F94-434E-459A-AF4B-26E14A391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 of Robotic Control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FEFC-47B6-4512-9368-5DCC7709BC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Classical (Deliberative) Architecture</a:t>
            </a:r>
          </a:p>
          <a:p>
            <a:pPr lvl="0"/>
            <a:r>
              <a:rPr lang="en-US" dirty="0"/>
              <a:t>Based on SPA </a:t>
            </a:r>
          </a:p>
          <a:p>
            <a:pPr lvl="0"/>
            <a:r>
              <a:rPr lang="en-US" dirty="0"/>
              <a:t>Uses </a:t>
            </a:r>
            <a:r>
              <a:rPr lang="en-US" b="1" dirty="0"/>
              <a:t>global world model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Strength: Accurate planning </a:t>
            </a:r>
          </a:p>
          <a:p>
            <a:pPr lvl="1"/>
            <a:r>
              <a:rPr lang="en-US" dirty="0"/>
              <a:t>Weakness: Slow, not reactive </a:t>
            </a:r>
          </a:p>
          <a:p>
            <a:pPr marL="0" indent="0">
              <a:buNone/>
            </a:pPr>
            <a:r>
              <a:rPr lang="en-US" b="1" dirty="0"/>
              <a:t>2. Reactive Architecture</a:t>
            </a:r>
          </a:p>
          <a:p>
            <a:pPr lvl="0"/>
            <a:r>
              <a:rPr lang="en-US" dirty="0"/>
              <a:t>Direct mapping: </a:t>
            </a:r>
            <a:r>
              <a:rPr lang="en-US" b="1" dirty="0"/>
              <a:t>Sense → Act (no planning)</a:t>
            </a:r>
            <a:r>
              <a:rPr lang="en-US" dirty="0"/>
              <a:t> </a:t>
            </a:r>
          </a:p>
          <a:p>
            <a:r>
              <a:rPr lang="en-US" dirty="0"/>
              <a:t>E.g. Obstacle detected → immediately turn </a:t>
            </a:r>
          </a:p>
          <a:p>
            <a:pPr lvl="1"/>
            <a:r>
              <a:rPr lang="en-US" dirty="0"/>
              <a:t>Strength: Fast response </a:t>
            </a:r>
          </a:p>
          <a:p>
            <a:pPr lvl="1"/>
            <a:r>
              <a:rPr lang="en-US" dirty="0"/>
              <a:t>Weakness: No long-term planning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2CA49-5ECD-4120-A545-25AD28C688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3. Hybrid Architecture</a:t>
            </a:r>
          </a:p>
          <a:p>
            <a:pPr lvl="0"/>
            <a:r>
              <a:rPr lang="en-US" dirty="0"/>
              <a:t>Combines: </a:t>
            </a:r>
          </a:p>
          <a:p>
            <a:pPr lvl="1"/>
            <a:r>
              <a:rPr lang="en-US" dirty="0"/>
              <a:t>Planning (deliberative) </a:t>
            </a:r>
          </a:p>
          <a:p>
            <a:pPr lvl="1"/>
            <a:r>
              <a:rPr lang="en-US" dirty="0"/>
              <a:t>Reaction (real-time) </a:t>
            </a:r>
          </a:p>
          <a:p>
            <a:r>
              <a:rPr lang="en-US" dirty="0"/>
              <a:t>Most modern robots use this approach </a:t>
            </a:r>
          </a:p>
          <a:p>
            <a:pPr lvl="0"/>
            <a:r>
              <a:rPr lang="en-US" b="1" dirty="0"/>
              <a:t>Deliberative Layer (SPA):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Slow, smart, global. Runs at </a:t>
            </a:r>
            <a:r>
              <a:rPr lang="en-US" b="1" dirty="0"/>
              <a:t>1-10 Hz</a:t>
            </a:r>
            <a:r>
              <a:rPr lang="en-US" dirty="0"/>
              <a:t>. Uses heavy perception (object detection, global map update).</a:t>
            </a:r>
          </a:p>
          <a:p>
            <a:pPr lvl="0"/>
            <a:r>
              <a:rPr lang="en-US" b="1" dirty="0"/>
              <a:t>Reactive Layer (Sense-Act):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Fast, dumb, local. Runs at </a:t>
            </a:r>
            <a:r>
              <a:rPr lang="en-US" b="1" dirty="0"/>
              <a:t>100-1000 Hz</a:t>
            </a:r>
            <a:r>
              <a:rPr lang="en-US" dirty="0"/>
              <a:t>. Uses direct sensor feedback (e.g., "If LIDAR front distance &lt; 0.5m, </a:t>
            </a:r>
            <a:r>
              <a:rPr lang="en-US" b="1" dirty="0"/>
              <a:t>STOP</a:t>
            </a:r>
            <a:r>
              <a:rPr lang="en-US" dirty="0"/>
              <a:t>").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EEEC3-522E-4232-80BC-0971D6F2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C6269-95DD-402F-9121-A898AC9DB1D4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EAA83-9228-4FC3-BE17-C574E5D4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6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3A22-EE47-4299-895D-1A4D4CD3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 of Robotic Sensors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6195E-0B32-498E-A749-33F7D1388B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Sensors are the </a:t>
            </a:r>
            <a:r>
              <a:rPr lang="en-US" b="1" dirty="0"/>
              <a:t>foundation of perception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A. Proprioceptive Sensors (Internal)</a:t>
            </a:r>
          </a:p>
          <a:p>
            <a:r>
              <a:rPr lang="en-US" dirty="0"/>
              <a:t>Sensors that measure the </a:t>
            </a:r>
            <a:r>
              <a:rPr lang="en-US" b="1" dirty="0"/>
              <a:t>internal state of the robot e.g.</a:t>
            </a:r>
            <a:endParaRPr lang="en-US" dirty="0"/>
          </a:p>
          <a:p>
            <a:pPr lvl="1"/>
            <a:r>
              <a:rPr lang="en-US" dirty="0"/>
              <a:t>Joint angle sensors </a:t>
            </a:r>
          </a:p>
          <a:p>
            <a:pPr lvl="1"/>
            <a:r>
              <a:rPr lang="en-US" dirty="0"/>
              <a:t>Wheel encoders </a:t>
            </a:r>
          </a:p>
          <a:p>
            <a:pPr lvl="1"/>
            <a:r>
              <a:rPr lang="en-US" dirty="0"/>
              <a:t>Gyroscopes </a:t>
            </a:r>
          </a:p>
          <a:p>
            <a:pPr lvl="1"/>
            <a:r>
              <a:rPr lang="en-US" dirty="0"/>
              <a:t>Accelerometers </a:t>
            </a:r>
          </a:p>
          <a:p>
            <a:r>
              <a:rPr lang="en-US" dirty="0"/>
              <a:t>Function - tell the robot </a:t>
            </a:r>
          </a:p>
          <a:p>
            <a:pPr lvl="1"/>
            <a:r>
              <a:rPr lang="en-US" dirty="0"/>
              <a:t>“Where am I?” </a:t>
            </a:r>
          </a:p>
          <a:p>
            <a:pPr lvl="1"/>
            <a:r>
              <a:rPr lang="en-US" dirty="0"/>
              <a:t>“How fast am I moving?” </a:t>
            </a:r>
          </a:p>
          <a:p>
            <a:pPr lvl="0"/>
            <a:r>
              <a:rPr lang="en-US" dirty="0"/>
              <a:t>E.g. a robotic arm uses encoders to know joint angles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8EE74-C98C-46BF-9F42-F6E5BF2D0D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B. Exteroceptive Sensors (External)</a:t>
            </a:r>
          </a:p>
          <a:p>
            <a:r>
              <a:rPr lang="en-US" dirty="0"/>
              <a:t>Sensors that measure the </a:t>
            </a:r>
            <a:r>
              <a:rPr lang="en-US" b="1" dirty="0"/>
              <a:t>external environment e.g.</a:t>
            </a:r>
            <a:endParaRPr lang="en-US" dirty="0"/>
          </a:p>
          <a:p>
            <a:pPr lvl="1"/>
            <a:r>
              <a:rPr lang="en-US" dirty="0"/>
              <a:t>Cameras (vision) </a:t>
            </a:r>
          </a:p>
          <a:p>
            <a:pPr lvl="1"/>
            <a:r>
              <a:rPr lang="en-US" dirty="0"/>
              <a:t>LiDAR (distance mapping) </a:t>
            </a:r>
          </a:p>
          <a:p>
            <a:pPr lvl="1"/>
            <a:r>
              <a:rPr lang="en-US" dirty="0"/>
              <a:t>Ultrasonic sensors </a:t>
            </a:r>
          </a:p>
          <a:p>
            <a:pPr lvl="1"/>
            <a:r>
              <a:rPr lang="en-US" dirty="0"/>
              <a:t>GPS </a:t>
            </a:r>
          </a:p>
          <a:p>
            <a:pPr lvl="1"/>
            <a:r>
              <a:rPr lang="en-US" dirty="0"/>
              <a:t>Infrared sensors </a:t>
            </a:r>
          </a:p>
          <a:p>
            <a:r>
              <a:rPr lang="en-US" dirty="0"/>
              <a:t>Function - tell the robot: </a:t>
            </a:r>
          </a:p>
          <a:p>
            <a:pPr lvl="1"/>
            <a:r>
              <a:rPr lang="en-US" dirty="0"/>
              <a:t>“What is around me?” </a:t>
            </a:r>
          </a:p>
          <a:p>
            <a:r>
              <a:rPr lang="en-US" dirty="0"/>
              <a:t>E.g. a drone uses GPS + camera to navigate 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E4254-E17F-47D6-B1A2-0D83427F9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0B46-C177-408B-9B04-2302B5DBAD09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D0013-4CE8-444D-A112-10FF4DE9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9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6977-7240-46B7-BC5C-97BF3CC0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Comparison of Sensor Types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1CE0D2-EC85-4488-9023-6CC978EBE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264734"/>
              </p:ext>
            </p:extLst>
          </p:nvPr>
        </p:nvGraphicFramePr>
        <p:xfrm>
          <a:off x="838200" y="1690688"/>
          <a:ext cx="10083798" cy="4532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4506">
                  <a:extLst>
                    <a:ext uri="{9D8B030D-6E8A-4147-A177-3AD203B41FA5}">
                      <a16:colId xmlns:a16="http://schemas.microsoft.com/office/drawing/2014/main" val="2761384935"/>
                    </a:ext>
                  </a:extLst>
                </a:gridCol>
                <a:gridCol w="3257508">
                  <a:extLst>
                    <a:ext uri="{9D8B030D-6E8A-4147-A177-3AD203B41FA5}">
                      <a16:colId xmlns:a16="http://schemas.microsoft.com/office/drawing/2014/main" val="280585220"/>
                    </a:ext>
                  </a:extLst>
                </a:gridCol>
                <a:gridCol w="4871784">
                  <a:extLst>
                    <a:ext uri="{9D8B030D-6E8A-4147-A177-3AD203B41FA5}">
                      <a16:colId xmlns:a16="http://schemas.microsoft.com/office/drawing/2014/main" val="1729050923"/>
                    </a:ext>
                  </a:extLst>
                </a:gridCol>
              </a:tblGrid>
              <a:tr h="53713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Property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Proprioceptive Sensors (Internal State)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Exteroceptive Sensors (External World)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8631216"/>
                  </a:ext>
                </a:extLst>
              </a:tr>
              <a:tr h="796158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What they measure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</a:rPr>
                        <a:t>Internal state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Quantities within the robot's own body.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</a:rPr>
                        <a:t>External environment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Quantities outside the robot relative to the environment.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0890172"/>
                  </a:ext>
                </a:extLst>
              </a:tr>
              <a:tr h="5292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Examples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Encoders, IMU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Camera, LiDAR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1272432354"/>
                  </a:ext>
                </a:extLst>
              </a:tr>
              <a:tr h="5292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Accuracy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Usually high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Often noisy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604358491"/>
                  </a:ext>
                </a:extLst>
              </a:tr>
              <a:tr h="5292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Role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Self-awareness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Environmental awareness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284874595"/>
                  </a:ext>
                </a:extLst>
              </a:tr>
              <a:tr h="53713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Drift Behavior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Drifts over time (errors accumulate).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>
                          <a:effectLst/>
                        </a:rPr>
                        <a:t>No Drift (errors are bounded per reading).</a:t>
                      </a:r>
                      <a:endParaRPr lang="en-US" sz="24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880701"/>
                  </a:ext>
                </a:extLst>
              </a:tr>
              <a:tr h="53713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Environmental Dependency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Unaffected by weather or lighting.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Affected by weather, lighting, and structure.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8133657"/>
                  </a:ext>
                </a:extLst>
              </a:tr>
              <a:tr h="53713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Analogy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Closing your eyes and counting steps.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Opening your eyes to look at landmarks.</a:t>
                      </a:r>
                      <a:endParaRPr lang="en-US" sz="2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3678776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6360E-8D2D-4CC4-AD91-CB90330D1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6C42-5D51-4BB3-9635-B60193BAFC9F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70C75-B6E8-4960-9FFB-BEBD95FD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66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A1AD-0344-49AF-A51F-FE32482E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Proprioceptive Sensors (The Inner Ear &amp; Muscle Sense)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C5542DB-6F66-4228-885D-FC625BEE4B0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40658303"/>
              </p:ext>
            </p:extLst>
          </p:nvPr>
        </p:nvGraphicFramePr>
        <p:xfrm>
          <a:off x="838199" y="2013108"/>
          <a:ext cx="10380134" cy="41929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4854">
                  <a:extLst>
                    <a:ext uri="{9D8B030D-6E8A-4147-A177-3AD203B41FA5}">
                      <a16:colId xmlns:a16="http://schemas.microsoft.com/office/drawing/2014/main" val="2569108493"/>
                    </a:ext>
                  </a:extLst>
                </a:gridCol>
                <a:gridCol w="2665336">
                  <a:extLst>
                    <a:ext uri="{9D8B030D-6E8A-4147-A177-3AD203B41FA5}">
                      <a16:colId xmlns:a16="http://schemas.microsoft.com/office/drawing/2014/main" val="1457219949"/>
                    </a:ext>
                  </a:extLst>
                </a:gridCol>
                <a:gridCol w="1952788">
                  <a:extLst>
                    <a:ext uri="{9D8B030D-6E8A-4147-A177-3AD203B41FA5}">
                      <a16:colId xmlns:a16="http://schemas.microsoft.com/office/drawing/2014/main" val="3097733527"/>
                    </a:ext>
                  </a:extLst>
                </a:gridCol>
                <a:gridCol w="4097156">
                  <a:extLst>
                    <a:ext uri="{9D8B030D-6E8A-4147-A177-3AD203B41FA5}">
                      <a16:colId xmlns:a16="http://schemas.microsoft.com/office/drawing/2014/main" val="1063970963"/>
                    </a:ext>
                  </a:extLst>
                </a:gridCol>
              </a:tblGrid>
              <a:tr h="43549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Sensor Type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Principle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Output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Example Use Case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extLst>
                  <a:ext uri="{0D108BD9-81ED-4DB2-BD59-A6C34878D82A}">
                    <a16:rowId xmlns:a16="http://schemas.microsoft.com/office/drawing/2014/main" val="1502018064"/>
                  </a:ext>
                </a:extLst>
              </a:tr>
              <a:tr h="1127619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Incremental Encoder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72390" marR="370205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Counts ticks/notches on a spinning motor shaft.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Wheel Revolutions -&gt; Odometry (Position Estimate).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Example: "I turned left wheel 500 ticks, right wheel 505 ticks. Therefore, I have moved forward 10cm." (Drifts ~5-10% per meter traveled).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extLst>
                  <a:ext uri="{0D108BD9-81ED-4DB2-BD59-A6C34878D82A}">
                    <a16:rowId xmlns:a16="http://schemas.microsoft.com/office/drawing/2014/main" val="3078184701"/>
                  </a:ext>
                </a:extLst>
              </a:tr>
              <a:tr h="131492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Inertial Measurement Unit (IMU)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Combines Accelerometer (linear force) + Gyroscope (angular rate).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Roll, Pitch, Yaw (Orientation).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Example: A drone must have an IMU. It senses it is tilting 15 degrees right and corrects the motor thrust before the camera even sees the horizon moving.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extLst>
                  <a:ext uri="{0D108BD9-81ED-4DB2-BD59-A6C34878D82A}">
                    <a16:rowId xmlns:a16="http://schemas.microsoft.com/office/drawing/2014/main" val="1346167041"/>
                  </a:ext>
                </a:extLst>
              </a:tr>
              <a:tr h="131492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Motor Current Sensor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Measures Amps drawn by motor.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Torque Estimation / Collision Detection.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Example: A collaborative robot arm ("</a:t>
                      </a:r>
                      <a:r>
                        <a:rPr lang="en-US" sz="2000" dirty="0" err="1">
                          <a:effectLst/>
                        </a:rPr>
                        <a:t>Cobot</a:t>
                      </a:r>
                      <a:r>
                        <a:rPr lang="en-US" sz="2000" dirty="0">
                          <a:effectLst/>
                        </a:rPr>
                        <a:t>"). If current spikes unexpectedly without a command to accelerate, the robot knows it hit a human and stops in &lt;10ms.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0401" marR="60401" marT="0" marB="0"/>
                </a:tc>
                <a:extLst>
                  <a:ext uri="{0D108BD9-81ED-4DB2-BD59-A6C34878D82A}">
                    <a16:rowId xmlns:a16="http://schemas.microsoft.com/office/drawing/2014/main" val="2810610437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7E177-DFB0-4E9C-8702-B8485DBF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BF66F-EC46-4E45-B84E-F0F57E718D2E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24087-F58C-4982-87EE-18D4133B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54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2D43-E80C-4E71-8B18-E14AA56E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Exteroceptive Sensors (The Eyes and Ears)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BE066E-70D9-4585-BF70-F262647040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58493519"/>
              </p:ext>
            </p:extLst>
          </p:nvPr>
        </p:nvGraphicFramePr>
        <p:xfrm>
          <a:off x="1043203" y="1473970"/>
          <a:ext cx="10251330" cy="4684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2010">
                  <a:extLst>
                    <a:ext uri="{9D8B030D-6E8A-4147-A177-3AD203B41FA5}">
                      <a16:colId xmlns:a16="http://schemas.microsoft.com/office/drawing/2014/main" val="3299071586"/>
                    </a:ext>
                  </a:extLst>
                </a:gridCol>
                <a:gridCol w="2170870">
                  <a:extLst>
                    <a:ext uri="{9D8B030D-6E8A-4147-A177-3AD203B41FA5}">
                      <a16:colId xmlns:a16="http://schemas.microsoft.com/office/drawing/2014/main" val="3542090477"/>
                    </a:ext>
                  </a:extLst>
                </a:gridCol>
                <a:gridCol w="1973517">
                  <a:extLst>
                    <a:ext uri="{9D8B030D-6E8A-4147-A177-3AD203B41FA5}">
                      <a16:colId xmlns:a16="http://schemas.microsoft.com/office/drawing/2014/main" val="607585443"/>
                    </a:ext>
                  </a:extLst>
                </a:gridCol>
                <a:gridCol w="4434933">
                  <a:extLst>
                    <a:ext uri="{9D8B030D-6E8A-4147-A177-3AD203B41FA5}">
                      <a16:colId xmlns:a16="http://schemas.microsoft.com/office/drawing/2014/main" val="2815967137"/>
                    </a:ext>
                  </a:extLst>
                </a:gridCol>
              </a:tblGrid>
              <a:tr h="36606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Sensor Type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Principle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Output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Example Use Case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extLst>
                  <a:ext uri="{0D108BD9-81ED-4DB2-BD59-A6C34878D82A}">
                    <a16:rowId xmlns:a16="http://schemas.microsoft.com/office/drawing/2014/main" val="985816151"/>
                  </a:ext>
                </a:extLst>
              </a:tr>
              <a:tr h="75391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Time-of-Flight (</a:t>
                      </a:r>
                      <a:r>
                        <a:rPr lang="en-US" sz="2000" b="0" dirty="0" err="1">
                          <a:effectLst/>
                        </a:rPr>
                        <a:t>ToF</a:t>
                      </a:r>
                      <a:r>
                        <a:rPr lang="en-US" sz="2000" b="0" dirty="0">
                          <a:effectLst/>
                        </a:rPr>
                        <a:t>) LIDAR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Emits laser pulse, measures time for light to return.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Point Cloud     (3D distance map).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Waymo's "Laser Bear". Creates a 360-degree, centimeter-accurate model of cars and curbs, even in pitch-black night.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extLst>
                  <a:ext uri="{0D108BD9-81ED-4DB2-BD59-A6C34878D82A}">
                    <a16:rowId xmlns:a16="http://schemas.microsoft.com/office/drawing/2014/main" val="1366551535"/>
                  </a:ext>
                </a:extLst>
              </a:tr>
              <a:tr h="114176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Monocular Camera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Captures 2D projection of 3D world via CMOS sensor.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RGB Image   (Semantic Info).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Tesla Vision. Identifies a "Yellow Traffic Light" state. Challenge: Monocular cameras inherently lack Scale. A small car close looks identical to a big car far away.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extLst>
                  <a:ext uri="{0D108BD9-81ED-4DB2-BD59-A6C34878D82A}">
                    <a16:rowId xmlns:a16="http://schemas.microsoft.com/office/drawing/2014/main" val="3086833937"/>
                  </a:ext>
                </a:extLst>
              </a:tr>
              <a:tr h="947838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Stereo Camera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Two lenses, known baseline distance. Uses Disparity          (triangulation).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RGB-Depth Image (Dense).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Boston Dynamics Spot. Navigates stairs by matching features in left/right eye to calculate precise step height. Limitation: Fails in </a:t>
                      </a:r>
                      <a:r>
                        <a:rPr lang="en-US" sz="2000" dirty="0" err="1">
                          <a:effectLst/>
                        </a:rPr>
                        <a:t>textureless</a:t>
                      </a:r>
                      <a:r>
                        <a:rPr lang="en-US" sz="2000" dirty="0">
                          <a:effectLst/>
                        </a:rPr>
                        <a:t> white walls or darkness.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extLst>
                  <a:ext uri="{0D108BD9-81ED-4DB2-BD59-A6C34878D82A}">
                    <a16:rowId xmlns:a16="http://schemas.microsoft.com/office/drawing/2014/main" val="44964536"/>
                  </a:ext>
                </a:extLst>
              </a:tr>
              <a:tr h="114176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RADAR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Emits radio waves, measures Doppler Shift                           (frequency change).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Position AND Instantaneous Velocity.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Adaptive Cruise Control. A camera might confuse a shadow for a car braking. RADAR directly measures the closing speed of the metal object ahead with 99.9% certainty in a blizzard.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116" marR="55116" marT="0" marB="0"/>
                </a:tc>
                <a:extLst>
                  <a:ext uri="{0D108BD9-81ED-4DB2-BD59-A6C34878D82A}">
                    <a16:rowId xmlns:a16="http://schemas.microsoft.com/office/drawing/2014/main" val="145685176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E7A37-65FA-47A6-ADA7-738E3879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FF95-B27C-481B-A4E4-6FD9AD86E0E5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0FEC5-11CB-48BE-940E-440F0529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9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B8E3-A15A-4474-AC38-E140E351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Evolution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322E9A-6E6E-4AFB-A4BE-3C1E136301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42513257"/>
              </p:ext>
            </p:extLst>
          </p:nvPr>
        </p:nvGraphicFramePr>
        <p:xfrm>
          <a:off x="719666" y="1690687"/>
          <a:ext cx="10515600" cy="4642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7746">
                  <a:extLst>
                    <a:ext uri="{9D8B030D-6E8A-4147-A177-3AD203B41FA5}">
                      <a16:colId xmlns:a16="http://schemas.microsoft.com/office/drawing/2014/main" val="3808343087"/>
                    </a:ext>
                  </a:extLst>
                </a:gridCol>
                <a:gridCol w="2851503">
                  <a:extLst>
                    <a:ext uri="{9D8B030D-6E8A-4147-A177-3AD203B41FA5}">
                      <a16:colId xmlns:a16="http://schemas.microsoft.com/office/drawing/2014/main" val="2494354244"/>
                    </a:ext>
                  </a:extLst>
                </a:gridCol>
                <a:gridCol w="5506351">
                  <a:extLst>
                    <a:ext uri="{9D8B030D-6E8A-4147-A177-3AD203B41FA5}">
                      <a16:colId xmlns:a16="http://schemas.microsoft.com/office/drawing/2014/main" val="2347851924"/>
                    </a:ext>
                  </a:extLst>
                </a:gridCol>
              </a:tblGrid>
              <a:tr h="31598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Era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Dominant Sensors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Limitation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1476349546"/>
                  </a:ext>
                </a:extLst>
              </a:tr>
              <a:tr h="673125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Dead Reckoning Era (1970s-80s)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Wheel Encoders, Compasses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Drift accumulation. </a:t>
                      </a:r>
                      <a:r>
                        <a:rPr lang="en-US" sz="2000" dirty="0" err="1">
                          <a:effectLst/>
                        </a:rPr>
                        <a:t>Shakey</a:t>
                      </a:r>
                      <a:r>
                        <a:rPr lang="en-US" sz="2000" dirty="0">
                          <a:effectLst/>
                        </a:rPr>
                        <a:t> the Robot got lost in corners.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449209187"/>
                  </a:ext>
                </a:extLst>
              </a:tr>
              <a:tr h="87433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Sonar Era (1980s-90s)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Ultrasonic Range Finders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Specular reflection (sound bounces off smooth walls at an angle, reporting false long distances).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446474625"/>
                  </a:ext>
                </a:extLst>
              </a:tr>
              <a:tr h="103027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LIDAR Era (2000s-2015s)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2D Scanning Laser Rangefinders (SICK, Hokuyo)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The "Gold Standard" for planar mapping (e.g., Roomba high-end models). Expensive and blind to glass.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4069020573"/>
                  </a:ext>
                </a:extLst>
              </a:tr>
              <a:tr h="87433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Visual Era (2015s-Present)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Monocular &amp; Stereo Cameras, RGB-D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Driven by deep learning. Rich semantic data but computationally heavy and poor in low-light.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4168952585"/>
                  </a:ext>
                </a:extLst>
              </a:tr>
              <a:tr h="87433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Sensor Fusion Era (Current)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IMU + Camera + LIDAR + Radar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Redundancy. Use Radar for velocity in fog, Camera for sign reading, LIDAR for precise shape.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376849993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E6FA4-FC5A-469D-84C8-DD246F53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92258-9F13-4254-8CCB-B58CBBF5A35D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5B567-2310-4AF0-92E0-82EE8235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01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D5C6-84DA-44BC-9A8C-87F4E048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1709" y="0"/>
            <a:ext cx="5469467" cy="845608"/>
          </a:xfrm>
        </p:spPr>
        <p:txBody>
          <a:bodyPr/>
          <a:lstStyle/>
          <a:p>
            <a:r>
              <a:rPr lang="en-US" b="1" dirty="0"/>
              <a:t>Sensor Fusion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BE1EE-C3E9-46DF-B699-426A60B6B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000" y="1070579"/>
            <a:ext cx="5181600" cy="31951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Combining data from multiple sensors to improve perception</a:t>
            </a:r>
          </a:p>
          <a:p>
            <a:r>
              <a:rPr lang="en-US" b="1" dirty="0"/>
              <a:t>Why Needed?</a:t>
            </a:r>
          </a:p>
          <a:p>
            <a:pPr lvl="1"/>
            <a:r>
              <a:rPr lang="en-US" dirty="0"/>
              <a:t>No single sensor is perfect </a:t>
            </a:r>
            <a:endParaRPr lang="en-US" b="1" dirty="0"/>
          </a:p>
          <a:p>
            <a:pPr lvl="0"/>
            <a:r>
              <a:rPr lang="en-US" dirty="0" err="1"/>
              <a:t>E.g</a:t>
            </a:r>
            <a:r>
              <a:rPr lang="en-US" dirty="0"/>
              <a:t> Self-driving car</a:t>
            </a:r>
          </a:p>
          <a:p>
            <a:pPr lvl="1"/>
            <a:r>
              <a:rPr lang="en-US" dirty="0"/>
              <a:t>Camera → detects objects </a:t>
            </a:r>
          </a:p>
          <a:p>
            <a:pPr lvl="1"/>
            <a:r>
              <a:rPr lang="en-US" dirty="0"/>
              <a:t>LiDAR → measures distance </a:t>
            </a:r>
          </a:p>
          <a:p>
            <a:pPr lvl="1"/>
            <a:r>
              <a:rPr lang="en-US" dirty="0"/>
              <a:t>Radar → detects speed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C27FE-BE03-4876-9540-358C7F913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3733" y="1253331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Practical Applications</a:t>
            </a:r>
          </a:p>
          <a:p>
            <a:r>
              <a:rPr lang="en-US" b="1" dirty="0"/>
              <a:t>Autonomous Vehicles</a:t>
            </a:r>
          </a:p>
          <a:p>
            <a:pPr lvl="1"/>
            <a:r>
              <a:rPr lang="en-US" dirty="0"/>
              <a:t>Use cameras, radar, LiDAR </a:t>
            </a:r>
          </a:p>
          <a:p>
            <a:pPr lvl="1"/>
            <a:r>
              <a:rPr lang="en-US" dirty="0"/>
              <a:t>Perform real-time perception and decision-making </a:t>
            </a:r>
          </a:p>
          <a:p>
            <a:r>
              <a:rPr lang="en-US" b="1" dirty="0"/>
              <a:t>Industrial Robots</a:t>
            </a:r>
          </a:p>
          <a:p>
            <a:pPr lvl="1"/>
            <a:r>
              <a:rPr lang="en-US" dirty="0"/>
              <a:t>Use force sensors and encoders for precision </a:t>
            </a:r>
          </a:p>
          <a:p>
            <a:r>
              <a:rPr lang="en-US" b="1" dirty="0"/>
              <a:t>Drones</a:t>
            </a:r>
          </a:p>
          <a:p>
            <a:pPr lvl="1"/>
            <a:r>
              <a:rPr lang="en-US" dirty="0"/>
              <a:t>Use IMU + GPS + vision for navigation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2ED39-2D47-43A6-AA78-2CE4799E9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97" y="4265687"/>
            <a:ext cx="4755045" cy="221131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A1EB23-7A85-4E4B-9AE6-71F99BFA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F9CF-071F-48D6-AB24-4F3C2608A7BF}" type="datetime1">
              <a:rPr lang="en-US" smtClean="0"/>
              <a:t>4/16/2026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BCD70-FCF0-4E5F-AF4E-BBCB7B5D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E1E61-FBD7-4C2A-8675-027A0CC8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Choosing the Right Sensor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8B1B38-3B0B-4189-8FAC-FA0A7F7B4A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39119742"/>
              </p:ext>
            </p:extLst>
          </p:nvPr>
        </p:nvGraphicFramePr>
        <p:xfrm>
          <a:off x="838200" y="1335585"/>
          <a:ext cx="10515600" cy="3953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86137366"/>
                    </a:ext>
                  </a:extLst>
                </a:gridCol>
                <a:gridCol w="2480734">
                  <a:extLst>
                    <a:ext uri="{9D8B030D-6E8A-4147-A177-3AD203B41FA5}">
                      <a16:colId xmlns:a16="http://schemas.microsoft.com/office/drawing/2014/main" val="1381141532"/>
                    </a:ext>
                  </a:extLst>
                </a:gridCol>
                <a:gridCol w="4529666">
                  <a:extLst>
                    <a:ext uri="{9D8B030D-6E8A-4147-A177-3AD203B41FA5}">
                      <a16:colId xmlns:a16="http://schemas.microsoft.com/office/drawing/2014/main" val="2333419690"/>
                    </a:ext>
                  </a:extLst>
                </a:gridCol>
              </a:tblGrid>
              <a:tr h="33679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If you need...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Best Choice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Why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126832" marT="79270" marB="79270" anchor="ctr"/>
                </a:tc>
                <a:extLst>
                  <a:ext uri="{0D108BD9-81ED-4DB2-BD59-A6C34878D82A}">
                    <a16:rowId xmlns:a16="http://schemas.microsoft.com/office/drawing/2014/main" val="3488742664"/>
                  </a:ext>
                </a:extLst>
              </a:tr>
              <a:tr h="537608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Long Range in Fog/Rain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RADAR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Radio waves penetrate water droplets.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0" marT="79270" marB="79270" anchor="ctr"/>
                </a:tc>
                <a:extLst>
                  <a:ext uri="{0D108BD9-81ED-4DB2-BD59-A6C34878D82A}">
                    <a16:rowId xmlns:a16="http://schemas.microsoft.com/office/drawing/2014/main" val="2043911780"/>
                  </a:ext>
                </a:extLst>
              </a:tr>
              <a:tr h="537608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Precise 3D Shape at Night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LIDAR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Active illumination, high angular resolution.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0" marT="79270" marB="79270" anchor="ctr"/>
                </a:tc>
                <a:extLst>
                  <a:ext uri="{0D108BD9-81ED-4DB2-BD59-A6C34878D82A}">
                    <a16:rowId xmlns:a16="http://schemas.microsoft.com/office/drawing/2014/main" val="1172700710"/>
                  </a:ext>
                </a:extLst>
              </a:tr>
              <a:tr h="537608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Read a Street Sign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Camera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Only passive visual li</a:t>
                      </a: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ght</a:t>
                      </a:r>
                      <a:r>
                        <a:rPr lang="en-US" sz="2400" dirty="0">
                          <a:effectLst/>
                        </a:rPr>
                        <a:t> carries this semantic info.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0" marT="79270" marB="79270" anchor="ctr"/>
                </a:tc>
                <a:extLst>
                  <a:ext uri="{0D108BD9-81ED-4DB2-BD59-A6C34878D82A}">
                    <a16:rowId xmlns:a16="http://schemas.microsoft.com/office/drawing/2014/main" val="3140492382"/>
                  </a:ext>
                </a:extLst>
              </a:tr>
              <a:tr h="738425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Know if the Floor is Slipping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IMU + Wheel Encoder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Compare expected motion (Encoders) to actual motion (IMU). Discrepancy = Slip.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0" marT="79270" marB="79270" anchor="ctr"/>
                </a:tc>
                <a:extLst>
                  <a:ext uri="{0D108BD9-81ED-4DB2-BD59-A6C34878D82A}">
                    <a16:rowId xmlns:a16="http://schemas.microsoft.com/office/drawing/2014/main" val="3415721932"/>
                  </a:ext>
                </a:extLst>
              </a:tr>
              <a:tr h="537608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Fast, Cheap Obstacle Stop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Ultrasonic (Sonar)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126832" marT="79270" marB="792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Excellent for short-range (0.1 - 3m) low-cost triggers.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6832" marR="0" marT="79270" marB="79270" anchor="ctr"/>
                </a:tc>
                <a:extLst>
                  <a:ext uri="{0D108BD9-81ED-4DB2-BD59-A6C34878D82A}">
                    <a16:rowId xmlns:a16="http://schemas.microsoft.com/office/drawing/2014/main" val="70558250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226E8D3-7EE8-46F9-B29F-86B241FFE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0659"/>
            <a:ext cx="65" cy="73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04704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55325-2CC3-419B-ADBC-D8511701E82B}"/>
              </a:ext>
            </a:extLst>
          </p:cNvPr>
          <p:cNvSpPr/>
          <p:nvPr/>
        </p:nvSpPr>
        <p:spPr>
          <a:xfrm>
            <a:off x="838200" y="5336235"/>
            <a:ext cx="106002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Note</a:t>
            </a:r>
            <a:r>
              <a:rPr 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 </a:t>
            </a:r>
            <a:r>
              <a:rPr lang="en-US" i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No single sensor solves perception. The art of robotics is </a:t>
            </a:r>
            <a:r>
              <a:rPr lang="en-US" b="1" i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Sensor Fusion, </a:t>
            </a:r>
            <a:r>
              <a:rPr lang="en-US" i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combining the drift-free, rich data of exteroceptive sensors with the high-speed stability of proprioceptive sensors to create a robust "Belief State" about the world.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7D9EF-12A6-4B9C-9B27-4E2D98A4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D0EF-3C9A-42B0-A557-459F6EA06E89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E77D5-0098-4662-89C1-3C02DECC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42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A9B84A-3F99-4980-8536-670924238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Robotic Sensors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22A52-B2FE-44EF-8F5E-95C57D8C5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Sensors are the primary interface between a robot and its environment. </a:t>
            </a:r>
          </a:p>
          <a:p>
            <a:r>
              <a:rPr lang="en-US" dirty="0"/>
              <a:t>They enable perception by converting </a:t>
            </a:r>
          </a:p>
          <a:p>
            <a:pPr lvl="1"/>
            <a:r>
              <a:rPr lang="en-US" dirty="0"/>
              <a:t>Physical phenomena to electrical signals</a:t>
            </a:r>
          </a:p>
          <a:p>
            <a:pPr lvl="1"/>
            <a:r>
              <a:rPr lang="en-US" dirty="0"/>
              <a:t>Electrical signals to digital data</a:t>
            </a:r>
          </a:p>
          <a:p>
            <a:r>
              <a:rPr lang="en-US" dirty="0"/>
              <a:t>Key Roles of Sensors</a:t>
            </a:r>
          </a:p>
          <a:p>
            <a:pPr lvl="1"/>
            <a:r>
              <a:rPr lang="en-US" dirty="0"/>
              <a:t>Provide state information (position, velocity, orientation) </a:t>
            </a:r>
          </a:p>
          <a:p>
            <a:pPr lvl="1"/>
            <a:r>
              <a:rPr lang="en-US" dirty="0"/>
              <a:t>Enable environment awareness (distance, obstacles, light, heat) </a:t>
            </a:r>
          </a:p>
          <a:p>
            <a:pPr lvl="1"/>
            <a:r>
              <a:rPr lang="en-US" dirty="0"/>
              <a:t>Support decision-making and control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1980F-F2CB-4F1A-9D3B-3734D9A0D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74B9-241D-4762-A89C-AE0A68E57C5F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CE9DAA-8D51-4DD5-B879-46FA8FE9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65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0D23AF-C202-4FD5-9356-5937FB0F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Encoders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7FE18B-07C0-4CD9-BCEF-BFFF0ACD80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Encoders are </a:t>
            </a:r>
            <a:r>
              <a:rPr lang="en-US" b="1" dirty="0"/>
              <a:t>proprioceptive sensors</a:t>
            </a:r>
            <a:r>
              <a:rPr lang="en-US" dirty="0"/>
              <a:t> that measure </a:t>
            </a:r>
            <a:r>
              <a:rPr lang="en-US" b="1" dirty="0"/>
              <a:t>position or rotation of joints/wheels</a:t>
            </a:r>
            <a:r>
              <a:rPr lang="en-US" dirty="0"/>
              <a:t>.</a:t>
            </a:r>
          </a:p>
          <a:p>
            <a:r>
              <a:rPr lang="en-US" b="1" dirty="0"/>
              <a:t>Types</a:t>
            </a:r>
          </a:p>
          <a:p>
            <a:pPr lvl="1"/>
            <a:r>
              <a:rPr lang="en-US" b="1" dirty="0"/>
              <a:t>Incremental encoders</a:t>
            </a:r>
            <a:r>
              <a:rPr lang="en-US" dirty="0"/>
              <a:t> → measure relative motion </a:t>
            </a:r>
          </a:p>
          <a:p>
            <a:pPr lvl="1"/>
            <a:r>
              <a:rPr lang="en-US" b="1" dirty="0"/>
              <a:t>Absolute encoders</a:t>
            </a:r>
            <a:r>
              <a:rPr lang="en-US" dirty="0"/>
              <a:t> → provide exact position </a:t>
            </a:r>
          </a:p>
          <a:p>
            <a:r>
              <a:rPr lang="en-US" b="1" dirty="0"/>
              <a:t>What They Measure</a:t>
            </a:r>
          </a:p>
          <a:p>
            <a:pPr lvl="1"/>
            <a:r>
              <a:rPr lang="en-US" dirty="0"/>
              <a:t>Angular position (θ) </a:t>
            </a:r>
          </a:p>
          <a:p>
            <a:pPr lvl="1"/>
            <a:r>
              <a:rPr lang="en-US" dirty="0"/>
              <a:t>Velocity (by differentiation) </a:t>
            </a:r>
          </a:p>
          <a:p>
            <a:pPr lvl="0"/>
            <a:r>
              <a:rPr lang="en-US" dirty="0"/>
              <a:t>E.g. A mobile robot uses wheel encoders to estimate distance traveled: </a:t>
            </a:r>
          </a:p>
          <a:p>
            <a:pPr lvl="1"/>
            <a:r>
              <a:rPr lang="en-US" dirty="0"/>
              <a:t>If wheel radius = r and rotation = θ </a:t>
            </a:r>
          </a:p>
          <a:p>
            <a:pPr lvl="1"/>
            <a:r>
              <a:rPr lang="en-US" dirty="0"/>
              <a:t>Distance = r × θ </a:t>
            </a:r>
          </a:p>
          <a:p>
            <a:r>
              <a:rPr lang="en-US" dirty="0"/>
              <a:t>Used in </a:t>
            </a:r>
            <a:r>
              <a:rPr lang="en-US" b="1" dirty="0"/>
              <a:t>odometry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5BD53B-ADCD-49C8-8948-389D315390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2551" y="1461823"/>
            <a:ext cx="2628900" cy="1743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6B9E21-CE63-403B-A646-6D796036D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426" y="1261797"/>
            <a:ext cx="2143125" cy="2143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658461-5C9E-4219-8D41-CFE9D0B8E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405" y="3404922"/>
            <a:ext cx="1999192" cy="3178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B0607D-CACD-49E7-A1B7-88859E59F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451" y="3958961"/>
            <a:ext cx="2847975" cy="16002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7EEE8-41B1-4EB3-97FF-952864BC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3E1F-68A3-43F5-8037-28383B229798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EBB482-B5A9-434C-A47C-9352BFA8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3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037E0-37C4-4B95-BF5D-F5B3B15D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C03E-D9BA-4F31-BD67-E84D75736E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Principle of Operation</a:t>
            </a:r>
            <a:br>
              <a:rPr lang="en-US" dirty="0"/>
            </a:br>
            <a:r>
              <a:rPr lang="en-US" dirty="0"/>
              <a:t>A slotted disk (code wheel) is attached to the motor shaft. An LED shines through the slots onto a photodetector. As the shaft turns, the light beam is interrupted, generating a square wave pulse train.</a:t>
            </a:r>
          </a:p>
          <a:p>
            <a:r>
              <a:rPr lang="en-US" b="1" dirty="0"/>
              <a:t>Quadrature Encoding:</a:t>
            </a:r>
            <a:r>
              <a:rPr lang="en-US" dirty="0"/>
              <a:t> Two sensors are offset slightly. This creates two signals (Channel A and Channel B) that are 90° out of phase. By checking which channel leads, the microcontroller determines direction (forward vs. reverse).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42551-F095-47DC-9827-B83AC2C681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Measurement </a:t>
            </a:r>
          </a:p>
          <a:p>
            <a:pPr lvl="1"/>
            <a:r>
              <a:rPr lang="en-US" dirty="0"/>
              <a:t>Raw measurement – integer count </a:t>
            </a:r>
            <a:r>
              <a:rPr lang="en-US" dirty="0" err="1"/>
              <a:t>e.g</a:t>
            </a:r>
            <a:r>
              <a:rPr lang="en-US" dirty="0"/>
              <a:t> 128 ticks</a:t>
            </a:r>
          </a:p>
          <a:p>
            <a:pPr lvl="1"/>
            <a:r>
              <a:rPr lang="en-US" dirty="0"/>
              <a:t>Derived measurement – angular velocity (rad/s), or linear displacement in meters</a:t>
            </a:r>
          </a:p>
          <a:p>
            <a:pPr lvl="1"/>
            <a:r>
              <a:rPr lang="en-US" dirty="0"/>
              <a:t>Data type – single value (integer per channel per time step</a:t>
            </a:r>
          </a:p>
          <a:p>
            <a:pPr lvl="1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959F3-5A22-4DCD-9A7A-482A1A8D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34B-8137-47C7-A4DE-707AAA2836B7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95927-E197-4DBD-97D1-3796B74B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35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66B7D-57D0-4BE3-A46D-08E0FB14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Noise and Error Characteristics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4D1375-6DAC-430D-8FA3-D1E219FCB78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10581721"/>
              </p:ext>
            </p:extLst>
          </p:nvPr>
        </p:nvGraphicFramePr>
        <p:xfrm>
          <a:off x="778933" y="2029837"/>
          <a:ext cx="10439400" cy="2897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7058">
                  <a:extLst>
                    <a:ext uri="{9D8B030D-6E8A-4147-A177-3AD203B41FA5}">
                      <a16:colId xmlns:a16="http://schemas.microsoft.com/office/drawing/2014/main" val="3373003571"/>
                    </a:ext>
                  </a:extLst>
                </a:gridCol>
                <a:gridCol w="2750001">
                  <a:extLst>
                    <a:ext uri="{9D8B030D-6E8A-4147-A177-3AD203B41FA5}">
                      <a16:colId xmlns:a16="http://schemas.microsoft.com/office/drawing/2014/main" val="1062431212"/>
                    </a:ext>
                  </a:extLst>
                </a:gridCol>
                <a:gridCol w="5162341">
                  <a:extLst>
                    <a:ext uri="{9D8B030D-6E8A-4147-A177-3AD203B41FA5}">
                      <a16:colId xmlns:a16="http://schemas.microsoft.com/office/drawing/2014/main" val="2245510553"/>
                    </a:ext>
                  </a:extLst>
                </a:gridCol>
              </a:tblGrid>
              <a:tr h="247415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Error Type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Description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Real-World Example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extLst>
                  <a:ext uri="{0D108BD9-81ED-4DB2-BD59-A6C34878D82A}">
                    <a16:rowId xmlns:a16="http://schemas.microsoft.com/office/drawing/2014/main" val="1603836751"/>
                  </a:ext>
                </a:extLst>
              </a:tr>
              <a:tr h="81368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Quantization Error</a:t>
                      </a:r>
                      <a:endParaRPr lang="en-US" sz="16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The smallest movement measurable is one tick.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Example: Robot moves 0.9 ticks. Sensor reports 0. Wait another millisecond, moves 0.1 tick. Sensor reports 1. Position appears to "jump" in steps.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extLst>
                  <a:ext uri="{0D108BD9-81ED-4DB2-BD59-A6C34878D82A}">
                    <a16:rowId xmlns:a16="http://schemas.microsoft.com/office/drawing/2014/main" val="2015196167"/>
                  </a:ext>
                </a:extLst>
              </a:tr>
              <a:tr h="81368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Wheel Slip</a:t>
                      </a:r>
                      <a:endParaRPr lang="en-US" sz="16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The wheel rotates but the robot doesn't move (slipping on ice or carpet).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Fatal Odometry Error: Encoders say "Moved 10 meters forward." Reality: Robot is stuck spinning tires in a mud puddle. Odometry is optimistic.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extLst>
                  <a:ext uri="{0D108BD9-81ED-4DB2-BD59-A6C34878D82A}">
                    <a16:rowId xmlns:a16="http://schemas.microsoft.com/office/drawing/2014/main" val="1757332376"/>
                  </a:ext>
                </a:extLst>
              </a:tr>
              <a:tr h="102298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Uneven Floor/Compression</a:t>
                      </a:r>
                      <a:endParaRPr lang="en-US" sz="16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The effective wheel radius changes due to load or soft tires.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Example: Robot carrying a heavy payload. Tires compress by 2mm. $R$ decreases. The robot travels less distance than the encoder count predicts.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015" marR="58015" marT="0" marB="0"/>
                </a:tc>
                <a:extLst>
                  <a:ext uri="{0D108BD9-81ED-4DB2-BD59-A6C34878D82A}">
                    <a16:rowId xmlns:a16="http://schemas.microsoft.com/office/drawing/2014/main" val="395919698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98F2F-B827-4CE2-93F5-3C7E7F91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D66F-EB41-49D6-AE54-8D47F0F8D642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96CFC-E2E6-47C3-95D9-0C0DAF0C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76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0E2E-85B0-4B94-8CC4-73096DCF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IMU (Inertial Measurement Unit)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637F5-2631-4A58-9097-0455F37B71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IMU is a combination of</a:t>
            </a:r>
          </a:p>
          <a:p>
            <a:pPr lvl="1"/>
            <a:r>
              <a:rPr lang="en-US" b="1" dirty="0"/>
              <a:t>Accelerometer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Gyroscope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(sometimes) </a:t>
            </a:r>
            <a:r>
              <a:rPr lang="en-US" b="1" dirty="0"/>
              <a:t>Magnetometer</a:t>
            </a:r>
            <a:r>
              <a:rPr lang="en-US" dirty="0"/>
              <a:t> </a:t>
            </a:r>
          </a:p>
          <a:p>
            <a:r>
              <a:rPr lang="en-US" b="1" dirty="0"/>
              <a:t>What It Measures</a:t>
            </a:r>
          </a:p>
          <a:p>
            <a:pPr lvl="1"/>
            <a:r>
              <a:rPr lang="en-US" dirty="0"/>
              <a:t>Linear acceleration </a:t>
            </a:r>
          </a:p>
          <a:p>
            <a:pPr lvl="1"/>
            <a:r>
              <a:rPr lang="en-US" dirty="0"/>
              <a:t>Angular velocity </a:t>
            </a:r>
          </a:p>
          <a:p>
            <a:pPr lvl="1"/>
            <a:r>
              <a:rPr lang="en-US" dirty="0"/>
              <a:t>Orientation (indirectly) </a:t>
            </a:r>
            <a:endParaRPr lang="en-US" b="1" dirty="0"/>
          </a:p>
          <a:p>
            <a:pPr lvl="0"/>
            <a:r>
              <a:rPr lang="en-US" dirty="0"/>
              <a:t>E.g. A drone uses IMU to maintain stability by</a:t>
            </a:r>
          </a:p>
          <a:p>
            <a:pPr lvl="1"/>
            <a:r>
              <a:rPr lang="en-US" dirty="0"/>
              <a:t>Detecting tilt and adjusts motors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EAC67B-0F1B-4A4B-A02A-733EADBBF6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48644" y="1253068"/>
            <a:ext cx="2431256" cy="24312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92E274-55C5-48AF-8DB9-170BF356D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251" y="3938324"/>
            <a:ext cx="2162175" cy="2114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CF0863-275E-4CD9-B244-C567DA01F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900" y="3212571"/>
            <a:ext cx="2143125" cy="21431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5B032-CA0F-42F5-9C0A-1DE7144F7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74DE-E8C2-454C-98FF-37FD5F0446E5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6DD771-B7A5-4B77-8FA0-41D97637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07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95DE-E910-4E5C-BFB1-43FA6469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Inertial Measurement Unit (IMU)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833E2-A05D-4445-A138-175FC58B8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371600"/>
            <a:ext cx="10658476" cy="4429125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Principle of Operation</a:t>
            </a:r>
            <a:br>
              <a:rPr lang="en-US" dirty="0"/>
            </a:br>
            <a:r>
              <a:rPr lang="en-US" dirty="0"/>
              <a:t>An IMU is a fusion of three sensor types on a single silicon chip (MEMS technology).</a:t>
            </a:r>
          </a:p>
          <a:p>
            <a:pPr lvl="0"/>
            <a:r>
              <a:rPr lang="en-US" b="1" dirty="0"/>
              <a:t>Accelerometer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Measures </a:t>
            </a:r>
            <a:r>
              <a:rPr lang="en-US" b="1" dirty="0"/>
              <a:t>linear acceleration</a:t>
            </a:r>
            <a:r>
              <a:rPr lang="en-US" dirty="0"/>
              <a:t> (including gravity vector). Works via a microscopic proof mass on a spring. When you accelerate, the mass lags, changing capacitance.</a:t>
            </a:r>
          </a:p>
          <a:p>
            <a:pPr lvl="0"/>
            <a:r>
              <a:rPr lang="en-US" b="1" dirty="0"/>
              <a:t>Gyroscope: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Measures </a:t>
            </a:r>
            <a:r>
              <a:rPr lang="en-US" b="1" dirty="0"/>
              <a:t>angular velocity</a:t>
            </a:r>
            <a:r>
              <a:rPr lang="en-US" dirty="0"/>
              <a:t> (rad/s). Works via a vibrating mass that resists rotation (Coriolis effect).</a:t>
            </a:r>
          </a:p>
          <a:p>
            <a:pPr lvl="0"/>
            <a:r>
              <a:rPr lang="en-US" b="1" dirty="0"/>
              <a:t>Magnetometer: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Measures </a:t>
            </a:r>
            <a:r>
              <a:rPr lang="en-US" b="1" dirty="0"/>
              <a:t>magnetic field strength</a:t>
            </a:r>
            <a:r>
              <a:rPr lang="en-US" dirty="0"/>
              <a:t> (Earth's North).</a:t>
            </a:r>
          </a:p>
          <a:p>
            <a:r>
              <a:rPr lang="en-US" b="1" dirty="0"/>
              <a:t>Measurement &amp; Output:</a:t>
            </a:r>
            <a:endParaRPr lang="en-US" dirty="0"/>
          </a:p>
          <a:p>
            <a:pPr lvl="1"/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Raw Measurement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9-axis vector </a:t>
            </a:r>
            <a:r>
              <a:rPr lang="en-US" altLang="en-US" sz="2600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[Ax, Ay, Az, </a:t>
            </a:r>
            <a:r>
              <a:rPr lang="en-US" altLang="en-US" sz="2600" dirty="0" err="1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Gx</a:t>
            </a:r>
            <a:r>
              <a:rPr lang="en-US" altLang="en-US" sz="2600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altLang="en-US" sz="2600" dirty="0" err="1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Gy</a:t>
            </a:r>
            <a:r>
              <a:rPr lang="en-US" altLang="en-US" sz="2600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altLang="en-US" sz="2600" dirty="0" err="1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Gz</a:t>
            </a:r>
            <a:r>
              <a:rPr lang="en-US" altLang="en-US" sz="2600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Mx, My, </a:t>
            </a:r>
            <a:r>
              <a:rPr lang="en-US" altLang="en-US" sz="2600" dirty="0" err="1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Mz</a:t>
            </a:r>
            <a:r>
              <a:rPr lang="en-US" altLang="en-US" sz="2600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0A67B-7370-4BB9-93BA-FD0CE2B9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4388-246C-49AF-A7B9-5299A33FE28B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2A5AC-247E-43C1-8299-316A62C0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2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95DE-E910-4E5C-BFB1-43FA6469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Inertial Measurement Unit (IMU)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64FDDAB-4AF2-4AD6-9DE3-1A4CD48359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78594024"/>
              </p:ext>
            </p:extLst>
          </p:nvPr>
        </p:nvGraphicFramePr>
        <p:xfrm>
          <a:off x="838201" y="1157017"/>
          <a:ext cx="10998200" cy="46437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9042">
                  <a:extLst>
                    <a:ext uri="{9D8B030D-6E8A-4147-A177-3AD203B41FA5}">
                      <a16:colId xmlns:a16="http://schemas.microsoft.com/office/drawing/2014/main" val="2183718002"/>
                    </a:ext>
                  </a:extLst>
                </a:gridCol>
                <a:gridCol w="4467877">
                  <a:extLst>
                    <a:ext uri="{9D8B030D-6E8A-4147-A177-3AD203B41FA5}">
                      <a16:colId xmlns:a16="http://schemas.microsoft.com/office/drawing/2014/main" val="2789854195"/>
                    </a:ext>
                  </a:extLst>
                </a:gridCol>
                <a:gridCol w="4911281">
                  <a:extLst>
                    <a:ext uri="{9D8B030D-6E8A-4147-A177-3AD203B41FA5}">
                      <a16:colId xmlns:a16="http://schemas.microsoft.com/office/drawing/2014/main" val="3971593481"/>
                    </a:ext>
                  </a:extLst>
                </a:gridCol>
              </a:tblGrid>
              <a:tr h="34453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Error Term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Effect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Visual Analogy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extLst>
                  <a:ext uri="{0D108BD9-81ED-4DB2-BD59-A6C34878D82A}">
                    <a16:rowId xmlns:a16="http://schemas.microsoft.com/office/drawing/2014/main" val="1218204878"/>
                  </a:ext>
                </a:extLst>
              </a:tr>
              <a:tr h="151277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Bias Offset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Constant non-zero reading when sensor is perfectly still.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Example: Gyro reads </a:t>
                      </a:r>
                      <a:r>
                        <a:rPr lang="en-US" sz="2000">
                          <a:effectLst/>
                        </a:rPr>
                        <a:t>0.05 rad/s</a:t>
                      </a:r>
                      <a:r>
                        <a:rPr lang="en-US" sz="2800">
                          <a:effectLst/>
                        </a:rPr>
                        <a:t> while sitting on a table. Integrate this for 10 seconds, robot thinks it turned 0.5 radians (~30 degrees).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extLst>
                  <a:ext uri="{0D108BD9-81ED-4DB2-BD59-A6C34878D82A}">
                    <a16:rowId xmlns:a16="http://schemas.microsoft.com/office/drawing/2014/main" val="2380810947"/>
                  </a:ext>
                </a:extLst>
              </a:tr>
              <a:tr h="825206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White Noise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High-frequency random jitter.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You can filter this out with a Low-Pass Filter without harming the signal much.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extLst>
                  <a:ext uri="{0D108BD9-81ED-4DB2-BD59-A6C34878D82A}">
                    <a16:rowId xmlns:a16="http://schemas.microsoft.com/office/drawing/2014/main" val="1682955277"/>
                  </a:ext>
                </a:extLst>
              </a:tr>
              <a:tr h="190219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Integration Drift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Integrating noisy gyro data to get angle results in error growing with Time t. Integrating noisy accel data to get position results in error growing with Time Squared </a:t>
                      </a: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(t</a:t>
                      </a:r>
                      <a:r>
                        <a:rPr lang="en-US" sz="2800" baseline="30000" dirty="0">
                          <a:effectLst/>
                        </a:rPr>
                        <a:t>2</a:t>
                      </a:r>
                      <a:r>
                        <a:rPr lang="en-US" sz="2800" dirty="0">
                          <a:effectLst/>
                        </a:rPr>
                        <a:t>)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Example: A drone flying blind on IMU-only for 60 seconds will think it is 100 meters away from its actual location due to double integration of accelerometer noise.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408" marR="57408" marT="0" marB="0"/>
                </a:tc>
                <a:extLst>
                  <a:ext uri="{0D108BD9-81ED-4DB2-BD59-A6C34878D82A}">
                    <a16:rowId xmlns:a16="http://schemas.microsoft.com/office/drawing/2014/main" val="202578466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F3CF7A8-6F36-484E-8DF0-F1683427F232}"/>
              </a:ext>
            </a:extLst>
          </p:cNvPr>
          <p:cNvSpPr/>
          <p:nvPr/>
        </p:nvSpPr>
        <p:spPr>
          <a:xfrm>
            <a:off x="508003" y="5800725"/>
            <a:ext cx="1132839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Segoe UI" panose="020B0502040204020203" pitchFamily="34" charset="0"/>
                <a:ea typeface="Arial" panose="020B0604020202020204" pitchFamily="34" charset="0"/>
              </a:rPr>
              <a:t>Example Scenario: </a:t>
            </a:r>
            <a:r>
              <a:rPr lang="en-US" sz="1600" i="1" dirty="0">
                <a:solidFill>
                  <a:srgbClr val="0F1115"/>
                </a:solidFill>
                <a:latin typeface="Segoe UI" panose="020B0502040204020203" pitchFamily="34" charset="0"/>
                <a:ea typeface="Arial" panose="020B0604020202020204" pitchFamily="34" charset="0"/>
              </a:rPr>
              <a:t>A robot vacuum uses a </a:t>
            </a:r>
            <a:r>
              <a:rPr lang="en-US" sz="1600" b="1" i="1" dirty="0">
                <a:solidFill>
                  <a:srgbClr val="0F1115"/>
                </a:solidFill>
                <a:latin typeface="Segoe UI" panose="020B0502040204020203" pitchFamily="34" charset="0"/>
                <a:ea typeface="Arial" panose="020B0604020202020204" pitchFamily="34" charset="0"/>
              </a:rPr>
              <a:t>Gyroscope</a:t>
            </a:r>
            <a:r>
              <a:rPr lang="en-US" sz="1600" i="1" dirty="0">
                <a:solidFill>
                  <a:srgbClr val="0F1115"/>
                </a:solidFill>
                <a:latin typeface="Segoe UI" panose="020B0502040204020203" pitchFamily="34" charset="0"/>
                <a:ea typeface="Arial" panose="020B0604020202020204" pitchFamily="34" charset="0"/>
              </a:rPr>
              <a:t> to maintain a straight line across the room. After 5 minutes, it has accumulated 3 degrees of drift. The previously straight stripes on the carpet become gentle curves. The robot must use a wall sensor (exteroceptive) or a floor pattern camera to "snap" its angle estimate back to reality</a:t>
            </a:r>
            <a:r>
              <a:rPr lang="en-US" i="1" dirty="0">
                <a:solidFill>
                  <a:srgbClr val="0F1115"/>
                </a:solidFill>
                <a:latin typeface="Segoe UI" panose="020B0502040204020203" pitchFamily="34" charset="0"/>
                <a:ea typeface="Arial" panose="020B0604020202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0A67B-7370-4BB9-93BA-FD0CE2B9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4388-246C-49AF-A7B9-5299A33FE28B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2A5AC-247E-43C1-8299-316A62C0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B989A-BC42-4148-83E8-D38A47DB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Ultrasonic Range Sensors (Sonar)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6BB93-7E7C-4B83-BD40-AD14C3A03A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 Ultrasonic sensors measure distance using </a:t>
            </a:r>
            <a:r>
              <a:rPr lang="en-US" b="1" dirty="0"/>
              <a:t>sound waves</a:t>
            </a:r>
            <a:r>
              <a:rPr lang="en-US" dirty="0"/>
              <a:t>.</a:t>
            </a:r>
          </a:p>
          <a:p>
            <a:r>
              <a:rPr lang="en-US" b="1" dirty="0"/>
              <a:t>Working Principle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speaker emits a high-frequency sound pulse (typically 40 kHz, inaudible to humans). The pulse travels at the speed of sound (</a:t>
            </a:r>
            <a:r>
              <a:rPr lang="en-US" dirty="0" err="1"/>
              <a:t>approx</a:t>
            </a:r>
            <a:r>
              <a:rPr lang="en-US" dirty="0"/>
              <a:t> 343 m/s), bounces off an object, and returns to a microphone. The time delay t gives distance.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Emit sound pulse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 time for echo to return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Distance is computed using d=(v × t)/2 ​ </a:t>
            </a:r>
          </a:p>
          <a:p>
            <a:r>
              <a:rPr lang="en-US" dirty="0"/>
              <a:t>Where: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 = speed of sound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 = time of flight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BE22C-9E76-410A-9CE2-5FE48240F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1340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E.g</a:t>
            </a:r>
            <a:r>
              <a:rPr lang="en-US" dirty="0"/>
              <a:t> Robot detects obstacle at 1.5 m using echo time </a:t>
            </a:r>
          </a:p>
          <a:p>
            <a:r>
              <a:rPr lang="en-US" b="1" dirty="0"/>
              <a:t>Limitations</a:t>
            </a:r>
          </a:p>
          <a:p>
            <a:r>
              <a:rPr lang="en-US" dirty="0"/>
              <a:t>Affected by: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Soft materials (absorb sound)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Angle of surface </a:t>
            </a:r>
          </a:p>
          <a:p>
            <a:r>
              <a:rPr lang="en-US" dirty="0"/>
              <a:t>Low resolution</a:t>
            </a:r>
          </a:p>
          <a:p>
            <a:r>
              <a:rPr lang="en-US" b="1" dirty="0"/>
              <a:t>Measurement &amp; Output: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Raw Measurement: Time of Flight (seconds).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Derived Measurement: Distance (meters).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Data Type: Single-Value (one distance per ping).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C1605-3657-4F01-BDD9-397881CC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8CD03-914C-4055-A0EE-B1118200F4D9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82425-0E80-47E6-9189-BDFD0CB3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7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9754-3F98-4D0D-AF58-E041A532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Sonar Noise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22D204-D245-497C-B51D-67C1251158F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17324538"/>
              </p:ext>
            </p:extLst>
          </p:nvPr>
        </p:nvGraphicFramePr>
        <p:xfrm>
          <a:off x="838200" y="1470024"/>
          <a:ext cx="10583334" cy="4140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0868">
                  <a:extLst>
                    <a:ext uri="{9D8B030D-6E8A-4147-A177-3AD203B41FA5}">
                      <a16:colId xmlns:a16="http://schemas.microsoft.com/office/drawing/2014/main" val="4052421721"/>
                    </a:ext>
                  </a:extLst>
                </a:gridCol>
                <a:gridCol w="3589866">
                  <a:extLst>
                    <a:ext uri="{9D8B030D-6E8A-4147-A177-3AD203B41FA5}">
                      <a16:colId xmlns:a16="http://schemas.microsoft.com/office/drawing/2014/main" val="308506292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4232092790"/>
                    </a:ext>
                  </a:extLst>
                </a:gridCol>
              </a:tblGrid>
              <a:tr h="232855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Challenge</a:t>
                      </a:r>
                      <a:endParaRPr lang="en-US" sz="16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Mitigation Strategy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375533846"/>
                  </a:ext>
                </a:extLst>
              </a:tr>
              <a:tr h="139713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Specular Reflection</a:t>
                      </a:r>
                      <a:endParaRPr lang="en-US" sz="16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Sound bounces off smooth surfaces like a mirror (angle of incidence = angle of reflection). If the robot is not perpendicular to the wall, the sound bounces away from the robot and never returns.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Result: Sensor reads "Max Range" (infinity). Robot thinks the path is clear and crashes into the glass wall.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1618624863"/>
                  </a:ext>
                </a:extLst>
              </a:tr>
              <a:tr h="93417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Cone Angle</a:t>
                      </a:r>
                      <a:endParaRPr lang="en-US" sz="16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The sound beam is not a laser; it's a wide cone (typically 30°).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Result: The sensor reports the closest object within the cone, not necessarily straight ahead. A chair leg at 45° may trigger a "STOP" when the path directly ahead is clear.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2529121732"/>
                  </a:ext>
                </a:extLst>
              </a:tr>
              <a:tr h="55191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Crosstalk</a:t>
                      </a:r>
                      <a:endParaRPr lang="en-US" sz="16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Robot A's ping is heard by Robot B. Robot B thinks it is its own echo.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Result: Robot B calculates a very short distance (Robot A is close) and jerks to a halt.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30100819"/>
                  </a:ext>
                </a:extLst>
              </a:tr>
              <a:tr h="93417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Temperature Dependence</a:t>
                      </a:r>
                      <a:endParaRPr lang="en-US" sz="16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Speed of sound v changes with air temperature.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Result: v = 331.3 + 0.606 °C. On a hot day (40°C), v is ~355 m/s. Using standard 343 m/s introduces a ~3.5% error in distance.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8142" marR="58142" marT="0" marB="0"/>
                </a:tc>
                <a:extLst>
                  <a:ext uri="{0D108BD9-81ED-4DB2-BD59-A6C34878D82A}">
                    <a16:rowId xmlns:a16="http://schemas.microsoft.com/office/drawing/2014/main" val="324308725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562FC99-FCE6-4E80-A193-88E3AFF9ED1C}"/>
              </a:ext>
            </a:extLst>
          </p:cNvPr>
          <p:cNvSpPr/>
          <p:nvPr/>
        </p:nvSpPr>
        <p:spPr>
          <a:xfrm>
            <a:off x="1219199" y="5694046"/>
            <a:ext cx="10066867" cy="383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Sonar is cheap and reliable for short ranges but suffers from </a:t>
            </a:r>
            <a:r>
              <a:rPr 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Specular Reflection</a:t>
            </a:r>
            <a:r>
              <a:rPr 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 and </a:t>
            </a:r>
            <a:r>
              <a:rPr 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Crosstalk</a:t>
            </a:r>
            <a:r>
              <a:rPr 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F4D90-883E-47ED-896E-1AA355B4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596F-3489-483F-B808-7CA456F83B94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66807-4928-48EB-9B1B-C7911D05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76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5B16-5D0C-4D62-ADB8-D10C26A4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Infrared (IR) Sensors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4CC8-3BC1-440A-9C0B-6F33B9E7DB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Infrared sensors use </a:t>
            </a:r>
            <a:r>
              <a:rPr lang="en-US" b="1" dirty="0"/>
              <a:t>light waves</a:t>
            </a:r>
            <a:r>
              <a:rPr lang="en-US" dirty="0"/>
              <a:t> to detect objects and distance.</a:t>
            </a:r>
          </a:p>
          <a:p>
            <a:r>
              <a:rPr lang="en-US" dirty="0"/>
              <a:t>An LED emits light (usually 850nm-950nm). A phototransistor measures the </a:t>
            </a:r>
            <a:r>
              <a:rPr lang="en-US" b="1" dirty="0"/>
              <a:t>amount of reflected light</a:t>
            </a:r>
            <a:r>
              <a:rPr lang="en-US" dirty="0"/>
              <a:t>.</a:t>
            </a:r>
          </a:p>
          <a:p>
            <a:r>
              <a:rPr lang="en-US" b="1" dirty="0"/>
              <a:t>Types</a:t>
            </a:r>
          </a:p>
          <a:p>
            <a:pPr lvl="1"/>
            <a:r>
              <a:rPr lang="en-US" dirty="0"/>
              <a:t>Reflective IR (short-range detection) </a:t>
            </a:r>
          </a:p>
          <a:p>
            <a:pPr lvl="1"/>
            <a:r>
              <a:rPr lang="en-US" dirty="0"/>
              <a:t>Thermal IR (heat sensing) </a:t>
            </a:r>
          </a:p>
          <a:p>
            <a:r>
              <a:rPr lang="en-US" b="1" dirty="0"/>
              <a:t>What They Measure</a:t>
            </a:r>
          </a:p>
          <a:p>
            <a:pPr lvl="1"/>
            <a:r>
              <a:rPr lang="en-US" dirty="0"/>
              <a:t>Proximity </a:t>
            </a:r>
          </a:p>
          <a:p>
            <a:pPr lvl="1"/>
            <a:r>
              <a:rPr lang="en-US" dirty="0"/>
              <a:t>Surface reflectivity </a:t>
            </a:r>
          </a:p>
          <a:p>
            <a:pPr lvl="0"/>
            <a:r>
              <a:rPr lang="en-US" dirty="0"/>
              <a:t>E.g. Line-following robot: </a:t>
            </a:r>
          </a:p>
          <a:p>
            <a:pPr lvl="1"/>
            <a:r>
              <a:rPr lang="en-US" dirty="0"/>
              <a:t>Black line absorbs IR, resulting to low reflection </a:t>
            </a:r>
          </a:p>
          <a:p>
            <a:pPr lvl="1"/>
            <a:r>
              <a:rPr lang="en-US" dirty="0"/>
              <a:t>White surface reflects IR giving high signal </a:t>
            </a:r>
          </a:p>
        </p:txBody>
      </p:sp>
      <p:pic>
        <p:nvPicPr>
          <p:cNvPr id="14340" name="Picture 4" descr="IR Sensors: Working Principles, Module ...">
            <a:extLst>
              <a:ext uri="{FF2B5EF4-FFF2-40B4-BE49-F238E27FC236}">
                <a16:creationId xmlns:a16="http://schemas.microsoft.com/office/drawing/2014/main" id="{248C3198-A9ED-4EE9-9A30-DCE542582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182" y="566898"/>
            <a:ext cx="3696607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384E1-E75D-471E-BF96-CE28284A5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551" y="2636998"/>
            <a:ext cx="2619375" cy="1743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1332C-1CE4-4234-A211-1F9A43E2A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847" y="4297845"/>
            <a:ext cx="3342747" cy="20570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CA6D-E530-40DA-AA53-85860408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97AB-F082-46F2-8ADA-B5B7F09BA3B7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041E8-274B-4CE9-B19C-57998769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32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5B16-5D0C-4D62-ADB8-D10C26A4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Infrared (IR) Sensors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766BF-08B5-4ED5-B7C9-566440E1E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7467" y="1825625"/>
            <a:ext cx="10456333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Type 1: IR Proximity / Break-Beam (Intensity Based)</a:t>
            </a:r>
            <a:endParaRPr lang="en-US" dirty="0"/>
          </a:p>
          <a:p>
            <a:pPr lvl="1"/>
            <a:r>
              <a:rPr lang="en-US" b="1" dirty="0"/>
              <a:t>Principle:</a:t>
            </a:r>
            <a:r>
              <a:rPr lang="en-US" dirty="0"/>
              <a:t> </a:t>
            </a:r>
            <a:r>
              <a:rPr lang="en-US" b="1" dirty="0"/>
              <a:t>Output:</a:t>
            </a:r>
            <a:r>
              <a:rPr lang="en-US" dirty="0"/>
              <a:t> Non-linear analog voltage (higher voltage = closer object).</a:t>
            </a:r>
          </a:p>
          <a:p>
            <a:r>
              <a:rPr lang="en-US" b="1" dirty="0"/>
              <a:t>Noise/Characteristic:</a:t>
            </a:r>
            <a:r>
              <a:rPr lang="en-US" dirty="0"/>
              <a:t> </a:t>
            </a:r>
            <a:r>
              <a:rPr lang="en-US" b="1" dirty="0"/>
              <a:t>Highly dependent on surface color and texture.</a:t>
            </a:r>
            <a:endParaRPr lang="en-US" dirty="0"/>
          </a:p>
          <a:p>
            <a:pPr lvl="1"/>
            <a:r>
              <a:rPr lang="en-US" i="1" dirty="0"/>
              <a:t>White wall at 10cm:</a:t>
            </a:r>
            <a:r>
              <a:rPr lang="en-US" dirty="0"/>
              <a:t> High return signal -&gt; Voltage 3.3V.</a:t>
            </a:r>
          </a:p>
          <a:p>
            <a:pPr lvl="1"/>
            <a:r>
              <a:rPr lang="en-US" i="1" dirty="0"/>
              <a:t>Black velvet at 5cm:</a:t>
            </a:r>
            <a:r>
              <a:rPr lang="en-US" dirty="0"/>
              <a:t> Low return signal -&gt; Voltage 0.5V.</a:t>
            </a:r>
          </a:p>
          <a:p>
            <a:pPr lvl="1"/>
            <a:r>
              <a:rPr lang="en-US" b="1" dirty="0"/>
              <a:t>Interpretation Trap:</a:t>
            </a:r>
            <a:r>
              <a:rPr lang="en-US" dirty="0"/>
              <a:t> Robot sees low voltage and thinks "Object is far away." Reality: "Object is very close but </a:t>
            </a:r>
            <a:r>
              <a:rPr lang="en-US" b="1" dirty="0"/>
              <a:t>black</a:t>
            </a:r>
            <a:r>
              <a:rPr lang="en-US" dirty="0"/>
              <a:t>." -&gt; </a:t>
            </a:r>
            <a:r>
              <a:rPr lang="en-US" b="1" dirty="0"/>
              <a:t>CRASH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Type 2: IR Sharp GP2Y0A Series (Triangulation Based)</a:t>
            </a:r>
            <a:endParaRPr lang="en-US" dirty="0"/>
          </a:p>
          <a:p>
            <a:pPr lvl="1"/>
            <a:r>
              <a:rPr lang="en-US" b="1" dirty="0"/>
              <a:t>Principle:</a:t>
            </a:r>
            <a:r>
              <a:rPr lang="en-US" dirty="0"/>
              <a:t> Uses a small linear CCD camera to detect the </a:t>
            </a:r>
            <a:r>
              <a:rPr lang="en-US" i="1" dirty="0"/>
              <a:t>angle</a:t>
            </a:r>
            <a:r>
              <a:rPr lang="en-US" dirty="0"/>
              <a:t> of the reflected IR spot, not the intensity. This is a </a:t>
            </a:r>
            <a:r>
              <a:rPr lang="en-US" b="1" dirty="0"/>
              <a:t>multi-value</a:t>
            </a:r>
            <a:r>
              <a:rPr lang="en-US" dirty="0"/>
              <a:t> principle internally, but outputs a </a:t>
            </a:r>
            <a:r>
              <a:rPr lang="en-US" b="1" dirty="0"/>
              <a:t>single-value</a:t>
            </a:r>
            <a:r>
              <a:rPr lang="en-US" dirty="0"/>
              <a:t> analog distance.</a:t>
            </a:r>
          </a:p>
          <a:p>
            <a:pPr lvl="1"/>
            <a:r>
              <a:rPr lang="en-US" b="1" dirty="0"/>
              <a:t>Advantage:</a:t>
            </a:r>
            <a:r>
              <a:rPr lang="en-US" dirty="0"/>
              <a:t> </a:t>
            </a:r>
            <a:r>
              <a:rPr lang="en-US" b="1" dirty="0"/>
              <a:t>Surface-agnostic</a:t>
            </a:r>
            <a:r>
              <a:rPr lang="en-US" dirty="0"/>
              <a:t>. Works equally well on black or white surfaces because it tracks the geometric position of the dot, not its brightness.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942F9-2860-49E1-B2BF-2337A180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7657-BFEC-473A-9C25-0605C753663A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CEE84-281D-4B51-895E-189A818E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85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5B16-5D0C-4D62-ADB8-D10C26A4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Infrared (IR) Sensors - Measurement &amp; 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4CC8-3BC1-440A-9C0B-6F33B9E7D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041467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 Type:</a:t>
            </a:r>
            <a:r>
              <a:rPr lang="en-US" dirty="0"/>
              <a:t> </a:t>
            </a:r>
            <a:r>
              <a:rPr lang="en-US" b="1" dirty="0"/>
              <a:t>Single-Value</a:t>
            </a:r>
            <a:r>
              <a:rPr lang="en-US" dirty="0"/>
              <a:t> (Analog Voltage representing Distance).</a:t>
            </a:r>
          </a:p>
          <a:p>
            <a:r>
              <a:rPr lang="en-US" b="1" dirty="0"/>
              <a:t>Transfer Function. </a:t>
            </a:r>
            <a:r>
              <a:rPr lang="en-US" dirty="0"/>
              <a:t> Extremely sensitive at close range (&lt;10cm), very low resolution at long range (&gt;80cm).</a:t>
            </a:r>
          </a:p>
          <a:p>
            <a:r>
              <a:rPr lang="en-US" b="1" dirty="0"/>
              <a:t>Common Use Case: Cliff Sensors</a:t>
            </a:r>
            <a:endParaRPr lang="en-US" dirty="0"/>
          </a:p>
          <a:p>
            <a:pPr lvl="1"/>
            <a:r>
              <a:rPr lang="en-US" b="1" dirty="0"/>
              <a:t>Configuration:</a:t>
            </a:r>
            <a:r>
              <a:rPr lang="en-US" dirty="0"/>
              <a:t> Two IR LEDs pointing </a:t>
            </a:r>
            <a:r>
              <a:rPr lang="en-US" b="1" dirty="0"/>
              <a:t>down</a:t>
            </a:r>
            <a:r>
              <a:rPr lang="en-US" dirty="0"/>
              <a:t> at the floor.</a:t>
            </a:r>
          </a:p>
          <a:p>
            <a:pPr lvl="1"/>
            <a:r>
              <a:rPr lang="en-US" b="1" dirty="0"/>
              <a:t>Logic:</a:t>
            </a:r>
            <a:r>
              <a:rPr lang="en-US" dirty="0"/>
              <a:t> If floor is present -&gt; Strong reflection -&gt; Robot moves forward.</a:t>
            </a:r>
          </a:p>
          <a:p>
            <a:pPr lvl="1"/>
            <a:r>
              <a:rPr lang="en-US" b="1" dirty="0"/>
              <a:t>Logic:</a:t>
            </a:r>
            <a:r>
              <a:rPr lang="en-US" dirty="0"/>
              <a:t> If floor is </a:t>
            </a:r>
            <a:r>
              <a:rPr lang="en-US" b="1" dirty="0"/>
              <a:t>absent</a:t>
            </a:r>
            <a:r>
              <a:rPr lang="en-US" dirty="0"/>
              <a:t> (Stairs) -&gt; No reflection -&gt; Robot </a:t>
            </a:r>
            <a:r>
              <a:rPr lang="en-US" b="1" dirty="0"/>
              <a:t>Emergency Stop and Reverse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Noise Source:</a:t>
            </a:r>
            <a:r>
              <a:rPr lang="en-US" dirty="0"/>
              <a:t> Sunlight. The sun is a massive IR emitter. IR sensors usually modulate the LED at 38kHz and filter the receiver to only listen to that frequency to ignore the DC offset of sunlight.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CA2CB-82DD-4340-A02D-724AC8D53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22D-4CE9-40CC-B337-180D20043404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080AF-E078-4EFD-9540-DB53D932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05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B6E9-DB3A-4B24-9182-322FA357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Sensor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9CB10-ABEB-464E-8C06-346832BF9F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/>
              <a:t>sensor measurement</a:t>
            </a:r>
            <a:r>
              <a:rPr lang="en-US" dirty="0"/>
              <a:t> is a numerical value representing a physical quantity.</a:t>
            </a:r>
          </a:p>
          <a:p>
            <a:pPr lvl="1"/>
            <a:r>
              <a:rPr lang="en-US" dirty="0"/>
              <a:t>Encoder → angle (degrees/radians) </a:t>
            </a:r>
          </a:p>
          <a:p>
            <a:pPr lvl="1"/>
            <a:r>
              <a:rPr lang="en-US" dirty="0"/>
              <a:t>IMU → acceleration (m/s²) </a:t>
            </a:r>
          </a:p>
          <a:p>
            <a:pPr lvl="1"/>
            <a:r>
              <a:rPr lang="en-US" dirty="0"/>
              <a:t>Ultrasonic → distance (meters)</a:t>
            </a:r>
          </a:p>
          <a:p>
            <a:r>
              <a:rPr lang="en-US" b="1" dirty="0"/>
              <a:t>Measurement Process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Physical quantity detected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Converted to electrical signal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Digitized into numerical value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E5E12-D022-4037-991B-F416EC0CAC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Types of Noise</a:t>
            </a:r>
          </a:p>
          <a:p>
            <a:pPr marL="0" indent="0">
              <a:buNone/>
            </a:pPr>
            <a:r>
              <a:rPr lang="en-US" b="1" dirty="0"/>
              <a:t>1. Random Noise</a:t>
            </a:r>
          </a:p>
          <a:p>
            <a:pPr lvl="1"/>
            <a:r>
              <a:rPr lang="en-US" dirty="0"/>
              <a:t>Caused by environmental fluctuations </a:t>
            </a:r>
          </a:p>
          <a:p>
            <a:pPr lvl="1"/>
            <a:r>
              <a:rPr lang="en-US" dirty="0"/>
              <a:t>E.g. small variations in IMU readings </a:t>
            </a:r>
          </a:p>
          <a:p>
            <a:pPr marL="0" indent="0">
              <a:buNone/>
            </a:pPr>
            <a:r>
              <a:rPr lang="en-US" b="1" dirty="0"/>
              <a:t>2. Systematic Noise (Bias)</a:t>
            </a:r>
          </a:p>
          <a:p>
            <a:pPr lvl="1"/>
            <a:r>
              <a:rPr lang="en-US" dirty="0"/>
              <a:t>Constant offset error </a:t>
            </a:r>
          </a:p>
          <a:p>
            <a:pPr lvl="1"/>
            <a:r>
              <a:rPr lang="en-US" dirty="0"/>
              <a:t>E.g. encoder always reads +2° </a:t>
            </a:r>
          </a:p>
          <a:p>
            <a:pPr marL="0" indent="0">
              <a:buNone/>
            </a:pPr>
            <a:r>
              <a:rPr lang="en-US" b="1" dirty="0"/>
              <a:t>3. Drift</a:t>
            </a:r>
          </a:p>
          <a:p>
            <a:pPr lvl="1"/>
            <a:r>
              <a:rPr lang="en-US" dirty="0"/>
              <a:t>Error increases over time </a:t>
            </a:r>
          </a:p>
          <a:p>
            <a:pPr lvl="1"/>
            <a:r>
              <a:rPr lang="en-US" dirty="0"/>
              <a:t>Common in IMUs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EBD54-A195-4DA4-BC1D-5C384E48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4CCD-AB77-459F-B08B-3E9B29F5E5C2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D3D42-36FA-4FA1-8588-B407BAC4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2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DCFF5-E53A-40EC-BF20-05676DF8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BEF52-D900-4410-BD51-667FF3FB43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Accuracy</a:t>
            </a:r>
          </a:p>
          <a:p>
            <a:pPr lvl="1"/>
            <a:r>
              <a:rPr lang="en-US" dirty="0"/>
              <a:t>How close measurement is to true value </a:t>
            </a:r>
          </a:p>
          <a:p>
            <a:pPr marL="0" indent="0">
              <a:buNone/>
            </a:pPr>
            <a:r>
              <a:rPr lang="en-US" b="1" dirty="0"/>
              <a:t>2. Precision</a:t>
            </a:r>
          </a:p>
          <a:p>
            <a:pPr lvl="1"/>
            <a:r>
              <a:rPr lang="en-US" dirty="0"/>
              <a:t>Repeatability of measurements  e.g. </a:t>
            </a:r>
          </a:p>
          <a:p>
            <a:pPr lvl="1"/>
            <a:r>
              <a:rPr lang="en-US" dirty="0"/>
              <a:t>Same wrong value repeatedly → precise but not accurate </a:t>
            </a:r>
          </a:p>
          <a:p>
            <a:pPr marL="0" indent="0">
              <a:buNone/>
            </a:pPr>
            <a:r>
              <a:rPr lang="en-US" b="1" dirty="0"/>
              <a:t>3. Resolution</a:t>
            </a:r>
          </a:p>
          <a:p>
            <a:pPr lvl="1"/>
            <a:r>
              <a:rPr lang="en-US" dirty="0"/>
              <a:t>Smallest detectable change </a:t>
            </a:r>
          </a:p>
          <a:p>
            <a:pPr marL="0" indent="0">
              <a:buNone/>
            </a:pPr>
            <a:r>
              <a:rPr lang="en-US" b="1" dirty="0"/>
              <a:t>4. Range</a:t>
            </a:r>
          </a:p>
          <a:p>
            <a:pPr lvl="1"/>
            <a:r>
              <a:rPr lang="en-US" dirty="0"/>
              <a:t>Minimum and maximum measurable values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ECCDA-2658-4964-8C5C-272E3E9297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5. Sensitivity</a:t>
            </a:r>
          </a:p>
          <a:p>
            <a:pPr lvl="1"/>
            <a:r>
              <a:rPr lang="en-US" dirty="0"/>
              <a:t>How much output changes with input </a:t>
            </a:r>
          </a:p>
          <a:p>
            <a:pPr marL="0" indent="0">
              <a:buNone/>
            </a:pPr>
            <a:r>
              <a:rPr lang="en-US" b="1" dirty="0"/>
              <a:t>6. Response Time</a:t>
            </a:r>
          </a:p>
          <a:p>
            <a:pPr lvl="1"/>
            <a:r>
              <a:rPr lang="en-US" dirty="0"/>
              <a:t>How quickly sensor reacts </a:t>
            </a:r>
          </a:p>
          <a:p>
            <a:pPr marL="0" indent="0">
              <a:buNone/>
            </a:pPr>
            <a:r>
              <a:rPr lang="en-US" b="1" dirty="0"/>
              <a:t>7. Reliability - </a:t>
            </a:r>
            <a:r>
              <a:rPr lang="en-US" dirty="0"/>
              <a:t>Consistency over time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2D1F2-BC21-4681-9177-965CC324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A73AF-B485-4082-958C-A3464F3AAF3F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398D5-F951-4F96-A829-5600409C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3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D939-2DAE-4EB3-918D-5AFD32E4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Single-Value vs Multi-Value Sensor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40E8-4C0B-49DD-83A5-6B486EC292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 Single-Value Sensors</a:t>
            </a:r>
          </a:p>
          <a:p>
            <a:pPr lvl="1"/>
            <a:r>
              <a:rPr lang="en-US" dirty="0"/>
              <a:t>Sensors that output one value per measurement</a:t>
            </a:r>
          </a:p>
          <a:p>
            <a:r>
              <a:rPr lang="en-US" b="1" dirty="0"/>
              <a:t>Examples</a:t>
            </a:r>
          </a:p>
          <a:p>
            <a:pPr lvl="1"/>
            <a:r>
              <a:rPr lang="en-US" dirty="0"/>
              <a:t>Ultrasonic sensor → distance </a:t>
            </a:r>
          </a:p>
          <a:p>
            <a:pPr lvl="1"/>
            <a:r>
              <a:rPr lang="en-US" dirty="0"/>
              <a:t>Temperature sensor → temperature </a:t>
            </a:r>
          </a:p>
          <a:p>
            <a:pPr lvl="1"/>
            <a:r>
              <a:rPr lang="en-US" dirty="0"/>
              <a:t>IR proximity sensor → intensity </a:t>
            </a:r>
          </a:p>
          <a:p>
            <a:r>
              <a:rPr lang="en-US" dirty="0"/>
              <a:t> </a:t>
            </a:r>
            <a:r>
              <a:rPr lang="en-US" b="1" dirty="0"/>
              <a:t>Characteristics</a:t>
            </a:r>
          </a:p>
          <a:p>
            <a:pPr lvl="1"/>
            <a:r>
              <a:rPr lang="en-US" dirty="0"/>
              <a:t>Simple processing </a:t>
            </a:r>
          </a:p>
          <a:p>
            <a:pPr lvl="1"/>
            <a:r>
              <a:rPr lang="en-US" dirty="0"/>
              <a:t>Low computational cost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11E01-AF9B-4D92-A57E-E6F83A11D6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Multi-Value Sensors</a:t>
            </a:r>
          </a:p>
          <a:p>
            <a:pPr lvl="1"/>
            <a:r>
              <a:rPr lang="en-US" dirty="0"/>
              <a:t>Sensors that produce multiple data points per measurement</a:t>
            </a:r>
          </a:p>
          <a:p>
            <a:r>
              <a:rPr lang="en-US" b="1" dirty="0"/>
              <a:t>Examples</a:t>
            </a:r>
          </a:p>
          <a:p>
            <a:pPr lvl="1"/>
            <a:r>
              <a:rPr lang="en-US" dirty="0"/>
              <a:t>Camera → image (matrix of pixels) </a:t>
            </a:r>
          </a:p>
          <a:p>
            <a:pPr lvl="1"/>
            <a:r>
              <a:rPr lang="en-US" dirty="0"/>
              <a:t>LiDAR → point cloud (thousands of points) </a:t>
            </a:r>
          </a:p>
          <a:p>
            <a:pPr lvl="1"/>
            <a:r>
              <a:rPr lang="en-US" dirty="0"/>
              <a:t>IMU → 3-axis acceleration + 3-axis rotation </a:t>
            </a:r>
          </a:p>
          <a:p>
            <a:r>
              <a:rPr lang="en-US" b="1" dirty="0"/>
              <a:t>Characteristics</a:t>
            </a:r>
          </a:p>
          <a:p>
            <a:pPr lvl="1"/>
            <a:r>
              <a:rPr lang="en-US" dirty="0"/>
              <a:t>High data volume </a:t>
            </a:r>
          </a:p>
          <a:p>
            <a:pPr lvl="1"/>
            <a:r>
              <a:rPr lang="en-US" dirty="0"/>
              <a:t>Requires advanced processing 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B016-BB78-4D2E-A16A-0BE4198E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8BB07-6C43-4401-8445-FC329696EF72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89D4D-96E1-4ECA-A69E-EDF56AB8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0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21A5-D233-4DCF-BE9A-040667F6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FE5A3F2-EFA2-4D0B-92B4-54F1E0A8E68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43951028"/>
              </p:ext>
            </p:extLst>
          </p:nvPr>
        </p:nvGraphicFramePr>
        <p:xfrm>
          <a:off x="838198" y="2065867"/>
          <a:ext cx="10388601" cy="36415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2867">
                  <a:extLst>
                    <a:ext uri="{9D8B030D-6E8A-4147-A177-3AD203B41FA5}">
                      <a16:colId xmlns:a16="http://schemas.microsoft.com/office/drawing/2014/main" val="3353893212"/>
                    </a:ext>
                  </a:extLst>
                </a:gridCol>
                <a:gridCol w="3462867">
                  <a:extLst>
                    <a:ext uri="{9D8B030D-6E8A-4147-A177-3AD203B41FA5}">
                      <a16:colId xmlns:a16="http://schemas.microsoft.com/office/drawing/2014/main" val="3803948893"/>
                    </a:ext>
                  </a:extLst>
                </a:gridCol>
                <a:gridCol w="3462867">
                  <a:extLst>
                    <a:ext uri="{9D8B030D-6E8A-4147-A177-3AD203B41FA5}">
                      <a16:colId xmlns:a16="http://schemas.microsoft.com/office/drawing/2014/main" val="2259471377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Feature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Single-Value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Multi-Value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170304336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Data output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One value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Multiple values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1050784795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Complexity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Low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High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088973589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Processing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Simple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Computationally intensive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1468251609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Example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Ultrasonic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Camera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898610087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10F8A-4423-48F7-A559-E3FC0D9B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58AE-9A36-494E-B22C-E699110618AA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C09AA-9A74-4B01-8004-60A77191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07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06DD-D73C-4ABB-A35F-B1D89CF0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867E-F5C4-45B5-9A6D-14A994A1A6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Practical Integration Example</a:t>
            </a:r>
          </a:p>
          <a:p>
            <a:r>
              <a:rPr lang="en-US" b="1" dirty="0"/>
              <a:t>Autonomous Robot</a:t>
            </a:r>
          </a:p>
          <a:p>
            <a:r>
              <a:rPr lang="en-US" dirty="0"/>
              <a:t>Uses</a:t>
            </a:r>
          </a:p>
          <a:p>
            <a:pPr lvl="1"/>
            <a:r>
              <a:rPr lang="en-US" dirty="0"/>
              <a:t>Encoders → motion tracking </a:t>
            </a:r>
          </a:p>
          <a:p>
            <a:pPr lvl="1"/>
            <a:r>
              <a:rPr lang="en-US" dirty="0"/>
              <a:t>IMU → orientation </a:t>
            </a:r>
          </a:p>
          <a:p>
            <a:pPr lvl="1"/>
            <a:r>
              <a:rPr lang="en-US" dirty="0"/>
              <a:t>Ultrasonic → obstacle detection </a:t>
            </a:r>
          </a:p>
          <a:p>
            <a:pPr lvl="1"/>
            <a:r>
              <a:rPr lang="en-US" dirty="0"/>
              <a:t>Camera → object recognition </a:t>
            </a:r>
          </a:p>
          <a:p>
            <a:r>
              <a:rPr lang="en-US" dirty="0"/>
              <a:t>Combined using </a:t>
            </a:r>
            <a:r>
              <a:rPr lang="en-US" b="1" dirty="0"/>
              <a:t>sensor fusion</a:t>
            </a:r>
            <a:r>
              <a:rPr lang="en-US" dirty="0"/>
              <a:t> for accurate perception</a:t>
            </a:r>
          </a:p>
          <a:p>
            <a:r>
              <a:rPr lang="en-US" dirty="0"/>
              <a:t>Sensors convert </a:t>
            </a:r>
            <a:r>
              <a:rPr lang="en-US" b="1" dirty="0"/>
              <a:t>physical world → digital data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97F8-9578-4350-A568-E4D3DDD24B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Common sensors: </a:t>
            </a:r>
          </a:p>
          <a:p>
            <a:pPr lvl="1"/>
            <a:r>
              <a:rPr lang="en-US" dirty="0"/>
              <a:t>Encoders (position) </a:t>
            </a:r>
          </a:p>
          <a:p>
            <a:pPr lvl="1"/>
            <a:r>
              <a:rPr lang="en-US" dirty="0"/>
              <a:t>IMU (motion/orientation) </a:t>
            </a:r>
          </a:p>
          <a:p>
            <a:pPr lvl="1"/>
            <a:r>
              <a:rPr lang="en-US" dirty="0"/>
              <a:t>Ultrasonic (distance) </a:t>
            </a:r>
          </a:p>
          <a:p>
            <a:pPr lvl="1"/>
            <a:r>
              <a:rPr lang="en-US" dirty="0"/>
              <a:t>Infrared (proximity) </a:t>
            </a:r>
          </a:p>
          <a:p>
            <a:pPr lvl="0"/>
            <a:r>
              <a:rPr lang="en-US" dirty="0"/>
              <a:t>Measurements are affected by </a:t>
            </a:r>
            <a:r>
              <a:rPr lang="en-US" b="1" dirty="0"/>
              <a:t>noise and uncertainty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Sensor quality defined by </a:t>
            </a:r>
          </a:p>
          <a:p>
            <a:pPr lvl="1"/>
            <a:r>
              <a:rPr lang="en-US" dirty="0"/>
              <a:t>Accuracy, precision, resolution, range </a:t>
            </a:r>
          </a:p>
          <a:p>
            <a:pPr lvl="0"/>
            <a:r>
              <a:rPr lang="en-US" dirty="0"/>
              <a:t>Data types</a:t>
            </a:r>
          </a:p>
          <a:p>
            <a:pPr lvl="1"/>
            <a:r>
              <a:rPr lang="en-US" b="1" dirty="0"/>
              <a:t>Single-value</a:t>
            </a:r>
            <a:r>
              <a:rPr lang="en-US" dirty="0"/>
              <a:t> → simple </a:t>
            </a:r>
          </a:p>
          <a:p>
            <a:pPr lvl="1"/>
            <a:r>
              <a:rPr lang="en-US" b="1" dirty="0"/>
              <a:t>Multi-value</a:t>
            </a:r>
            <a:r>
              <a:rPr lang="en-US" dirty="0"/>
              <a:t> → complex but rich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1ABA3-A66E-4230-8393-7BA4CF09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AC83-8CC1-4036-975E-1E7245ACF57D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EA5B9-53E5-4EFC-A838-963C82F7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3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6A92-B509-4284-9997-8DC03951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Role of the Single-Value Sensor in High-Speed Loops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9B51A-BF60-42E7-87F0-6E8C95DD5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202333" cy="4351338"/>
          </a:xfrm>
        </p:spPr>
        <p:txBody>
          <a:bodyPr>
            <a:normAutofit/>
          </a:bodyPr>
          <a:lstStyle/>
          <a:p>
            <a:r>
              <a:rPr lang="en-US" dirty="0"/>
              <a:t>Why do we care so much about these "simple" single-value sensors when we have LIDAR and Cameras?</a:t>
            </a:r>
          </a:p>
          <a:p>
            <a:r>
              <a:rPr lang="en-US" b="1" dirty="0"/>
              <a:t>Answer: Latency and Determinism.</a:t>
            </a:r>
            <a:endParaRPr lang="en-US" dirty="0"/>
          </a:p>
          <a:p>
            <a:r>
              <a:rPr lang="en-US" b="1" dirty="0"/>
              <a:t>Multi-Value Sensors (Cameras):</a:t>
            </a:r>
            <a:r>
              <a:rPr lang="en-US" dirty="0"/>
              <a:t> Processing a 1080p image to find a wall takes </a:t>
            </a:r>
            <a:r>
              <a:rPr lang="en-US" b="1" dirty="0"/>
              <a:t>20-50 milliseconds</a:t>
            </a:r>
            <a:r>
              <a:rPr lang="en-US" dirty="0"/>
              <a:t>. During this time, a fast-moving drone covers </a:t>
            </a:r>
            <a:r>
              <a:rPr lang="en-US" b="1" dirty="0"/>
              <a:t>0.5 meters</a:t>
            </a:r>
            <a:r>
              <a:rPr lang="en-US" dirty="0"/>
              <a:t>.</a:t>
            </a:r>
          </a:p>
          <a:p>
            <a:r>
              <a:rPr lang="en-US" b="1" dirty="0"/>
              <a:t>Single-Value Sensors (Encoders/IMU):</a:t>
            </a:r>
            <a:r>
              <a:rPr lang="en-US" dirty="0"/>
              <a:t> Reading an encoder count takes </a:t>
            </a:r>
            <a:r>
              <a:rPr lang="en-US" b="1" dirty="0"/>
              <a:t>1 microsecond</a:t>
            </a:r>
            <a:r>
              <a:rPr lang="en-US" dirty="0"/>
              <a:t>. Reading an IMU gyro takes </a:t>
            </a:r>
            <a:r>
              <a:rPr lang="en-US" b="1" dirty="0"/>
              <a:t>100 microseconds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3B0E6-3E4C-4882-B325-A8F24117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CEC5-A054-4D73-82E7-DC45B674C617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BAF3D-3D6C-4763-BF4D-49D71EF8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63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E03D-8EC8-40F8-9569-5EA6709F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Linking Perception to 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E050-CC02-4482-88BB-180AFF2B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robotics, sensing alone is not useful unless it leads to </a:t>
            </a:r>
            <a:r>
              <a:rPr lang="en-US" b="1" dirty="0"/>
              <a:t>action</a:t>
            </a:r>
            <a:r>
              <a:rPr lang="en-US" dirty="0"/>
              <a:t>. </a:t>
            </a:r>
          </a:p>
          <a:p>
            <a:r>
              <a:rPr lang="en-US" dirty="0"/>
              <a:t>The key challenge 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How can a robot </a:t>
            </a:r>
            <a:r>
              <a:rPr lang="en-US" b="1" dirty="0"/>
              <a:t>respond immediately and intelligently</a:t>
            </a:r>
            <a:r>
              <a:rPr lang="en-US" dirty="0"/>
              <a:t> to sensor inputs?</a:t>
            </a:r>
          </a:p>
          <a:p>
            <a:r>
              <a:rPr lang="en-US" dirty="0"/>
              <a:t>This leads to </a:t>
            </a:r>
            <a:r>
              <a:rPr lang="en-US" b="1" dirty="0"/>
              <a:t>closed-loop control systems</a:t>
            </a:r>
            <a:r>
              <a:rPr lang="en-US" dirty="0"/>
              <a:t>, where sensing continuously influences action.</a:t>
            </a:r>
          </a:p>
          <a:p>
            <a:r>
              <a:rPr lang="en-US" dirty="0"/>
              <a:t>A control system that continuously monitors its output (via sensors) and adjusts its input (actuators) to minimize the </a:t>
            </a:r>
            <a:r>
              <a:rPr lang="en-US" b="1" dirty="0"/>
              <a:t>Error</a:t>
            </a:r>
            <a:r>
              <a:rPr lang="en-US" dirty="0"/>
              <a:t> between the desired state and the current state.</a:t>
            </a:r>
          </a:p>
          <a:p>
            <a:r>
              <a:rPr lang="en-US" b="1" dirty="0"/>
              <a:t>Open-Loop (Feed-Forward):</a:t>
            </a:r>
            <a:r>
              <a:rPr lang="en-US" dirty="0"/>
              <a:t> "I will turn my wheels for exactly 500 encoder ticks to move 1 meter." (Assumes perfect model of floor, battery voltage, and motor efficiency).</a:t>
            </a:r>
          </a:p>
          <a:p>
            <a:r>
              <a:rPr lang="en-US" b="1" dirty="0"/>
              <a:t>Closed-Loop (Feedback):</a:t>
            </a:r>
            <a:r>
              <a:rPr lang="en-US" dirty="0"/>
              <a:t> "I want to be 1 meter away from the wall. My sensor says I am 0.8m away. </a:t>
            </a:r>
            <a:r>
              <a:rPr lang="en-US" b="1" dirty="0"/>
              <a:t>Error = +0.2m</a:t>
            </a:r>
            <a:r>
              <a:rPr lang="en-US" dirty="0"/>
              <a:t>. I will steer </a:t>
            </a:r>
            <a:r>
              <a:rPr lang="en-US" i="1" dirty="0"/>
              <a:t>away</a:t>
            </a:r>
            <a:r>
              <a:rPr lang="en-US" dirty="0"/>
              <a:t> from the wall until Error = 0."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55CFE7-6E5A-43E4-B901-6A19F984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D1-5803-4F1F-BA61-E8F880A53740}" type="datetime1">
              <a:rPr lang="en-US" smtClean="0"/>
              <a:t>4/16/2026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76A2E-1072-478C-A3E0-1D4C9421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49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44A4-E504-4313-A1C2-A680D8C5F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Reactive Control Loops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577C3-A67B-4EF7-BA9C-929B7ED28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reactive control loop</a:t>
            </a:r>
            <a:r>
              <a:rPr lang="en-US" dirty="0"/>
              <a:t> is a system where:</a:t>
            </a:r>
          </a:p>
          <a:p>
            <a:pPr lvl="1"/>
            <a:r>
              <a:rPr lang="en-US" dirty="0"/>
              <a:t>Sensor input is </a:t>
            </a:r>
            <a:r>
              <a:rPr lang="en-US" b="1" dirty="0"/>
              <a:t>directly mapped to actions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robot responds </a:t>
            </a:r>
            <a:r>
              <a:rPr lang="en-US" b="1" dirty="0"/>
              <a:t>in real-time</a:t>
            </a:r>
            <a:r>
              <a:rPr lang="en-US" dirty="0"/>
              <a:t> without heavy planning </a:t>
            </a:r>
          </a:p>
          <a:p>
            <a:r>
              <a:rPr lang="en-US" b="1" dirty="0"/>
              <a:t>Basic Loop Structure</a:t>
            </a:r>
          </a:p>
          <a:p>
            <a:pPr lvl="1"/>
            <a:r>
              <a:rPr lang="en-US" b="1" dirty="0"/>
              <a:t>Sense → Process → Act → Sense (continuous loop)</a:t>
            </a:r>
            <a:endParaRPr lang="en-US" dirty="0"/>
          </a:p>
          <a:p>
            <a:pPr lvl="1"/>
            <a:r>
              <a:rPr lang="en-US" dirty="0"/>
              <a:t>No global map required </a:t>
            </a:r>
          </a:p>
          <a:p>
            <a:pPr lvl="1"/>
            <a:r>
              <a:rPr lang="en-US" dirty="0"/>
              <a:t>Decisions are made </a:t>
            </a:r>
            <a:r>
              <a:rPr lang="en-US" b="1" dirty="0"/>
              <a:t>locally and instantly</a:t>
            </a:r>
            <a:r>
              <a:rPr lang="en-US" dirty="0"/>
              <a:t> </a:t>
            </a:r>
          </a:p>
          <a:p>
            <a:r>
              <a:rPr lang="en-US" b="1" dirty="0"/>
              <a:t>E.g. Obstacle Avoidance</a:t>
            </a:r>
          </a:p>
          <a:p>
            <a:pPr lvl="1"/>
            <a:r>
              <a:rPr lang="en-US" dirty="0"/>
              <a:t>Sensor detects obstacle at 0.5 m </a:t>
            </a:r>
          </a:p>
          <a:p>
            <a:pPr lvl="1"/>
            <a:r>
              <a:rPr lang="en-US" dirty="0"/>
              <a:t>Controller immediately turns robot away </a:t>
            </a:r>
          </a:p>
          <a:p>
            <a:r>
              <a:rPr lang="en-US" dirty="0"/>
              <a:t>No path planning needed, pure reaction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527C7-3D67-4C16-A317-2255D6D0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71B9-8FCF-4A52-A023-9657D01C20D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8B473-345E-4223-AAFA-9284902EC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678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3A02C-6F80-4081-81EA-CDA47B5C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Reactive Control Loops - </a:t>
            </a:r>
            <a:r>
              <a:rPr lang="en-US" dirty="0"/>
              <a:t>Key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2DF46-73AA-49AC-B35B-FE2CCBA9D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Limitations</a:t>
            </a:r>
          </a:p>
          <a:p>
            <a:pPr lvl="1"/>
            <a:r>
              <a:rPr lang="en-US" dirty="0"/>
              <a:t>No long-term planning </a:t>
            </a:r>
          </a:p>
          <a:p>
            <a:pPr lvl="1"/>
            <a:r>
              <a:rPr lang="en-US" dirty="0"/>
              <a:t>Can get stuck (e.g., oscillating between obstacles) </a:t>
            </a:r>
          </a:p>
          <a:p>
            <a:pPr lvl="1"/>
            <a:r>
              <a:rPr lang="en-US" dirty="0"/>
              <a:t>No global optimality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AE8512-EDDB-4740-938D-47721C5E3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175382"/>
              </p:ext>
            </p:extLst>
          </p:nvPr>
        </p:nvGraphicFramePr>
        <p:xfrm>
          <a:off x="838200" y="1690688"/>
          <a:ext cx="10515600" cy="23910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7271324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30955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Feature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Description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89422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Speed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Very fast response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1103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Complexity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Low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3270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Planning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Minimal or none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6237949"/>
                  </a:ext>
                </a:extLst>
              </a:tr>
              <a:tr h="1160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Robustness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Good in dynamic environments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97658558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6E907-546C-477D-9806-1C061EE2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C81-E5B7-4335-B186-1E2A86D52822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87C6D-4DDC-4E14-B258-343756D2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21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D992-0AB1-4317-B1AD-17BA7EC9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Feedback Control in Robotics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D49C4-347B-41DA-A4D3-4257864EE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Reactive systems rely on </a:t>
            </a:r>
            <a:r>
              <a:rPr lang="en-US" b="1" dirty="0"/>
              <a:t>feedback control</a:t>
            </a:r>
            <a:r>
              <a:rPr lang="en-US" dirty="0"/>
              <a:t>.</a:t>
            </a:r>
          </a:p>
          <a:p>
            <a:r>
              <a:rPr lang="en-US" b="1" dirty="0"/>
              <a:t>Concept</a:t>
            </a:r>
          </a:p>
          <a:p>
            <a:pPr lvl="1"/>
            <a:r>
              <a:rPr lang="en-US" dirty="0"/>
              <a:t>Measure current state </a:t>
            </a:r>
          </a:p>
          <a:p>
            <a:pPr lvl="1"/>
            <a:r>
              <a:rPr lang="en-US" dirty="0"/>
              <a:t>Compare with desired state </a:t>
            </a:r>
          </a:p>
          <a:p>
            <a:pPr lvl="1"/>
            <a:r>
              <a:rPr lang="en-US" dirty="0"/>
              <a:t>Adjust action to reduce error </a:t>
            </a:r>
          </a:p>
          <a:p>
            <a:r>
              <a:rPr lang="en-US" b="1" dirty="0"/>
              <a:t>E.g. Temperature Control</a:t>
            </a:r>
          </a:p>
          <a:p>
            <a:pPr lvl="1"/>
            <a:r>
              <a:rPr lang="en-US" dirty="0"/>
              <a:t>Desired = 25°C </a:t>
            </a:r>
          </a:p>
          <a:p>
            <a:pPr lvl="1"/>
            <a:r>
              <a:rPr lang="en-US" dirty="0"/>
              <a:t>Measured = 30°C </a:t>
            </a:r>
          </a:p>
          <a:p>
            <a:pPr lvl="1"/>
            <a:r>
              <a:rPr lang="en-US" dirty="0"/>
              <a:t>Action = turn cooling ON </a:t>
            </a:r>
          </a:p>
          <a:p>
            <a:r>
              <a:rPr lang="en-US" b="1" dirty="0"/>
              <a:t>Insight - </a:t>
            </a:r>
            <a:r>
              <a:rPr lang="en-US" dirty="0"/>
              <a:t>Reactive control is essentially </a:t>
            </a:r>
            <a:r>
              <a:rPr lang="en-US" b="1" dirty="0"/>
              <a:t>continuous error correction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0C3CD-669E-4C00-A2DC-E204CCAE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BCDE-87B3-404E-8D97-58C89B7A6B5C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60DDF-1636-4D6A-833C-BA6C0333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12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AE9E5-C234-4DCE-BC28-F78EE8AB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Servoing</a:t>
            </a:r>
            <a:r>
              <a:rPr lang="en-US" b="1" dirty="0"/>
              <a:t> in Robotics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ACC86-6BD4-40D4-A074-EFEB68E32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Servoing</a:t>
            </a:r>
            <a:r>
              <a:rPr lang="en-US" dirty="0"/>
              <a:t> is the use of </a:t>
            </a:r>
            <a:r>
              <a:rPr lang="en-US" b="1" dirty="0"/>
              <a:t>feedback control to achieve a desired position or state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robot continuously adjusts its motion based on sensor feedback.</a:t>
            </a:r>
          </a:p>
          <a:p>
            <a:r>
              <a:rPr lang="en-US" b="1" dirty="0"/>
              <a:t>General </a:t>
            </a:r>
            <a:r>
              <a:rPr lang="en-US" b="1" dirty="0" err="1"/>
              <a:t>Servoing</a:t>
            </a:r>
            <a:r>
              <a:rPr lang="en-US" b="1" dirty="0"/>
              <a:t> Loop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Measure current state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Compare with desired state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error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Apply control to reduce error </a:t>
            </a:r>
          </a:p>
          <a:p>
            <a:r>
              <a:rPr lang="en-US" dirty="0"/>
              <a:t> E.g. </a:t>
            </a:r>
            <a:r>
              <a:rPr lang="en-US" b="1" dirty="0"/>
              <a:t>Motor Position Control</a:t>
            </a:r>
          </a:p>
          <a:p>
            <a:pPr lvl="1"/>
            <a:r>
              <a:rPr lang="en-US" dirty="0"/>
              <a:t>Desired angle = 90° </a:t>
            </a:r>
          </a:p>
          <a:p>
            <a:pPr lvl="1"/>
            <a:r>
              <a:rPr lang="en-US" dirty="0"/>
              <a:t>Current = 70° </a:t>
            </a:r>
          </a:p>
          <a:p>
            <a:pPr lvl="1"/>
            <a:r>
              <a:rPr lang="en-US" dirty="0"/>
              <a:t>Error = 20° </a:t>
            </a:r>
          </a:p>
          <a:p>
            <a:pPr lvl="1"/>
            <a:r>
              <a:rPr lang="en-US" dirty="0"/>
              <a:t>Motor rotates until error ≈ 0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5624A-B82F-4283-A967-D8A2AC77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5DA02-FF0E-4668-8355-B7306BA838E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249C8-3BF1-4248-94EB-7A13C597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46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EA4F6C-E2D1-4436-9902-CAE508B33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 </a:t>
            </a:r>
            <a:r>
              <a:rPr lang="en-US" b="1" dirty="0" err="1"/>
              <a:t>Servoing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9C2D75-EDB2-4DE6-BFAB-38868C3753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Visual </a:t>
            </a:r>
            <a:r>
              <a:rPr lang="en-US" b="1" dirty="0" err="1"/>
              <a:t>servoing</a:t>
            </a:r>
            <a:r>
              <a:rPr lang="en-US" dirty="0"/>
              <a:t> uses </a:t>
            </a:r>
            <a:r>
              <a:rPr lang="en-US" b="1" dirty="0"/>
              <a:t>camera data (vision) as feedback</a:t>
            </a:r>
            <a:r>
              <a:rPr lang="en-US" dirty="0"/>
              <a:t> to control robot motion.</a:t>
            </a:r>
          </a:p>
          <a:p>
            <a:r>
              <a:rPr lang="en-US" b="1" dirty="0"/>
              <a:t>Types of Visual </a:t>
            </a:r>
            <a:r>
              <a:rPr lang="en-US" b="1" dirty="0" err="1"/>
              <a:t>Servoing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1. Image-Based Visual </a:t>
            </a:r>
            <a:r>
              <a:rPr lang="en-US" b="1" dirty="0" err="1"/>
              <a:t>Servoing</a:t>
            </a:r>
            <a:r>
              <a:rPr lang="en-US" b="1" dirty="0"/>
              <a:t> (IBVS)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Control based on </a:t>
            </a:r>
            <a:r>
              <a:rPr lang="en-US" b="1" dirty="0"/>
              <a:t>image features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E.g. keep an object centered in the image </a:t>
            </a:r>
          </a:p>
          <a:p>
            <a:pPr marL="0" indent="0">
              <a:buNone/>
            </a:pPr>
            <a:r>
              <a:rPr lang="en-US" b="1" dirty="0"/>
              <a:t>2. Position-Based Visual </a:t>
            </a:r>
            <a:r>
              <a:rPr lang="en-US" b="1" dirty="0" err="1"/>
              <a:t>Servoing</a:t>
            </a:r>
            <a:r>
              <a:rPr lang="en-US" b="1" dirty="0"/>
              <a:t> (PBVS)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Uses </a:t>
            </a:r>
            <a:r>
              <a:rPr lang="en-US" b="1" dirty="0"/>
              <a:t>3D position estimation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Requires camera calibration </a:t>
            </a:r>
          </a:p>
          <a:p>
            <a:r>
              <a:rPr lang="en-US" b="1" dirty="0"/>
              <a:t>Visual </a:t>
            </a:r>
            <a:r>
              <a:rPr lang="en-US" b="1" dirty="0" err="1"/>
              <a:t>Servoing</a:t>
            </a:r>
            <a:r>
              <a:rPr lang="en-US" b="1" dirty="0"/>
              <a:t> Loop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Capture image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Extract features (object position)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error (difference from desired position)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Move robot to reduce error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3B69E-EBE1-4B1B-BB23-EB1CFCD2A3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E.g. Robot Arm Tracking Object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Camera sees object slightly left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Controller moves arm left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Repeats until object is centered </a:t>
            </a:r>
          </a:p>
          <a:p>
            <a:r>
              <a:rPr lang="en-US" dirty="0"/>
              <a:t> </a:t>
            </a:r>
            <a:r>
              <a:rPr lang="en-US" b="1" dirty="0"/>
              <a:t> Advantages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 precision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Adaptive to changes </a:t>
            </a:r>
          </a:p>
          <a:p>
            <a:r>
              <a:rPr lang="en-US" dirty="0"/>
              <a:t> </a:t>
            </a:r>
            <a:r>
              <a:rPr lang="en-US" b="1" dirty="0"/>
              <a:t> Challenges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Sensitive to lighting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Requires fast image processing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Noise in vision data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8C75-72FD-418A-B6D4-A43D287B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D94E7-B6D1-4C8E-9B85-D78E208E3DDE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7E0DAB-52D8-4044-A2EE-FCB6207C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6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EC49-49B4-46B2-82C9-3695FCCB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World Model Approach (Deliberative Control)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23FA1-5DDD-40E5-A647-40E97715B4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world model approach</a:t>
            </a:r>
            <a:r>
              <a:rPr lang="en-US" dirty="0"/>
              <a:t> builds an </a:t>
            </a:r>
            <a:r>
              <a:rPr lang="en-US" b="1" dirty="0"/>
              <a:t>internal representation of the environment</a:t>
            </a:r>
            <a:r>
              <a:rPr lang="en-US" dirty="0"/>
              <a:t> and uses it for planning.</a:t>
            </a:r>
          </a:p>
          <a:p>
            <a:r>
              <a:rPr lang="en-US" b="1" dirty="0"/>
              <a:t>🔹 Process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Sense environment  - Fuse LIDAR, Camera, IMU -&gt; Build </a:t>
            </a:r>
            <a:r>
              <a:rPr lang="en-US" b="1" dirty="0"/>
              <a:t>Occupancy Grid Map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Build map (world model) - localize by Use particle filter to find robot pose within the map.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Plan actions  - Run </a:t>
            </a:r>
            <a:r>
              <a:rPr lang="en-US" b="1" dirty="0"/>
              <a:t>A</a:t>
            </a:r>
            <a:r>
              <a:rPr lang="en-US" dirty="0"/>
              <a:t>* or </a:t>
            </a:r>
            <a:r>
              <a:rPr lang="en-US" b="1" dirty="0"/>
              <a:t>RRT</a:t>
            </a:r>
            <a:r>
              <a:rPr lang="en-US" dirty="0"/>
              <a:t> algorithm on the map to find global path to goal.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Execute  - Act by Execute path using a low-level PID controller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998FC-1E77-4F21-BB69-E69E9A384B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E.g.  Autonomous Navigation</a:t>
            </a:r>
          </a:p>
          <a:p>
            <a:pPr lvl="1"/>
            <a:r>
              <a:rPr lang="en-US" dirty="0"/>
              <a:t>Robot builds a map of a building </a:t>
            </a:r>
          </a:p>
          <a:p>
            <a:pPr lvl="1"/>
            <a:r>
              <a:rPr lang="en-US" dirty="0"/>
              <a:t>Plans shortest path </a:t>
            </a:r>
          </a:p>
          <a:p>
            <a:pPr lvl="1"/>
            <a:r>
              <a:rPr lang="en-US" dirty="0"/>
              <a:t>Follows planned route </a:t>
            </a:r>
          </a:p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Global optimization </a:t>
            </a:r>
          </a:p>
          <a:p>
            <a:pPr lvl="1"/>
            <a:r>
              <a:rPr lang="en-US" dirty="0"/>
              <a:t>Intelligent decision-making </a:t>
            </a:r>
          </a:p>
          <a:p>
            <a:r>
              <a:rPr lang="en-US" b="1" dirty="0"/>
              <a:t>Limitations</a:t>
            </a:r>
          </a:p>
          <a:p>
            <a:pPr lvl="1"/>
            <a:r>
              <a:rPr lang="en-US" dirty="0"/>
              <a:t>Computationally expensive to update world model</a:t>
            </a:r>
          </a:p>
          <a:p>
            <a:pPr lvl="1"/>
            <a:r>
              <a:rPr lang="en-US" dirty="0"/>
              <a:t>Slow in dynamic environments </a:t>
            </a:r>
          </a:p>
          <a:p>
            <a:pPr lvl="1"/>
            <a:r>
              <a:rPr lang="en-US" dirty="0"/>
              <a:t>Requires accurate models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2B131-DB29-463C-9B24-C864B0A2E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2AD3-BB2D-4C1C-8B48-FF2441EDAAE5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6F9D7-D9DF-4412-8D8F-820CA8EA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7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F1453A-4271-49CD-B831-5B7931FD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model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824C1-4C0F-4F57-BAB4-B252281B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Google's Waymo (Autonomous Vehicle)</a:t>
            </a:r>
            <a:endParaRPr lang="en-US" dirty="0"/>
          </a:p>
          <a:p>
            <a:r>
              <a:rPr lang="en-US" b="1" dirty="0"/>
              <a:t>World Model:</a:t>
            </a:r>
            <a:r>
              <a:rPr lang="en-US" dirty="0"/>
              <a:t> High-Definition 3D Map containing lane lines, stop sign locations, and curb heights down to the centimeter.</a:t>
            </a:r>
          </a:p>
          <a:p>
            <a:r>
              <a:rPr lang="en-US" b="1" dirty="0"/>
              <a:t>Action:</a:t>
            </a:r>
            <a:r>
              <a:rPr lang="en-US" dirty="0"/>
              <a:t> The car follows the map precisely. It knows there is a stop sign at GPS coordinate X even if the camera is temporarily blinded by sun glare. </a:t>
            </a:r>
            <a:r>
              <a:rPr lang="en-US" i="1" dirty="0"/>
              <a:t>This is the gold standard for structured environments.</a:t>
            </a:r>
            <a:endParaRPr lang="en-US" dirty="0"/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24590-75FB-4D71-9E5D-07041CB3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384D-B00D-4981-8EC9-31852F11AD0C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552742-CE98-42C5-A4FD-C05EBB574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10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612E-5139-4233-9E3E-9A37AF34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Behavior-Based Approach (Reactive Robotics)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AEE19-B2B1-43DB-B805-E5A4CF30B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690688"/>
            <a:ext cx="5714997" cy="466566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behavior-based system</a:t>
            </a:r>
            <a:r>
              <a:rPr lang="en-US" dirty="0"/>
              <a:t> uses </a:t>
            </a:r>
            <a:r>
              <a:rPr lang="en-US" b="1" dirty="0"/>
              <a:t>multiple simple behaviors</a:t>
            </a:r>
            <a:r>
              <a:rPr lang="en-US" dirty="0"/>
              <a:t> that directly map sensing to action.</a:t>
            </a:r>
          </a:p>
          <a:p>
            <a:pPr lvl="1"/>
            <a:r>
              <a:rPr lang="en-US" sz="3200" dirty="0"/>
              <a:t>the robot uses </a:t>
            </a:r>
            <a:r>
              <a:rPr lang="en-US" sz="3200" b="1" dirty="0"/>
              <a:t>Behaviors, </a:t>
            </a:r>
            <a:r>
              <a:rPr lang="en-US" sz="3200" dirty="0"/>
              <a:t>tight, hardcoded loops connecting specific sensors to specific actuators. </a:t>
            </a:r>
          </a:p>
          <a:p>
            <a:r>
              <a:rPr lang="en-US" b="1" dirty="0"/>
              <a:t>Examples of Behaviors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Avoid obstacle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Follow wall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Move forward </a:t>
            </a:r>
          </a:p>
          <a:p>
            <a:r>
              <a:rPr lang="en-US" b="1" dirty="0"/>
              <a:t>How It Works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Each behavior produces an action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System combines behaviors </a:t>
            </a:r>
          </a:p>
          <a:p>
            <a:r>
              <a:rPr lang="en-US" b="1" dirty="0"/>
              <a:t>E.g. Mobile Robot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If obstacle detected → avoid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Else → move forward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87AC0-8BE2-4970-8A61-682277643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94867" cy="435133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Key Idea (</a:t>
            </a:r>
            <a:r>
              <a:rPr lang="en-US" b="1" dirty="0" err="1"/>
              <a:t>Subsumption</a:t>
            </a:r>
            <a:r>
              <a:rPr lang="en-US" b="1" dirty="0"/>
              <a:t> Architecture)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Higher-priority behaviors override lower ones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 "Obstacle Avoid" behavior can </a:t>
            </a:r>
            <a:r>
              <a:rPr lang="en-US" b="1" dirty="0"/>
              <a:t>subsume</a:t>
            </a:r>
            <a:r>
              <a:rPr lang="en-US" dirty="0"/>
              <a:t> (override) the output of the "Wall Follow" behavior by intercepting the motor command </a:t>
            </a:r>
            <a:r>
              <a:rPr lang="en-US" dirty="0" err="1"/>
              <a:t>signal</a:t>
            </a:r>
            <a:r>
              <a:rPr lang="en-US" b="1" dirty="0" err="1"/>
              <a:t>Advantages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Fast and robust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Works well in dynamic environments </a:t>
            </a:r>
          </a:p>
          <a:p>
            <a:r>
              <a:rPr lang="en-US" b="1" dirty="0"/>
              <a:t>Limitations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Hard to design complex behaviors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 global planning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Can produce unpredictable results </a:t>
            </a:r>
          </a:p>
          <a:p>
            <a:r>
              <a:rPr lang="en-US" b="1" dirty="0"/>
              <a:t>E.g.  iRobot Roomba (Early Generations)</a:t>
            </a:r>
            <a:endParaRPr lang="en-US" dirty="0"/>
          </a:p>
          <a:p>
            <a:pPr lvl="1"/>
            <a:r>
              <a:rPr lang="en-US" dirty="0"/>
              <a:t>No map of the room. No knowledge of where it has been.</a:t>
            </a:r>
          </a:p>
          <a:p>
            <a:pPr lvl="1"/>
            <a:r>
              <a:rPr lang="en-US" b="1" dirty="0"/>
              <a:t>Behaviors:</a:t>
            </a:r>
            <a:r>
              <a:rPr lang="en-US" dirty="0"/>
              <a:t> Spiral Clean, Wall Follow, Random Bounce, Cliff Avoid.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 Statistically covers the floor after enough time. Incredibly robust to being picked up and moved (it doesn't care, it has no map to break).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F9497-72D4-485C-BCB7-9E4D4544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AFF8-0BDB-4981-8583-7EF0E1E86FCA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D9296-12C6-43FF-9C93-8AB912F0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2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1778B3-36AC-4832-A149-7726455D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World Model vs Behavior-Based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7ABC39F-920E-451A-A8BB-6176C31D5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1291765"/>
              </p:ext>
            </p:extLst>
          </p:nvPr>
        </p:nvGraphicFramePr>
        <p:xfrm>
          <a:off x="584202" y="1560735"/>
          <a:ext cx="10668000" cy="43048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3931">
                  <a:extLst>
                    <a:ext uri="{9D8B030D-6E8A-4147-A177-3AD203B41FA5}">
                      <a16:colId xmlns:a16="http://schemas.microsoft.com/office/drawing/2014/main" val="2184233533"/>
                    </a:ext>
                  </a:extLst>
                </a:gridCol>
                <a:gridCol w="4428069">
                  <a:extLst>
                    <a:ext uri="{9D8B030D-6E8A-4147-A177-3AD203B41FA5}">
                      <a16:colId xmlns:a16="http://schemas.microsoft.com/office/drawing/2014/main" val="158244064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395432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Feature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World Model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Behavior-Based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9999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Planning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Global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Local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395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Speed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Slow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Fast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102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Complexity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High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Moderate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52425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Adaptability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Low in dynamic environments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High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4026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Example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Path planning robot </a:t>
                      </a:r>
                      <a:r>
                        <a:rPr lang="en-US" sz="2400" b="1" dirty="0">
                          <a:effectLst/>
                          <a:latin typeface="quote-cjk-patch"/>
                        </a:rPr>
                        <a:t>Navigation:</a:t>
                      </a:r>
                      <a:r>
                        <a:rPr lang="en-US" sz="2400" b="0" dirty="0">
                          <a:effectLst/>
                          <a:latin typeface="quote-cjk-patch"/>
                        </a:rPr>
                        <a:t> Finding the shortest path.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Obstacle avoidance robot </a:t>
                      </a:r>
                      <a:r>
                        <a:rPr lang="en-US" sz="2400" b="1" dirty="0">
                          <a:effectLst/>
                          <a:latin typeface="quote-cjk-patch"/>
                        </a:rPr>
                        <a:t>Survival:</a:t>
                      </a:r>
                      <a:r>
                        <a:rPr lang="en-US" sz="2400" b="0" dirty="0">
                          <a:effectLst/>
                          <a:latin typeface="quote-cjk-patch"/>
                        </a:rPr>
                        <a:t> Not hitting things, balancing.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3181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quote-cjk-patch"/>
                        </a:rPr>
                        <a:t>Core Philosophy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quote-cjk-patch"/>
                        </a:rPr>
                        <a:t>Representation, Reasoning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quote-cjk-patch"/>
                        </a:rPr>
                        <a:t>Situatedness, Embodiment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833648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quote-cjk-patch"/>
                        </a:rPr>
                        <a:t>Reaction Time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quote-cjk-patch"/>
                        </a:rPr>
                        <a:t>~100ms - 1s+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quote-cjk-patch"/>
                        </a:rPr>
                        <a:t>~1ms - 100ms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283411218"/>
                  </a:ext>
                </a:extLst>
              </a:tr>
            </a:tbl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0EB7AAF-5C11-48C0-A053-D4DBD6E7A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0B54-6222-4160-8B2D-019B1982E790}" type="datetime1">
              <a:rPr lang="en-US" smtClean="0"/>
              <a:t>4/16/2026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E5BC73E-E533-448D-ADF6-2A7F773E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852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F14A37-5387-4F1E-A24D-DF4D6872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Hybrid Approach (Modern Systems)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533C6D-4D5E-43B8-9B08-C35AA43FCF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Combines:</a:t>
            </a:r>
          </a:p>
          <a:p>
            <a:pPr lvl="1"/>
            <a:r>
              <a:rPr lang="en-US" dirty="0"/>
              <a:t>Deliberative planning (world model) </a:t>
            </a:r>
          </a:p>
          <a:p>
            <a:pPr lvl="1"/>
            <a:r>
              <a:rPr lang="en-US" dirty="0"/>
              <a:t>Reactive control (behaviors) </a:t>
            </a:r>
          </a:p>
          <a:p>
            <a:r>
              <a:rPr lang="en-US" b="1" dirty="0"/>
              <a:t>E.g. Self-Driving Car</a:t>
            </a:r>
          </a:p>
          <a:p>
            <a:pPr lvl="1"/>
            <a:r>
              <a:rPr lang="en-US" dirty="0"/>
              <a:t>Global planner → route to destination </a:t>
            </a:r>
          </a:p>
          <a:p>
            <a:pPr lvl="1"/>
            <a:r>
              <a:rPr lang="en-US" dirty="0"/>
              <a:t>Reactive system → avoid pedestrians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98653-CE58-4006-8C2E-364D9CC1E1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Integrated Example</a:t>
            </a:r>
          </a:p>
          <a:p>
            <a:r>
              <a:rPr lang="en-US" dirty="0"/>
              <a:t>Warehouse Robot</a:t>
            </a:r>
          </a:p>
          <a:p>
            <a:pPr lvl="1"/>
            <a:r>
              <a:rPr lang="en-US" b="1" dirty="0"/>
              <a:t>Reactive Layer - </a:t>
            </a:r>
            <a:r>
              <a:rPr lang="en-US" dirty="0"/>
              <a:t>Avoid obstacles </a:t>
            </a:r>
          </a:p>
          <a:p>
            <a:pPr lvl="1"/>
            <a:r>
              <a:rPr lang="en-US" b="1" dirty="0" err="1"/>
              <a:t>Servoing</a:t>
            </a:r>
            <a:r>
              <a:rPr lang="en-US" b="1" dirty="0"/>
              <a:t> - </a:t>
            </a:r>
            <a:r>
              <a:rPr lang="en-US" dirty="0"/>
              <a:t>Align with shelf using vision </a:t>
            </a:r>
          </a:p>
          <a:p>
            <a:pPr lvl="1"/>
            <a:r>
              <a:rPr lang="en-US" b="1" dirty="0"/>
              <a:t>World Model - </a:t>
            </a:r>
            <a:r>
              <a:rPr lang="en-US" dirty="0"/>
              <a:t>Plan route to storage location </a:t>
            </a:r>
          </a:p>
          <a:p>
            <a:r>
              <a:rPr lang="en-US" dirty="0"/>
              <a:t>All systems work together</a:t>
            </a:r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8A380-FBF9-48FC-9054-FFC7316D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176C-0CC2-4A62-84EE-C2AA957E9AE1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0646D7-FB9D-4CE5-8890-211C6FB4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7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B2F0EB-A5DB-40A2-8205-23D39912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Hybrid Approach (Modern Systems)</a:t>
            </a: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0E9637C-BEC9-41A9-A851-A0C36F695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3101"/>
              </p:ext>
            </p:extLst>
          </p:nvPr>
        </p:nvGraphicFramePr>
        <p:xfrm>
          <a:off x="838197" y="1739145"/>
          <a:ext cx="10655299" cy="1949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9931">
                  <a:extLst>
                    <a:ext uri="{9D8B030D-6E8A-4147-A177-3AD203B41FA5}">
                      <a16:colId xmlns:a16="http://schemas.microsoft.com/office/drawing/2014/main" val="2965536046"/>
                    </a:ext>
                  </a:extLst>
                </a:gridCol>
                <a:gridCol w="1690092">
                  <a:extLst>
                    <a:ext uri="{9D8B030D-6E8A-4147-A177-3AD203B41FA5}">
                      <a16:colId xmlns:a16="http://schemas.microsoft.com/office/drawing/2014/main" val="794664714"/>
                    </a:ext>
                  </a:extLst>
                </a:gridCol>
                <a:gridCol w="3193156">
                  <a:extLst>
                    <a:ext uri="{9D8B030D-6E8A-4147-A177-3AD203B41FA5}">
                      <a16:colId xmlns:a16="http://schemas.microsoft.com/office/drawing/2014/main" val="2346688285"/>
                    </a:ext>
                  </a:extLst>
                </a:gridCol>
                <a:gridCol w="2131060">
                  <a:extLst>
                    <a:ext uri="{9D8B030D-6E8A-4147-A177-3AD203B41FA5}">
                      <a16:colId xmlns:a16="http://schemas.microsoft.com/office/drawing/2014/main" val="1257007072"/>
                    </a:ext>
                  </a:extLst>
                </a:gridCol>
                <a:gridCol w="2131060">
                  <a:extLst>
                    <a:ext uri="{9D8B030D-6E8A-4147-A177-3AD203B41FA5}">
                      <a16:colId xmlns:a16="http://schemas.microsoft.com/office/drawing/2014/main" val="1185491601"/>
                    </a:ext>
                  </a:extLst>
                </a:gridCol>
              </a:tblGrid>
              <a:tr h="52906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Layer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Type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Function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Cycle Time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Example Tech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3375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Deliberative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World Model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Global Planning, Localization, Task Allocation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Minutes / Seconds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SLAM Graph Optimization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672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Sequencing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Hybrid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Executing the plan step-by-step (e.g., "Go through door")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Seconds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State Machine (SMACH)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395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Reactive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Behavior-Based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Collision avoidance, motor control, visual </a:t>
                      </a:r>
                      <a:r>
                        <a:rPr lang="en-US" sz="2000" dirty="0" err="1">
                          <a:effectLst/>
                        </a:rPr>
                        <a:t>servoing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Milliseconds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PID, IBVS, Obstacle Stop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910422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FF73220-9712-494A-835A-65A6E38B5E41}"/>
              </a:ext>
            </a:extLst>
          </p:cNvPr>
          <p:cNvSpPr/>
          <p:nvPr/>
        </p:nvSpPr>
        <p:spPr>
          <a:xfrm>
            <a:off x="698498" y="3750047"/>
            <a:ext cx="10794999" cy="2457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Modern mobile robots do not choose between World Model and Behavior-Based; they </a:t>
            </a:r>
            <a:r>
              <a:rPr lang="en-US" b="1" dirty="0"/>
              <a:t>layer</a:t>
            </a:r>
            <a:r>
              <a:rPr lang="en-US" dirty="0"/>
              <a:t> them. This is often called a </a:t>
            </a:r>
            <a:r>
              <a:rPr lang="en-US" b="1" dirty="0"/>
              <a:t>Three-Layer Architecture</a:t>
            </a:r>
            <a:r>
              <a:rPr lang="en-US" dirty="0"/>
              <a:t>. </a:t>
            </a:r>
            <a:r>
              <a:rPr 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</a:rPr>
              <a:t>Example Scenario: Robot Waiter Delivering Coffee</a:t>
            </a: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dirty="0">
                <a:solidFill>
                  <a:srgbClr val="0F1115"/>
                </a:solidFill>
                <a:ea typeface="Times New Roman" panose="02020603050405020304" pitchFamily="18" charset="0"/>
              </a:rPr>
              <a:t>Deliberative Layer (Slow):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</a:t>
            </a:r>
            <a:r>
              <a:rPr lang="en-US" i="1" dirty="0">
                <a:solidFill>
                  <a:srgbClr val="0F1115"/>
                </a:solidFill>
                <a:ea typeface="Times New Roman" panose="02020603050405020304" pitchFamily="18" charset="0"/>
              </a:rPr>
              <a:t>Thinks: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"Table 4 is at coordinates (12.3, 5.1). I will plan a global path via the main aisle."</a:t>
            </a:r>
            <a:endParaRPr lang="en-US" dirty="0"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dirty="0">
                <a:solidFill>
                  <a:srgbClr val="0F1115"/>
                </a:solidFill>
                <a:ea typeface="Times New Roman" panose="02020603050405020304" pitchFamily="18" charset="0"/>
              </a:rPr>
              <a:t>Sequencing Layer (Medium):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</a:t>
            </a:r>
            <a:r>
              <a:rPr lang="en-US" i="1" dirty="0">
                <a:solidFill>
                  <a:srgbClr val="0F1115"/>
                </a:solidFill>
                <a:ea typeface="Times New Roman" panose="02020603050405020304" pitchFamily="18" charset="0"/>
              </a:rPr>
              <a:t>Monitors: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"I have reached the waypoint near the aisle. </a:t>
            </a:r>
            <a:r>
              <a:rPr lang="en-US" b="1" dirty="0">
                <a:solidFill>
                  <a:srgbClr val="0F1115"/>
                </a:solidFill>
                <a:ea typeface="Times New Roman" panose="02020603050405020304" pitchFamily="18" charset="0"/>
              </a:rPr>
              <a:t>Behavior Switch: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Activate 'Visual </a:t>
            </a:r>
            <a:r>
              <a:rPr lang="en-US" dirty="0" err="1">
                <a:solidFill>
                  <a:srgbClr val="0F1115"/>
                </a:solidFill>
                <a:ea typeface="Times New Roman" panose="02020603050405020304" pitchFamily="18" charset="0"/>
              </a:rPr>
              <a:t>Servoing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' to align tray with table edge marker."</a:t>
            </a:r>
            <a:endParaRPr lang="en-US" dirty="0"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dirty="0">
                <a:solidFill>
                  <a:srgbClr val="0F1115"/>
                </a:solidFill>
                <a:ea typeface="Times New Roman" panose="02020603050405020304" pitchFamily="18" charset="0"/>
              </a:rPr>
              <a:t>Reactive Layer (Fast):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</a:t>
            </a:r>
            <a:r>
              <a:rPr lang="en-US" i="1" dirty="0">
                <a:solidFill>
                  <a:srgbClr val="0F1115"/>
                </a:solidFill>
                <a:ea typeface="Times New Roman" panose="02020603050405020304" pitchFamily="18" charset="0"/>
              </a:rPr>
              <a:t>Senses: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"Proximity sensor spike on the right! A child just ran by." </a:t>
            </a:r>
            <a:r>
              <a:rPr lang="en-US" b="1" dirty="0">
                <a:solidFill>
                  <a:srgbClr val="0F1115"/>
                </a:solidFill>
                <a:ea typeface="Times New Roman" panose="02020603050405020304" pitchFamily="18" charset="0"/>
              </a:rPr>
              <a:t>Action: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Emergency stop. </a:t>
            </a:r>
            <a:r>
              <a:rPr lang="en-US" i="1" dirty="0">
                <a:solidFill>
                  <a:srgbClr val="0F1115"/>
                </a:solidFill>
                <a:ea typeface="Times New Roman" panose="02020603050405020304" pitchFamily="18" charset="0"/>
              </a:rPr>
              <a:t>After child passes:</a:t>
            </a:r>
            <a:r>
              <a:rPr lang="en-US" dirty="0">
                <a:solidFill>
                  <a:srgbClr val="0F1115"/>
                </a:solidFill>
                <a:ea typeface="Times New Roman" panose="02020603050405020304" pitchFamily="18" charset="0"/>
              </a:rPr>
              <a:t> Resume.</a:t>
            </a:r>
            <a:endParaRPr lang="en-US" dirty="0">
              <a:ea typeface="Arial" panose="020B0604020202020204" pitchFamily="34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60857C-08A3-497A-8CED-0F2964233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1D92-FA65-4257-8EB4-E63B0AEF8E54}" type="datetime1">
              <a:rPr lang="en-US" smtClean="0"/>
              <a:t>4/16/2026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648FD6A-B6BD-42C7-8550-5E7395FF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1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BE64E4-501D-4CD6-B8D4-BA0C2926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Takeaways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13CC0D-E05E-4EDA-A11B-4723C5D8A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b="1" dirty="0"/>
              <a:t>Reactive control loops</a:t>
            </a:r>
            <a:r>
              <a:rPr lang="en-US" sz="3200" dirty="0"/>
              <a:t> enable fast, real-time response </a:t>
            </a:r>
          </a:p>
          <a:p>
            <a:pPr lvl="0"/>
            <a:r>
              <a:rPr lang="en-US" sz="3200" b="1" dirty="0" err="1"/>
              <a:t>Servoing</a:t>
            </a:r>
            <a:r>
              <a:rPr lang="en-US" sz="3200" dirty="0"/>
              <a:t> ensures precise control using feedback </a:t>
            </a:r>
          </a:p>
          <a:p>
            <a:pPr lvl="0"/>
            <a:r>
              <a:rPr lang="en-US" sz="3200" b="1" dirty="0"/>
              <a:t>Visual </a:t>
            </a:r>
            <a:r>
              <a:rPr lang="en-US" sz="3200" b="1" dirty="0" err="1"/>
              <a:t>servoing</a:t>
            </a:r>
            <a:r>
              <a:rPr lang="en-US" sz="3200" dirty="0"/>
              <a:t> uses camera data for control </a:t>
            </a:r>
          </a:p>
          <a:p>
            <a:pPr lvl="0"/>
            <a:r>
              <a:rPr lang="en-US" sz="3200" b="1" dirty="0"/>
              <a:t>World model approach</a:t>
            </a:r>
            <a:r>
              <a:rPr lang="en-US" sz="3200" dirty="0"/>
              <a:t> enables global planning </a:t>
            </a:r>
          </a:p>
          <a:p>
            <a:pPr lvl="0"/>
            <a:r>
              <a:rPr lang="en-US" sz="3200" b="1" dirty="0"/>
              <a:t>Behavior-based approach</a:t>
            </a:r>
            <a:r>
              <a:rPr lang="en-US" sz="3200" dirty="0"/>
              <a:t> enables fast reactions </a:t>
            </a:r>
          </a:p>
          <a:p>
            <a:pPr lvl="0"/>
            <a:r>
              <a:rPr lang="en-US" sz="3200" dirty="0"/>
              <a:t>Modern robots use </a:t>
            </a:r>
            <a:r>
              <a:rPr lang="en-US" sz="3200" b="1" dirty="0"/>
              <a:t>hybrid architectures</a:t>
            </a:r>
            <a:r>
              <a:rPr lang="en-US" sz="3200" dirty="0"/>
              <a:t> </a:t>
            </a:r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2400B7-4BD0-42BE-9166-CDA03B5D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3F92-1985-4F17-85A8-F518C29FBBF9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69F4CE-2680-44D3-B14A-C9D9C01B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336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B2530-86AA-43C0-B1DB-A54F862F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Exam-Oriented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D5D90-23B9-464A-AEE5-B8E0F438D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Define reactive control loop with example </a:t>
            </a:r>
          </a:p>
          <a:p>
            <a:pPr lvl="0"/>
            <a:r>
              <a:rPr lang="en-US" dirty="0"/>
              <a:t>Explain visual </a:t>
            </a:r>
            <a:r>
              <a:rPr lang="en-US" dirty="0" err="1"/>
              <a:t>servoing</a:t>
            </a:r>
            <a:r>
              <a:rPr lang="en-US" dirty="0"/>
              <a:t> and its types </a:t>
            </a:r>
          </a:p>
          <a:p>
            <a:pPr lvl="0"/>
            <a:r>
              <a:rPr lang="en-US" dirty="0"/>
              <a:t>Compare world model and behavior-based approaches </a:t>
            </a:r>
          </a:p>
          <a:p>
            <a:pPr lvl="0"/>
            <a:r>
              <a:rPr lang="en-US" dirty="0"/>
              <a:t>Discuss advantages of reactive control systems </a:t>
            </a:r>
          </a:p>
          <a:p>
            <a:pPr lvl="0"/>
            <a:r>
              <a:rPr lang="en-US" dirty="0"/>
              <a:t>Explain how </a:t>
            </a:r>
            <a:r>
              <a:rPr lang="en-US" dirty="0" err="1"/>
              <a:t>servoing</a:t>
            </a:r>
            <a:r>
              <a:rPr lang="en-US" dirty="0"/>
              <a:t> improves robot accuracy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FDFEC-A108-4ABF-AF31-F95832ED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00CEB-6140-4947-8F74-4A56EA001871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396DF-362F-4593-8E56-CC770E98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E85B-E3FB-43A1-BE23-9BAFD013934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2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5429</Words>
  <Application>Microsoft Office PowerPoint</Application>
  <PresentationFormat>Widescreen</PresentationFormat>
  <Paragraphs>795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Calibri</vt:lpstr>
      <vt:lpstr>Calibri Light</vt:lpstr>
      <vt:lpstr>Consolas</vt:lpstr>
      <vt:lpstr>Courier New</vt:lpstr>
      <vt:lpstr>quote-cjk-patch</vt:lpstr>
      <vt:lpstr>Segoe UI</vt:lpstr>
      <vt:lpstr>Times New Roman</vt:lpstr>
      <vt:lpstr>Wingdings</vt:lpstr>
      <vt:lpstr>Office Theme</vt:lpstr>
      <vt:lpstr>Perception and sensing</vt:lpstr>
      <vt:lpstr>Perception in Robotics</vt:lpstr>
      <vt:lpstr>The Perception Challenge</vt:lpstr>
      <vt:lpstr>The Perception Challenge</vt:lpstr>
      <vt:lpstr>Mobile Robot Control System Architecture</vt:lpstr>
      <vt:lpstr>Sense – Plan – Act (SPA)</vt:lpstr>
      <vt:lpstr>Evolution of Robotic Control Architectures</vt:lpstr>
      <vt:lpstr>Classification of Robotic Sensors</vt:lpstr>
      <vt:lpstr>Comparison of Sensor Types</vt:lpstr>
      <vt:lpstr>Proprioceptive Sensors (The Inner Ear &amp; Muscle Sense)</vt:lpstr>
      <vt:lpstr>Exteroceptive Sensors (The Eyes and Ears)</vt:lpstr>
      <vt:lpstr>Historical Evolution</vt:lpstr>
      <vt:lpstr>Sensor Fusion </vt:lpstr>
      <vt:lpstr>Choosing the Right Sensor </vt:lpstr>
      <vt:lpstr>Robotic Sensors</vt:lpstr>
      <vt:lpstr>Encoders </vt:lpstr>
      <vt:lpstr>Encoder </vt:lpstr>
      <vt:lpstr>Noise and Error Characteristics</vt:lpstr>
      <vt:lpstr>IMU (Inertial Measurement Unit)</vt:lpstr>
      <vt:lpstr>Inertial Measurement Unit (IMU) </vt:lpstr>
      <vt:lpstr>Inertial Measurement Unit (IMU) </vt:lpstr>
      <vt:lpstr>Ultrasonic Range Sensors (Sonar)</vt:lpstr>
      <vt:lpstr>Sonar Noise</vt:lpstr>
      <vt:lpstr>Infrared (IR) Sensors</vt:lpstr>
      <vt:lpstr>Infrared (IR) Sensors</vt:lpstr>
      <vt:lpstr>Infrared (IR) Sensors - Measurement &amp; Output</vt:lpstr>
      <vt:lpstr>Sensor Measurements</vt:lpstr>
      <vt:lpstr>Sensor Characteristics</vt:lpstr>
      <vt:lpstr>Single-Value vs Multi-Value Sensor Data</vt:lpstr>
      <vt:lpstr>Comparison</vt:lpstr>
      <vt:lpstr>Key Takeaways</vt:lpstr>
      <vt:lpstr>The Role of the Single-Value Sensor in High-Speed Loops</vt:lpstr>
      <vt:lpstr>Linking Perception to Action</vt:lpstr>
      <vt:lpstr>Reactive Control Loops</vt:lpstr>
      <vt:lpstr>Reactive Control Loops - Key Characteristics</vt:lpstr>
      <vt:lpstr>Feedback Control in Robotics</vt:lpstr>
      <vt:lpstr>Servoing in Robotics </vt:lpstr>
      <vt:lpstr>Visual Servoing</vt:lpstr>
      <vt:lpstr>World Model Approach (Deliberative Control)</vt:lpstr>
      <vt:lpstr>World model example</vt:lpstr>
      <vt:lpstr>Behavior-Based Approach (Reactive Robotics)</vt:lpstr>
      <vt:lpstr>World Model vs Behavior-Based</vt:lpstr>
      <vt:lpstr>Hybrid Approach (Modern Systems)</vt:lpstr>
      <vt:lpstr>Hybrid Approach (Modern Systems)</vt:lpstr>
      <vt:lpstr>Takeaways</vt:lpstr>
      <vt:lpstr>Exam-Oriented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Perception and sensing</dc:title>
  <dc:creator>DSI</dc:creator>
  <cp:lastModifiedBy>DSI</cp:lastModifiedBy>
  <cp:revision>37</cp:revision>
  <dcterms:created xsi:type="dcterms:W3CDTF">2026-04-13T13:26:28Z</dcterms:created>
  <dcterms:modified xsi:type="dcterms:W3CDTF">2026-04-16T10:40:23Z</dcterms:modified>
</cp:coreProperties>
</file>